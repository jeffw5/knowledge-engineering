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2" r:id="rId3"/>
    <p:sldMasterId id="2147483733" r:id="rId4"/>
    <p:sldMasterId id="2147483734" r:id="rId5"/>
    <p:sldMasterId id="2147483735" r:id="rId6"/>
    <p:sldMasterId id="2147483736" r:id="rId7"/>
    <p:sldMasterId id="2147483737" r:id="rId8"/>
    <p:sldMasterId id="2147483738"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Lst>
  <p:sldSz cy="51435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Master" Target="slideMasters/slideMaster7.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19.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21.xml"/><Relationship Id="rId30" Type="http://schemas.openxmlformats.org/officeDocument/2006/relationships/slide" Target="slides/slide20.xml"/><Relationship Id="rId11" Type="http://schemas.openxmlformats.org/officeDocument/2006/relationships/slide" Target="slides/slide1.xml"/><Relationship Id="rId33" Type="http://schemas.openxmlformats.org/officeDocument/2006/relationships/slide" Target="slides/slide23.xml"/><Relationship Id="rId10" Type="http://schemas.openxmlformats.org/officeDocument/2006/relationships/notesMaster" Target="notesMasters/notesMaster1.xml"/><Relationship Id="rId32" Type="http://schemas.openxmlformats.org/officeDocument/2006/relationships/slide" Target="slides/slide22.xml"/><Relationship Id="rId13" Type="http://schemas.openxmlformats.org/officeDocument/2006/relationships/slide" Target="slides/slide3.xml"/><Relationship Id="rId35" Type="http://schemas.openxmlformats.org/officeDocument/2006/relationships/font" Target="fonts/Roboto-regular.fntdata"/><Relationship Id="rId12" Type="http://schemas.openxmlformats.org/officeDocument/2006/relationships/slide" Target="slides/slide2.xml"/><Relationship Id="rId34" Type="http://schemas.openxmlformats.org/officeDocument/2006/relationships/slide" Target="slides/slide24.xml"/><Relationship Id="rId15" Type="http://schemas.openxmlformats.org/officeDocument/2006/relationships/slide" Target="slides/slide5.xml"/><Relationship Id="rId37" Type="http://schemas.openxmlformats.org/officeDocument/2006/relationships/font" Target="fonts/Roboto-italic.fntdata"/><Relationship Id="rId14" Type="http://schemas.openxmlformats.org/officeDocument/2006/relationships/slide" Target="slides/slide4.xml"/><Relationship Id="rId36" Type="http://schemas.openxmlformats.org/officeDocument/2006/relationships/font" Target="fonts/Roboto-bold.fntdata"/><Relationship Id="rId17" Type="http://schemas.openxmlformats.org/officeDocument/2006/relationships/slide" Target="slides/slide7.xml"/><Relationship Id="rId16" Type="http://schemas.openxmlformats.org/officeDocument/2006/relationships/slide" Target="slides/slide6.xml"/><Relationship Id="rId38" Type="http://schemas.openxmlformats.org/officeDocument/2006/relationships/font" Target="fonts/Roboto-boldItalic.fntdata"/><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e23fb73d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e23fb73d8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5" name="Shape 15"/>
        <p:cNvGrpSpPr/>
        <p:nvPr/>
      </p:nvGrpSpPr>
      <p:grpSpPr>
        <a:xfrm>
          <a:off x="0" y="0"/>
          <a:ext cx="0" cy="0"/>
          <a:chOff x="0" y="0"/>
          <a:chExt cx="0" cy="0"/>
        </a:xfrm>
      </p:grpSpPr>
      <p:sp>
        <p:nvSpPr>
          <p:cNvPr id="16" name="Google Shape;16;p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 name="Shape 22"/>
        <p:cNvGrpSpPr/>
        <p:nvPr/>
      </p:nvGrpSpPr>
      <p:grpSpPr>
        <a:xfrm>
          <a:off x="0" y="0"/>
          <a:ext cx="0" cy="0"/>
          <a:chOff x="0" y="0"/>
          <a:chExt cx="0" cy="0"/>
        </a:xfrm>
      </p:grpSpPr>
      <p:sp>
        <p:nvSpPr>
          <p:cNvPr id="23" name="Google Shape;23;p5"/>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 name="Shape 28"/>
        <p:cNvGrpSpPr/>
        <p:nvPr/>
      </p:nvGrpSpPr>
      <p:grpSpPr>
        <a:xfrm>
          <a:off x="0" y="0"/>
          <a:ext cx="0" cy="0"/>
          <a:chOff x="0" y="0"/>
          <a:chExt cx="0" cy="0"/>
        </a:xfrm>
      </p:grpSpPr>
      <p:sp>
        <p:nvSpPr>
          <p:cNvPr id="29" name="Google Shape;29;p7"/>
          <p:cNvSpPr txBox="1"/>
          <p:nvPr>
            <p:ph idx="1" type="subTitle"/>
          </p:nvPr>
        </p:nvSpPr>
        <p:spPr>
          <a:xfrm>
            <a:off x="597960" y="2152440"/>
            <a:ext cx="8221680" cy="38876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 name="Shape 30"/>
        <p:cNvGrpSpPr/>
        <p:nvPr/>
      </p:nvGrpSpPr>
      <p:grpSpPr>
        <a:xfrm>
          <a:off x="0" y="0"/>
          <a:ext cx="0" cy="0"/>
          <a:chOff x="0" y="0"/>
          <a:chExt cx="0" cy="0"/>
        </a:xfrm>
      </p:grpSpPr>
      <p:sp>
        <p:nvSpPr>
          <p:cNvPr id="31" name="Google Shape;31;p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 name="Shape 35"/>
        <p:cNvGrpSpPr/>
        <p:nvPr/>
      </p:nvGrpSpPr>
      <p:grpSpPr>
        <a:xfrm>
          <a:off x="0" y="0"/>
          <a:ext cx="0" cy="0"/>
          <a:chOff x="0" y="0"/>
          <a:chExt cx="0" cy="0"/>
        </a:xfrm>
      </p:grpSpPr>
      <p:sp>
        <p:nvSpPr>
          <p:cNvPr id="36" name="Google Shape;36;p9"/>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0" name="Shape 40"/>
        <p:cNvGrpSpPr/>
        <p:nvPr/>
      </p:nvGrpSpPr>
      <p:grpSpPr>
        <a:xfrm>
          <a:off x="0" y="0"/>
          <a:ext cx="0" cy="0"/>
          <a:chOff x="0" y="0"/>
          <a:chExt cx="0" cy="0"/>
        </a:xfrm>
      </p:grpSpPr>
      <p:sp>
        <p:nvSpPr>
          <p:cNvPr id="41" name="Google Shape;41;p10"/>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5" name="Shape 45"/>
        <p:cNvGrpSpPr/>
        <p:nvPr/>
      </p:nvGrpSpPr>
      <p:grpSpPr>
        <a:xfrm>
          <a:off x="0" y="0"/>
          <a:ext cx="0" cy="0"/>
          <a:chOff x="0" y="0"/>
          <a:chExt cx="0" cy="0"/>
        </a:xfrm>
      </p:grpSpPr>
      <p:sp>
        <p:nvSpPr>
          <p:cNvPr id="46" name="Google Shape;46;p1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9" name="Shape 49"/>
        <p:cNvGrpSpPr/>
        <p:nvPr/>
      </p:nvGrpSpPr>
      <p:grpSpPr>
        <a:xfrm>
          <a:off x="0" y="0"/>
          <a:ext cx="0" cy="0"/>
          <a:chOff x="0" y="0"/>
          <a:chExt cx="0" cy="0"/>
        </a:xfrm>
      </p:grpSpPr>
      <p:sp>
        <p:nvSpPr>
          <p:cNvPr id="50" name="Google Shape;50;p1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5" name="Shape 55"/>
        <p:cNvGrpSpPr/>
        <p:nvPr/>
      </p:nvGrpSpPr>
      <p:grpSpPr>
        <a:xfrm>
          <a:off x="0" y="0"/>
          <a:ext cx="0" cy="0"/>
          <a:chOff x="0" y="0"/>
          <a:chExt cx="0" cy="0"/>
        </a:xfrm>
      </p:grpSpPr>
      <p:sp>
        <p:nvSpPr>
          <p:cNvPr id="56" name="Google Shape;56;p13"/>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8" name="Shape 68"/>
        <p:cNvGrpSpPr/>
        <p:nvPr/>
      </p:nvGrpSpPr>
      <p:grpSpPr>
        <a:xfrm>
          <a:off x="0" y="0"/>
          <a:ext cx="0" cy="0"/>
          <a:chOff x="0" y="0"/>
          <a:chExt cx="0" cy="0"/>
        </a:xfrm>
      </p:grpSpPr>
      <p:sp>
        <p:nvSpPr>
          <p:cNvPr id="69" name="Google Shape;69;p1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1" name="Shape 71"/>
        <p:cNvGrpSpPr/>
        <p:nvPr/>
      </p:nvGrpSpPr>
      <p:grpSpPr>
        <a:xfrm>
          <a:off x="0" y="0"/>
          <a:ext cx="0" cy="0"/>
          <a:chOff x="0" y="0"/>
          <a:chExt cx="0" cy="0"/>
        </a:xfrm>
      </p:grpSpPr>
      <p:sp>
        <p:nvSpPr>
          <p:cNvPr id="72" name="Google Shape;72;p17"/>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p1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7" name="Google Shape;77;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19"/>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0" name="Shape 80"/>
        <p:cNvGrpSpPr/>
        <p:nvPr/>
      </p:nvGrpSpPr>
      <p:grpSpPr>
        <a:xfrm>
          <a:off x="0" y="0"/>
          <a:ext cx="0" cy="0"/>
          <a:chOff x="0" y="0"/>
          <a:chExt cx="0" cy="0"/>
        </a:xfrm>
      </p:grpSpPr>
      <p:sp>
        <p:nvSpPr>
          <p:cNvPr id="81" name="Google Shape;81;p20"/>
          <p:cNvSpPr txBox="1"/>
          <p:nvPr>
            <p:ph idx="1" type="subTitle"/>
          </p:nvPr>
        </p:nvSpPr>
        <p:spPr>
          <a:xfrm>
            <a:off x="597960" y="2152440"/>
            <a:ext cx="8221680" cy="38876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2" name="Shape 82"/>
        <p:cNvGrpSpPr/>
        <p:nvPr/>
      </p:nvGrpSpPr>
      <p:grpSpPr>
        <a:xfrm>
          <a:off x="0" y="0"/>
          <a:ext cx="0" cy="0"/>
          <a:chOff x="0" y="0"/>
          <a:chExt cx="0" cy="0"/>
        </a:xfrm>
      </p:grpSpPr>
      <p:sp>
        <p:nvSpPr>
          <p:cNvPr id="83" name="Google Shape;83;p2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5" name="Google Shape;85;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6" name="Google Shape;86;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7" name="Shape 87"/>
        <p:cNvGrpSpPr/>
        <p:nvPr/>
      </p:nvGrpSpPr>
      <p:grpSpPr>
        <a:xfrm>
          <a:off x="0" y="0"/>
          <a:ext cx="0" cy="0"/>
          <a:chOff x="0" y="0"/>
          <a:chExt cx="0" cy="0"/>
        </a:xfrm>
      </p:grpSpPr>
      <p:sp>
        <p:nvSpPr>
          <p:cNvPr id="88" name="Google Shape;88;p2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2" name="Shape 92"/>
        <p:cNvGrpSpPr/>
        <p:nvPr/>
      </p:nvGrpSpPr>
      <p:grpSpPr>
        <a:xfrm>
          <a:off x="0" y="0"/>
          <a:ext cx="0" cy="0"/>
          <a:chOff x="0" y="0"/>
          <a:chExt cx="0" cy="0"/>
        </a:xfrm>
      </p:grpSpPr>
      <p:sp>
        <p:nvSpPr>
          <p:cNvPr id="93" name="Google Shape;93;p23"/>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5" name="Google Shape;95;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6" name="Google Shape;96;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7" name="Shape 97"/>
        <p:cNvGrpSpPr/>
        <p:nvPr/>
      </p:nvGrpSpPr>
      <p:grpSpPr>
        <a:xfrm>
          <a:off x="0" y="0"/>
          <a:ext cx="0" cy="0"/>
          <a:chOff x="0" y="0"/>
          <a:chExt cx="0" cy="0"/>
        </a:xfrm>
      </p:grpSpPr>
      <p:sp>
        <p:nvSpPr>
          <p:cNvPr id="98" name="Google Shape;98;p24"/>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0" name="Google Shape;100;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1" name="Shape 101"/>
        <p:cNvGrpSpPr/>
        <p:nvPr/>
      </p:nvGrpSpPr>
      <p:grpSpPr>
        <a:xfrm>
          <a:off x="0" y="0"/>
          <a:ext cx="0" cy="0"/>
          <a:chOff x="0" y="0"/>
          <a:chExt cx="0" cy="0"/>
        </a:xfrm>
      </p:grpSpPr>
      <p:sp>
        <p:nvSpPr>
          <p:cNvPr id="102" name="Google Shape;102;p25"/>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7" name="Shape 107"/>
        <p:cNvGrpSpPr/>
        <p:nvPr/>
      </p:nvGrpSpPr>
      <p:grpSpPr>
        <a:xfrm>
          <a:off x="0" y="0"/>
          <a:ext cx="0" cy="0"/>
          <a:chOff x="0" y="0"/>
          <a:chExt cx="0" cy="0"/>
        </a:xfrm>
      </p:grpSpPr>
      <p:sp>
        <p:nvSpPr>
          <p:cNvPr id="108" name="Google Shape;108;p2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0" name="Shape 12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1" name="Shape 121"/>
        <p:cNvGrpSpPr/>
        <p:nvPr/>
      </p:nvGrpSpPr>
      <p:grpSpPr>
        <a:xfrm>
          <a:off x="0" y="0"/>
          <a:ext cx="0" cy="0"/>
          <a:chOff x="0" y="0"/>
          <a:chExt cx="0" cy="0"/>
        </a:xfrm>
      </p:grpSpPr>
      <p:sp>
        <p:nvSpPr>
          <p:cNvPr id="122" name="Google Shape;122;p29"/>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9"/>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4" name="Shape 124"/>
        <p:cNvGrpSpPr/>
        <p:nvPr/>
      </p:nvGrpSpPr>
      <p:grpSpPr>
        <a:xfrm>
          <a:off x="0" y="0"/>
          <a:ext cx="0" cy="0"/>
          <a:chOff x="0" y="0"/>
          <a:chExt cx="0" cy="0"/>
        </a:xfrm>
      </p:grpSpPr>
      <p:sp>
        <p:nvSpPr>
          <p:cNvPr id="125" name="Google Shape;125;p30"/>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7" name="Shape 127"/>
        <p:cNvGrpSpPr/>
        <p:nvPr/>
      </p:nvGrpSpPr>
      <p:grpSpPr>
        <a:xfrm>
          <a:off x="0" y="0"/>
          <a:ext cx="0" cy="0"/>
          <a:chOff x="0" y="0"/>
          <a:chExt cx="0" cy="0"/>
        </a:xfrm>
      </p:grpSpPr>
      <p:sp>
        <p:nvSpPr>
          <p:cNvPr id="128" name="Google Shape;128;p3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0" name="Google Shape;130;p3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sp>
        <p:nvSpPr>
          <p:cNvPr id="132" name="Google Shape;132;p3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3" name="Shape 133"/>
        <p:cNvGrpSpPr/>
        <p:nvPr/>
      </p:nvGrpSpPr>
      <p:grpSpPr>
        <a:xfrm>
          <a:off x="0" y="0"/>
          <a:ext cx="0" cy="0"/>
          <a:chOff x="0" y="0"/>
          <a:chExt cx="0" cy="0"/>
        </a:xfrm>
      </p:grpSpPr>
      <p:sp>
        <p:nvSpPr>
          <p:cNvPr id="134" name="Google Shape;134;p33"/>
          <p:cNvSpPr txBox="1"/>
          <p:nvPr>
            <p:ph idx="1" type="subTitle"/>
          </p:nvPr>
        </p:nvSpPr>
        <p:spPr>
          <a:xfrm>
            <a:off x="597960" y="2152440"/>
            <a:ext cx="8221680" cy="38876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5" name="Shape 135"/>
        <p:cNvGrpSpPr/>
        <p:nvPr/>
      </p:nvGrpSpPr>
      <p:grpSpPr>
        <a:xfrm>
          <a:off x="0" y="0"/>
          <a:ext cx="0" cy="0"/>
          <a:chOff x="0" y="0"/>
          <a:chExt cx="0" cy="0"/>
        </a:xfrm>
      </p:grpSpPr>
      <p:sp>
        <p:nvSpPr>
          <p:cNvPr id="136" name="Google Shape;136;p34"/>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8" name="Google Shape;138;p3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9" name="Google Shape;139;p3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0" name="Shape 140"/>
        <p:cNvGrpSpPr/>
        <p:nvPr/>
      </p:nvGrpSpPr>
      <p:grpSpPr>
        <a:xfrm>
          <a:off x="0" y="0"/>
          <a:ext cx="0" cy="0"/>
          <a:chOff x="0" y="0"/>
          <a:chExt cx="0" cy="0"/>
        </a:xfrm>
      </p:grpSpPr>
      <p:sp>
        <p:nvSpPr>
          <p:cNvPr id="141" name="Google Shape;141;p35"/>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3" name="Google Shape;143;p3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4" name="Google Shape;144;p35"/>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5" name="Shape 145"/>
        <p:cNvGrpSpPr/>
        <p:nvPr/>
      </p:nvGrpSpPr>
      <p:grpSpPr>
        <a:xfrm>
          <a:off x="0" y="0"/>
          <a:ext cx="0" cy="0"/>
          <a:chOff x="0" y="0"/>
          <a:chExt cx="0" cy="0"/>
        </a:xfrm>
      </p:grpSpPr>
      <p:sp>
        <p:nvSpPr>
          <p:cNvPr id="146" name="Google Shape;146;p3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3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9" name="Google Shape;149;p36"/>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0" name="Shape 150"/>
        <p:cNvGrpSpPr/>
        <p:nvPr/>
      </p:nvGrpSpPr>
      <p:grpSpPr>
        <a:xfrm>
          <a:off x="0" y="0"/>
          <a:ext cx="0" cy="0"/>
          <a:chOff x="0" y="0"/>
          <a:chExt cx="0" cy="0"/>
        </a:xfrm>
      </p:grpSpPr>
      <p:sp>
        <p:nvSpPr>
          <p:cNvPr id="151" name="Google Shape;151;p37"/>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7"/>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37"/>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4" name="Shape 154"/>
        <p:cNvGrpSpPr/>
        <p:nvPr/>
      </p:nvGrpSpPr>
      <p:grpSpPr>
        <a:xfrm>
          <a:off x="0" y="0"/>
          <a:ext cx="0" cy="0"/>
          <a:chOff x="0" y="0"/>
          <a:chExt cx="0" cy="0"/>
        </a:xfrm>
      </p:grpSpPr>
      <p:sp>
        <p:nvSpPr>
          <p:cNvPr id="155" name="Google Shape;155;p3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7" name="Google Shape;157;p3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8"/>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0" name="Shape 160"/>
        <p:cNvGrpSpPr/>
        <p:nvPr/>
      </p:nvGrpSpPr>
      <p:grpSpPr>
        <a:xfrm>
          <a:off x="0" y="0"/>
          <a:ext cx="0" cy="0"/>
          <a:chOff x="0" y="0"/>
          <a:chExt cx="0" cy="0"/>
        </a:xfrm>
      </p:grpSpPr>
      <p:sp>
        <p:nvSpPr>
          <p:cNvPr id="161" name="Google Shape;161;p39"/>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9"/>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3" name="Google Shape;163;p39"/>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4" name="Google Shape;164;p39"/>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5" name="Google Shape;165;p39"/>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9"/>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3" name="Shape 173"/>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4" name="Shape 174"/>
        <p:cNvGrpSpPr/>
        <p:nvPr/>
      </p:nvGrpSpPr>
      <p:grpSpPr>
        <a:xfrm>
          <a:off x="0" y="0"/>
          <a:ext cx="0" cy="0"/>
          <a:chOff x="0" y="0"/>
          <a:chExt cx="0" cy="0"/>
        </a:xfrm>
      </p:grpSpPr>
      <p:sp>
        <p:nvSpPr>
          <p:cNvPr id="175" name="Google Shape;175;p4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4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7" name="Shape 177"/>
        <p:cNvGrpSpPr/>
        <p:nvPr/>
      </p:nvGrpSpPr>
      <p:grpSpPr>
        <a:xfrm>
          <a:off x="0" y="0"/>
          <a:ext cx="0" cy="0"/>
          <a:chOff x="0" y="0"/>
          <a:chExt cx="0" cy="0"/>
        </a:xfrm>
      </p:grpSpPr>
      <p:sp>
        <p:nvSpPr>
          <p:cNvPr id="178" name="Google Shape;178;p43"/>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4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0" name="Shape 180"/>
        <p:cNvGrpSpPr/>
        <p:nvPr/>
      </p:nvGrpSpPr>
      <p:grpSpPr>
        <a:xfrm>
          <a:off x="0" y="0"/>
          <a:ext cx="0" cy="0"/>
          <a:chOff x="0" y="0"/>
          <a:chExt cx="0" cy="0"/>
        </a:xfrm>
      </p:grpSpPr>
      <p:sp>
        <p:nvSpPr>
          <p:cNvPr id="181" name="Google Shape;181;p44"/>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4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3" name="Google Shape;183;p4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5"/>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86" name="Shape 186"/>
        <p:cNvGrpSpPr/>
        <p:nvPr/>
      </p:nvGrpSpPr>
      <p:grpSpPr>
        <a:xfrm>
          <a:off x="0" y="0"/>
          <a:ext cx="0" cy="0"/>
          <a:chOff x="0" y="0"/>
          <a:chExt cx="0" cy="0"/>
        </a:xfrm>
      </p:grpSpPr>
      <p:sp>
        <p:nvSpPr>
          <p:cNvPr id="187" name="Google Shape;187;p46"/>
          <p:cNvSpPr txBox="1"/>
          <p:nvPr>
            <p:ph idx="1" type="subTitle"/>
          </p:nvPr>
        </p:nvSpPr>
        <p:spPr>
          <a:xfrm>
            <a:off x="597960" y="2152440"/>
            <a:ext cx="8221680" cy="38876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88" name="Shape 188"/>
        <p:cNvGrpSpPr/>
        <p:nvPr/>
      </p:nvGrpSpPr>
      <p:grpSpPr>
        <a:xfrm>
          <a:off x="0" y="0"/>
          <a:ext cx="0" cy="0"/>
          <a:chOff x="0" y="0"/>
          <a:chExt cx="0" cy="0"/>
        </a:xfrm>
      </p:grpSpPr>
      <p:sp>
        <p:nvSpPr>
          <p:cNvPr id="189" name="Google Shape;189;p47"/>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4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1" name="Google Shape;191;p4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2" name="Google Shape;192;p4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3" name="Shape 193"/>
        <p:cNvGrpSpPr/>
        <p:nvPr/>
      </p:nvGrpSpPr>
      <p:grpSpPr>
        <a:xfrm>
          <a:off x="0" y="0"/>
          <a:ext cx="0" cy="0"/>
          <a:chOff x="0" y="0"/>
          <a:chExt cx="0" cy="0"/>
        </a:xfrm>
      </p:grpSpPr>
      <p:sp>
        <p:nvSpPr>
          <p:cNvPr id="194" name="Google Shape;194;p4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4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6" name="Google Shape;196;p4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7" name="Google Shape;197;p48"/>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98" name="Shape 198"/>
        <p:cNvGrpSpPr/>
        <p:nvPr/>
      </p:nvGrpSpPr>
      <p:grpSpPr>
        <a:xfrm>
          <a:off x="0" y="0"/>
          <a:ext cx="0" cy="0"/>
          <a:chOff x="0" y="0"/>
          <a:chExt cx="0" cy="0"/>
        </a:xfrm>
      </p:grpSpPr>
      <p:sp>
        <p:nvSpPr>
          <p:cNvPr id="199" name="Google Shape;199;p49"/>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4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49"/>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3" name="Shape 203"/>
        <p:cNvGrpSpPr/>
        <p:nvPr/>
      </p:nvGrpSpPr>
      <p:grpSpPr>
        <a:xfrm>
          <a:off x="0" y="0"/>
          <a:ext cx="0" cy="0"/>
          <a:chOff x="0" y="0"/>
          <a:chExt cx="0" cy="0"/>
        </a:xfrm>
      </p:grpSpPr>
      <p:sp>
        <p:nvSpPr>
          <p:cNvPr id="204" name="Google Shape;204;p50"/>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50"/>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50"/>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07" name="Shape 207"/>
        <p:cNvGrpSpPr/>
        <p:nvPr/>
      </p:nvGrpSpPr>
      <p:grpSpPr>
        <a:xfrm>
          <a:off x="0" y="0"/>
          <a:ext cx="0" cy="0"/>
          <a:chOff x="0" y="0"/>
          <a:chExt cx="0" cy="0"/>
        </a:xfrm>
      </p:grpSpPr>
      <p:sp>
        <p:nvSpPr>
          <p:cNvPr id="208" name="Google Shape;208;p5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5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0" name="Google Shape;210;p5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5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2" name="Google Shape;212;p51"/>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3" name="Shape 213"/>
        <p:cNvGrpSpPr/>
        <p:nvPr/>
      </p:nvGrpSpPr>
      <p:grpSpPr>
        <a:xfrm>
          <a:off x="0" y="0"/>
          <a:ext cx="0" cy="0"/>
          <a:chOff x="0" y="0"/>
          <a:chExt cx="0" cy="0"/>
        </a:xfrm>
      </p:grpSpPr>
      <p:sp>
        <p:nvSpPr>
          <p:cNvPr id="214" name="Google Shape;214;p5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52"/>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52"/>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7" name="Google Shape;217;p52"/>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8" name="Google Shape;218;p52"/>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9" name="Google Shape;219;p52"/>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52"/>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27" name="Shape 227"/>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8" name="Shape 228"/>
        <p:cNvGrpSpPr/>
        <p:nvPr/>
      </p:nvGrpSpPr>
      <p:grpSpPr>
        <a:xfrm>
          <a:off x="0" y="0"/>
          <a:ext cx="0" cy="0"/>
          <a:chOff x="0" y="0"/>
          <a:chExt cx="0" cy="0"/>
        </a:xfrm>
      </p:grpSpPr>
      <p:sp>
        <p:nvSpPr>
          <p:cNvPr id="229" name="Google Shape;229;p55"/>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55"/>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1" name="Shape 231"/>
        <p:cNvGrpSpPr/>
        <p:nvPr/>
      </p:nvGrpSpPr>
      <p:grpSpPr>
        <a:xfrm>
          <a:off x="0" y="0"/>
          <a:ext cx="0" cy="0"/>
          <a:chOff x="0" y="0"/>
          <a:chExt cx="0" cy="0"/>
        </a:xfrm>
      </p:grpSpPr>
      <p:sp>
        <p:nvSpPr>
          <p:cNvPr id="232" name="Google Shape;232;p5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5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4" name="Shape 234"/>
        <p:cNvGrpSpPr/>
        <p:nvPr/>
      </p:nvGrpSpPr>
      <p:grpSpPr>
        <a:xfrm>
          <a:off x="0" y="0"/>
          <a:ext cx="0" cy="0"/>
          <a:chOff x="0" y="0"/>
          <a:chExt cx="0" cy="0"/>
        </a:xfrm>
      </p:grpSpPr>
      <p:sp>
        <p:nvSpPr>
          <p:cNvPr id="235" name="Google Shape;235;p57"/>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5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7" name="Google Shape;237;p5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8" name="Shape 238"/>
        <p:cNvGrpSpPr/>
        <p:nvPr/>
      </p:nvGrpSpPr>
      <p:grpSpPr>
        <a:xfrm>
          <a:off x="0" y="0"/>
          <a:ext cx="0" cy="0"/>
          <a:chOff x="0" y="0"/>
          <a:chExt cx="0" cy="0"/>
        </a:xfrm>
      </p:grpSpPr>
      <p:sp>
        <p:nvSpPr>
          <p:cNvPr id="239" name="Google Shape;239;p5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0" name="Shape 240"/>
        <p:cNvGrpSpPr/>
        <p:nvPr/>
      </p:nvGrpSpPr>
      <p:grpSpPr>
        <a:xfrm>
          <a:off x="0" y="0"/>
          <a:ext cx="0" cy="0"/>
          <a:chOff x="0" y="0"/>
          <a:chExt cx="0" cy="0"/>
        </a:xfrm>
      </p:grpSpPr>
      <p:sp>
        <p:nvSpPr>
          <p:cNvPr id="241" name="Google Shape;241;p59"/>
          <p:cNvSpPr txBox="1"/>
          <p:nvPr>
            <p:ph idx="1" type="subTitle"/>
          </p:nvPr>
        </p:nvSpPr>
        <p:spPr>
          <a:xfrm>
            <a:off x="597960" y="2152440"/>
            <a:ext cx="8221680" cy="38876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2" name="Shape 242"/>
        <p:cNvGrpSpPr/>
        <p:nvPr/>
      </p:nvGrpSpPr>
      <p:grpSpPr>
        <a:xfrm>
          <a:off x="0" y="0"/>
          <a:ext cx="0" cy="0"/>
          <a:chOff x="0" y="0"/>
          <a:chExt cx="0" cy="0"/>
        </a:xfrm>
      </p:grpSpPr>
      <p:sp>
        <p:nvSpPr>
          <p:cNvPr id="243" name="Google Shape;243;p60"/>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6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5" name="Google Shape;245;p6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6" name="Google Shape;246;p6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47" name="Shape 247"/>
        <p:cNvGrpSpPr/>
        <p:nvPr/>
      </p:nvGrpSpPr>
      <p:grpSpPr>
        <a:xfrm>
          <a:off x="0" y="0"/>
          <a:ext cx="0" cy="0"/>
          <a:chOff x="0" y="0"/>
          <a:chExt cx="0" cy="0"/>
        </a:xfrm>
      </p:grpSpPr>
      <p:sp>
        <p:nvSpPr>
          <p:cNvPr id="248" name="Google Shape;248;p6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6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0" name="Google Shape;250;p6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1" name="Google Shape;251;p61"/>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2" name="Shape 252"/>
        <p:cNvGrpSpPr/>
        <p:nvPr/>
      </p:nvGrpSpPr>
      <p:grpSpPr>
        <a:xfrm>
          <a:off x="0" y="0"/>
          <a:ext cx="0" cy="0"/>
          <a:chOff x="0" y="0"/>
          <a:chExt cx="0" cy="0"/>
        </a:xfrm>
      </p:grpSpPr>
      <p:sp>
        <p:nvSpPr>
          <p:cNvPr id="253" name="Google Shape;253;p6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6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5" name="Google Shape;255;p6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6" name="Google Shape;256;p62"/>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57" name="Shape 257"/>
        <p:cNvGrpSpPr/>
        <p:nvPr/>
      </p:nvGrpSpPr>
      <p:grpSpPr>
        <a:xfrm>
          <a:off x="0" y="0"/>
          <a:ext cx="0" cy="0"/>
          <a:chOff x="0" y="0"/>
          <a:chExt cx="0" cy="0"/>
        </a:xfrm>
      </p:grpSpPr>
      <p:sp>
        <p:nvSpPr>
          <p:cNvPr id="258" name="Google Shape;258;p63"/>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63"/>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0" name="Google Shape;260;p63"/>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1" name="Shape 261"/>
        <p:cNvGrpSpPr/>
        <p:nvPr/>
      </p:nvGrpSpPr>
      <p:grpSpPr>
        <a:xfrm>
          <a:off x="0" y="0"/>
          <a:ext cx="0" cy="0"/>
          <a:chOff x="0" y="0"/>
          <a:chExt cx="0" cy="0"/>
        </a:xfrm>
      </p:grpSpPr>
      <p:sp>
        <p:nvSpPr>
          <p:cNvPr id="262" name="Google Shape;262;p64"/>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6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4" name="Google Shape;264;p6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5" name="Google Shape;265;p6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6" name="Google Shape;266;p64"/>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67" name="Shape 267"/>
        <p:cNvGrpSpPr/>
        <p:nvPr/>
      </p:nvGrpSpPr>
      <p:grpSpPr>
        <a:xfrm>
          <a:off x="0" y="0"/>
          <a:ext cx="0" cy="0"/>
          <a:chOff x="0" y="0"/>
          <a:chExt cx="0" cy="0"/>
        </a:xfrm>
      </p:grpSpPr>
      <p:sp>
        <p:nvSpPr>
          <p:cNvPr id="268" name="Google Shape;268;p65"/>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65"/>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0" name="Google Shape;270;p65"/>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1" name="Google Shape;271;p65"/>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2" name="Google Shape;272;p65"/>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3" name="Google Shape;273;p65"/>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4" name="Google Shape;274;p65"/>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86" name="Shape 286"/>
        <p:cNvGrpSpPr/>
        <p:nvPr/>
      </p:nvGrpSpPr>
      <p:grpSpPr>
        <a:xfrm>
          <a:off x="0" y="0"/>
          <a:ext cx="0" cy="0"/>
          <a:chOff x="0" y="0"/>
          <a:chExt cx="0" cy="0"/>
        </a:xfrm>
      </p:grpSpPr>
      <p:sp>
        <p:nvSpPr>
          <p:cNvPr id="287" name="Google Shape;287;p6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8" name="Google Shape;288;p68"/>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89" name="Shape 289"/>
        <p:cNvGrpSpPr/>
        <p:nvPr/>
      </p:nvGrpSpPr>
      <p:grpSpPr>
        <a:xfrm>
          <a:off x="0" y="0"/>
          <a:ext cx="0" cy="0"/>
          <a:chOff x="0" y="0"/>
          <a:chExt cx="0" cy="0"/>
        </a:xfrm>
      </p:grpSpPr>
      <p:sp>
        <p:nvSpPr>
          <p:cNvPr id="290" name="Google Shape;290;p69"/>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6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92" name="Shape 292"/>
        <p:cNvGrpSpPr/>
        <p:nvPr/>
      </p:nvGrpSpPr>
      <p:grpSpPr>
        <a:xfrm>
          <a:off x="0" y="0"/>
          <a:ext cx="0" cy="0"/>
          <a:chOff x="0" y="0"/>
          <a:chExt cx="0" cy="0"/>
        </a:xfrm>
      </p:grpSpPr>
      <p:sp>
        <p:nvSpPr>
          <p:cNvPr id="293" name="Google Shape;293;p70"/>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4" name="Google Shape;294;p7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5" name="Google Shape;295;p7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6" name="Shape 296"/>
        <p:cNvGrpSpPr/>
        <p:nvPr/>
      </p:nvGrpSpPr>
      <p:grpSpPr>
        <a:xfrm>
          <a:off x="0" y="0"/>
          <a:ext cx="0" cy="0"/>
          <a:chOff x="0" y="0"/>
          <a:chExt cx="0" cy="0"/>
        </a:xfrm>
      </p:grpSpPr>
      <p:sp>
        <p:nvSpPr>
          <p:cNvPr id="297" name="Google Shape;297;p7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8" name="Shape 298"/>
        <p:cNvGrpSpPr/>
        <p:nvPr/>
      </p:nvGrpSpPr>
      <p:grpSpPr>
        <a:xfrm>
          <a:off x="0" y="0"/>
          <a:ext cx="0" cy="0"/>
          <a:chOff x="0" y="0"/>
          <a:chExt cx="0" cy="0"/>
        </a:xfrm>
      </p:grpSpPr>
      <p:sp>
        <p:nvSpPr>
          <p:cNvPr id="299" name="Google Shape;299;p72"/>
          <p:cNvSpPr txBox="1"/>
          <p:nvPr>
            <p:ph idx="1" type="subTitle"/>
          </p:nvPr>
        </p:nvSpPr>
        <p:spPr>
          <a:xfrm>
            <a:off x="597960" y="2152440"/>
            <a:ext cx="8221680" cy="38876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0" name="Shape 300"/>
        <p:cNvGrpSpPr/>
        <p:nvPr/>
      </p:nvGrpSpPr>
      <p:grpSpPr>
        <a:xfrm>
          <a:off x="0" y="0"/>
          <a:ext cx="0" cy="0"/>
          <a:chOff x="0" y="0"/>
          <a:chExt cx="0" cy="0"/>
        </a:xfrm>
      </p:grpSpPr>
      <p:sp>
        <p:nvSpPr>
          <p:cNvPr id="301" name="Google Shape;301;p73"/>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7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3" name="Google Shape;303;p7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4" name="Google Shape;304;p7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05" name="Shape 305"/>
        <p:cNvGrpSpPr/>
        <p:nvPr/>
      </p:nvGrpSpPr>
      <p:grpSpPr>
        <a:xfrm>
          <a:off x="0" y="0"/>
          <a:ext cx="0" cy="0"/>
          <a:chOff x="0" y="0"/>
          <a:chExt cx="0" cy="0"/>
        </a:xfrm>
      </p:grpSpPr>
      <p:sp>
        <p:nvSpPr>
          <p:cNvPr id="306" name="Google Shape;306;p74"/>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7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8" name="Google Shape;308;p7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9" name="Google Shape;309;p74"/>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10" name="Shape 310"/>
        <p:cNvGrpSpPr/>
        <p:nvPr/>
      </p:nvGrpSpPr>
      <p:grpSpPr>
        <a:xfrm>
          <a:off x="0" y="0"/>
          <a:ext cx="0" cy="0"/>
          <a:chOff x="0" y="0"/>
          <a:chExt cx="0" cy="0"/>
        </a:xfrm>
      </p:grpSpPr>
      <p:sp>
        <p:nvSpPr>
          <p:cNvPr id="311" name="Google Shape;311;p75"/>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7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3" name="Google Shape;313;p7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4" name="Google Shape;314;p75"/>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15" name="Shape 315"/>
        <p:cNvGrpSpPr/>
        <p:nvPr/>
      </p:nvGrpSpPr>
      <p:grpSpPr>
        <a:xfrm>
          <a:off x="0" y="0"/>
          <a:ext cx="0" cy="0"/>
          <a:chOff x="0" y="0"/>
          <a:chExt cx="0" cy="0"/>
        </a:xfrm>
      </p:grpSpPr>
      <p:sp>
        <p:nvSpPr>
          <p:cNvPr id="316" name="Google Shape;316;p7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76"/>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8" name="Google Shape;318;p76"/>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19" name="Shape 319"/>
        <p:cNvGrpSpPr/>
        <p:nvPr/>
      </p:nvGrpSpPr>
      <p:grpSpPr>
        <a:xfrm>
          <a:off x="0" y="0"/>
          <a:ext cx="0" cy="0"/>
          <a:chOff x="0" y="0"/>
          <a:chExt cx="0" cy="0"/>
        </a:xfrm>
      </p:grpSpPr>
      <p:sp>
        <p:nvSpPr>
          <p:cNvPr id="320" name="Google Shape;320;p77"/>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1" name="Google Shape;321;p7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2" name="Google Shape;322;p7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3" name="Google Shape;323;p7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4" name="Google Shape;324;p77"/>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25" name="Shape 325"/>
        <p:cNvGrpSpPr/>
        <p:nvPr/>
      </p:nvGrpSpPr>
      <p:grpSpPr>
        <a:xfrm>
          <a:off x="0" y="0"/>
          <a:ext cx="0" cy="0"/>
          <a:chOff x="0" y="0"/>
          <a:chExt cx="0" cy="0"/>
        </a:xfrm>
      </p:grpSpPr>
      <p:sp>
        <p:nvSpPr>
          <p:cNvPr id="326" name="Google Shape;326;p7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7" name="Google Shape;327;p78"/>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8" name="Google Shape;328;p78"/>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9" name="Google Shape;329;p78"/>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0" name="Google Shape;330;p78"/>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1" name="Google Shape;331;p78"/>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2" name="Google Shape;332;p78"/>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8" name="Shape 338"/>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39" name="Shape 339"/>
        <p:cNvGrpSpPr/>
        <p:nvPr/>
      </p:nvGrpSpPr>
      <p:grpSpPr>
        <a:xfrm>
          <a:off x="0" y="0"/>
          <a:ext cx="0" cy="0"/>
          <a:chOff x="0" y="0"/>
          <a:chExt cx="0" cy="0"/>
        </a:xfrm>
      </p:grpSpPr>
      <p:sp>
        <p:nvSpPr>
          <p:cNvPr id="340" name="Google Shape;340;p8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1" name="Google Shape;341;p81"/>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2" name="Shape 342"/>
        <p:cNvGrpSpPr/>
        <p:nvPr/>
      </p:nvGrpSpPr>
      <p:grpSpPr>
        <a:xfrm>
          <a:off x="0" y="0"/>
          <a:ext cx="0" cy="0"/>
          <a:chOff x="0" y="0"/>
          <a:chExt cx="0" cy="0"/>
        </a:xfrm>
      </p:grpSpPr>
      <p:sp>
        <p:nvSpPr>
          <p:cNvPr id="343" name="Google Shape;343;p82"/>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8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45" name="Shape 345"/>
        <p:cNvGrpSpPr/>
        <p:nvPr/>
      </p:nvGrpSpPr>
      <p:grpSpPr>
        <a:xfrm>
          <a:off x="0" y="0"/>
          <a:ext cx="0" cy="0"/>
          <a:chOff x="0" y="0"/>
          <a:chExt cx="0" cy="0"/>
        </a:xfrm>
      </p:grpSpPr>
      <p:sp>
        <p:nvSpPr>
          <p:cNvPr id="346" name="Google Shape;346;p83"/>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7" name="Google Shape;347;p83"/>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8" name="Google Shape;348;p8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9" name="Shape 349"/>
        <p:cNvGrpSpPr/>
        <p:nvPr/>
      </p:nvGrpSpPr>
      <p:grpSpPr>
        <a:xfrm>
          <a:off x="0" y="0"/>
          <a:ext cx="0" cy="0"/>
          <a:chOff x="0" y="0"/>
          <a:chExt cx="0" cy="0"/>
        </a:xfrm>
      </p:grpSpPr>
      <p:sp>
        <p:nvSpPr>
          <p:cNvPr id="350" name="Google Shape;350;p84"/>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51" name="Shape 351"/>
        <p:cNvGrpSpPr/>
        <p:nvPr/>
      </p:nvGrpSpPr>
      <p:grpSpPr>
        <a:xfrm>
          <a:off x="0" y="0"/>
          <a:ext cx="0" cy="0"/>
          <a:chOff x="0" y="0"/>
          <a:chExt cx="0" cy="0"/>
        </a:xfrm>
      </p:grpSpPr>
      <p:sp>
        <p:nvSpPr>
          <p:cNvPr id="352" name="Google Shape;352;p85"/>
          <p:cNvSpPr txBox="1"/>
          <p:nvPr>
            <p:ph idx="1" type="subTitle"/>
          </p:nvPr>
        </p:nvSpPr>
        <p:spPr>
          <a:xfrm>
            <a:off x="597960" y="2152440"/>
            <a:ext cx="8221680" cy="38876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53" name="Shape 353"/>
        <p:cNvGrpSpPr/>
        <p:nvPr/>
      </p:nvGrpSpPr>
      <p:grpSpPr>
        <a:xfrm>
          <a:off x="0" y="0"/>
          <a:ext cx="0" cy="0"/>
          <a:chOff x="0" y="0"/>
          <a:chExt cx="0" cy="0"/>
        </a:xfrm>
      </p:grpSpPr>
      <p:sp>
        <p:nvSpPr>
          <p:cNvPr id="354" name="Google Shape;354;p8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5" name="Google Shape;355;p8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6" name="Google Shape;356;p8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7" name="Google Shape;357;p86"/>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8" name="Shape 358"/>
        <p:cNvGrpSpPr/>
        <p:nvPr/>
      </p:nvGrpSpPr>
      <p:grpSpPr>
        <a:xfrm>
          <a:off x="0" y="0"/>
          <a:ext cx="0" cy="0"/>
          <a:chOff x="0" y="0"/>
          <a:chExt cx="0" cy="0"/>
        </a:xfrm>
      </p:grpSpPr>
      <p:sp>
        <p:nvSpPr>
          <p:cNvPr id="359" name="Google Shape;359;p87"/>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8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1" name="Google Shape;361;p8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2" name="Google Shape;362;p87"/>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3" name="Shape 363"/>
        <p:cNvGrpSpPr/>
        <p:nvPr/>
      </p:nvGrpSpPr>
      <p:grpSpPr>
        <a:xfrm>
          <a:off x="0" y="0"/>
          <a:ext cx="0" cy="0"/>
          <a:chOff x="0" y="0"/>
          <a:chExt cx="0" cy="0"/>
        </a:xfrm>
      </p:grpSpPr>
      <p:sp>
        <p:nvSpPr>
          <p:cNvPr id="364" name="Google Shape;364;p88"/>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8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6" name="Google Shape;366;p8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7" name="Google Shape;367;p88"/>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68" name="Shape 368"/>
        <p:cNvGrpSpPr/>
        <p:nvPr/>
      </p:nvGrpSpPr>
      <p:grpSpPr>
        <a:xfrm>
          <a:off x="0" y="0"/>
          <a:ext cx="0" cy="0"/>
          <a:chOff x="0" y="0"/>
          <a:chExt cx="0" cy="0"/>
        </a:xfrm>
      </p:grpSpPr>
      <p:sp>
        <p:nvSpPr>
          <p:cNvPr id="369" name="Google Shape;369;p89"/>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0" name="Google Shape;370;p89"/>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1" name="Google Shape;371;p89"/>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72" name="Shape 372"/>
        <p:cNvGrpSpPr/>
        <p:nvPr/>
      </p:nvGrpSpPr>
      <p:grpSpPr>
        <a:xfrm>
          <a:off x="0" y="0"/>
          <a:ext cx="0" cy="0"/>
          <a:chOff x="0" y="0"/>
          <a:chExt cx="0" cy="0"/>
        </a:xfrm>
      </p:grpSpPr>
      <p:sp>
        <p:nvSpPr>
          <p:cNvPr id="373" name="Google Shape;373;p90"/>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4" name="Google Shape;374;p9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5" name="Google Shape;375;p9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6" name="Google Shape;376;p9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7" name="Google Shape;377;p90"/>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78" name="Shape 378"/>
        <p:cNvGrpSpPr/>
        <p:nvPr/>
      </p:nvGrpSpPr>
      <p:grpSpPr>
        <a:xfrm>
          <a:off x="0" y="0"/>
          <a:ext cx="0" cy="0"/>
          <a:chOff x="0" y="0"/>
          <a:chExt cx="0" cy="0"/>
        </a:xfrm>
      </p:grpSpPr>
      <p:sp>
        <p:nvSpPr>
          <p:cNvPr id="379" name="Google Shape;379;p91"/>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91"/>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1" name="Google Shape;381;p91"/>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2" name="Google Shape;382;p91"/>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3" name="Google Shape;383;p91"/>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4" name="Google Shape;384;p91"/>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5" name="Google Shape;385;p91"/>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4.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8.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3.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theme" Target="../theme/theme7.xml"/><Relationship Id="rId12" Type="http://schemas.openxmlformats.org/officeDocument/2006/relationships/slideLayout" Target="../slideLayouts/slideLayout72.xml"/><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83.xml"/><Relationship Id="rId10" Type="http://schemas.openxmlformats.org/officeDocument/2006/relationships/slideLayout" Target="../slideLayouts/slideLayout82.xml"/><Relationship Id="rId13" Type="http://schemas.openxmlformats.org/officeDocument/2006/relationships/theme" Target="../theme/theme2.xml"/><Relationship Id="rId12" Type="http://schemas.openxmlformats.org/officeDocument/2006/relationships/slideLayout" Target="../slideLayouts/slideLayout84.xml"/><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3990"/>
        </a:solidFill>
      </p:bgPr>
    </p:bg>
    <p:spTree>
      <p:nvGrpSpPr>
        <p:cNvPr id="5" name="Shape 5"/>
        <p:cNvGrpSpPr/>
        <p:nvPr/>
      </p:nvGrpSpPr>
      <p:grpSpPr>
        <a:xfrm>
          <a:off x="0" y="0"/>
          <a:ext cx="0" cy="0"/>
          <a:chOff x="0" y="0"/>
          <a:chExt cx="0" cy="0"/>
        </a:xfrm>
      </p:grpSpPr>
      <p:grpSp>
        <p:nvGrpSpPr>
          <p:cNvPr id="6" name="Google Shape;6;p1"/>
          <p:cNvGrpSpPr/>
          <p:nvPr/>
        </p:nvGrpSpPr>
        <p:grpSpPr>
          <a:xfrm>
            <a:off x="6098760" y="0"/>
            <a:ext cx="3045240" cy="2030400"/>
            <a:chOff x="6098760" y="0"/>
            <a:chExt cx="3045240" cy="2030400"/>
          </a:xfrm>
        </p:grpSpPr>
        <p:sp>
          <p:nvSpPr>
            <p:cNvPr id="7" name="Google Shape;7;p1"/>
            <p:cNvSpPr/>
            <p:nvPr/>
          </p:nvSpPr>
          <p:spPr>
            <a:xfrm>
              <a:off x="8128800" y="0"/>
              <a:ext cx="1014840" cy="101484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
            <p:cNvSpPr/>
            <p:nvPr/>
          </p:nvSpPr>
          <p:spPr>
            <a:xfrm flipH="1">
              <a:off x="7112160" y="0"/>
              <a:ext cx="1014840" cy="101484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
            <p:cNvSpPr/>
            <p:nvPr/>
          </p:nvSpPr>
          <p:spPr>
            <a:xfrm flipH="1" rot="10800000">
              <a:off x="7112520" y="1015200"/>
              <a:ext cx="1014840" cy="101484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
            <p:cNvSpPr/>
            <p:nvPr/>
          </p:nvSpPr>
          <p:spPr>
            <a:xfrm rot="10800000">
              <a:off x="6098760" y="360"/>
              <a:ext cx="1014840" cy="101484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rot="10800000">
              <a:off x="8129160" y="1015560"/>
              <a:ext cx="1014840" cy="101484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 name="Google Shape;12;p1"/>
          <p:cNvSpPr txBox="1"/>
          <p:nvPr>
            <p:ph type="title"/>
          </p:nvPr>
        </p:nvSpPr>
        <p:spPr>
          <a:xfrm>
            <a:off x="597960" y="1775160"/>
            <a:ext cx="8221680" cy="838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
          <p:cNvSpPr txBox="1"/>
          <p:nvPr>
            <p:ph idx="12" type="sldNum"/>
          </p:nvPr>
        </p:nvSpPr>
        <p:spPr>
          <a:xfrm>
            <a:off x="8460360" y="465120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FFFFFF"/>
                </a:solidFill>
                <a:latin typeface="Roboto"/>
                <a:ea typeface="Roboto"/>
                <a:cs typeface="Roboto"/>
                <a:sym typeface="Roboto"/>
              </a:defRPr>
            </a:lvl1pPr>
            <a:lvl2pPr indent="0" lvl="1" marL="0" marR="0" rtl="0" algn="r">
              <a:lnSpc>
                <a:spcPct val="100000"/>
              </a:lnSpc>
              <a:spcBef>
                <a:spcPts val="0"/>
              </a:spcBef>
              <a:buNone/>
              <a:defRPr b="0" i="0" sz="1000" u="none" cap="none" strike="noStrike">
                <a:solidFill>
                  <a:srgbClr val="FFFFFF"/>
                </a:solidFill>
                <a:latin typeface="Roboto"/>
                <a:ea typeface="Roboto"/>
                <a:cs typeface="Roboto"/>
                <a:sym typeface="Roboto"/>
              </a:defRPr>
            </a:lvl2pPr>
            <a:lvl3pPr indent="0" lvl="2" marL="0" marR="0" rtl="0" algn="r">
              <a:lnSpc>
                <a:spcPct val="100000"/>
              </a:lnSpc>
              <a:spcBef>
                <a:spcPts val="0"/>
              </a:spcBef>
              <a:buNone/>
              <a:defRPr b="0" i="0" sz="1000" u="none" cap="none" strike="noStrike">
                <a:solidFill>
                  <a:srgbClr val="FFFFFF"/>
                </a:solidFill>
                <a:latin typeface="Roboto"/>
                <a:ea typeface="Roboto"/>
                <a:cs typeface="Roboto"/>
                <a:sym typeface="Roboto"/>
              </a:defRPr>
            </a:lvl3pPr>
            <a:lvl4pPr indent="0" lvl="3" marL="0" marR="0" rtl="0" algn="r">
              <a:lnSpc>
                <a:spcPct val="100000"/>
              </a:lnSpc>
              <a:spcBef>
                <a:spcPts val="0"/>
              </a:spcBef>
              <a:buNone/>
              <a:defRPr b="0" i="0" sz="1000" u="none" cap="none" strike="noStrike">
                <a:solidFill>
                  <a:srgbClr val="FFFFFF"/>
                </a:solidFill>
                <a:latin typeface="Roboto"/>
                <a:ea typeface="Roboto"/>
                <a:cs typeface="Roboto"/>
                <a:sym typeface="Roboto"/>
              </a:defRPr>
            </a:lvl4pPr>
            <a:lvl5pPr indent="0" lvl="4" marL="0" marR="0" rtl="0" algn="r">
              <a:lnSpc>
                <a:spcPct val="100000"/>
              </a:lnSpc>
              <a:spcBef>
                <a:spcPts val="0"/>
              </a:spcBef>
              <a:buNone/>
              <a:defRPr b="0" i="0" sz="1000" u="none" cap="none" strike="noStrike">
                <a:solidFill>
                  <a:srgbClr val="FFFFFF"/>
                </a:solidFill>
                <a:latin typeface="Roboto"/>
                <a:ea typeface="Roboto"/>
                <a:cs typeface="Roboto"/>
                <a:sym typeface="Roboto"/>
              </a:defRPr>
            </a:lvl5pPr>
            <a:lvl6pPr indent="0" lvl="5" marL="0" marR="0" rtl="0" algn="r">
              <a:lnSpc>
                <a:spcPct val="100000"/>
              </a:lnSpc>
              <a:spcBef>
                <a:spcPts val="0"/>
              </a:spcBef>
              <a:buNone/>
              <a:defRPr b="0" i="0" sz="1000" u="none" cap="none" strike="noStrike">
                <a:solidFill>
                  <a:srgbClr val="FFFFFF"/>
                </a:solidFill>
                <a:latin typeface="Roboto"/>
                <a:ea typeface="Roboto"/>
                <a:cs typeface="Roboto"/>
                <a:sym typeface="Roboto"/>
              </a:defRPr>
            </a:lvl6pPr>
            <a:lvl7pPr indent="0" lvl="6" marL="0" marR="0" rtl="0" algn="r">
              <a:lnSpc>
                <a:spcPct val="100000"/>
              </a:lnSpc>
              <a:spcBef>
                <a:spcPts val="0"/>
              </a:spcBef>
              <a:buNone/>
              <a:defRPr b="0" i="0" sz="1000" u="none" cap="none" strike="noStrike">
                <a:solidFill>
                  <a:srgbClr val="FFFFFF"/>
                </a:solidFill>
                <a:latin typeface="Roboto"/>
                <a:ea typeface="Roboto"/>
                <a:cs typeface="Roboto"/>
                <a:sym typeface="Roboto"/>
              </a:defRPr>
            </a:lvl7pPr>
            <a:lvl8pPr indent="0" lvl="7" marL="0" marR="0" rtl="0" algn="r">
              <a:lnSpc>
                <a:spcPct val="100000"/>
              </a:lnSpc>
              <a:spcBef>
                <a:spcPts val="0"/>
              </a:spcBef>
              <a:buNone/>
              <a:defRPr b="0" i="0" sz="1000" u="none" cap="none" strike="noStrike">
                <a:solidFill>
                  <a:srgbClr val="FFFFFF"/>
                </a:solidFill>
                <a:latin typeface="Roboto"/>
                <a:ea typeface="Roboto"/>
                <a:cs typeface="Roboto"/>
                <a:sym typeface="Roboto"/>
              </a:defRPr>
            </a:lvl8pPr>
            <a:lvl9pPr indent="0" lvl="8" marL="0" marR="0" rtl="0" algn="r">
              <a:lnSpc>
                <a:spcPct val="100000"/>
              </a:lnSpc>
              <a:spcBef>
                <a:spcPts val="0"/>
              </a:spcBef>
              <a:buNone/>
              <a:defRPr b="0" i="0" sz="1000" u="none" cap="none"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4" name="Google Shape;14;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4"/>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2A3990"/>
            </a:solidFill>
            <a:prstDash val="solid"/>
            <a:round/>
            <a:headEnd len="sm" w="sm" type="none"/>
            <a:tailEnd len="sm" w="sm" type="none"/>
          </a:ln>
        </p:spPr>
      </p:sp>
      <p:sp>
        <p:nvSpPr>
          <p:cNvPr id="65" name="Google Shape;65;p1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27"/>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2A3990"/>
            </a:solidFill>
            <a:prstDash val="solid"/>
            <a:round/>
            <a:headEnd len="sm" w="sm" type="none"/>
            <a:tailEnd len="sm" w="sm" type="none"/>
          </a:ln>
        </p:spPr>
      </p:sp>
      <p:sp>
        <p:nvSpPr>
          <p:cNvPr id="117" name="Google Shape;117;p27"/>
          <p:cNvSpPr txBox="1"/>
          <p:nvPr>
            <p:ph type="title"/>
          </p:nvPr>
        </p:nvSpPr>
        <p:spPr>
          <a:xfrm>
            <a:off x="457200" y="590400"/>
            <a:ext cx="8229240" cy="858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8" name="Google Shape;118;p27"/>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fld id="{00000000-1234-1234-1234-123412341234}" type="slidenum">
              <a:rPr b="0" i="0" lang="en-US" sz="1800" u="none" cap="none" strike="noStrike">
                <a:latin typeface="Arial"/>
                <a:ea typeface="Arial"/>
                <a:cs typeface="Arial"/>
                <a:sym typeface="Arial"/>
              </a:rPr>
              <a:t>‹#›</a:t>
            </a:fld>
            <a:endParaRPr b="0" sz="1800" strike="noStrike">
              <a:latin typeface="Arial"/>
              <a:ea typeface="Arial"/>
              <a:cs typeface="Arial"/>
              <a:sym typeface="Arial"/>
            </a:endParaRPr>
          </a:p>
        </p:txBody>
      </p:sp>
      <p:sp>
        <p:nvSpPr>
          <p:cNvPr id="119" name="Google Shape;119;p2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40"/>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2A3990"/>
            </a:solidFill>
            <a:prstDash val="solid"/>
            <a:round/>
            <a:headEnd len="sm" w="sm" type="none"/>
            <a:tailEnd len="sm" w="sm" type="none"/>
          </a:ln>
        </p:spPr>
      </p:sp>
      <p:sp>
        <p:nvSpPr>
          <p:cNvPr id="170" name="Google Shape;170;p40"/>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1" name="Google Shape;171;p40"/>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2" name="Google Shape;172;p40"/>
          <p:cNvSpPr txBox="1"/>
          <p:nvPr>
            <p:ph idx="12" type="sldNum"/>
          </p:nvPr>
        </p:nvSpPr>
        <p:spPr>
          <a:xfrm>
            <a:off x="8458200" y="4700160"/>
            <a:ext cx="228240" cy="10728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sz="700" strike="noStrike">
                <a:solidFill>
                  <a:srgbClr val="2A3990"/>
                </a:solidFill>
                <a:latin typeface="Arial"/>
                <a:ea typeface="Arial"/>
                <a:cs typeface="Arial"/>
                <a:sym typeface="Arial"/>
              </a:defRPr>
            </a:lvl1pPr>
            <a:lvl2pPr indent="0" lvl="1" marL="0" marR="0" rtl="0" algn="r">
              <a:lnSpc>
                <a:spcPct val="100000"/>
              </a:lnSpc>
              <a:spcBef>
                <a:spcPts val="0"/>
              </a:spcBef>
              <a:buNone/>
              <a:defRPr b="1" sz="700" strike="noStrike">
                <a:solidFill>
                  <a:srgbClr val="2A3990"/>
                </a:solidFill>
                <a:latin typeface="Arial"/>
                <a:ea typeface="Arial"/>
                <a:cs typeface="Arial"/>
                <a:sym typeface="Arial"/>
              </a:defRPr>
            </a:lvl2pPr>
            <a:lvl3pPr indent="0" lvl="2" marL="0" marR="0" rtl="0" algn="r">
              <a:lnSpc>
                <a:spcPct val="100000"/>
              </a:lnSpc>
              <a:spcBef>
                <a:spcPts val="0"/>
              </a:spcBef>
              <a:buNone/>
              <a:defRPr b="1" sz="700" strike="noStrike">
                <a:solidFill>
                  <a:srgbClr val="2A3990"/>
                </a:solidFill>
                <a:latin typeface="Arial"/>
                <a:ea typeface="Arial"/>
                <a:cs typeface="Arial"/>
                <a:sym typeface="Arial"/>
              </a:defRPr>
            </a:lvl3pPr>
            <a:lvl4pPr indent="0" lvl="3" marL="0" marR="0" rtl="0" algn="r">
              <a:lnSpc>
                <a:spcPct val="100000"/>
              </a:lnSpc>
              <a:spcBef>
                <a:spcPts val="0"/>
              </a:spcBef>
              <a:buNone/>
              <a:defRPr b="1" sz="700" strike="noStrike">
                <a:solidFill>
                  <a:srgbClr val="2A3990"/>
                </a:solidFill>
                <a:latin typeface="Arial"/>
                <a:ea typeface="Arial"/>
                <a:cs typeface="Arial"/>
                <a:sym typeface="Arial"/>
              </a:defRPr>
            </a:lvl4pPr>
            <a:lvl5pPr indent="0" lvl="4" marL="0" marR="0" rtl="0" algn="r">
              <a:lnSpc>
                <a:spcPct val="100000"/>
              </a:lnSpc>
              <a:spcBef>
                <a:spcPts val="0"/>
              </a:spcBef>
              <a:buNone/>
              <a:defRPr b="1" sz="700" strike="noStrike">
                <a:solidFill>
                  <a:srgbClr val="2A3990"/>
                </a:solidFill>
                <a:latin typeface="Arial"/>
                <a:ea typeface="Arial"/>
                <a:cs typeface="Arial"/>
                <a:sym typeface="Arial"/>
              </a:defRPr>
            </a:lvl5pPr>
            <a:lvl6pPr indent="0" lvl="5" marL="0" marR="0" rtl="0" algn="r">
              <a:lnSpc>
                <a:spcPct val="100000"/>
              </a:lnSpc>
              <a:spcBef>
                <a:spcPts val="0"/>
              </a:spcBef>
              <a:buNone/>
              <a:defRPr b="1" sz="700" strike="noStrike">
                <a:solidFill>
                  <a:srgbClr val="2A3990"/>
                </a:solidFill>
                <a:latin typeface="Arial"/>
                <a:ea typeface="Arial"/>
                <a:cs typeface="Arial"/>
                <a:sym typeface="Arial"/>
              </a:defRPr>
            </a:lvl6pPr>
            <a:lvl7pPr indent="0" lvl="6" marL="0" marR="0" rtl="0" algn="r">
              <a:lnSpc>
                <a:spcPct val="100000"/>
              </a:lnSpc>
              <a:spcBef>
                <a:spcPts val="0"/>
              </a:spcBef>
              <a:buNone/>
              <a:defRPr b="1" sz="700" strike="noStrike">
                <a:solidFill>
                  <a:srgbClr val="2A3990"/>
                </a:solidFill>
                <a:latin typeface="Arial"/>
                <a:ea typeface="Arial"/>
                <a:cs typeface="Arial"/>
                <a:sym typeface="Arial"/>
              </a:defRPr>
            </a:lvl7pPr>
            <a:lvl8pPr indent="0" lvl="7" marL="0" marR="0" rtl="0" algn="r">
              <a:lnSpc>
                <a:spcPct val="100000"/>
              </a:lnSpc>
              <a:spcBef>
                <a:spcPts val="0"/>
              </a:spcBef>
              <a:buNone/>
              <a:defRPr b="1" sz="700" strike="noStrike">
                <a:solidFill>
                  <a:srgbClr val="2A3990"/>
                </a:solidFill>
                <a:latin typeface="Arial"/>
                <a:ea typeface="Arial"/>
                <a:cs typeface="Arial"/>
                <a:sym typeface="Arial"/>
              </a:defRPr>
            </a:lvl8pPr>
            <a:lvl9pPr indent="0" lvl="8" marL="0" marR="0" rtl="0" algn="r">
              <a:lnSpc>
                <a:spcPct val="100000"/>
              </a:lnSpc>
              <a:spcBef>
                <a:spcPts val="0"/>
              </a:spcBef>
              <a:buNone/>
              <a:defRPr b="1" sz="700" strike="noStrike">
                <a:solidFill>
                  <a:srgbClr val="2A399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53"/>
          <p:cNvSpPr/>
          <p:nvPr/>
        </p:nvSpPr>
        <p:spPr>
          <a:xfrm>
            <a:off x="4572000" y="0"/>
            <a:ext cx="4571640" cy="514332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3"/>
          <p:cNvSpPr/>
          <p:nvPr/>
        </p:nvSpPr>
        <p:spPr>
          <a:xfrm>
            <a:off x="5029560" y="4495680"/>
            <a:ext cx="468000" cy="360"/>
          </a:xfrm>
          <a:custGeom>
            <a:rect b="b" l="l" r="r" t="t"/>
            <a:pathLst>
              <a:path extrusionOk="0" h="21600" w="21600">
                <a:moveTo>
                  <a:pt x="0" y="0"/>
                </a:moveTo>
                <a:lnTo>
                  <a:pt x="21600" y="21600"/>
                </a:lnTo>
              </a:path>
            </a:pathLst>
          </a:custGeom>
          <a:noFill/>
          <a:ln cap="flat" cmpd="sng" w="19075">
            <a:solidFill>
              <a:srgbClr val="FFFFFF"/>
            </a:solidFill>
            <a:prstDash val="solid"/>
            <a:round/>
            <a:headEnd len="sm" w="sm" type="none"/>
            <a:tailEnd len="sm" w="sm" type="none"/>
          </a:ln>
        </p:spPr>
      </p:sp>
      <p:sp>
        <p:nvSpPr>
          <p:cNvPr id="224" name="Google Shape;224;p53"/>
          <p:cNvSpPr txBox="1"/>
          <p:nvPr>
            <p:ph type="title"/>
          </p:nvPr>
        </p:nvSpPr>
        <p:spPr>
          <a:xfrm>
            <a:off x="265680" y="1151280"/>
            <a:ext cx="4044960" cy="1564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5" name="Google Shape;225;p53"/>
          <p:cNvSpPr txBox="1"/>
          <p:nvPr>
            <p:ph idx="1" type="body"/>
          </p:nvPr>
        </p:nvSpPr>
        <p:spPr>
          <a:xfrm>
            <a:off x="4939560" y="724320"/>
            <a:ext cx="3836520" cy="36946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26" name="Google Shape;226;p53"/>
          <p:cNvSpPr txBox="1"/>
          <p:nvPr>
            <p:ph idx="12" type="sldNum"/>
          </p:nvPr>
        </p:nvSpPr>
        <p:spPr>
          <a:xfrm>
            <a:off x="8460360" y="465120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sz="1000" strike="noStrike">
                <a:solidFill>
                  <a:srgbClr val="FFFFFF"/>
                </a:solidFill>
                <a:latin typeface="Roboto"/>
                <a:ea typeface="Roboto"/>
                <a:cs typeface="Roboto"/>
                <a:sym typeface="Roboto"/>
              </a:defRPr>
            </a:lvl1pPr>
            <a:lvl2pPr indent="0" lvl="1" marL="0" marR="0" rtl="0" algn="r">
              <a:lnSpc>
                <a:spcPct val="100000"/>
              </a:lnSpc>
              <a:spcBef>
                <a:spcPts val="0"/>
              </a:spcBef>
              <a:buNone/>
              <a:defRPr b="0" sz="1000" strike="noStrike">
                <a:solidFill>
                  <a:srgbClr val="FFFFFF"/>
                </a:solidFill>
                <a:latin typeface="Roboto"/>
                <a:ea typeface="Roboto"/>
                <a:cs typeface="Roboto"/>
                <a:sym typeface="Roboto"/>
              </a:defRPr>
            </a:lvl2pPr>
            <a:lvl3pPr indent="0" lvl="2" marL="0" marR="0" rtl="0" algn="r">
              <a:lnSpc>
                <a:spcPct val="100000"/>
              </a:lnSpc>
              <a:spcBef>
                <a:spcPts val="0"/>
              </a:spcBef>
              <a:buNone/>
              <a:defRPr b="0" sz="1000" strike="noStrike">
                <a:solidFill>
                  <a:srgbClr val="FFFFFF"/>
                </a:solidFill>
                <a:latin typeface="Roboto"/>
                <a:ea typeface="Roboto"/>
                <a:cs typeface="Roboto"/>
                <a:sym typeface="Roboto"/>
              </a:defRPr>
            </a:lvl3pPr>
            <a:lvl4pPr indent="0" lvl="3" marL="0" marR="0" rtl="0" algn="r">
              <a:lnSpc>
                <a:spcPct val="100000"/>
              </a:lnSpc>
              <a:spcBef>
                <a:spcPts val="0"/>
              </a:spcBef>
              <a:buNone/>
              <a:defRPr b="0" sz="1000" strike="noStrike">
                <a:solidFill>
                  <a:srgbClr val="FFFFFF"/>
                </a:solidFill>
                <a:latin typeface="Roboto"/>
                <a:ea typeface="Roboto"/>
                <a:cs typeface="Roboto"/>
                <a:sym typeface="Roboto"/>
              </a:defRPr>
            </a:lvl4pPr>
            <a:lvl5pPr indent="0" lvl="4" marL="0" marR="0" rtl="0" algn="r">
              <a:lnSpc>
                <a:spcPct val="100000"/>
              </a:lnSpc>
              <a:spcBef>
                <a:spcPts val="0"/>
              </a:spcBef>
              <a:buNone/>
              <a:defRPr b="0" sz="1000" strike="noStrike">
                <a:solidFill>
                  <a:srgbClr val="FFFFFF"/>
                </a:solidFill>
                <a:latin typeface="Roboto"/>
                <a:ea typeface="Roboto"/>
                <a:cs typeface="Roboto"/>
                <a:sym typeface="Roboto"/>
              </a:defRPr>
            </a:lvl5pPr>
            <a:lvl6pPr indent="0" lvl="5" marL="0" marR="0" rtl="0" algn="r">
              <a:lnSpc>
                <a:spcPct val="100000"/>
              </a:lnSpc>
              <a:spcBef>
                <a:spcPts val="0"/>
              </a:spcBef>
              <a:buNone/>
              <a:defRPr b="0" sz="1000" strike="noStrike">
                <a:solidFill>
                  <a:srgbClr val="FFFFFF"/>
                </a:solidFill>
                <a:latin typeface="Roboto"/>
                <a:ea typeface="Roboto"/>
                <a:cs typeface="Roboto"/>
                <a:sym typeface="Roboto"/>
              </a:defRPr>
            </a:lvl6pPr>
            <a:lvl7pPr indent="0" lvl="6" marL="0" marR="0" rtl="0" algn="r">
              <a:lnSpc>
                <a:spcPct val="100000"/>
              </a:lnSpc>
              <a:spcBef>
                <a:spcPts val="0"/>
              </a:spcBef>
              <a:buNone/>
              <a:defRPr b="0" sz="1000" strike="noStrike">
                <a:solidFill>
                  <a:srgbClr val="FFFFFF"/>
                </a:solidFill>
                <a:latin typeface="Roboto"/>
                <a:ea typeface="Roboto"/>
                <a:cs typeface="Roboto"/>
                <a:sym typeface="Roboto"/>
              </a:defRPr>
            </a:lvl7pPr>
            <a:lvl8pPr indent="0" lvl="7" marL="0" marR="0" rtl="0" algn="r">
              <a:lnSpc>
                <a:spcPct val="100000"/>
              </a:lnSpc>
              <a:spcBef>
                <a:spcPts val="0"/>
              </a:spcBef>
              <a:buNone/>
              <a:defRPr b="0" sz="1000" strike="noStrike">
                <a:solidFill>
                  <a:srgbClr val="FFFFFF"/>
                </a:solidFill>
                <a:latin typeface="Roboto"/>
                <a:ea typeface="Roboto"/>
                <a:cs typeface="Roboto"/>
                <a:sym typeface="Roboto"/>
              </a:defRPr>
            </a:lvl8pPr>
            <a:lvl9pPr indent="0" lvl="8" marL="0" marR="0" rtl="0" algn="r">
              <a:lnSpc>
                <a:spcPct val="100000"/>
              </a:lnSpc>
              <a:spcBef>
                <a:spcPts val="0"/>
              </a:spcBef>
              <a:buNone/>
              <a:defRPr b="0" sz="1000"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3990"/>
        </a:solidFill>
      </p:bgPr>
    </p:bg>
    <p:spTree>
      <p:nvGrpSpPr>
        <p:cNvPr id="275" name="Shape 275"/>
        <p:cNvGrpSpPr/>
        <p:nvPr/>
      </p:nvGrpSpPr>
      <p:grpSpPr>
        <a:xfrm>
          <a:off x="0" y="0"/>
          <a:ext cx="0" cy="0"/>
          <a:chOff x="0" y="0"/>
          <a:chExt cx="0" cy="0"/>
        </a:xfrm>
      </p:grpSpPr>
      <p:grpSp>
        <p:nvGrpSpPr>
          <p:cNvPr id="276" name="Google Shape;276;p66"/>
          <p:cNvGrpSpPr/>
          <p:nvPr/>
        </p:nvGrpSpPr>
        <p:grpSpPr>
          <a:xfrm>
            <a:off x="6098760" y="0"/>
            <a:ext cx="3045240" cy="2030400"/>
            <a:chOff x="6098760" y="0"/>
            <a:chExt cx="3045240" cy="2030400"/>
          </a:xfrm>
        </p:grpSpPr>
        <p:sp>
          <p:nvSpPr>
            <p:cNvPr id="277" name="Google Shape;277;p66"/>
            <p:cNvSpPr/>
            <p:nvPr/>
          </p:nvSpPr>
          <p:spPr>
            <a:xfrm>
              <a:off x="8128800" y="0"/>
              <a:ext cx="1014840" cy="101484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6"/>
            <p:cNvSpPr/>
            <p:nvPr/>
          </p:nvSpPr>
          <p:spPr>
            <a:xfrm flipH="1">
              <a:off x="7112160" y="0"/>
              <a:ext cx="1014840" cy="101484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6"/>
            <p:cNvSpPr/>
            <p:nvPr/>
          </p:nvSpPr>
          <p:spPr>
            <a:xfrm flipH="1" rot="10800000">
              <a:off x="7112520" y="1015200"/>
              <a:ext cx="1014840" cy="101484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6"/>
            <p:cNvSpPr/>
            <p:nvPr/>
          </p:nvSpPr>
          <p:spPr>
            <a:xfrm rot="10800000">
              <a:off x="6098760" y="360"/>
              <a:ext cx="1014840" cy="101484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6"/>
            <p:cNvSpPr/>
            <p:nvPr/>
          </p:nvSpPr>
          <p:spPr>
            <a:xfrm rot="10800000">
              <a:off x="8129160" y="1015560"/>
              <a:ext cx="1014840" cy="101484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66"/>
          <p:cNvSpPr txBox="1"/>
          <p:nvPr>
            <p:ph type="title"/>
          </p:nvPr>
        </p:nvSpPr>
        <p:spPr>
          <a:xfrm>
            <a:off x="597960" y="2152440"/>
            <a:ext cx="8221680" cy="838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83" name="Google Shape;283;p66"/>
          <p:cNvSpPr txBox="1"/>
          <p:nvPr>
            <p:ph idx="12" type="sldNum"/>
          </p:nvPr>
        </p:nvSpPr>
        <p:spPr>
          <a:xfrm>
            <a:off x="8460360" y="465120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sz="1000" strike="noStrike">
                <a:solidFill>
                  <a:srgbClr val="FFFFFF"/>
                </a:solidFill>
                <a:latin typeface="Roboto"/>
                <a:ea typeface="Roboto"/>
                <a:cs typeface="Roboto"/>
                <a:sym typeface="Roboto"/>
              </a:defRPr>
            </a:lvl1pPr>
            <a:lvl2pPr indent="0" lvl="1" marL="0" marR="0" rtl="0" algn="r">
              <a:lnSpc>
                <a:spcPct val="100000"/>
              </a:lnSpc>
              <a:spcBef>
                <a:spcPts val="0"/>
              </a:spcBef>
              <a:buNone/>
              <a:defRPr b="0" sz="1000" strike="noStrike">
                <a:solidFill>
                  <a:srgbClr val="FFFFFF"/>
                </a:solidFill>
                <a:latin typeface="Roboto"/>
                <a:ea typeface="Roboto"/>
                <a:cs typeface="Roboto"/>
                <a:sym typeface="Roboto"/>
              </a:defRPr>
            </a:lvl2pPr>
            <a:lvl3pPr indent="0" lvl="2" marL="0" marR="0" rtl="0" algn="r">
              <a:lnSpc>
                <a:spcPct val="100000"/>
              </a:lnSpc>
              <a:spcBef>
                <a:spcPts val="0"/>
              </a:spcBef>
              <a:buNone/>
              <a:defRPr b="0" sz="1000" strike="noStrike">
                <a:solidFill>
                  <a:srgbClr val="FFFFFF"/>
                </a:solidFill>
                <a:latin typeface="Roboto"/>
                <a:ea typeface="Roboto"/>
                <a:cs typeface="Roboto"/>
                <a:sym typeface="Roboto"/>
              </a:defRPr>
            </a:lvl3pPr>
            <a:lvl4pPr indent="0" lvl="3" marL="0" marR="0" rtl="0" algn="r">
              <a:lnSpc>
                <a:spcPct val="100000"/>
              </a:lnSpc>
              <a:spcBef>
                <a:spcPts val="0"/>
              </a:spcBef>
              <a:buNone/>
              <a:defRPr b="0" sz="1000" strike="noStrike">
                <a:solidFill>
                  <a:srgbClr val="FFFFFF"/>
                </a:solidFill>
                <a:latin typeface="Roboto"/>
                <a:ea typeface="Roboto"/>
                <a:cs typeface="Roboto"/>
                <a:sym typeface="Roboto"/>
              </a:defRPr>
            </a:lvl4pPr>
            <a:lvl5pPr indent="0" lvl="4" marL="0" marR="0" rtl="0" algn="r">
              <a:lnSpc>
                <a:spcPct val="100000"/>
              </a:lnSpc>
              <a:spcBef>
                <a:spcPts val="0"/>
              </a:spcBef>
              <a:buNone/>
              <a:defRPr b="0" sz="1000" strike="noStrike">
                <a:solidFill>
                  <a:srgbClr val="FFFFFF"/>
                </a:solidFill>
                <a:latin typeface="Roboto"/>
                <a:ea typeface="Roboto"/>
                <a:cs typeface="Roboto"/>
                <a:sym typeface="Roboto"/>
              </a:defRPr>
            </a:lvl5pPr>
            <a:lvl6pPr indent="0" lvl="5" marL="0" marR="0" rtl="0" algn="r">
              <a:lnSpc>
                <a:spcPct val="100000"/>
              </a:lnSpc>
              <a:spcBef>
                <a:spcPts val="0"/>
              </a:spcBef>
              <a:buNone/>
              <a:defRPr b="0" sz="1000" strike="noStrike">
                <a:solidFill>
                  <a:srgbClr val="FFFFFF"/>
                </a:solidFill>
                <a:latin typeface="Roboto"/>
                <a:ea typeface="Roboto"/>
                <a:cs typeface="Roboto"/>
                <a:sym typeface="Roboto"/>
              </a:defRPr>
            </a:lvl6pPr>
            <a:lvl7pPr indent="0" lvl="6" marL="0" marR="0" rtl="0" algn="r">
              <a:lnSpc>
                <a:spcPct val="100000"/>
              </a:lnSpc>
              <a:spcBef>
                <a:spcPts val="0"/>
              </a:spcBef>
              <a:buNone/>
              <a:defRPr b="0" sz="1000" strike="noStrike">
                <a:solidFill>
                  <a:srgbClr val="FFFFFF"/>
                </a:solidFill>
                <a:latin typeface="Roboto"/>
                <a:ea typeface="Roboto"/>
                <a:cs typeface="Roboto"/>
                <a:sym typeface="Roboto"/>
              </a:defRPr>
            </a:lvl7pPr>
            <a:lvl8pPr indent="0" lvl="7" marL="0" marR="0" rtl="0" algn="r">
              <a:lnSpc>
                <a:spcPct val="100000"/>
              </a:lnSpc>
              <a:spcBef>
                <a:spcPts val="0"/>
              </a:spcBef>
              <a:buNone/>
              <a:defRPr b="0" sz="1000" strike="noStrike">
                <a:solidFill>
                  <a:srgbClr val="FFFFFF"/>
                </a:solidFill>
                <a:latin typeface="Roboto"/>
                <a:ea typeface="Roboto"/>
                <a:cs typeface="Roboto"/>
                <a:sym typeface="Roboto"/>
              </a:defRPr>
            </a:lvl8pPr>
            <a:lvl9pPr indent="0" lvl="8" marL="0" marR="0" rtl="0" algn="r">
              <a:lnSpc>
                <a:spcPct val="100000"/>
              </a:lnSpc>
              <a:spcBef>
                <a:spcPts val="0"/>
              </a:spcBef>
              <a:buNone/>
              <a:defRPr b="0" sz="1000"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284" name="Google Shape;284;p6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79"/>
          <p:cNvSpPr txBox="1"/>
          <p:nvPr>
            <p:ph type="title"/>
          </p:nvPr>
        </p:nvSpPr>
        <p:spPr>
          <a:xfrm>
            <a:off x="457200" y="59436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35" name="Google Shape;335;p79"/>
          <p:cNvSpPr txBox="1"/>
          <p:nvPr>
            <p:ph idx="1" type="body"/>
          </p:nvPr>
        </p:nvSpPr>
        <p:spPr>
          <a:xfrm>
            <a:off x="457200" y="1459440"/>
            <a:ext cx="7086240" cy="29786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6" name="Google Shape;336;p79"/>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sz="700" strike="noStrike">
                <a:solidFill>
                  <a:srgbClr val="2A3990"/>
                </a:solidFill>
                <a:latin typeface="Arial"/>
                <a:ea typeface="Arial"/>
                <a:cs typeface="Arial"/>
                <a:sym typeface="Arial"/>
              </a:defRPr>
            </a:lvl1pPr>
            <a:lvl2pPr indent="0" lvl="1" marL="0" marR="0" rtl="0" algn="r">
              <a:lnSpc>
                <a:spcPct val="100000"/>
              </a:lnSpc>
              <a:spcBef>
                <a:spcPts val="0"/>
              </a:spcBef>
              <a:buNone/>
              <a:defRPr b="1" sz="700" strike="noStrike">
                <a:solidFill>
                  <a:srgbClr val="2A3990"/>
                </a:solidFill>
                <a:latin typeface="Arial"/>
                <a:ea typeface="Arial"/>
                <a:cs typeface="Arial"/>
                <a:sym typeface="Arial"/>
              </a:defRPr>
            </a:lvl2pPr>
            <a:lvl3pPr indent="0" lvl="2" marL="0" marR="0" rtl="0" algn="r">
              <a:lnSpc>
                <a:spcPct val="100000"/>
              </a:lnSpc>
              <a:spcBef>
                <a:spcPts val="0"/>
              </a:spcBef>
              <a:buNone/>
              <a:defRPr b="1" sz="700" strike="noStrike">
                <a:solidFill>
                  <a:srgbClr val="2A3990"/>
                </a:solidFill>
                <a:latin typeface="Arial"/>
                <a:ea typeface="Arial"/>
                <a:cs typeface="Arial"/>
                <a:sym typeface="Arial"/>
              </a:defRPr>
            </a:lvl3pPr>
            <a:lvl4pPr indent="0" lvl="3" marL="0" marR="0" rtl="0" algn="r">
              <a:lnSpc>
                <a:spcPct val="100000"/>
              </a:lnSpc>
              <a:spcBef>
                <a:spcPts val="0"/>
              </a:spcBef>
              <a:buNone/>
              <a:defRPr b="1" sz="700" strike="noStrike">
                <a:solidFill>
                  <a:srgbClr val="2A3990"/>
                </a:solidFill>
                <a:latin typeface="Arial"/>
                <a:ea typeface="Arial"/>
                <a:cs typeface="Arial"/>
                <a:sym typeface="Arial"/>
              </a:defRPr>
            </a:lvl4pPr>
            <a:lvl5pPr indent="0" lvl="4" marL="0" marR="0" rtl="0" algn="r">
              <a:lnSpc>
                <a:spcPct val="100000"/>
              </a:lnSpc>
              <a:spcBef>
                <a:spcPts val="0"/>
              </a:spcBef>
              <a:buNone/>
              <a:defRPr b="1" sz="700" strike="noStrike">
                <a:solidFill>
                  <a:srgbClr val="2A3990"/>
                </a:solidFill>
                <a:latin typeface="Arial"/>
                <a:ea typeface="Arial"/>
                <a:cs typeface="Arial"/>
                <a:sym typeface="Arial"/>
              </a:defRPr>
            </a:lvl5pPr>
            <a:lvl6pPr indent="0" lvl="5" marL="0" marR="0" rtl="0" algn="r">
              <a:lnSpc>
                <a:spcPct val="100000"/>
              </a:lnSpc>
              <a:spcBef>
                <a:spcPts val="0"/>
              </a:spcBef>
              <a:buNone/>
              <a:defRPr b="1" sz="700" strike="noStrike">
                <a:solidFill>
                  <a:srgbClr val="2A3990"/>
                </a:solidFill>
                <a:latin typeface="Arial"/>
                <a:ea typeface="Arial"/>
                <a:cs typeface="Arial"/>
                <a:sym typeface="Arial"/>
              </a:defRPr>
            </a:lvl6pPr>
            <a:lvl7pPr indent="0" lvl="6" marL="0" marR="0" rtl="0" algn="r">
              <a:lnSpc>
                <a:spcPct val="100000"/>
              </a:lnSpc>
              <a:spcBef>
                <a:spcPts val="0"/>
              </a:spcBef>
              <a:buNone/>
              <a:defRPr b="1" sz="700" strike="noStrike">
                <a:solidFill>
                  <a:srgbClr val="2A3990"/>
                </a:solidFill>
                <a:latin typeface="Arial"/>
                <a:ea typeface="Arial"/>
                <a:cs typeface="Arial"/>
                <a:sym typeface="Arial"/>
              </a:defRPr>
            </a:lvl7pPr>
            <a:lvl8pPr indent="0" lvl="7" marL="0" marR="0" rtl="0" algn="r">
              <a:lnSpc>
                <a:spcPct val="100000"/>
              </a:lnSpc>
              <a:spcBef>
                <a:spcPts val="0"/>
              </a:spcBef>
              <a:buNone/>
              <a:defRPr b="1" sz="700" strike="noStrike">
                <a:solidFill>
                  <a:srgbClr val="2A3990"/>
                </a:solidFill>
                <a:latin typeface="Arial"/>
                <a:ea typeface="Arial"/>
                <a:cs typeface="Arial"/>
                <a:sym typeface="Arial"/>
              </a:defRPr>
            </a:lvl8pPr>
            <a:lvl9pPr indent="0" lvl="8" marL="0" marR="0" rtl="0" algn="r">
              <a:lnSpc>
                <a:spcPct val="100000"/>
              </a:lnSpc>
              <a:spcBef>
                <a:spcPts val="0"/>
              </a:spcBef>
              <a:buNone/>
              <a:defRPr b="1" sz="700" strike="noStrike">
                <a:solidFill>
                  <a:srgbClr val="2A399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solidFill>
                <a:srgbClr val="000000"/>
              </a:solidFill>
              <a:latin typeface="Times New Roman"/>
              <a:ea typeface="Times New Roman"/>
              <a:cs typeface="Times New Roman"/>
              <a:sym typeface="Times New Roman"/>
            </a:endParaRPr>
          </a:p>
        </p:txBody>
      </p:sp>
      <p:sp>
        <p:nvSpPr>
          <p:cNvPr id="337" name="Google Shape;337;p79"/>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2A399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6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6.xml"/><Relationship Id="rId3" Type="http://schemas.openxmlformats.org/officeDocument/2006/relationships/hyperlink" Target="https://journals.sagepub.com/doi/10.1177/18758789251324008#fig1-18758789251324008"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7.xml"/><Relationship Id="rId3" Type="http://schemas.openxmlformats.org/officeDocument/2006/relationships/image" Target="../media/image46.png"/><Relationship Id="rId4" Type="http://schemas.openxmlformats.org/officeDocument/2006/relationships/image" Target="../media/image10.png"/><Relationship Id="rId5" Type="http://schemas.openxmlformats.org/officeDocument/2006/relationships/image" Target="../media/image22.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png"/></Relationships>
</file>

<file path=ppt/slides/_rels/slide14.xml.rels><?xml version="1.0" encoding="UTF-8" standalone="yes"?><Relationships xmlns="http://schemas.openxmlformats.org/package/2006/relationships"><Relationship Id="rId10" Type="http://schemas.openxmlformats.org/officeDocument/2006/relationships/image" Target="../media/image5.png"/><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68.png"/><Relationship Id="rId5" Type="http://schemas.openxmlformats.org/officeDocument/2006/relationships/image" Target="../media/image47.png"/><Relationship Id="rId6" Type="http://schemas.openxmlformats.org/officeDocument/2006/relationships/image" Target="../media/image57.png"/><Relationship Id="rId7" Type="http://schemas.openxmlformats.org/officeDocument/2006/relationships/image" Target="../media/image49.png"/><Relationship Id="rId8" Type="http://schemas.openxmlformats.org/officeDocument/2006/relationships/image" Target="../media/image7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8.xml"/><Relationship Id="rId3" Type="http://schemas.openxmlformats.org/officeDocument/2006/relationships/image" Target="../media/image65.png"/><Relationship Id="rId4" Type="http://schemas.openxmlformats.org/officeDocument/2006/relationships/image" Target="../media/image70.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9.xml"/><Relationship Id="rId3" Type="http://schemas.openxmlformats.org/officeDocument/2006/relationships/image" Target="../media/image73.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3.xml"/><Relationship Id="rId3" Type="http://schemas.openxmlformats.org/officeDocument/2006/relationships/image" Target="../media/image60.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92"/>
          <p:cNvSpPr txBox="1"/>
          <p:nvPr/>
        </p:nvSpPr>
        <p:spPr>
          <a:xfrm>
            <a:off x="597960" y="1775160"/>
            <a:ext cx="8221680" cy="83844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4200" u="none" cap="none" strike="noStrike">
                <a:solidFill>
                  <a:srgbClr val="FFFFFF"/>
                </a:solidFill>
                <a:latin typeface="Roboto"/>
                <a:ea typeface="Roboto"/>
                <a:cs typeface="Roboto"/>
                <a:sym typeface="Roboto"/>
              </a:rPr>
              <a:t>INCOSE KSWG</a:t>
            </a:r>
            <a:endParaRPr b="0" i="0" sz="4200" u="none" cap="none" strike="noStrike">
              <a:solidFill>
                <a:srgbClr val="000000"/>
              </a:solidFill>
              <a:latin typeface="Arial"/>
              <a:ea typeface="Arial"/>
              <a:cs typeface="Arial"/>
              <a:sym typeface="Arial"/>
            </a:endParaRPr>
          </a:p>
        </p:txBody>
      </p:sp>
      <p:sp>
        <p:nvSpPr>
          <p:cNvPr id="391" name="Google Shape;391;p92"/>
          <p:cNvSpPr txBox="1"/>
          <p:nvPr/>
        </p:nvSpPr>
        <p:spPr>
          <a:xfrm>
            <a:off x="597960" y="2715840"/>
            <a:ext cx="8221680" cy="43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2700" u="none" cap="none" strike="noStrike">
                <a:solidFill>
                  <a:srgbClr val="F1C232"/>
                </a:solidFill>
                <a:latin typeface="Roboto"/>
                <a:ea typeface="Roboto"/>
                <a:cs typeface="Roboto"/>
                <a:sym typeface="Roboto"/>
              </a:rPr>
              <a:t>Semantic Governance</a:t>
            </a:r>
            <a:endParaRPr b="0" i="0" sz="2700" u="none" cap="none" strike="noStrike">
              <a:latin typeface="Arial"/>
              <a:ea typeface="Arial"/>
              <a:cs typeface="Arial"/>
              <a:sym typeface="Arial"/>
            </a:endParaRPr>
          </a:p>
        </p:txBody>
      </p:sp>
      <p:pic>
        <p:nvPicPr>
          <p:cNvPr id="392" name="Google Shape;392;p92"/>
          <p:cNvPicPr preferRelativeResize="0"/>
          <p:nvPr/>
        </p:nvPicPr>
        <p:blipFill rotWithShape="1">
          <a:blip r:embed="rId3">
            <a:alphaModFix/>
          </a:blip>
          <a:srcRect b="0" l="0" r="0" t="0"/>
          <a:stretch/>
        </p:blipFill>
        <p:spPr>
          <a:xfrm>
            <a:off x="4765320" y="1229400"/>
            <a:ext cx="1763280" cy="2537640"/>
          </a:xfrm>
          <a:prstGeom prst="rect">
            <a:avLst/>
          </a:prstGeom>
          <a:noFill/>
          <a:ln>
            <a:noFill/>
          </a:ln>
        </p:spPr>
      </p:pic>
      <p:sp>
        <p:nvSpPr>
          <p:cNvPr id="393" name="Google Shape;393;p92"/>
          <p:cNvSpPr/>
          <p:nvPr/>
        </p:nvSpPr>
        <p:spPr>
          <a:xfrm>
            <a:off x="597960" y="3882600"/>
            <a:ext cx="2999520" cy="6400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A4C2F4"/>
                </a:solidFill>
                <a:latin typeface="Roboto"/>
                <a:ea typeface="Roboto"/>
                <a:cs typeface="Roboto"/>
                <a:sym typeface="Roboto"/>
              </a:rPr>
              <a:t>Jeffrey Wallk</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1000" u="none" cap="none" strike="noStrike">
                <a:solidFill>
                  <a:srgbClr val="A4C2F4"/>
                </a:solidFill>
                <a:latin typeface="Roboto"/>
                <a:ea typeface="Roboto"/>
                <a:cs typeface="Roboto"/>
                <a:sym typeface="Roboto"/>
              </a:rPr>
              <a:t>Sherri Anderson</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1000" u="none" cap="none" strike="noStrike">
                <a:solidFill>
                  <a:srgbClr val="A4C2F4"/>
                </a:solidFill>
                <a:latin typeface="Roboto"/>
                <a:ea typeface="Roboto"/>
                <a:cs typeface="Roboto"/>
                <a:sym typeface="Roboto"/>
              </a:rPr>
              <a:t>INCOSE October 30, 2025</a:t>
            </a:r>
            <a:endParaRPr b="0" i="0" sz="10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3"/>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2A3990"/>
                </a:solidFill>
                <a:latin typeface="Roboto"/>
                <a:ea typeface="Roboto"/>
                <a:cs typeface="Roboto"/>
                <a:sym typeface="Roboto"/>
              </a:rPr>
              <a:t>Semantic Governance:</a:t>
            </a:r>
            <a:r>
              <a:rPr b="0" i="0" lang="en-US" sz="1800" u="none" cap="none" strike="noStrike">
                <a:solidFill>
                  <a:srgbClr val="2A3990"/>
                </a:solidFill>
                <a:latin typeface="Roboto"/>
                <a:ea typeface="Roboto"/>
                <a:cs typeface="Roboto"/>
                <a:sym typeface="Roboto"/>
              </a:rPr>
              <a:t>Overview</a:t>
            </a:r>
            <a:endParaRPr b="0" i="0" sz="1800" u="none" cap="none" strike="noStrike">
              <a:solidFill>
                <a:srgbClr val="000000"/>
              </a:solidFill>
              <a:latin typeface="Arial"/>
              <a:ea typeface="Arial"/>
              <a:cs typeface="Arial"/>
              <a:sym typeface="Arial"/>
            </a:endParaRPr>
          </a:p>
        </p:txBody>
      </p:sp>
      <p:sp>
        <p:nvSpPr>
          <p:cNvPr id="399" name="Google Shape;399;p93"/>
          <p:cNvSpPr/>
          <p:nvPr/>
        </p:nvSpPr>
        <p:spPr>
          <a:xfrm>
            <a:off x="563400" y="712080"/>
            <a:ext cx="8158320" cy="250632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1550" u="none" cap="none" strike="noStrike">
                <a:solidFill>
                  <a:srgbClr val="3A383F"/>
                </a:solidFill>
                <a:latin typeface="Roboto"/>
                <a:ea typeface="Roboto"/>
                <a:cs typeface="Roboto"/>
                <a:sym typeface="Roboto"/>
              </a:rPr>
              <a:t>Semantic Governance is built upon standards (ISO) and best practices for Knowledge Engineering to create and maintain the core knowledge (vocabularies, taxonomies, and ontologies) shared across the organization and the domain-specific knowledge (vocabularies, taxonomies, and ontologies unique to each domain and sub-domain)</a:t>
            </a:r>
            <a:endParaRPr b="0" i="0" sz="1550" u="none" cap="none" strike="noStrike">
              <a:latin typeface="Arial"/>
              <a:ea typeface="Arial"/>
              <a:cs typeface="Arial"/>
              <a:sym typeface="Arial"/>
            </a:endParaRPr>
          </a:p>
          <a:p>
            <a:pPr indent="0" lvl="0" marL="0" marR="0" rtl="0" algn="l">
              <a:lnSpc>
                <a:spcPct val="115000"/>
              </a:lnSpc>
              <a:spcBef>
                <a:spcPts val="1199"/>
              </a:spcBef>
              <a:spcAft>
                <a:spcPts val="0"/>
              </a:spcAft>
              <a:buNone/>
            </a:pPr>
            <a:r>
              <a:rPr b="0" i="0" lang="en-US" sz="1550" u="none" cap="none" strike="noStrike">
                <a:solidFill>
                  <a:srgbClr val="3A383F"/>
                </a:solidFill>
                <a:latin typeface="Roboto"/>
                <a:ea typeface="Roboto"/>
                <a:cs typeface="Roboto"/>
                <a:sym typeface="Roboto"/>
              </a:rPr>
              <a:t>These knowledge artifacts are built and maintained in our Semantic Knowledge Layer using the Semantic Services (see slide 14) and governed with our Operating Model to ensure controls are in place covering all phases of the Knowledge Engineering Lifecycle including publishing and downstream consumption of enterprise and domain-specific knowledge. </a:t>
            </a:r>
            <a:endParaRPr b="0" i="0" sz="1550" u="none" cap="none" strike="noStrike">
              <a:latin typeface="Arial"/>
              <a:ea typeface="Arial"/>
              <a:cs typeface="Arial"/>
              <a:sym typeface="Arial"/>
            </a:endParaRPr>
          </a:p>
        </p:txBody>
      </p:sp>
      <p:pic>
        <p:nvPicPr>
          <p:cNvPr id="400" name="Google Shape;400;p93"/>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pic>
        <p:nvPicPr>
          <p:cNvPr id="401" name="Google Shape;401;p93"/>
          <p:cNvPicPr preferRelativeResize="0"/>
          <p:nvPr/>
        </p:nvPicPr>
        <p:blipFill rotWithShape="1">
          <a:blip r:embed="rId4">
            <a:alphaModFix/>
          </a:blip>
          <a:srcRect b="0" l="0" r="0" t="0"/>
          <a:stretch/>
        </p:blipFill>
        <p:spPr>
          <a:xfrm>
            <a:off x="3827880" y="3601800"/>
            <a:ext cx="950400" cy="950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94"/>
          <p:cNvSpPr txBox="1"/>
          <p:nvPr/>
        </p:nvSpPr>
        <p:spPr>
          <a:xfrm>
            <a:off x="402480" y="137880"/>
            <a:ext cx="483660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2A3990"/>
                </a:solidFill>
                <a:latin typeface="Roboto"/>
                <a:ea typeface="Roboto"/>
                <a:cs typeface="Roboto"/>
                <a:sym typeface="Roboto"/>
              </a:rPr>
              <a:t>Semantic Governance: </a:t>
            </a:r>
            <a:r>
              <a:rPr b="0" i="0" lang="en-US" sz="1800" u="none" cap="none" strike="noStrike">
                <a:solidFill>
                  <a:srgbClr val="2A3990"/>
                </a:solidFill>
                <a:latin typeface="Roboto"/>
                <a:ea typeface="Roboto"/>
                <a:cs typeface="Roboto"/>
                <a:sym typeface="Roboto"/>
              </a:rPr>
              <a:t>What</a:t>
            </a:r>
            <a:endParaRPr b="0" i="0" sz="1800" u="none" cap="none" strike="noStrike">
              <a:solidFill>
                <a:srgbClr val="000000"/>
              </a:solidFill>
              <a:latin typeface="Arial"/>
              <a:ea typeface="Arial"/>
              <a:cs typeface="Arial"/>
              <a:sym typeface="Arial"/>
            </a:endParaRPr>
          </a:p>
        </p:txBody>
      </p:sp>
      <p:sp>
        <p:nvSpPr>
          <p:cNvPr id="407" name="Google Shape;407;p94"/>
          <p:cNvSpPr/>
          <p:nvPr/>
        </p:nvSpPr>
        <p:spPr>
          <a:xfrm>
            <a:off x="402480" y="941760"/>
            <a:ext cx="8194680" cy="331596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434343"/>
                </a:solidFill>
                <a:latin typeface="Roboto"/>
                <a:ea typeface="Roboto"/>
                <a:cs typeface="Roboto"/>
                <a:sym typeface="Roboto"/>
              </a:rPr>
              <a:t>WHAT:</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434343"/>
                </a:solidFill>
                <a:latin typeface="Roboto"/>
                <a:ea typeface="Roboto"/>
                <a:cs typeface="Roboto"/>
                <a:sym typeface="Roboto"/>
              </a:rPr>
              <a:t>Semantic Governance helps users access data using </a:t>
            </a:r>
            <a:r>
              <a:rPr b="1" i="0" lang="en-US" sz="1500" u="none" cap="none" strike="noStrike">
                <a:solidFill>
                  <a:srgbClr val="434343"/>
                </a:solidFill>
                <a:latin typeface="Roboto"/>
                <a:ea typeface="Roboto"/>
                <a:cs typeface="Roboto"/>
                <a:sym typeface="Roboto"/>
              </a:rPr>
              <a:t>familiar terms</a:t>
            </a:r>
            <a:r>
              <a:rPr b="0" i="0" lang="en-US" sz="1500" u="none" cap="none" strike="noStrike">
                <a:solidFill>
                  <a:srgbClr val="434343"/>
                </a:solidFill>
                <a:latin typeface="Roboto"/>
                <a:ea typeface="Roboto"/>
                <a:cs typeface="Roboto"/>
                <a:sym typeface="Roboto"/>
              </a:rPr>
              <a:t> (not necessarily those in the glossary of terms in a catalog or perhaps an enterprise dictionary). Semantics are associated with a point of view (</a:t>
            </a:r>
            <a:r>
              <a:rPr b="1" i="0" lang="en-US" sz="1500" u="none" cap="none" strike="noStrike">
                <a:solidFill>
                  <a:srgbClr val="434343"/>
                </a:solidFill>
                <a:latin typeface="Roboto"/>
                <a:ea typeface="Roboto"/>
                <a:cs typeface="Roboto"/>
                <a:sym typeface="Roboto"/>
              </a:rPr>
              <a:t>POV</a:t>
            </a:r>
            <a:r>
              <a:rPr b="0" i="0" lang="en-US" sz="1500" u="none" cap="none" strike="noStrike">
                <a:solidFill>
                  <a:srgbClr val="434343"/>
                </a:solidFill>
                <a:latin typeface="Roboto"/>
                <a:ea typeface="Roboto"/>
                <a:cs typeface="Roboto"/>
                <a:sym typeface="Roboto"/>
              </a:rPr>
              <a:t>) for a persona and/or a point in context (</a:t>
            </a:r>
            <a:r>
              <a:rPr b="1" i="0" lang="en-US" sz="1500" u="none" cap="none" strike="noStrike">
                <a:solidFill>
                  <a:srgbClr val="434343"/>
                </a:solidFill>
                <a:latin typeface="Roboto"/>
                <a:ea typeface="Roboto"/>
                <a:cs typeface="Roboto"/>
                <a:sym typeface="Roboto"/>
              </a:rPr>
              <a:t>scenario</a:t>
            </a:r>
            <a:r>
              <a:rPr b="0" i="0" lang="en-US" sz="1500" u="none" cap="none" strike="noStrike">
                <a:solidFill>
                  <a:srgbClr val="434343"/>
                </a:solidFill>
                <a:latin typeface="Roboto"/>
                <a:ea typeface="Roboto"/>
                <a:cs typeface="Roboto"/>
                <a:sym typeface="Roboto"/>
              </a:rPr>
              <a:t>). But, it's more than just simple mapping of terms. It extends to phrases that can be interpreted and mapped to complex data. The semantic layer provides contextual relevance for our analytics so we can harmonize points of view into a holistic and consistent understanding.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1" i="0" lang="en-US" sz="1500" u="none" cap="none" strike="noStrike">
                <a:solidFill>
                  <a:srgbClr val="434343"/>
                </a:solidFill>
                <a:latin typeface="Roboto"/>
                <a:ea typeface="Roboto"/>
                <a:cs typeface="Roboto"/>
                <a:sym typeface="Roboto"/>
              </a:rPr>
              <a:t>HOW:</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434343"/>
                </a:solidFill>
                <a:latin typeface="Roboto"/>
                <a:ea typeface="Roboto"/>
                <a:cs typeface="Roboto"/>
                <a:sym typeface="Roboto"/>
              </a:rPr>
              <a:t>In order to achieve a consistent meaning of content it must be informed by context that is relevant (mapped to terms that are familiar to Personas) across the organization.  Requires a disciplined effort to curate both the semantics and their mappings to our structured vocabularies and ontologies.</a:t>
            </a:r>
            <a:endParaRPr b="0" i="0" sz="1500" u="none" cap="none" strike="noStrike">
              <a:latin typeface="Arial"/>
              <a:ea typeface="Arial"/>
              <a:cs typeface="Arial"/>
              <a:sym typeface="Arial"/>
            </a:endParaRPr>
          </a:p>
        </p:txBody>
      </p:sp>
      <p:pic>
        <p:nvPicPr>
          <p:cNvPr id="408" name="Google Shape;408;p94"/>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nvSpPr>
        <p:spPr>
          <a:xfrm>
            <a:off x="457200" y="154080"/>
            <a:ext cx="5441400" cy="85896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 </a:t>
            </a:r>
            <a:r>
              <a:rPr b="0" lang="en-US" sz="1800" strike="noStrike">
                <a:solidFill>
                  <a:srgbClr val="2A3990"/>
                </a:solidFill>
                <a:latin typeface="Roboto"/>
                <a:ea typeface="Roboto"/>
                <a:cs typeface="Roboto"/>
                <a:sym typeface="Roboto"/>
              </a:rPr>
              <a:t>Why</a:t>
            </a:r>
            <a:endParaRPr b="0" sz="1800" strike="noStrike">
              <a:solidFill>
                <a:srgbClr val="000000"/>
              </a:solidFill>
              <a:latin typeface="Arial"/>
              <a:ea typeface="Arial"/>
              <a:cs typeface="Arial"/>
              <a:sym typeface="Arial"/>
            </a:endParaRPr>
          </a:p>
        </p:txBody>
      </p:sp>
      <p:sp>
        <p:nvSpPr>
          <p:cNvPr id="414" name="Google Shape;414;p95"/>
          <p:cNvSpPr/>
          <p:nvPr/>
        </p:nvSpPr>
        <p:spPr>
          <a:xfrm>
            <a:off x="457200" y="694080"/>
            <a:ext cx="7141320" cy="296064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n-US" sz="1500" strike="noStrike">
                <a:solidFill>
                  <a:srgbClr val="434343"/>
                </a:solidFill>
                <a:latin typeface="Roboto"/>
                <a:ea typeface="Roboto"/>
                <a:cs typeface="Roboto"/>
                <a:sym typeface="Roboto"/>
              </a:rPr>
              <a:t>What can it do for me?</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Aggregates, integrates, and organizes data and information to create a unified view, making it easily accessible for decision-makers by providing relevant insights and context at the right time. </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Provides a structured way to represent information to model relationships, context, and hierarchies to enhance learning, curate context, and connect structured and unstructured  data to help AI understand and interpret data and information to deliver meaningful insights. </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Supports continuous learning for AI so it can adapt as new data, context, and information become available and improves insight delivery by enhancing transparency and explainability.</a:t>
            </a:r>
            <a:endParaRPr b="0" sz="1500" strike="noStrike">
              <a:latin typeface="Arial"/>
              <a:ea typeface="Arial"/>
              <a:cs typeface="Arial"/>
              <a:sym typeface="Arial"/>
            </a:endParaRPr>
          </a:p>
        </p:txBody>
      </p:sp>
      <p:pic>
        <p:nvPicPr>
          <p:cNvPr id="415" name="Google Shape;415;p95"/>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96"/>
          <p:cNvSpPr txBox="1"/>
          <p:nvPr/>
        </p:nvSpPr>
        <p:spPr>
          <a:xfrm>
            <a:off x="457200" y="154078"/>
            <a:ext cx="5561700" cy="2685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 </a:t>
            </a:r>
            <a:r>
              <a:rPr b="0" lang="en-US" sz="1800" strike="noStrike">
                <a:solidFill>
                  <a:srgbClr val="2A3990"/>
                </a:solidFill>
                <a:latin typeface="Roboto"/>
                <a:ea typeface="Roboto"/>
                <a:cs typeface="Roboto"/>
                <a:sym typeface="Roboto"/>
              </a:rPr>
              <a:t>Why (Example)</a:t>
            </a:r>
            <a:endParaRPr b="0" sz="1800" strike="noStrike">
              <a:solidFill>
                <a:srgbClr val="000000"/>
              </a:solidFill>
              <a:latin typeface="Arial"/>
              <a:ea typeface="Arial"/>
              <a:cs typeface="Arial"/>
              <a:sym typeface="Arial"/>
            </a:endParaRPr>
          </a:p>
        </p:txBody>
      </p:sp>
      <p:sp>
        <p:nvSpPr>
          <p:cNvPr id="421" name="Google Shape;421;p96"/>
          <p:cNvSpPr/>
          <p:nvPr/>
        </p:nvSpPr>
        <p:spPr>
          <a:xfrm>
            <a:off x="425250" y="1103000"/>
            <a:ext cx="2207100" cy="27945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n-US" sz="1500">
                <a:solidFill>
                  <a:srgbClr val="434343"/>
                </a:solidFill>
                <a:latin typeface="Roboto"/>
                <a:ea typeface="Roboto"/>
                <a:cs typeface="Roboto"/>
                <a:sym typeface="Roboto"/>
              </a:rPr>
              <a:t>Beyond Cataloging...</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lang="en-US" sz="1500">
                <a:solidFill>
                  <a:srgbClr val="434343"/>
                </a:solidFill>
                <a:latin typeface="Roboto"/>
                <a:ea typeface="Roboto"/>
                <a:cs typeface="Roboto"/>
                <a:sym typeface="Roboto"/>
              </a:rPr>
              <a:t>Key challenge is addressing polymorphic meaning of “things”.</a:t>
            </a:r>
            <a:endParaRPr sz="1500">
              <a:solidFill>
                <a:srgbClr val="434343"/>
              </a:solidFill>
              <a:latin typeface="Roboto"/>
              <a:ea typeface="Roboto"/>
              <a:cs typeface="Roboto"/>
              <a:sym typeface="Roboto"/>
            </a:endParaRPr>
          </a:p>
          <a:p>
            <a:pPr indent="0" lvl="0" marL="0" marR="0" rtl="0" algn="l">
              <a:lnSpc>
                <a:spcPct val="100000"/>
              </a:lnSpc>
              <a:spcBef>
                <a:spcPts val="1001"/>
              </a:spcBef>
              <a:spcAft>
                <a:spcPts val="0"/>
              </a:spcAft>
              <a:buNone/>
            </a:pPr>
            <a:r>
              <a:t/>
            </a:r>
            <a:endParaRPr sz="1500">
              <a:solidFill>
                <a:srgbClr val="434343"/>
              </a:solidFill>
              <a:latin typeface="Roboto"/>
              <a:ea typeface="Roboto"/>
              <a:cs typeface="Roboto"/>
              <a:sym typeface="Roboto"/>
            </a:endParaRPr>
          </a:p>
          <a:p>
            <a:pPr indent="0" lvl="0" marL="0" marR="0" rtl="0" algn="l">
              <a:lnSpc>
                <a:spcPct val="100000"/>
              </a:lnSpc>
              <a:spcBef>
                <a:spcPts val="1001"/>
              </a:spcBef>
              <a:spcAft>
                <a:spcPts val="0"/>
              </a:spcAft>
              <a:buNone/>
            </a:pPr>
            <a:r>
              <a:rPr lang="en-US" sz="1500">
                <a:solidFill>
                  <a:srgbClr val="434343"/>
                </a:solidFill>
                <a:latin typeface="Roboto"/>
                <a:ea typeface="Roboto"/>
                <a:cs typeface="Roboto"/>
                <a:sym typeface="Roboto"/>
              </a:rPr>
              <a:t>Conventional attribution fails and AI is needs to be tuned to perform this at scale. </a:t>
            </a:r>
            <a:endParaRPr sz="1500">
              <a:solidFill>
                <a:srgbClr val="434343"/>
              </a:solidFill>
              <a:latin typeface="Roboto"/>
              <a:ea typeface="Roboto"/>
              <a:cs typeface="Roboto"/>
              <a:sym typeface="Roboto"/>
            </a:endParaRPr>
          </a:p>
        </p:txBody>
      </p:sp>
      <p:grpSp>
        <p:nvGrpSpPr>
          <p:cNvPr id="422" name="Google Shape;422;p96"/>
          <p:cNvGrpSpPr/>
          <p:nvPr/>
        </p:nvGrpSpPr>
        <p:grpSpPr>
          <a:xfrm>
            <a:off x="2823175" y="742888"/>
            <a:ext cx="5943600" cy="3514725"/>
            <a:chOff x="2823175" y="742888"/>
            <a:chExt cx="5943600" cy="3514725"/>
          </a:xfrm>
        </p:grpSpPr>
        <p:pic>
          <p:nvPicPr>
            <p:cNvPr id="423" name="Google Shape;423;p96"/>
            <p:cNvPicPr preferRelativeResize="0"/>
            <p:nvPr/>
          </p:nvPicPr>
          <p:blipFill>
            <a:blip r:embed="rId3">
              <a:alphaModFix/>
            </a:blip>
            <a:stretch>
              <a:fillRect/>
            </a:stretch>
          </p:blipFill>
          <p:spPr>
            <a:xfrm>
              <a:off x="2823175" y="742888"/>
              <a:ext cx="5943600" cy="3514725"/>
            </a:xfrm>
            <a:prstGeom prst="rect">
              <a:avLst/>
            </a:prstGeom>
            <a:noFill/>
            <a:ln>
              <a:noFill/>
            </a:ln>
          </p:spPr>
        </p:pic>
        <p:sp>
          <p:nvSpPr>
            <p:cNvPr id="424" name="Google Shape;424;p96"/>
            <p:cNvSpPr/>
            <p:nvPr/>
          </p:nvSpPr>
          <p:spPr>
            <a:xfrm>
              <a:off x="2931300" y="3859175"/>
              <a:ext cx="613500" cy="26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t>Example</a:t>
              </a:r>
              <a:endParaRPr sz="800"/>
            </a:p>
          </p:txBody>
        </p:sp>
      </p:grpSp>
      <p:pic>
        <p:nvPicPr>
          <p:cNvPr id="425" name="Google Shape;425;p96"/>
          <p:cNvPicPr preferRelativeResize="0"/>
          <p:nvPr/>
        </p:nvPicPr>
        <p:blipFill rotWithShape="1">
          <a:blip r:embed="rId4">
            <a:alphaModFix/>
          </a:blip>
          <a:srcRect b="-3487" l="-11851" r="-8341" t="-10098"/>
          <a:stretch/>
        </p:blipFill>
        <p:spPr>
          <a:xfrm>
            <a:off x="8378640" y="-25200"/>
            <a:ext cx="765001" cy="10403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97"/>
          <p:cNvSpPr txBox="1"/>
          <p:nvPr/>
        </p:nvSpPr>
        <p:spPr>
          <a:xfrm>
            <a:off x="369000" y="12888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lang="en-US" sz="1800" strike="noStrike">
                <a:solidFill>
                  <a:srgbClr val="2A3990"/>
                </a:solidFill>
                <a:latin typeface="Roboto"/>
                <a:ea typeface="Roboto"/>
                <a:cs typeface="Roboto"/>
                <a:sym typeface="Roboto"/>
              </a:rPr>
              <a:t> </a:t>
            </a:r>
            <a:r>
              <a:rPr b="1" lang="en-US" sz="1800" strike="noStrike">
                <a:solidFill>
                  <a:srgbClr val="2A3990"/>
                </a:solidFill>
                <a:latin typeface="Roboto"/>
                <a:ea typeface="Roboto"/>
                <a:cs typeface="Roboto"/>
                <a:sym typeface="Roboto"/>
              </a:rPr>
              <a:t>Semantic Governance: </a:t>
            </a:r>
            <a:r>
              <a:rPr b="0" lang="en-US" sz="1800" strike="noStrike">
                <a:solidFill>
                  <a:srgbClr val="2A3990"/>
                </a:solidFill>
                <a:latin typeface="Roboto"/>
                <a:ea typeface="Roboto"/>
                <a:cs typeface="Roboto"/>
                <a:sym typeface="Roboto"/>
              </a:rPr>
              <a:t> Impact</a:t>
            </a:r>
            <a:endParaRPr b="0" sz="1800" strike="noStrike">
              <a:solidFill>
                <a:srgbClr val="000000"/>
              </a:solidFill>
              <a:latin typeface="Arial"/>
              <a:ea typeface="Arial"/>
              <a:cs typeface="Arial"/>
              <a:sym typeface="Arial"/>
            </a:endParaRPr>
          </a:p>
        </p:txBody>
      </p:sp>
      <p:sp>
        <p:nvSpPr>
          <p:cNvPr id="431" name="Google Shape;431;p97"/>
          <p:cNvSpPr/>
          <p:nvPr/>
        </p:nvSpPr>
        <p:spPr>
          <a:xfrm>
            <a:off x="457200" y="720000"/>
            <a:ext cx="8194680" cy="357012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n-US" sz="1500" strike="noStrike">
                <a:solidFill>
                  <a:srgbClr val="434343"/>
                </a:solidFill>
                <a:latin typeface="Roboto"/>
                <a:ea typeface="Roboto"/>
                <a:cs typeface="Roboto"/>
                <a:sym typeface="Roboto"/>
              </a:rPr>
              <a:t>Key Outcomes:</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Consistent | Connected | Clear understanding about what changed, why things changed, and who might be impacted.  Ensure our Data is FAIR (</a:t>
            </a:r>
            <a:r>
              <a:rPr b="0" lang="en-US" sz="1500" u="sng" strike="noStrike">
                <a:solidFill>
                  <a:schemeClr val="hlink"/>
                </a:solidFill>
                <a:latin typeface="Roboto"/>
                <a:ea typeface="Roboto"/>
                <a:cs typeface="Roboto"/>
                <a:sym typeface="Roboto"/>
                <a:hlinkClick r:id="rId3"/>
              </a:rPr>
              <a:t>see Fairification</a:t>
            </a:r>
            <a:r>
              <a:rPr b="0" lang="en-US" sz="1500" strike="noStrike">
                <a:solidFill>
                  <a:srgbClr val="434343"/>
                </a:solidFill>
                <a:latin typeface="Roboto"/>
                <a:ea typeface="Roboto"/>
                <a:cs typeface="Roboto"/>
                <a:sym typeface="Roboto"/>
              </a:rPr>
              <a:t>) and Consumable (search &amp; understand).</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We could leverage the semantic layer to </a:t>
            </a:r>
            <a:r>
              <a:rPr b="1" lang="en-US" sz="1500" strike="noStrike">
                <a:solidFill>
                  <a:srgbClr val="434343"/>
                </a:solidFill>
                <a:latin typeface="Roboto"/>
                <a:ea typeface="Roboto"/>
                <a:cs typeface="Roboto"/>
                <a:sym typeface="Roboto"/>
              </a:rPr>
              <a:t>reduce ambiguity</a:t>
            </a:r>
            <a:r>
              <a:rPr b="0" lang="en-US" sz="1500" strike="noStrike">
                <a:solidFill>
                  <a:srgbClr val="434343"/>
                </a:solidFill>
                <a:latin typeface="Roboto"/>
                <a:ea typeface="Roboto"/>
                <a:cs typeface="Roboto"/>
                <a:sym typeface="Roboto"/>
              </a:rPr>
              <a:t> with different reports about the same topic (for example: Customer Churn could generate multiple reports showing various perspectives, where each is correct but only result in confusion until they are contextually harmonized so we can clarify meaning across a complex set of factors. )  </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1" lang="en-US" sz="1500" strike="noStrike">
                <a:solidFill>
                  <a:srgbClr val="434343"/>
                </a:solidFill>
                <a:latin typeface="Roboto"/>
                <a:ea typeface="Roboto"/>
                <a:cs typeface="Roboto"/>
                <a:sym typeface="Roboto"/>
              </a:rPr>
              <a:t>Goal:</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Deliver </a:t>
            </a:r>
            <a:r>
              <a:rPr b="1" lang="en-US" sz="1500" strike="noStrike">
                <a:solidFill>
                  <a:srgbClr val="434343"/>
                </a:solidFill>
                <a:latin typeface="Roboto"/>
                <a:ea typeface="Roboto"/>
                <a:cs typeface="Roboto"/>
                <a:sym typeface="Roboto"/>
              </a:rPr>
              <a:t>adaptable</a:t>
            </a:r>
            <a:r>
              <a:rPr b="0" lang="en-US" sz="1500" strike="noStrike">
                <a:solidFill>
                  <a:srgbClr val="434343"/>
                </a:solidFill>
                <a:latin typeface="Roboto"/>
                <a:ea typeface="Roboto"/>
                <a:cs typeface="Roboto"/>
                <a:sym typeface="Roboto"/>
              </a:rPr>
              <a:t> services, processes, systems, analytics, UX, and CX and </a:t>
            </a:r>
            <a:r>
              <a:rPr b="1" lang="en-US" sz="1500" strike="noStrike">
                <a:solidFill>
                  <a:srgbClr val="434343"/>
                </a:solidFill>
                <a:latin typeface="Roboto"/>
                <a:ea typeface="Roboto"/>
                <a:cs typeface="Roboto"/>
                <a:sym typeface="Roboto"/>
              </a:rPr>
              <a:t>accelerate decision making</a:t>
            </a:r>
            <a:r>
              <a:rPr b="0" lang="en-US" sz="1500" strike="noStrike">
                <a:solidFill>
                  <a:srgbClr val="434343"/>
                </a:solidFill>
                <a:latin typeface="Roboto"/>
                <a:ea typeface="Roboto"/>
                <a:cs typeface="Roboto"/>
                <a:sym typeface="Roboto"/>
              </a:rPr>
              <a:t> across the organization.</a:t>
            </a:r>
            <a:endParaRPr b="0" sz="1500" strike="noStrike">
              <a:latin typeface="Arial"/>
              <a:ea typeface="Arial"/>
              <a:cs typeface="Arial"/>
              <a:sym typeface="Arial"/>
            </a:endParaRPr>
          </a:p>
        </p:txBody>
      </p:sp>
      <p:pic>
        <p:nvPicPr>
          <p:cNvPr id="432" name="Google Shape;432;p97"/>
          <p:cNvPicPr preferRelativeResize="0"/>
          <p:nvPr/>
        </p:nvPicPr>
        <p:blipFill rotWithShape="1">
          <a:blip r:embed="rId4">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98"/>
          <p:cNvSpPr txBox="1"/>
          <p:nvPr/>
        </p:nvSpPr>
        <p:spPr>
          <a:xfrm>
            <a:off x="457200" y="16416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lang="en-US" sz="1800" strike="noStrike">
                <a:solidFill>
                  <a:srgbClr val="2A3990"/>
                </a:solidFill>
                <a:latin typeface="Roboto"/>
                <a:ea typeface="Roboto"/>
                <a:cs typeface="Roboto"/>
                <a:sym typeface="Roboto"/>
              </a:rPr>
              <a:t>Semantic Governance </a:t>
            </a:r>
            <a:r>
              <a:rPr b="0" lang="en-US" sz="1800" strike="noStrike">
                <a:solidFill>
                  <a:srgbClr val="2A3990"/>
                </a:solidFill>
                <a:latin typeface="Roboto"/>
                <a:ea typeface="Roboto"/>
                <a:cs typeface="Roboto"/>
                <a:sym typeface="Roboto"/>
              </a:rPr>
              <a:t>Scope</a:t>
            </a:r>
            <a:endParaRPr b="0" sz="1800" strike="noStrike">
              <a:solidFill>
                <a:srgbClr val="000000"/>
              </a:solidFill>
              <a:latin typeface="Arial"/>
              <a:ea typeface="Arial"/>
              <a:cs typeface="Arial"/>
              <a:sym typeface="Arial"/>
            </a:endParaRPr>
          </a:p>
        </p:txBody>
      </p:sp>
      <p:grpSp>
        <p:nvGrpSpPr>
          <p:cNvPr id="438" name="Google Shape;438;p98"/>
          <p:cNvGrpSpPr/>
          <p:nvPr/>
        </p:nvGrpSpPr>
        <p:grpSpPr>
          <a:xfrm>
            <a:off x="971280" y="667080"/>
            <a:ext cx="7683480" cy="3735720"/>
            <a:chOff x="971280" y="667080"/>
            <a:chExt cx="7683480" cy="3735720"/>
          </a:xfrm>
        </p:grpSpPr>
        <p:sp>
          <p:nvSpPr>
            <p:cNvPr id="439" name="Google Shape;439;p98"/>
            <p:cNvSpPr/>
            <p:nvPr/>
          </p:nvSpPr>
          <p:spPr>
            <a:xfrm>
              <a:off x="971280" y="667080"/>
              <a:ext cx="7683480" cy="3735720"/>
            </a:xfrm>
            <a:prstGeom prst="ellipse">
              <a:avLst/>
            </a:prstGeom>
            <a:solidFill>
              <a:srgbClr val="EFEFEF"/>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98"/>
            <p:cNvSpPr/>
            <p:nvPr/>
          </p:nvSpPr>
          <p:spPr>
            <a:xfrm>
              <a:off x="3370320" y="745560"/>
              <a:ext cx="2400840" cy="3963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400" strike="noStrike">
                  <a:solidFill>
                    <a:srgbClr val="2A3990"/>
                  </a:solidFill>
                  <a:latin typeface="Arial"/>
                  <a:ea typeface="Arial"/>
                  <a:cs typeface="Arial"/>
                  <a:sym typeface="Arial"/>
                </a:rPr>
                <a:t>Controlled Vocabularies</a:t>
              </a:r>
              <a:endParaRPr b="0" sz="1400" strike="noStrike">
                <a:latin typeface="Arial"/>
                <a:ea typeface="Arial"/>
                <a:cs typeface="Arial"/>
                <a:sym typeface="Arial"/>
              </a:endParaRPr>
            </a:p>
          </p:txBody>
        </p:sp>
      </p:grpSp>
      <p:grpSp>
        <p:nvGrpSpPr>
          <p:cNvPr id="441" name="Google Shape;441;p98"/>
          <p:cNvGrpSpPr/>
          <p:nvPr/>
        </p:nvGrpSpPr>
        <p:grpSpPr>
          <a:xfrm>
            <a:off x="2195280" y="1094760"/>
            <a:ext cx="6391080" cy="3128760"/>
            <a:chOff x="2195280" y="1094760"/>
            <a:chExt cx="6391080" cy="3128760"/>
          </a:xfrm>
        </p:grpSpPr>
        <p:sp>
          <p:nvSpPr>
            <p:cNvPr id="442" name="Google Shape;442;p98"/>
            <p:cNvSpPr/>
            <p:nvPr/>
          </p:nvSpPr>
          <p:spPr>
            <a:xfrm>
              <a:off x="2195280" y="1094760"/>
              <a:ext cx="6391080" cy="3128760"/>
            </a:xfrm>
            <a:prstGeom prst="ellipse">
              <a:avLst/>
            </a:prstGeom>
            <a:solidFill>
              <a:srgbClr val="FFFFFF"/>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98"/>
            <p:cNvSpPr/>
            <p:nvPr/>
          </p:nvSpPr>
          <p:spPr>
            <a:xfrm>
              <a:off x="4285080" y="1190520"/>
              <a:ext cx="1820160" cy="331920"/>
            </a:xfrm>
            <a:prstGeom prst="rect">
              <a:avLst/>
            </a:prstGeom>
            <a:solidFill>
              <a:srgbClr val="FFFFFF"/>
            </a:solidFill>
            <a:ln>
              <a:noFill/>
            </a:ln>
          </p:spPr>
          <p:txBody>
            <a:bodyPr anchorCtr="0" anchor="t" bIns="76675" lIns="76675" spcFirstLastPara="1" rIns="76675" wrap="square" tIns="76675">
              <a:noAutofit/>
            </a:bodyPr>
            <a:lstStyle/>
            <a:p>
              <a:pPr indent="0" lvl="0" marL="0" marR="0" rtl="0" algn="ctr">
                <a:lnSpc>
                  <a:spcPct val="100000"/>
                </a:lnSpc>
                <a:spcBef>
                  <a:spcPts val="0"/>
                </a:spcBef>
                <a:spcAft>
                  <a:spcPts val="0"/>
                </a:spcAft>
                <a:buNone/>
              </a:pPr>
              <a:r>
                <a:rPr b="1" lang="en-US" sz="1170" strike="noStrike">
                  <a:solidFill>
                    <a:srgbClr val="2A3990"/>
                  </a:solidFill>
                  <a:latin typeface="Arial"/>
                  <a:ea typeface="Arial"/>
                  <a:cs typeface="Arial"/>
                  <a:sym typeface="Arial"/>
                </a:rPr>
                <a:t>Taxonomies</a:t>
              </a:r>
              <a:endParaRPr b="0" sz="1170" strike="noStrike">
                <a:latin typeface="Arial"/>
                <a:ea typeface="Arial"/>
                <a:cs typeface="Arial"/>
                <a:sym typeface="Arial"/>
              </a:endParaRPr>
            </a:p>
          </p:txBody>
        </p:sp>
      </p:grpSp>
      <p:grpSp>
        <p:nvGrpSpPr>
          <p:cNvPr id="444" name="Google Shape;444;p98"/>
          <p:cNvGrpSpPr/>
          <p:nvPr/>
        </p:nvGrpSpPr>
        <p:grpSpPr>
          <a:xfrm>
            <a:off x="3790800" y="1505880"/>
            <a:ext cx="4721400" cy="2547360"/>
            <a:chOff x="3790800" y="1505880"/>
            <a:chExt cx="4721400" cy="2547360"/>
          </a:xfrm>
        </p:grpSpPr>
        <p:sp>
          <p:nvSpPr>
            <p:cNvPr id="445" name="Google Shape;445;p98"/>
            <p:cNvSpPr/>
            <p:nvPr/>
          </p:nvSpPr>
          <p:spPr>
            <a:xfrm>
              <a:off x="3790800" y="1505880"/>
              <a:ext cx="4721400" cy="2547360"/>
            </a:xfrm>
            <a:prstGeom prst="ellipse">
              <a:avLst/>
            </a:prstGeom>
            <a:solidFill>
              <a:srgbClr val="CFE2F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98"/>
            <p:cNvSpPr/>
            <p:nvPr/>
          </p:nvSpPr>
          <p:spPr>
            <a:xfrm>
              <a:off x="5356440" y="1585800"/>
              <a:ext cx="1363320" cy="363960"/>
            </a:xfrm>
            <a:prstGeom prst="rect">
              <a:avLst/>
            </a:prstGeom>
            <a:solidFill>
              <a:srgbClr val="CFE2F3"/>
            </a:solidFill>
            <a:ln>
              <a:noFill/>
            </a:ln>
          </p:spPr>
          <p:txBody>
            <a:bodyPr anchorCtr="0" anchor="t" bIns="83875" lIns="83875" spcFirstLastPara="1" rIns="83875" wrap="square" tIns="83875">
              <a:noAutofit/>
            </a:bodyPr>
            <a:lstStyle/>
            <a:p>
              <a:pPr indent="0" lvl="0" marL="0" marR="0" rtl="0" algn="ctr">
                <a:lnSpc>
                  <a:spcPct val="100000"/>
                </a:lnSpc>
                <a:spcBef>
                  <a:spcPts val="0"/>
                </a:spcBef>
                <a:spcAft>
                  <a:spcPts val="0"/>
                </a:spcAft>
                <a:buNone/>
              </a:pPr>
              <a:r>
                <a:rPr b="1" lang="en-US" sz="1290" strike="noStrike">
                  <a:solidFill>
                    <a:srgbClr val="2A3990"/>
                  </a:solidFill>
                  <a:latin typeface="Arial"/>
                  <a:ea typeface="Arial"/>
                  <a:cs typeface="Arial"/>
                  <a:sym typeface="Arial"/>
                </a:rPr>
                <a:t>Ontologies</a:t>
              </a:r>
              <a:endParaRPr b="0" sz="1290" strike="noStrike">
                <a:latin typeface="Arial"/>
                <a:ea typeface="Arial"/>
                <a:cs typeface="Arial"/>
                <a:sym typeface="Arial"/>
              </a:endParaRPr>
            </a:p>
          </p:txBody>
        </p:sp>
      </p:grpSp>
      <p:sp>
        <p:nvSpPr>
          <p:cNvPr id="447" name="Google Shape;447;p98"/>
          <p:cNvSpPr/>
          <p:nvPr/>
        </p:nvSpPr>
        <p:spPr>
          <a:xfrm>
            <a:off x="1108440" y="2003040"/>
            <a:ext cx="1122120" cy="916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US" sz="1000" strike="noStrike">
                <a:solidFill>
                  <a:srgbClr val="2A3990"/>
                </a:solidFill>
                <a:latin typeface="Roboto"/>
                <a:ea typeface="Roboto"/>
                <a:cs typeface="Roboto"/>
                <a:sym typeface="Roboto"/>
              </a:rPr>
              <a:t>Closed list of terms, preferred labels, alternate labels, related terms</a:t>
            </a:r>
            <a:endParaRPr b="0" sz="1000" strike="noStrike">
              <a:latin typeface="Arial"/>
              <a:ea typeface="Arial"/>
              <a:cs typeface="Arial"/>
              <a:sym typeface="Arial"/>
            </a:endParaRPr>
          </a:p>
        </p:txBody>
      </p:sp>
      <p:sp>
        <p:nvSpPr>
          <p:cNvPr id="448" name="Google Shape;448;p98"/>
          <p:cNvSpPr/>
          <p:nvPr/>
        </p:nvSpPr>
        <p:spPr>
          <a:xfrm>
            <a:off x="2529360" y="2285640"/>
            <a:ext cx="1312920" cy="9874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US" sz="1000" strike="noStrike">
                <a:solidFill>
                  <a:srgbClr val="2A3990"/>
                </a:solidFill>
                <a:latin typeface="Roboto"/>
                <a:ea typeface="Roboto"/>
                <a:cs typeface="Roboto"/>
                <a:sym typeface="Roboto"/>
              </a:rPr>
              <a:t>Hierarchical structures of broader 2 narrower terms, and lists of related terms</a:t>
            </a:r>
            <a:endParaRPr b="0" sz="1000" strike="noStrike">
              <a:latin typeface="Arial"/>
              <a:ea typeface="Arial"/>
              <a:cs typeface="Arial"/>
              <a:sym typeface="Arial"/>
            </a:endParaRPr>
          </a:p>
        </p:txBody>
      </p:sp>
      <p:sp>
        <p:nvSpPr>
          <p:cNvPr id="449" name="Google Shape;449;p98"/>
          <p:cNvSpPr/>
          <p:nvPr/>
        </p:nvSpPr>
        <p:spPr>
          <a:xfrm>
            <a:off x="4297680" y="2465640"/>
            <a:ext cx="1746720" cy="916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US" sz="1000" strike="noStrike">
                <a:solidFill>
                  <a:srgbClr val="2A3990"/>
                </a:solidFill>
                <a:latin typeface="Roboto"/>
                <a:ea typeface="Roboto"/>
                <a:cs typeface="Roboto"/>
                <a:sym typeface="Roboto"/>
              </a:rPr>
              <a:t>Multi-faceted graph of terms (classes) connected using semantic triples (subject, predicate, object) using the RDF standard</a:t>
            </a:r>
            <a:endParaRPr b="0" sz="1000" strike="noStrike">
              <a:latin typeface="Arial"/>
              <a:ea typeface="Arial"/>
              <a:cs typeface="Arial"/>
              <a:sym typeface="Arial"/>
            </a:endParaRPr>
          </a:p>
        </p:txBody>
      </p:sp>
      <p:sp>
        <p:nvSpPr>
          <p:cNvPr id="450" name="Google Shape;450;p98"/>
          <p:cNvSpPr/>
          <p:nvPr/>
        </p:nvSpPr>
        <p:spPr>
          <a:xfrm>
            <a:off x="6319080" y="2559960"/>
            <a:ext cx="1791000" cy="676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US" sz="1000" strike="noStrike">
                <a:solidFill>
                  <a:srgbClr val="2A3990"/>
                </a:solidFill>
                <a:latin typeface="Roboto"/>
                <a:ea typeface="Roboto"/>
                <a:cs typeface="Roboto"/>
                <a:sym typeface="Roboto"/>
              </a:rPr>
              <a:t>Graphs can connect to other graphs forming a </a:t>
            </a:r>
            <a:r>
              <a:rPr b="0" lang="en-US" sz="1000" strike="noStrike">
                <a:solidFill>
                  <a:srgbClr val="212D74"/>
                </a:solidFill>
                <a:latin typeface="Roboto"/>
                <a:ea typeface="Roboto"/>
                <a:cs typeface="Roboto"/>
                <a:sym typeface="Roboto"/>
              </a:rPr>
              <a:t>knowledge fabric</a:t>
            </a:r>
            <a:r>
              <a:rPr b="0" lang="en-US" sz="1000" strike="noStrike">
                <a:solidFill>
                  <a:srgbClr val="2A3990"/>
                </a:solidFill>
                <a:latin typeface="Roboto"/>
                <a:ea typeface="Roboto"/>
                <a:cs typeface="Roboto"/>
                <a:sym typeface="Roboto"/>
              </a:rPr>
              <a:t> across business domains.</a:t>
            </a:r>
            <a:endParaRPr b="0" sz="1000" strike="noStrike">
              <a:latin typeface="Arial"/>
              <a:ea typeface="Arial"/>
              <a:cs typeface="Arial"/>
              <a:sym typeface="Arial"/>
            </a:endParaRPr>
          </a:p>
        </p:txBody>
      </p:sp>
      <p:sp>
        <p:nvSpPr>
          <p:cNvPr id="451" name="Google Shape;451;p98"/>
          <p:cNvSpPr/>
          <p:nvPr/>
        </p:nvSpPr>
        <p:spPr>
          <a:xfrm>
            <a:off x="4996080" y="3382560"/>
            <a:ext cx="247932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2A3990"/>
                </a:solidFill>
                <a:latin typeface="Roboto"/>
                <a:ea typeface="Roboto"/>
                <a:cs typeface="Roboto"/>
                <a:sym typeface="Roboto"/>
              </a:rPr>
              <a:t>Each graph is built (modeled) using Process as the centerpiece</a:t>
            </a:r>
            <a:endParaRPr b="0" sz="900" strike="noStrike">
              <a:latin typeface="Arial"/>
              <a:ea typeface="Arial"/>
              <a:cs typeface="Arial"/>
              <a:sym typeface="Arial"/>
            </a:endParaRPr>
          </a:p>
        </p:txBody>
      </p:sp>
      <p:pic>
        <p:nvPicPr>
          <p:cNvPr id="452" name="Google Shape;452;p98"/>
          <p:cNvPicPr preferRelativeResize="0"/>
          <p:nvPr/>
        </p:nvPicPr>
        <p:blipFill rotWithShape="1">
          <a:blip r:embed="rId3">
            <a:alphaModFix/>
          </a:blip>
          <a:srcRect b="0" l="0" r="0" t="0"/>
          <a:stretch/>
        </p:blipFill>
        <p:spPr>
          <a:xfrm>
            <a:off x="2799720" y="1553040"/>
            <a:ext cx="1312920" cy="911880"/>
          </a:xfrm>
          <a:prstGeom prst="rect">
            <a:avLst/>
          </a:prstGeom>
          <a:noFill/>
          <a:ln>
            <a:noFill/>
          </a:ln>
        </p:spPr>
      </p:pic>
      <p:pic>
        <p:nvPicPr>
          <p:cNvPr id="453" name="Google Shape;453;p98"/>
          <p:cNvPicPr preferRelativeResize="0"/>
          <p:nvPr/>
        </p:nvPicPr>
        <p:blipFill rotWithShape="1">
          <a:blip r:embed="rId4">
            <a:alphaModFix/>
          </a:blip>
          <a:srcRect b="0" l="0" r="0" t="0"/>
          <a:stretch/>
        </p:blipFill>
        <p:spPr>
          <a:xfrm>
            <a:off x="5387040" y="1874880"/>
            <a:ext cx="1312920" cy="911880"/>
          </a:xfrm>
          <a:prstGeom prst="rect">
            <a:avLst/>
          </a:prstGeom>
          <a:noFill/>
          <a:ln>
            <a:noFill/>
          </a:ln>
        </p:spPr>
      </p:pic>
      <p:pic>
        <p:nvPicPr>
          <p:cNvPr id="454" name="Google Shape;454;p98"/>
          <p:cNvPicPr preferRelativeResize="0"/>
          <p:nvPr/>
        </p:nvPicPr>
        <p:blipFill rotWithShape="1">
          <a:blip r:embed="rId5">
            <a:alphaModFix/>
          </a:blip>
          <a:srcRect b="0" l="0" r="0" t="0"/>
          <a:stretch/>
        </p:blipFill>
        <p:spPr>
          <a:xfrm>
            <a:off x="1685880" y="1158120"/>
            <a:ext cx="843120" cy="1213560"/>
          </a:xfrm>
          <a:prstGeom prst="rect">
            <a:avLst/>
          </a:prstGeom>
          <a:noFill/>
          <a:ln>
            <a:noFill/>
          </a:ln>
        </p:spPr>
      </p:pic>
      <p:pic>
        <p:nvPicPr>
          <p:cNvPr id="455" name="Google Shape;455;p98"/>
          <p:cNvPicPr preferRelativeResize="0"/>
          <p:nvPr/>
        </p:nvPicPr>
        <p:blipFill rotWithShape="1">
          <a:blip r:embed="rId6">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99"/>
          <p:cNvSpPr txBox="1"/>
          <p:nvPr/>
        </p:nvSpPr>
        <p:spPr>
          <a:xfrm>
            <a:off x="470160" y="148320"/>
            <a:ext cx="7086240" cy="3204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 </a:t>
            </a:r>
            <a:r>
              <a:rPr b="0" lang="en-US" sz="1800" strike="noStrike">
                <a:solidFill>
                  <a:srgbClr val="2A3990"/>
                </a:solidFill>
                <a:latin typeface="Roboto"/>
                <a:ea typeface="Roboto"/>
                <a:cs typeface="Roboto"/>
                <a:sym typeface="Roboto"/>
              </a:rPr>
              <a:t>Target Outcomes</a:t>
            </a:r>
            <a:endParaRPr b="0" sz="1800" strike="noStrike">
              <a:solidFill>
                <a:srgbClr val="000000"/>
              </a:solidFill>
              <a:latin typeface="Arial"/>
              <a:ea typeface="Arial"/>
              <a:cs typeface="Arial"/>
              <a:sym typeface="Arial"/>
            </a:endParaRPr>
          </a:p>
        </p:txBody>
      </p:sp>
      <p:sp>
        <p:nvSpPr>
          <p:cNvPr id="461" name="Google Shape;461;p99"/>
          <p:cNvSpPr txBox="1"/>
          <p:nvPr/>
        </p:nvSpPr>
        <p:spPr>
          <a:xfrm>
            <a:off x="470160" y="683640"/>
            <a:ext cx="2545200" cy="1658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lang="en-US" sz="2000" strike="noStrike">
                <a:solidFill>
                  <a:srgbClr val="3949AB"/>
                </a:solidFill>
                <a:latin typeface="Roboto"/>
                <a:ea typeface="Roboto"/>
                <a:cs typeface="Roboto"/>
                <a:sym typeface="Roboto"/>
              </a:rPr>
              <a:t>Trusted BI &amp; AI</a:t>
            </a:r>
            <a:endParaRPr b="0" sz="2000" strike="noStrike">
              <a:solidFill>
                <a:srgbClr val="000000"/>
              </a:solidFill>
              <a:latin typeface="Arial"/>
              <a:ea typeface="Arial"/>
              <a:cs typeface="Arial"/>
              <a:sym typeface="Arial"/>
            </a:endParaRPr>
          </a:p>
          <a:p>
            <a:pPr indent="0" lvl="0" marL="0" marR="0" rtl="0" algn="ctr">
              <a:lnSpc>
                <a:spcPct val="100000"/>
              </a:lnSpc>
              <a:spcBef>
                <a:spcPts val="1599"/>
              </a:spcBef>
              <a:spcAft>
                <a:spcPts val="0"/>
              </a:spcAft>
              <a:buNone/>
            </a:pPr>
            <a:r>
              <a:rPr b="0" lang="en-US" sz="1800" strike="noStrike">
                <a:solidFill>
                  <a:srgbClr val="434343"/>
                </a:solidFill>
                <a:latin typeface="Roboto"/>
                <a:ea typeface="Roboto"/>
                <a:cs typeface="Roboto"/>
                <a:sym typeface="Roboto"/>
              </a:rPr>
              <a:t>Smarter, More Reliable AI &amp; Analytics </a:t>
            </a:r>
            <a:endParaRPr b="0" sz="1800" strike="noStrike">
              <a:solidFill>
                <a:srgbClr val="000000"/>
              </a:solidFill>
              <a:latin typeface="Arial"/>
              <a:ea typeface="Arial"/>
              <a:cs typeface="Arial"/>
              <a:sym typeface="Arial"/>
            </a:endParaRPr>
          </a:p>
        </p:txBody>
      </p:sp>
      <p:sp>
        <p:nvSpPr>
          <p:cNvPr id="462" name="Google Shape;462;p99"/>
          <p:cNvSpPr txBox="1"/>
          <p:nvPr/>
        </p:nvSpPr>
        <p:spPr>
          <a:xfrm>
            <a:off x="3247920" y="683640"/>
            <a:ext cx="2545200" cy="165888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US" sz="2000" strike="noStrike">
                <a:solidFill>
                  <a:srgbClr val="3949AB"/>
                </a:solidFill>
                <a:latin typeface="Roboto"/>
                <a:ea typeface="Roboto"/>
                <a:cs typeface="Roboto"/>
                <a:sym typeface="Roboto"/>
              </a:rPr>
              <a:t>Business Literacy</a:t>
            </a:r>
            <a:endParaRPr b="0" sz="2000"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rPr b="0" lang="en-US" sz="1800" strike="noStrike">
                <a:solidFill>
                  <a:srgbClr val="434343"/>
                </a:solidFill>
                <a:latin typeface="Roboto"/>
                <a:ea typeface="Roboto"/>
                <a:cs typeface="Roboto"/>
                <a:sym typeface="Roboto"/>
              </a:rPr>
              <a:t>A Single Source of Truth for Business Language</a:t>
            </a:r>
            <a:endParaRPr b="0" sz="1800" strike="noStrike">
              <a:solidFill>
                <a:srgbClr val="000000"/>
              </a:solidFill>
              <a:latin typeface="Arial"/>
              <a:ea typeface="Arial"/>
              <a:cs typeface="Arial"/>
              <a:sym typeface="Arial"/>
            </a:endParaRPr>
          </a:p>
        </p:txBody>
      </p:sp>
      <p:sp>
        <p:nvSpPr>
          <p:cNvPr id="463" name="Google Shape;463;p99"/>
          <p:cNvSpPr txBox="1"/>
          <p:nvPr/>
        </p:nvSpPr>
        <p:spPr>
          <a:xfrm>
            <a:off x="6012720" y="683640"/>
            <a:ext cx="2545200" cy="1658880"/>
          </a:xfrm>
          <a:prstGeom prst="rect">
            <a:avLst/>
          </a:prstGeom>
          <a:solidFill>
            <a:srgbClr val="F3EDE0"/>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US" sz="2000" strike="noStrike">
                <a:solidFill>
                  <a:srgbClr val="3949AB"/>
                </a:solidFill>
                <a:latin typeface="Roboto"/>
                <a:ea typeface="Roboto"/>
                <a:cs typeface="Roboto"/>
                <a:sym typeface="Roboto"/>
              </a:rPr>
              <a:t>Meaning at Scale </a:t>
            </a:r>
            <a:br>
              <a:rPr lang="en-US" sz="1800"/>
            </a:br>
            <a:r>
              <a:rPr b="0" lang="en-US" sz="1800" strike="noStrike">
                <a:solidFill>
                  <a:srgbClr val="434343"/>
                </a:solidFill>
                <a:latin typeface="Roboto"/>
                <a:ea typeface="Roboto"/>
                <a:cs typeface="Roboto"/>
                <a:sym typeface="Roboto"/>
              </a:rPr>
              <a:t>Future-Proof, Standards-Based Knowledge</a:t>
            </a:r>
            <a:endParaRPr b="0" sz="1800" strike="noStrike">
              <a:solidFill>
                <a:srgbClr val="000000"/>
              </a:solidFill>
              <a:latin typeface="Arial"/>
              <a:ea typeface="Arial"/>
              <a:cs typeface="Arial"/>
              <a:sym typeface="Arial"/>
            </a:endParaRPr>
          </a:p>
        </p:txBody>
      </p:sp>
      <p:sp>
        <p:nvSpPr>
          <p:cNvPr id="464" name="Google Shape;464;p99"/>
          <p:cNvSpPr txBox="1"/>
          <p:nvPr/>
        </p:nvSpPr>
        <p:spPr>
          <a:xfrm>
            <a:off x="470160" y="2748960"/>
            <a:ext cx="2545200" cy="194148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US" sz="2000" strike="noStrike">
                <a:solidFill>
                  <a:srgbClr val="3949AB"/>
                </a:solidFill>
                <a:latin typeface="Roboto"/>
                <a:ea typeface="Roboto"/>
                <a:cs typeface="Roboto"/>
                <a:sym typeface="Roboto"/>
              </a:rPr>
              <a:t>Improved Decision Making </a:t>
            </a:r>
            <a:endParaRPr b="0" sz="2000"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rPr b="0" lang="en-US" sz="1800" strike="noStrike">
                <a:solidFill>
                  <a:srgbClr val="434343"/>
                </a:solidFill>
                <a:latin typeface="Roboto"/>
                <a:ea typeface="Roboto"/>
                <a:cs typeface="Roboto"/>
                <a:sym typeface="Roboto"/>
              </a:rPr>
              <a:t>More Informed Decisions, Faster</a:t>
            </a:r>
            <a:endParaRPr b="0" sz="1800" strike="noStrike">
              <a:solidFill>
                <a:srgbClr val="000000"/>
              </a:solidFill>
              <a:latin typeface="Arial"/>
              <a:ea typeface="Arial"/>
              <a:cs typeface="Arial"/>
              <a:sym typeface="Arial"/>
            </a:endParaRPr>
          </a:p>
        </p:txBody>
      </p:sp>
      <p:sp>
        <p:nvSpPr>
          <p:cNvPr id="465" name="Google Shape;465;p99"/>
          <p:cNvSpPr txBox="1"/>
          <p:nvPr/>
        </p:nvSpPr>
        <p:spPr>
          <a:xfrm>
            <a:off x="3247920" y="2748960"/>
            <a:ext cx="2545200" cy="1941480"/>
          </a:xfrm>
          <a:prstGeom prst="rect">
            <a:avLst/>
          </a:prstGeom>
          <a:solidFill>
            <a:srgbClr val="F3EDE0"/>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US" sz="2000" strike="noStrike">
                <a:solidFill>
                  <a:srgbClr val="3949AB"/>
                </a:solidFill>
                <a:latin typeface="Roboto"/>
                <a:ea typeface="Roboto"/>
                <a:cs typeface="Roboto"/>
                <a:sym typeface="Roboto"/>
              </a:rPr>
              <a:t>Knowledge Preservation</a:t>
            </a:r>
            <a:r>
              <a:rPr b="1" lang="en-US" sz="1800" strike="noStrike">
                <a:solidFill>
                  <a:srgbClr val="3949AB"/>
                </a:solidFill>
                <a:latin typeface="Roboto"/>
                <a:ea typeface="Roboto"/>
                <a:cs typeface="Roboto"/>
                <a:sym typeface="Roboto"/>
              </a:rPr>
              <a:t>  </a:t>
            </a:r>
            <a:br>
              <a:rPr lang="en-US" sz="1800"/>
            </a:br>
            <a:r>
              <a:rPr b="0" lang="en-US" sz="1800" strike="noStrike">
                <a:solidFill>
                  <a:srgbClr val="434343"/>
                </a:solidFill>
                <a:latin typeface="Roboto"/>
                <a:ea typeface="Roboto"/>
                <a:cs typeface="Roboto"/>
                <a:sym typeface="Roboto"/>
              </a:rPr>
              <a:t>Living Business Knowledge That Evolves With Us</a:t>
            </a:r>
            <a:endParaRPr b="0" sz="1800" strike="noStrike">
              <a:solidFill>
                <a:srgbClr val="000000"/>
              </a:solidFill>
              <a:latin typeface="Arial"/>
              <a:ea typeface="Arial"/>
              <a:cs typeface="Arial"/>
              <a:sym typeface="Arial"/>
            </a:endParaRPr>
          </a:p>
        </p:txBody>
      </p:sp>
      <p:sp>
        <p:nvSpPr>
          <p:cNvPr id="466" name="Google Shape;466;p99"/>
          <p:cNvSpPr txBox="1"/>
          <p:nvPr/>
        </p:nvSpPr>
        <p:spPr>
          <a:xfrm>
            <a:off x="6012720" y="2748960"/>
            <a:ext cx="2545200" cy="194148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US" sz="2000" strike="noStrike">
                <a:solidFill>
                  <a:srgbClr val="3949AB"/>
                </a:solidFill>
                <a:latin typeface="Roboto"/>
                <a:ea typeface="Roboto"/>
                <a:cs typeface="Roboto"/>
                <a:sym typeface="Roboto"/>
              </a:rPr>
              <a:t>Align Business with Technology</a:t>
            </a:r>
            <a:br>
              <a:rPr lang="en-US" sz="1800"/>
            </a:br>
            <a:r>
              <a:rPr b="0" lang="en-US" sz="1800" strike="noStrike">
                <a:solidFill>
                  <a:srgbClr val="434343"/>
                </a:solidFill>
                <a:latin typeface="Roboto"/>
                <a:ea typeface="Roboto"/>
                <a:cs typeface="Roboto"/>
                <a:sym typeface="Roboto"/>
              </a:rPr>
              <a:t>One Semantic Layer Connecting People and Systems</a:t>
            </a:r>
            <a:endParaRPr b="0" sz="1800" strike="noStrike">
              <a:solidFill>
                <a:srgbClr val="000000"/>
              </a:solidFill>
              <a:latin typeface="Arial"/>
              <a:ea typeface="Arial"/>
              <a:cs typeface="Arial"/>
              <a:sym typeface="Arial"/>
            </a:endParaRPr>
          </a:p>
        </p:txBody>
      </p:sp>
      <p:pic>
        <p:nvPicPr>
          <p:cNvPr id="467" name="Google Shape;467;p99"/>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00"/>
          <p:cNvSpPr txBox="1"/>
          <p:nvPr/>
        </p:nvSpPr>
        <p:spPr>
          <a:xfrm>
            <a:off x="265680" y="1151280"/>
            <a:ext cx="4044960" cy="15642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0" lang="en-US" sz="4200" strike="noStrike">
                <a:solidFill>
                  <a:srgbClr val="2A3990"/>
                </a:solidFill>
                <a:latin typeface="Roboto"/>
                <a:ea typeface="Roboto"/>
                <a:cs typeface="Roboto"/>
                <a:sym typeface="Roboto"/>
              </a:rPr>
              <a:t>Solution</a:t>
            </a:r>
            <a:endParaRPr b="0" sz="4200" strike="noStrike">
              <a:solidFill>
                <a:srgbClr val="000000"/>
              </a:solidFill>
              <a:latin typeface="Arial"/>
              <a:ea typeface="Arial"/>
              <a:cs typeface="Arial"/>
              <a:sym typeface="Arial"/>
            </a:endParaRPr>
          </a:p>
        </p:txBody>
      </p:sp>
      <p:sp>
        <p:nvSpPr>
          <p:cNvPr id="473" name="Google Shape;473;p100"/>
          <p:cNvSpPr txBox="1"/>
          <p:nvPr/>
        </p:nvSpPr>
        <p:spPr>
          <a:xfrm>
            <a:off x="265680" y="2769120"/>
            <a:ext cx="4044960" cy="126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lang="en-US" sz="2100" strike="noStrike">
                <a:solidFill>
                  <a:srgbClr val="434343"/>
                </a:solidFill>
                <a:latin typeface="Roboto"/>
                <a:ea typeface="Roboto"/>
                <a:cs typeface="Roboto"/>
                <a:sym typeface="Roboto"/>
              </a:rPr>
              <a:t>Approach, Architecture, Artifacts</a:t>
            </a:r>
            <a:endParaRPr b="0" sz="2100" strike="noStrike">
              <a:latin typeface="Arial"/>
              <a:ea typeface="Arial"/>
              <a:cs typeface="Arial"/>
              <a:sym typeface="Arial"/>
            </a:endParaRPr>
          </a:p>
        </p:txBody>
      </p:sp>
      <p:sp>
        <p:nvSpPr>
          <p:cNvPr id="474" name="Google Shape;474;p100"/>
          <p:cNvSpPr txBox="1"/>
          <p:nvPr/>
        </p:nvSpPr>
        <p:spPr>
          <a:xfrm>
            <a:off x="4939560" y="724320"/>
            <a:ext cx="3887280" cy="369468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0" lang="en-US" sz="1800" strike="noStrike">
                <a:solidFill>
                  <a:srgbClr val="FFFFFF"/>
                </a:solidFill>
                <a:latin typeface="Roboto"/>
                <a:ea typeface="Roboto"/>
                <a:cs typeface="Roboto"/>
                <a:sym typeface="Roboto"/>
              </a:rPr>
              <a:t>Reducing ambiguity, while delivering meaning at scale using a lightweight scaffold across infrastructure of systems, content &amp; metadata.</a:t>
            </a:r>
            <a:endParaRPr b="0" sz="1800" strike="noStrike">
              <a:solidFill>
                <a:srgbClr val="000000"/>
              </a:solidFill>
              <a:latin typeface="Arial"/>
              <a:ea typeface="Arial"/>
              <a:cs typeface="Arial"/>
              <a:sym typeface="Arial"/>
            </a:endParaRPr>
          </a:p>
        </p:txBody>
      </p:sp>
      <p:pic>
        <p:nvPicPr>
          <p:cNvPr id="475" name="Google Shape;475;p100"/>
          <p:cNvPicPr preferRelativeResize="0"/>
          <p:nvPr/>
        </p:nvPicPr>
        <p:blipFill rotWithShape="1">
          <a:blip r:embed="rId3">
            <a:alphaModFix/>
          </a:blip>
          <a:srcRect b="-3486" l="-11849" r="-8340" t="-10097"/>
          <a:stretch/>
        </p:blipFill>
        <p:spPr>
          <a:xfrm>
            <a:off x="1856160" y="3533760"/>
            <a:ext cx="765000" cy="1040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01"/>
          <p:cNvSpPr txBox="1"/>
          <p:nvPr/>
        </p:nvSpPr>
        <p:spPr>
          <a:xfrm>
            <a:off x="369000" y="12888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lang="en-US" sz="1800" strike="noStrike">
                <a:solidFill>
                  <a:srgbClr val="2A3990"/>
                </a:solidFill>
                <a:latin typeface="Roboto"/>
                <a:ea typeface="Roboto"/>
                <a:cs typeface="Roboto"/>
                <a:sym typeface="Roboto"/>
              </a:rPr>
              <a:t> </a:t>
            </a:r>
            <a:r>
              <a:rPr b="1" lang="en-US" sz="1800" strike="noStrike">
                <a:solidFill>
                  <a:srgbClr val="2A3990"/>
                </a:solidFill>
                <a:latin typeface="Roboto"/>
                <a:ea typeface="Roboto"/>
                <a:cs typeface="Roboto"/>
                <a:sym typeface="Roboto"/>
              </a:rPr>
              <a:t>Semantic Governance: </a:t>
            </a:r>
            <a:r>
              <a:rPr b="0" lang="en-US" sz="1800" strike="noStrike">
                <a:solidFill>
                  <a:srgbClr val="2A3990"/>
                </a:solidFill>
                <a:latin typeface="Roboto"/>
                <a:ea typeface="Roboto"/>
                <a:cs typeface="Roboto"/>
                <a:sym typeface="Roboto"/>
              </a:rPr>
              <a:t> Impact</a:t>
            </a:r>
            <a:endParaRPr b="0" sz="1800" strike="noStrike">
              <a:solidFill>
                <a:srgbClr val="000000"/>
              </a:solidFill>
              <a:latin typeface="Arial"/>
              <a:ea typeface="Arial"/>
              <a:cs typeface="Arial"/>
              <a:sym typeface="Arial"/>
            </a:endParaRPr>
          </a:p>
        </p:txBody>
      </p:sp>
      <p:sp>
        <p:nvSpPr>
          <p:cNvPr id="481" name="Google Shape;481;p101"/>
          <p:cNvSpPr/>
          <p:nvPr/>
        </p:nvSpPr>
        <p:spPr>
          <a:xfrm>
            <a:off x="457200" y="720000"/>
            <a:ext cx="8194680" cy="285948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n-US" sz="1500" strike="noStrike">
                <a:solidFill>
                  <a:srgbClr val="434343"/>
                </a:solidFill>
                <a:latin typeface="Roboto"/>
                <a:ea typeface="Roboto"/>
                <a:cs typeface="Roboto"/>
                <a:sym typeface="Roboto"/>
              </a:rPr>
              <a:t>Key Outcomes:</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The operating model is a strategic shift from extending data management, profiling and enrichment to a disciplined approach combining knowledge &amp; systems engineering. </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It's built on foundational principles like a "Top-Down Knowledge Fabric" using taxonomies and ontologies, a "Federated and Process-Centric Design" for modular knowledge graphs, "AI-Driven Automation and Emergence" for validation and enrichment, and "Continuous Improvement and Learning."</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rPr b="0" lang="en-US" sz="1500" strike="noStrike">
                <a:solidFill>
                  <a:srgbClr val="434343"/>
                </a:solidFill>
                <a:latin typeface="Roboto"/>
                <a:ea typeface="Roboto"/>
                <a:cs typeface="Roboto"/>
                <a:sym typeface="Roboto"/>
              </a:rPr>
              <a:t>The conceptual architecture is broken down into four stages: Inbound (ingestion), Infrastructure (technology foundation), Processing (enrichment), and Outbound (consumption).</a:t>
            </a:r>
            <a:endParaRPr b="0" sz="1500"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sz="1500" strike="noStrike">
              <a:latin typeface="Arial"/>
              <a:ea typeface="Arial"/>
              <a:cs typeface="Arial"/>
              <a:sym typeface="Arial"/>
            </a:endParaRPr>
          </a:p>
        </p:txBody>
      </p:sp>
      <p:pic>
        <p:nvPicPr>
          <p:cNvPr id="482" name="Google Shape;482;p101"/>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02"/>
          <p:cNvSpPr/>
          <p:nvPr/>
        </p:nvSpPr>
        <p:spPr>
          <a:xfrm>
            <a:off x="473760" y="82080"/>
            <a:ext cx="7086240" cy="34632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Enabling the Knowledge Fabric</a:t>
            </a:r>
            <a:endParaRPr b="0" sz="1800" strike="noStrike">
              <a:latin typeface="Arial"/>
              <a:ea typeface="Arial"/>
              <a:cs typeface="Arial"/>
              <a:sym typeface="Arial"/>
            </a:endParaRPr>
          </a:p>
        </p:txBody>
      </p:sp>
      <p:sp>
        <p:nvSpPr>
          <p:cNvPr id="488" name="Google Shape;488;p102"/>
          <p:cNvSpPr/>
          <p:nvPr/>
        </p:nvSpPr>
        <p:spPr>
          <a:xfrm>
            <a:off x="444240" y="914040"/>
            <a:ext cx="4169520" cy="326340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390" strike="noStrike">
                <a:solidFill>
                  <a:srgbClr val="000000"/>
                </a:solidFill>
                <a:latin typeface="Roboto"/>
                <a:ea typeface="Roboto"/>
                <a:cs typeface="Roboto"/>
                <a:sym typeface="Roboto"/>
              </a:rPr>
              <a:t>Data Fabric</a:t>
            </a:r>
            <a:endParaRPr b="0" sz="1390" strike="noStrike">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Focus on infrastructure enabling integration, access, and orchestration of data across diverse systems, formats, and locations in a unified, scalable way. </a:t>
            </a:r>
            <a:endParaRPr b="0" sz="1100" strike="noStrike">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Ensure that data is accessible, governed, and available to support operational and analytical use cases.</a:t>
            </a:r>
            <a:endParaRPr b="0" sz="1100" strike="noStrike">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Typically includes ETL/ELT tools, data lakes, data warehouses, APIs, and governance frameworks</a:t>
            </a:r>
            <a:endParaRPr b="0" sz="1100" strike="noStrike">
              <a:latin typeface="Arial"/>
              <a:ea typeface="Arial"/>
              <a:cs typeface="Arial"/>
              <a:sym typeface="Arial"/>
            </a:endParaRPr>
          </a:p>
        </p:txBody>
      </p:sp>
      <p:sp>
        <p:nvSpPr>
          <p:cNvPr id="489" name="Google Shape;489;p102"/>
          <p:cNvSpPr/>
          <p:nvPr/>
        </p:nvSpPr>
        <p:spPr>
          <a:xfrm>
            <a:off x="4787640" y="914040"/>
            <a:ext cx="4021560" cy="326340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390" strike="noStrike">
                <a:solidFill>
                  <a:srgbClr val="000000"/>
                </a:solidFill>
                <a:latin typeface="Roboto"/>
                <a:ea typeface="Roboto"/>
                <a:cs typeface="Roboto"/>
                <a:sym typeface="Roboto"/>
              </a:rPr>
              <a:t>Knowledge Fabric</a:t>
            </a:r>
            <a:endParaRPr b="0" sz="1390" strike="noStrike">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Focus on context, meaning, and intelligence from integrated data.</a:t>
            </a:r>
            <a:endParaRPr b="0" sz="1100" strike="noStrike">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Extends the data fabric emphasizing the semantic layer by dynamically enriching data with context, relationships, and meaning using ontologies, knowledge graphs, and AI-driven reasoning.</a:t>
            </a:r>
            <a:endParaRPr b="0" sz="1100" strike="noStrike">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Derives insights, enhances decision-making, and creates a shared understanding across an organization by connecting and contextualizing data.</a:t>
            </a:r>
            <a:endParaRPr b="0" sz="1100" strike="noStrike">
              <a:latin typeface="Arial"/>
              <a:ea typeface="Arial"/>
              <a:cs typeface="Arial"/>
              <a:sym typeface="Arial"/>
            </a:endParaRPr>
          </a:p>
        </p:txBody>
      </p:sp>
      <p:sp>
        <p:nvSpPr>
          <p:cNvPr id="490" name="Google Shape;490;p102"/>
          <p:cNvSpPr/>
          <p:nvPr/>
        </p:nvSpPr>
        <p:spPr>
          <a:xfrm>
            <a:off x="4108680" y="3578760"/>
            <a:ext cx="1222560" cy="297720"/>
          </a:xfrm>
          <a:prstGeom prst="leftRightArrow">
            <a:avLst>
              <a:gd fmla="val 50000" name="adj1"/>
              <a:gd fmla="val 50000" name="adj2"/>
            </a:avLst>
          </a:prstGeom>
          <a:solidFill>
            <a:srgbClr val="D8D8D8"/>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595959"/>
                </a:solidFill>
                <a:latin typeface="Roboto"/>
                <a:ea typeface="Roboto"/>
                <a:cs typeface="Roboto"/>
                <a:sym typeface="Roboto"/>
              </a:rPr>
              <a:t>Complimentary</a:t>
            </a:r>
            <a:endParaRPr b="0" sz="1000" strike="noStrike">
              <a:latin typeface="Arial"/>
              <a:ea typeface="Arial"/>
              <a:cs typeface="Arial"/>
              <a:sym typeface="Arial"/>
            </a:endParaRPr>
          </a:p>
        </p:txBody>
      </p:sp>
      <p:pic>
        <p:nvPicPr>
          <p:cNvPr id="491" name="Google Shape;491;p102"/>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03"/>
          <p:cNvSpPr txBox="1"/>
          <p:nvPr/>
        </p:nvSpPr>
        <p:spPr>
          <a:xfrm>
            <a:off x="597960" y="2152440"/>
            <a:ext cx="8221680" cy="83844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n-US" sz="4200" strike="noStrike">
                <a:solidFill>
                  <a:srgbClr val="FFFFFF"/>
                </a:solidFill>
                <a:latin typeface="Roboto"/>
                <a:ea typeface="Roboto"/>
                <a:cs typeface="Roboto"/>
                <a:sym typeface="Roboto"/>
              </a:rPr>
              <a:t>Implementation</a:t>
            </a:r>
            <a:endParaRPr b="0" sz="4200"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04"/>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a:t>
            </a:r>
            <a:r>
              <a:rPr b="0" lang="en-US" sz="1800" strike="noStrike">
                <a:solidFill>
                  <a:srgbClr val="2A3990"/>
                </a:solidFill>
                <a:latin typeface="Roboto"/>
                <a:ea typeface="Roboto"/>
                <a:cs typeface="Roboto"/>
                <a:sym typeface="Roboto"/>
              </a:rPr>
              <a:t> (Top-Down View)</a:t>
            </a:r>
            <a:endParaRPr b="0" sz="1800" strike="noStrike">
              <a:solidFill>
                <a:srgbClr val="000000"/>
              </a:solidFill>
              <a:latin typeface="Arial"/>
              <a:ea typeface="Arial"/>
              <a:cs typeface="Arial"/>
              <a:sym typeface="Arial"/>
            </a:endParaRPr>
          </a:p>
        </p:txBody>
      </p:sp>
      <p:sp>
        <p:nvSpPr>
          <p:cNvPr id="502" name="Google Shape;502;p104"/>
          <p:cNvSpPr/>
          <p:nvPr/>
        </p:nvSpPr>
        <p:spPr>
          <a:xfrm>
            <a:off x="5913720" y="1083240"/>
            <a:ext cx="1272240" cy="584640"/>
          </a:xfrm>
          <a:prstGeom prst="rect">
            <a:avLst/>
          </a:prstGeom>
          <a:no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434343"/>
              </a:buClr>
              <a:buSzPts val="900"/>
              <a:buFont typeface="Roboto"/>
              <a:buChar char="●"/>
            </a:pPr>
            <a:r>
              <a:rPr b="1" lang="en-US" sz="900" strike="noStrike">
                <a:solidFill>
                  <a:srgbClr val="434343"/>
                </a:solidFill>
                <a:latin typeface="Roboto"/>
                <a:ea typeface="Roboto"/>
                <a:cs typeface="Roboto"/>
                <a:sym typeface="Roboto"/>
              </a:rPr>
              <a:t>Base Classes</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434343"/>
              </a:buClr>
              <a:buSzPts val="900"/>
              <a:buFont typeface="Roboto"/>
              <a:buChar char="●"/>
            </a:pPr>
            <a:r>
              <a:rPr b="1" lang="en-US" sz="900" strike="noStrike">
                <a:solidFill>
                  <a:srgbClr val="434343"/>
                </a:solidFill>
                <a:latin typeface="Roboto"/>
                <a:ea typeface="Roboto"/>
                <a:cs typeface="Roboto"/>
                <a:sym typeface="Roboto"/>
              </a:rPr>
              <a:t>Relations</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434343"/>
              </a:buClr>
              <a:buSzPts val="900"/>
              <a:buFont typeface="Roboto"/>
              <a:buChar char="●"/>
            </a:pPr>
            <a:r>
              <a:rPr b="1" lang="en-US" sz="900" strike="noStrike">
                <a:solidFill>
                  <a:srgbClr val="434343"/>
                </a:solidFill>
                <a:latin typeface="Roboto"/>
                <a:ea typeface="Roboto"/>
                <a:cs typeface="Roboto"/>
                <a:sym typeface="Roboto"/>
              </a:rPr>
              <a:t>Properties</a:t>
            </a:r>
            <a:endParaRPr b="0" sz="900" strike="noStrike">
              <a:latin typeface="Arial"/>
              <a:ea typeface="Arial"/>
              <a:cs typeface="Arial"/>
              <a:sym typeface="Arial"/>
            </a:endParaRPr>
          </a:p>
        </p:txBody>
      </p:sp>
      <p:sp>
        <p:nvSpPr>
          <p:cNvPr id="503" name="Google Shape;503;p104"/>
          <p:cNvSpPr/>
          <p:nvPr/>
        </p:nvSpPr>
        <p:spPr>
          <a:xfrm>
            <a:off x="1270440" y="3838680"/>
            <a:ext cx="1746720" cy="6206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434343"/>
                </a:solidFill>
                <a:latin typeface="Roboto"/>
                <a:ea typeface="Roboto"/>
                <a:cs typeface="Roboto"/>
                <a:sym typeface="Roboto"/>
              </a:rPr>
              <a:t>Unifying Ontology (DNA) is used to build all Domain-Specific Ontologies</a:t>
            </a:r>
            <a:endParaRPr b="0" sz="900" strike="noStrike">
              <a:latin typeface="Arial"/>
              <a:ea typeface="Arial"/>
              <a:cs typeface="Arial"/>
              <a:sym typeface="Arial"/>
            </a:endParaRPr>
          </a:p>
        </p:txBody>
      </p:sp>
      <p:grpSp>
        <p:nvGrpSpPr>
          <p:cNvPr id="504" name="Google Shape;504;p104"/>
          <p:cNvGrpSpPr/>
          <p:nvPr/>
        </p:nvGrpSpPr>
        <p:grpSpPr>
          <a:xfrm>
            <a:off x="3784680" y="815040"/>
            <a:ext cx="1963440" cy="1121040"/>
            <a:chOff x="3784680" y="815040"/>
            <a:chExt cx="1963440" cy="1121040"/>
          </a:xfrm>
        </p:grpSpPr>
        <p:sp>
          <p:nvSpPr>
            <p:cNvPr id="505" name="Google Shape;505;p104"/>
            <p:cNvSpPr/>
            <p:nvPr/>
          </p:nvSpPr>
          <p:spPr>
            <a:xfrm>
              <a:off x="3784680" y="815040"/>
              <a:ext cx="1963440" cy="1121040"/>
            </a:xfrm>
            <a:prstGeom prst="roundRect">
              <a:avLst>
                <a:gd fmla="val 16667" name="adj"/>
              </a:avLst>
            </a:prstGeom>
            <a:solidFill>
              <a:srgbClr val="F9F9FF"/>
            </a:solidFill>
            <a:ln cap="flat" cmpd="sng" w="9525">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Roboto"/>
                  <a:ea typeface="Roboto"/>
                  <a:cs typeface="Roboto"/>
                  <a:sym typeface="Roboto"/>
                </a:rPr>
                <a:t>Upper Ontology</a:t>
              </a:r>
              <a:endParaRPr b="0" sz="1000" strike="noStrike">
                <a:latin typeface="Arial"/>
                <a:ea typeface="Arial"/>
                <a:cs typeface="Arial"/>
                <a:sym typeface="Arial"/>
              </a:endParaRPr>
            </a:p>
          </p:txBody>
        </p:sp>
        <p:pic>
          <p:nvPicPr>
            <p:cNvPr id="506" name="Google Shape;506;p104"/>
            <p:cNvPicPr preferRelativeResize="0"/>
            <p:nvPr/>
          </p:nvPicPr>
          <p:blipFill rotWithShape="1">
            <a:blip r:embed="rId3">
              <a:alphaModFix/>
            </a:blip>
            <a:srcRect b="0" l="0" r="0" t="0"/>
            <a:stretch/>
          </p:blipFill>
          <p:spPr>
            <a:xfrm>
              <a:off x="4213440" y="1268640"/>
              <a:ext cx="1106280" cy="550080"/>
            </a:xfrm>
            <a:prstGeom prst="rect">
              <a:avLst/>
            </a:prstGeom>
            <a:noFill/>
            <a:ln>
              <a:noFill/>
            </a:ln>
          </p:spPr>
        </p:pic>
      </p:grpSp>
      <p:sp>
        <p:nvSpPr>
          <p:cNvPr id="507" name="Google Shape;507;p104"/>
          <p:cNvSpPr/>
          <p:nvPr/>
        </p:nvSpPr>
        <p:spPr>
          <a:xfrm>
            <a:off x="1001880" y="2296080"/>
            <a:ext cx="2014920" cy="1431360"/>
          </a:xfrm>
          <a:prstGeom prst="roundRect">
            <a:avLst>
              <a:gd fmla="val 16667" name="adj"/>
            </a:avLst>
          </a:prstGeom>
          <a:solidFill>
            <a:srgbClr val="F9F9FF"/>
          </a:solidFill>
          <a:ln cap="flat" cmpd="sng" w="9525">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Roboto"/>
                <a:ea typeface="Roboto"/>
                <a:cs typeface="Roboto"/>
                <a:sym typeface="Roboto"/>
              </a:rPr>
              <a:t>Unifying Ontology</a:t>
            </a:r>
            <a:endParaRPr b="0" sz="1000" strike="noStrike">
              <a:latin typeface="Arial"/>
              <a:ea typeface="Arial"/>
              <a:cs typeface="Arial"/>
              <a:sym typeface="Arial"/>
            </a:endParaRPr>
          </a:p>
        </p:txBody>
      </p:sp>
      <p:pic>
        <p:nvPicPr>
          <p:cNvPr id="508" name="Google Shape;508;p104"/>
          <p:cNvPicPr preferRelativeResize="0"/>
          <p:nvPr/>
        </p:nvPicPr>
        <p:blipFill rotWithShape="1">
          <a:blip r:embed="rId4">
            <a:alphaModFix/>
          </a:blip>
          <a:srcRect b="0" l="0" r="0" t="0"/>
          <a:stretch/>
        </p:blipFill>
        <p:spPr>
          <a:xfrm>
            <a:off x="1423800" y="2694960"/>
            <a:ext cx="1171440" cy="699120"/>
          </a:xfrm>
          <a:prstGeom prst="rect">
            <a:avLst/>
          </a:prstGeom>
          <a:noFill/>
          <a:ln>
            <a:noFill/>
          </a:ln>
        </p:spPr>
      </p:pic>
      <p:sp>
        <p:nvSpPr>
          <p:cNvPr id="509" name="Google Shape;509;p104"/>
          <p:cNvSpPr/>
          <p:nvPr/>
        </p:nvSpPr>
        <p:spPr>
          <a:xfrm>
            <a:off x="1595880" y="3394440"/>
            <a:ext cx="826920" cy="1731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lang="en-US" sz="800" strike="noStrike">
                <a:solidFill>
                  <a:srgbClr val="000000"/>
                </a:solidFill>
                <a:latin typeface="Calibri"/>
                <a:ea typeface="Calibri"/>
                <a:cs typeface="Calibri"/>
                <a:sym typeface="Calibri"/>
              </a:rPr>
              <a:t>Core Domain</a:t>
            </a:r>
            <a:endParaRPr b="0" sz="800" strike="noStrike">
              <a:latin typeface="Arial"/>
              <a:ea typeface="Arial"/>
              <a:cs typeface="Arial"/>
              <a:sym typeface="Arial"/>
            </a:endParaRPr>
          </a:p>
        </p:txBody>
      </p:sp>
      <p:grpSp>
        <p:nvGrpSpPr>
          <p:cNvPr id="510" name="Google Shape;510;p104"/>
          <p:cNvGrpSpPr/>
          <p:nvPr/>
        </p:nvGrpSpPr>
        <p:grpSpPr>
          <a:xfrm>
            <a:off x="3446640" y="2040120"/>
            <a:ext cx="2639520" cy="1910520"/>
            <a:chOff x="3446640" y="2040120"/>
            <a:chExt cx="2639520" cy="1910520"/>
          </a:xfrm>
        </p:grpSpPr>
        <p:pic>
          <p:nvPicPr>
            <p:cNvPr id="511" name="Google Shape;511;p104"/>
            <p:cNvPicPr preferRelativeResize="0"/>
            <p:nvPr/>
          </p:nvPicPr>
          <p:blipFill rotWithShape="1">
            <a:blip r:embed="rId5">
              <a:alphaModFix/>
            </a:blip>
            <a:srcRect b="0" l="0" r="0" t="0"/>
            <a:stretch/>
          </p:blipFill>
          <p:spPr>
            <a:xfrm>
              <a:off x="3661200" y="2544120"/>
              <a:ext cx="506880" cy="407520"/>
            </a:xfrm>
            <a:prstGeom prst="rect">
              <a:avLst/>
            </a:prstGeom>
            <a:noFill/>
            <a:ln>
              <a:noFill/>
            </a:ln>
          </p:spPr>
        </p:pic>
        <p:pic>
          <p:nvPicPr>
            <p:cNvPr id="512" name="Google Shape;512;p104"/>
            <p:cNvPicPr preferRelativeResize="0"/>
            <p:nvPr/>
          </p:nvPicPr>
          <p:blipFill rotWithShape="1">
            <a:blip r:embed="rId5">
              <a:alphaModFix/>
            </a:blip>
            <a:srcRect b="0" l="0" r="0" t="0"/>
            <a:stretch/>
          </p:blipFill>
          <p:spPr>
            <a:xfrm>
              <a:off x="4626000" y="2544120"/>
              <a:ext cx="506880" cy="407520"/>
            </a:xfrm>
            <a:prstGeom prst="rect">
              <a:avLst/>
            </a:prstGeom>
            <a:noFill/>
            <a:ln>
              <a:noFill/>
            </a:ln>
          </p:spPr>
        </p:pic>
        <p:pic>
          <p:nvPicPr>
            <p:cNvPr id="513" name="Google Shape;513;p104"/>
            <p:cNvPicPr preferRelativeResize="0"/>
            <p:nvPr/>
          </p:nvPicPr>
          <p:blipFill rotWithShape="1">
            <a:blip r:embed="rId5">
              <a:alphaModFix/>
            </a:blip>
            <a:srcRect b="0" l="0" r="0" t="0"/>
            <a:stretch/>
          </p:blipFill>
          <p:spPr>
            <a:xfrm>
              <a:off x="5433480" y="2544120"/>
              <a:ext cx="506880" cy="407520"/>
            </a:xfrm>
            <a:prstGeom prst="rect">
              <a:avLst/>
            </a:prstGeom>
            <a:noFill/>
            <a:ln>
              <a:noFill/>
            </a:ln>
          </p:spPr>
        </p:pic>
        <p:pic>
          <p:nvPicPr>
            <p:cNvPr id="514" name="Google Shape;514;p104"/>
            <p:cNvPicPr preferRelativeResize="0"/>
            <p:nvPr/>
          </p:nvPicPr>
          <p:blipFill rotWithShape="1">
            <a:blip r:embed="rId5">
              <a:alphaModFix/>
            </a:blip>
            <a:srcRect b="0" l="0" r="0" t="0"/>
            <a:stretch/>
          </p:blipFill>
          <p:spPr>
            <a:xfrm>
              <a:off x="5433480" y="3324960"/>
              <a:ext cx="506880" cy="407520"/>
            </a:xfrm>
            <a:prstGeom prst="rect">
              <a:avLst/>
            </a:prstGeom>
            <a:noFill/>
            <a:ln>
              <a:noFill/>
            </a:ln>
          </p:spPr>
        </p:pic>
        <p:pic>
          <p:nvPicPr>
            <p:cNvPr id="515" name="Google Shape;515;p104"/>
            <p:cNvPicPr preferRelativeResize="0"/>
            <p:nvPr/>
          </p:nvPicPr>
          <p:blipFill rotWithShape="1">
            <a:blip r:embed="rId5">
              <a:alphaModFix/>
            </a:blip>
            <a:srcRect b="0" l="0" r="0" t="0"/>
            <a:stretch/>
          </p:blipFill>
          <p:spPr>
            <a:xfrm>
              <a:off x="4700880" y="3225600"/>
              <a:ext cx="506880" cy="407520"/>
            </a:xfrm>
            <a:prstGeom prst="rect">
              <a:avLst/>
            </a:prstGeom>
            <a:noFill/>
            <a:ln>
              <a:noFill/>
            </a:ln>
          </p:spPr>
        </p:pic>
        <p:pic>
          <p:nvPicPr>
            <p:cNvPr id="516" name="Google Shape;516;p104"/>
            <p:cNvPicPr preferRelativeResize="0"/>
            <p:nvPr/>
          </p:nvPicPr>
          <p:blipFill rotWithShape="1">
            <a:blip r:embed="rId5">
              <a:alphaModFix/>
            </a:blip>
            <a:srcRect b="0" l="0" r="0" t="0"/>
            <a:stretch/>
          </p:blipFill>
          <p:spPr>
            <a:xfrm>
              <a:off x="3860280" y="3261600"/>
              <a:ext cx="506880" cy="407520"/>
            </a:xfrm>
            <a:prstGeom prst="rect">
              <a:avLst/>
            </a:prstGeom>
            <a:noFill/>
            <a:ln>
              <a:noFill/>
            </a:ln>
          </p:spPr>
        </p:pic>
        <p:sp>
          <p:nvSpPr>
            <p:cNvPr id="517" name="Google Shape;517;p104"/>
            <p:cNvSpPr/>
            <p:nvPr/>
          </p:nvSpPr>
          <p:spPr>
            <a:xfrm>
              <a:off x="3446640" y="2040120"/>
              <a:ext cx="2639520" cy="1910520"/>
            </a:xfrm>
            <a:prstGeom prst="roundRect">
              <a:avLst>
                <a:gd fmla="val 16667" name="adj"/>
              </a:avLst>
            </a:prstGeom>
            <a:solidFill>
              <a:srgbClr val="F9F9FF"/>
            </a:solidFill>
            <a:ln cap="flat" cmpd="sng" w="9525">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Roboto"/>
                  <a:ea typeface="Roboto"/>
                  <a:cs typeface="Roboto"/>
                  <a:sym typeface="Roboto"/>
                </a:rPr>
                <a:t>Domain-Specific Ontologies</a:t>
              </a:r>
              <a:endParaRPr b="0" sz="1000" strike="noStrike">
                <a:latin typeface="Arial"/>
                <a:ea typeface="Arial"/>
                <a:cs typeface="Arial"/>
                <a:sym typeface="Arial"/>
              </a:endParaRPr>
            </a:p>
          </p:txBody>
        </p:sp>
      </p:grpSp>
      <p:pic>
        <p:nvPicPr>
          <p:cNvPr id="518" name="Google Shape;518;p104"/>
          <p:cNvPicPr preferRelativeResize="0"/>
          <p:nvPr/>
        </p:nvPicPr>
        <p:blipFill rotWithShape="1">
          <a:blip r:embed="rId4">
            <a:alphaModFix/>
          </a:blip>
          <a:srcRect b="0" l="0" r="0" t="0"/>
          <a:stretch/>
        </p:blipFill>
        <p:spPr>
          <a:xfrm>
            <a:off x="4705920" y="2561760"/>
            <a:ext cx="794520" cy="394200"/>
          </a:xfrm>
          <a:prstGeom prst="rect">
            <a:avLst/>
          </a:prstGeom>
          <a:noFill/>
          <a:ln>
            <a:noFill/>
          </a:ln>
        </p:spPr>
      </p:pic>
      <p:pic>
        <p:nvPicPr>
          <p:cNvPr id="519" name="Google Shape;519;p104"/>
          <p:cNvPicPr preferRelativeResize="0"/>
          <p:nvPr/>
        </p:nvPicPr>
        <p:blipFill rotWithShape="1">
          <a:blip r:embed="rId4">
            <a:alphaModFix/>
          </a:blip>
          <a:srcRect b="0" l="0" r="0" t="0"/>
          <a:stretch/>
        </p:blipFill>
        <p:spPr>
          <a:xfrm>
            <a:off x="4873680" y="3160080"/>
            <a:ext cx="794520" cy="394200"/>
          </a:xfrm>
          <a:prstGeom prst="rect">
            <a:avLst/>
          </a:prstGeom>
          <a:noFill/>
          <a:ln>
            <a:noFill/>
          </a:ln>
        </p:spPr>
      </p:pic>
      <p:sp>
        <p:nvSpPr>
          <p:cNvPr id="520" name="Google Shape;520;p104"/>
          <p:cNvSpPr/>
          <p:nvPr/>
        </p:nvSpPr>
        <p:spPr>
          <a:xfrm flipH="1" rot="10800000">
            <a:off x="2600500" y="2741049"/>
            <a:ext cx="1003104" cy="287550"/>
          </a:xfrm>
          <a:custGeom>
            <a:rect b="b" l="l" r="r" t="t"/>
            <a:pathLst>
              <a:path extrusionOk="0" h="21600" w="21600">
                <a:moveTo>
                  <a:pt x="0" y="0"/>
                </a:moveTo>
                <a:lnTo>
                  <a:pt x="21600" y="21600"/>
                </a:lnTo>
              </a:path>
            </a:pathLst>
          </a:custGeom>
          <a:noFill/>
          <a:ln cap="flat" cmpd="sng" w="9525">
            <a:solidFill>
              <a:srgbClr val="434343"/>
            </a:solidFill>
            <a:prstDash val="solid"/>
            <a:round/>
            <a:headEnd len="sm" w="sm" type="none"/>
            <a:tailEnd len="med" w="med" type="triangle"/>
          </a:ln>
        </p:spPr>
      </p:sp>
      <p:sp>
        <p:nvSpPr>
          <p:cNvPr id="521" name="Google Shape;521;p104"/>
          <p:cNvSpPr/>
          <p:nvPr/>
        </p:nvSpPr>
        <p:spPr>
          <a:xfrm>
            <a:off x="2595600" y="3044520"/>
            <a:ext cx="1188720" cy="342720"/>
          </a:xfrm>
          <a:custGeom>
            <a:rect b="b" l="l" r="r" t="t"/>
            <a:pathLst>
              <a:path extrusionOk="0" h="21600" w="21600">
                <a:moveTo>
                  <a:pt x="0" y="0"/>
                </a:moveTo>
                <a:lnTo>
                  <a:pt x="21600" y="21600"/>
                </a:lnTo>
              </a:path>
            </a:pathLst>
          </a:custGeom>
          <a:noFill/>
          <a:ln cap="flat" cmpd="sng" w="9525">
            <a:solidFill>
              <a:srgbClr val="434343"/>
            </a:solidFill>
            <a:prstDash val="solid"/>
            <a:round/>
            <a:headEnd len="sm" w="sm" type="none"/>
            <a:tailEnd len="med" w="med" type="triangle"/>
          </a:ln>
        </p:spPr>
      </p:sp>
      <p:sp>
        <p:nvSpPr>
          <p:cNvPr id="522" name="Google Shape;522;p104"/>
          <p:cNvSpPr/>
          <p:nvPr/>
        </p:nvSpPr>
        <p:spPr>
          <a:xfrm flipH="1" rot="10800000">
            <a:off x="2613275" y="2773024"/>
            <a:ext cx="2095794" cy="274752"/>
          </a:xfrm>
          <a:custGeom>
            <a:rect b="b" l="l" r="r" t="t"/>
            <a:pathLst>
              <a:path extrusionOk="0" h="21600" w="21600">
                <a:moveTo>
                  <a:pt x="0" y="0"/>
                </a:moveTo>
                <a:lnTo>
                  <a:pt x="21600" y="21600"/>
                </a:lnTo>
              </a:path>
            </a:pathLst>
          </a:custGeom>
          <a:noFill/>
          <a:ln cap="flat" cmpd="sng" w="9525">
            <a:solidFill>
              <a:srgbClr val="434343"/>
            </a:solidFill>
            <a:prstDash val="solid"/>
            <a:round/>
            <a:headEnd len="sm" w="sm" type="none"/>
            <a:tailEnd len="med" w="med" type="triangle"/>
          </a:ln>
        </p:spPr>
      </p:sp>
      <p:sp>
        <p:nvSpPr>
          <p:cNvPr id="523" name="Google Shape;523;p104"/>
          <p:cNvSpPr/>
          <p:nvPr/>
        </p:nvSpPr>
        <p:spPr>
          <a:xfrm>
            <a:off x="2595600" y="3044520"/>
            <a:ext cx="2277720" cy="312480"/>
          </a:xfrm>
          <a:custGeom>
            <a:rect b="b" l="l" r="r" t="t"/>
            <a:pathLst>
              <a:path extrusionOk="0" h="21600" w="21600">
                <a:moveTo>
                  <a:pt x="0" y="0"/>
                </a:moveTo>
                <a:lnTo>
                  <a:pt x="21600" y="21600"/>
                </a:lnTo>
              </a:path>
            </a:pathLst>
          </a:custGeom>
          <a:noFill/>
          <a:ln cap="flat" cmpd="sng" w="9525">
            <a:solidFill>
              <a:srgbClr val="434343"/>
            </a:solidFill>
            <a:prstDash val="solid"/>
            <a:round/>
            <a:headEnd len="sm" w="sm" type="none"/>
            <a:tailEnd len="med" w="med" type="triangle"/>
          </a:ln>
        </p:spPr>
      </p:sp>
      <p:pic>
        <p:nvPicPr>
          <p:cNvPr id="524" name="Google Shape;524;p104"/>
          <p:cNvPicPr preferRelativeResize="0"/>
          <p:nvPr/>
        </p:nvPicPr>
        <p:blipFill rotWithShape="1">
          <a:blip r:embed="rId4">
            <a:alphaModFix/>
          </a:blip>
          <a:srcRect b="0" l="0" r="0" t="0"/>
          <a:stretch/>
        </p:blipFill>
        <p:spPr>
          <a:xfrm>
            <a:off x="3607920" y="2526840"/>
            <a:ext cx="794520" cy="394200"/>
          </a:xfrm>
          <a:prstGeom prst="rect">
            <a:avLst/>
          </a:prstGeom>
          <a:noFill/>
          <a:ln>
            <a:noFill/>
          </a:ln>
        </p:spPr>
      </p:pic>
      <p:pic>
        <p:nvPicPr>
          <p:cNvPr id="525" name="Google Shape;525;p104"/>
          <p:cNvPicPr preferRelativeResize="0"/>
          <p:nvPr/>
        </p:nvPicPr>
        <p:blipFill rotWithShape="1">
          <a:blip r:embed="rId4">
            <a:alphaModFix/>
          </a:blip>
          <a:srcRect b="0" l="0" r="0" t="0"/>
          <a:stretch/>
        </p:blipFill>
        <p:spPr>
          <a:xfrm>
            <a:off x="3784680" y="3190320"/>
            <a:ext cx="794520" cy="394200"/>
          </a:xfrm>
          <a:prstGeom prst="rect">
            <a:avLst/>
          </a:prstGeom>
          <a:noFill/>
          <a:ln>
            <a:noFill/>
          </a:ln>
        </p:spPr>
      </p:pic>
      <p:sp>
        <p:nvSpPr>
          <p:cNvPr id="526" name="Google Shape;526;p104"/>
          <p:cNvSpPr/>
          <p:nvPr/>
        </p:nvSpPr>
        <p:spPr>
          <a:xfrm>
            <a:off x="3812760" y="4088880"/>
            <a:ext cx="1935360" cy="6206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434343"/>
                </a:solidFill>
                <a:latin typeface="Roboto"/>
                <a:ea typeface="Roboto"/>
                <a:cs typeface="Roboto"/>
                <a:sym typeface="Roboto"/>
              </a:rPr>
              <a:t>Each Domain-Specific Ontology has their own unique set of Voc, Tax, and Ontology elements</a:t>
            </a:r>
            <a:endParaRPr b="0" sz="900" strike="noStrike">
              <a:latin typeface="Arial"/>
              <a:ea typeface="Arial"/>
              <a:cs typeface="Arial"/>
              <a:sym typeface="Arial"/>
            </a:endParaRPr>
          </a:p>
        </p:txBody>
      </p:sp>
      <p:sp>
        <p:nvSpPr>
          <p:cNvPr id="527" name="Google Shape;527;p104"/>
          <p:cNvSpPr/>
          <p:nvPr/>
        </p:nvSpPr>
        <p:spPr>
          <a:xfrm>
            <a:off x="4766760" y="1819440"/>
            <a:ext cx="360" cy="220320"/>
          </a:xfrm>
          <a:custGeom>
            <a:rect b="b" l="l" r="r" t="t"/>
            <a:pathLst>
              <a:path extrusionOk="0" h="21600" w="21600">
                <a:moveTo>
                  <a:pt x="0" y="0"/>
                </a:moveTo>
                <a:lnTo>
                  <a:pt x="21600" y="21600"/>
                </a:lnTo>
              </a:path>
            </a:pathLst>
          </a:custGeom>
          <a:noFill/>
          <a:ln cap="flat" cmpd="sng" w="9525">
            <a:solidFill>
              <a:srgbClr val="434343"/>
            </a:solidFill>
            <a:prstDash val="solid"/>
            <a:round/>
            <a:headEnd len="sm" w="sm" type="none"/>
            <a:tailEnd len="med" w="med" type="triangle"/>
          </a:ln>
        </p:spPr>
      </p:sp>
      <p:sp>
        <p:nvSpPr>
          <p:cNvPr id="528" name="Google Shape;528;p104"/>
          <p:cNvSpPr/>
          <p:nvPr/>
        </p:nvSpPr>
        <p:spPr>
          <a:xfrm flipH="1">
            <a:off x="6276600" y="2794320"/>
            <a:ext cx="1552320" cy="500040"/>
          </a:xfrm>
          <a:prstGeom prst="stripedRightArrow">
            <a:avLst>
              <a:gd fmla="val 50000" name="adj1"/>
              <a:gd fmla="val 50000" name="adj2"/>
            </a:avLst>
          </a:prstGeom>
          <a:solidFill>
            <a:srgbClr val="00FF00"/>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n-US" sz="1400" strike="noStrike">
                <a:solidFill>
                  <a:srgbClr val="000000"/>
                </a:solidFill>
                <a:latin typeface="Roboto"/>
                <a:ea typeface="Roboto"/>
                <a:cs typeface="Roboto"/>
                <a:sym typeface="Roboto"/>
              </a:rPr>
              <a:t>Learning</a:t>
            </a:r>
            <a:endParaRPr b="0" sz="1400" strike="noStrike">
              <a:latin typeface="Arial"/>
              <a:ea typeface="Arial"/>
              <a:cs typeface="Arial"/>
              <a:sym typeface="Arial"/>
            </a:endParaRPr>
          </a:p>
        </p:txBody>
      </p:sp>
      <p:pic>
        <p:nvPicPr>
          <p:cNvPr id="529" name="Google Shape;529;p104"/>
          <p:cNvPicPr preferRelativeResize="0"/>
          <p:nvPr/>
        </p:nvPicPr>
        <p:blipFill rotWithShape="1">
          <a:blip r:embed="rId6">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05"/>
          <p:cNvSpPr/>
          <p:nvPr/>
        </p:nvSpPr>
        <p:spPr>
          <a:xfrm>
            <a:off x="457200" y="110880"/>
            <a:ext cx="7086240" cy="2952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 (Mapping  Structure)</a:t>
            </a:r>
            <a:endParaRPr b="0" sz="1800" strike="noStrike">
              <a:latin typeface="Arial"/>
              <a:ea typeface="Arial"/>
              <a:cs typeface="Arial"/>
              <a:sym typeface="Arial"/>
            </a:endParaRPr>
          </a:p>
        </p:txBody>
      </p:sp>
      <p:grpSp>
        <p:nvGrpSpPr>
          <p:cNvPr id="535" name="Google Shape;535;p105"/>
          <p:cNvGrpSpPr/>
          <p:nvPr/>
        </p:nvGrpSpPr>
        <p:grpSpPr>
          <a:xfrm>
            <a:off x="367560" y="1179360"/>
            <a:ext cx="2172600" cy="1368000"/>
            <a:chOff x="367560" y="1179360"/>
            <a:chExt cx="2172600" cy="1368000"/>
          </a:xfrm>
        </p:grpSpPr>
        <p:grpSp>
          <p:nvGrpSpPr>
            <p:cNvPr id="536" name="Google Shape;536;p105"/>
            <p:cNvGrpSpPr/>
            <p:nvPr/>
          </p:nvGrpSpPr>
          <p:grpSpPr>
            <a:xfrm>
              <a:off x="367560" y="1179360"/>
              <a:ext cx="2172600" cy="1368000"/>
              <a:chOff x="367560" y="1179360"/>
              <a:chExt cx="2172600" cy="1368000"/>
            </a:xfrm>
          </p:grpSpPr>
          <p:pic>
            <p:nvPicPr>
              <p:cNvPr id="537" name="Google Shape;537;p105"/>
              <p:cNvPicPr preferRelativeResize="0"/>
              <p:nvPr/>
            </p:nvPicPr>
            <p:blipFill rotWithShape="1">
              <a:blip r:embed="rId3">
                <a:alphaModFix/>
              </a:blip>
              <a:srcRect b="0" l="0" r="0" t="0"/>
              <a:stretch/>
            </p:blipFill>
            <p:spPr>
              <a:xfrm>
                <a:off x="543960" y="1540080"/>
                <a:ext cx="417240" cy="291960"/>
              </a:xfrm>
              <a:prstGeom prst="rect">
                <a:avLst/>
              </a:prstGeom>
              <a:noFill/>
              <a:ln>
                <a:noFill/>
              </a:ln>
            </p:spPr>
          </p:pic>
          <p:pic>
            <p:nvPicPr>
              <p:cNvPr id="538" name="Google Shape;538;p105"/>
              <p:cNvPicPr preferRelativeResize="0"/>
              <p:nvPr/>
            </p:nvPicPr>
            <p:blipFill rotWithShape="1">
              <a:blip r:embed="rId3">
                <a:alphaModFix/>
              </a:blip>
              <a:srcRect b="0" l="0" r="0" t="0"/>
              <a:stretch/>
            </p:blipFill>
            <p:spPr>
              <a:xfrm>
                <a:off x="1338480" y="1540080"/>
                <a:ext cx="417240" cy="291960"/>
              </a:xfrm>
              <a:prstGeom prst="rect">
                <a:avLst/>
              </a:prstGeom>
              <a:noFill/>
              <a:ln>
                <a:noFill/>
              </a:ln>
            </p:spPr>
          </p:pic>
          <p:pic>
            <p:nvPicPr>
              <p:cNvPr id="539" name="Google Shape;539;p105"/>
              <p:cNvPicPr preferRelativeResize="0"/>
              <p:nvPr/>
            </p:nvPicPr>
            <p:blipFill rotWithShape="1">
              <a:blip r:embed="rId3">
                <a:alphaModFix/>
              </a:blip>
              <a:srcRect b="0" l="0" r="0" t="0"/>
              <a:stretch/>
            </p:blipFill>
            <p:spPr>
              <a:xfrm>
                <a:off x="2003040" y="1540080"/>
                <a:ext cx="417240" cy="291960"/>
              </a:xfrm>
              <a:prstGeom prst="rect">
                <a:avLst/>
              </a:prstGeom>
              <a:noFill/>
              <a:ln>
                <a:noFill/>
              </a:ln>
            </p:spPr>
          </p:pic>
          <p:pic>
            <p:nvPicPr>
              <p:cNvPr id="540" name="Google Shape;540;p105"/>
              <p:cNvPicPr preferRelativeResize="0"/>
              <p:nvPr/>
            </p:nvPicPr>
            <p:blipFill rotWithShape="1">
              <a:blip r:embed="rId3">
                <a:alphaModFix/>
              </a:blip>
              <a:srcRect b="0" l="0" r="0" t="0"/>
              <a:stretch/>
            </p:blipFill>
            <p:spPr>
              <a:xfrm>
                <a:off x="2003040" y="2099520"/>
                <a:ext cx="417240" cy="291960"/>
              </a:xfrm>
              <a:prstGeom prst="rect">
                <a:avLst/>
              </a:prstGeom>
              <a:noFill/>
              <a:ln>
                <a:noFill/>
              </a:ln>
            </p:spPr>
          </p:pic>
          <p:pic>
            <p:nvPicPr>
              <p:cNvPr id="541" name="Google Shape;541;p105"/>
              <p:cNvPicPr preferRelativeResize="0"/>
              <p:nvPr/>
            </p:nvPicPr>
            <p:blipFill rotWithShape="1">
              <a:blip r:embed="rId3">
                <a:alphaModFix/>
              </a:blip>
              <a:srcRect b="0" l="0" r="0" t="0"/>
              <a:stretch/>
            </p:blipFill>
            <p:spPr>
              <a:xfrm>
                <a:off x="1400040" y="2028240"/>
                <a:ext cx="417240" cy="291960"/>
              </a:xfrm>
              <a:prstGeom prst="rect">
                <a:avLst/>
              </a:prstGeom>
              <a:noFill/>
              <a:ln>
                <a:noFill/>
              </a:ln>
            </p:spPr>
          </p:pic>
          <p:pic>
            <p:nvPicPr>
              <p:cNvPr id="542" name="Google Shape;542;p105"/>
              <p:cNvPicPr preferRelativeResize="0"/>
              <p:nvPr/>
            </p:nvPicPr>
            <p:blipFill rotWithShape="1">
              <a:blip r:embed="rId3">
                <a:alphaModFix/>
              </a:blip>
              <a:srcRect b="0" l="0" r="0" t="0"/>
              <a:stretch/>
            </p:blipFill>
            <p:spPr>
              <a:xfrm>
                <a:off x="707760" y="2054160"/>
                <a:ext cx="417240" cy="291960"/>
              </a:xfrm>
              <a:prstGeom prst="rect">
                <a:avLst/>
              </a:prstGeom>
              <a:noFill/>
              <a:ln>
                <a:noFill/>
              </a:ln>
            </p:spPr>
          </p:pic>
          <p:sp>
            <p:nvSpPr>
              <p:cNvPr id="543" name="Google Shape;543;p105"/>
              <p:cNvSpPr/>
              <p:nvPr/>
            </p:nvSpPr>
            <p:spPr>
              <a:xfrm>
                <a:off x="367560" y="1179360"/>
                <a:ext cx="2172600" cy="13680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Domain-Specific Ontologies</a:t>
                </a:r>
                <a:endParaRPr b="0" sz="1000" strike="noStrike">
                  <a:latin typeface="Arial"/>
                  <a:ea typeface="Arial"/>
                  <a:cs typeface="Arial"/>
                  <a:sym typeface="Arial"/>
                </a:endParaRPr>
              </a:p>
            </p:txBody>
          </p:sp>
        </p:grpSp>
        <p:pic>
          <p:nvPicPr>
            <p:cNvPr id="544" name="Google Shape;544;p105"/>
            <p:cNvPicPr preferRelativeResize="0"/>
            <p:nvPr/>
          </p:nvPicPr>
          <p:blipFill rotWithShape="1">
            <a:blip r:embed="rId4">
              <a:alphaModFix/>
            </a:blip>
            <a:srcRect b="0" l="0" r="0" t="0"/>
            <a:stretch/>
          </p:blipFill>
          <p:spPr>
            <a:xfrm>
              <a:off x="1404000" y="1553040"/>
              <a:ext cx="654120" cy="282240"/>
            </a:xfrm>
            <a:prstGeom prst="rect">
              <a:avLst/>
            </a:prstGeom>
            <a:noFill/>
            <a:ln>
              <a:noFill/>
            </a:ln>
          </p:spPr>
        </p:pic>
        <p:pic>
          <p:nvPicPr>
            <p:cNvPr id="545" name="Google Shape;545;p105"/>
            <p:cNvPicPr preferRelativeResize="0"/>
            <p:nvPr/>
          </p:nvPicPr>
          <p:blipFill rotWithShape="1">
            <a:blip r:embed="rId4">
              <a:alphaModFix/>
            </a:blip>
            <a:srcRect b="0" l="0" r="0" t="0"/>
            <a:stretch/>
          </p:blipFill>
          <p:spPr>
            <a:xfrm>
              <a:off x="1542240" y="1981440"/>
              <a:ext cx="654120" cy="282240"/>
            </a:xfrm>
            <a:prstGeom prst="rect">
              <a:avLst/>
            </a:prstGeom>
            <a:noFill/>
            <a:ln>
              <a:noFill/>
            </a:ln>
          </p:spPr>
        </p:pic>
        <p:pic>
          <p:nvPicPr>
            <p:cNvPr id="546" name="Google Shape;546;p105"/>
            <p:cNvPicPr preferRelativeResize="0"/>
            <p:nvPr/>
          </p:nvPicPr>
          <p:blipFill rotWithShape="1">
            <a:blip r:embed="rId4">
              <a:alphaModFix/>
            </a:blip>
            <a:srcRect b="0" l="0" r="0" t="0"/>
            <a:stretch/>
          </p:blipFill>
          <p:spPr>
            <a:xfrm>
              <a:off x="527040" y="1553040"/>
              <a:ext cx="654120" cy="282240"/>
            </a:xfrm>
            <a:prstGeom prst="rect">
              <a:avLst/>
            </a:prstGeom>
            <a:noFill/>
            <a:ln>
              <a:noFill/>
            </a:ln>
          </p:spPr>
        </p:pic>
        <p:pic>
          <p:nvPicPr>
            <p:cNvPr id="547" name="Google Shape;547;p105"/>
            <p:cNvPicPr preferRelativeResize="0"/>
            <p:nvPr/>
          </p:nvPicPr>
          <p:blipFill rotWithShape="1">
            <a:blip r:embed="rId4">
              <a:alphaModFix/>
            </a:blip>
            <a:srcRect b="0" l="0" r="0" t="0"/>
            <a:stretch/>
          </p:blipFill>
          <p:spPr>
            <a:xfrm>
              <a:off x="645840" y="2003040"/>
              <a:ext cx="654120" cy="282240"/>
            </a:xfrm>
            <a:prstGeom prst="rect">
              <a:avLst/>
            </a:prstGeom>
            <a:noFill/>
            <a:ln>
              <a:noFill/>
            </a:ln>
          </p:spPr>
        </p:pic>
      </p:grpSp>
      <p:sp>
        <p:nvSpPr>
          <p:cNvPr id="548" name="Google Shape;548;p105"/>
          <p:cNvSpPr/>
          <p:nvPr/>
        </p:nvSpPr>
        <p:spPr>
          <a:xfrm>
            <a:off x="3324600" y="221580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Modeling Environment</a:t>
            </a:r>
            <a:endParaRPr b="0" sz="1000" strike="noStrike">
              <a:latin typeface="Arial"/>
              <a:ea typeface="Arial"/>
              <a:cs typeface="Arial"/>
              <a:sym typeface="Arial"/>
            </a:endParaRPr>
          </a:p>
        </p:txBody>
      </p:sp>
      <p:sp>
        <p:nvSpPr>
          <p:cNvPr id="549" name="Google Shape;549;p105"/>
          <p:cNvSpPr/>
          <p:nvPr/>
        </p:nvSpPr>
        <p:spPr>
          <a:xfrm>
            <a:off x="3324600" y="66672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AI Framework</a:t>
            </a:r>
            <a:endParaRPr b="0" sz="1000" strike="noStrike">
              <a:latin typeface="Arial"/>
              <a:ea typeface="Arial"/>
              <a:cs typeface="Arial"/>
              <a:sym typeface="Arial"/>
            </a:endParaRPr>
          </a:p>
        </p:txBody>
      </p:sp>
      <p:sp>
        <p:nvSpPr>
          <p:cNvPr id="550" name="Google Shape;550;p105"/>
          <p:cNvSpPr/>
          <p:nvPr/>
        </p:nvSpPr>
        <p:spPr>
          <a:xfrm>
            <a:off x="4306320" y="1922400"/>
            <a:ext cx="360" cy="293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551" name="Google Shape;551;p105"/>
          <p:cNvPicPr preferRelativeResize="0"/>
          <p:nvPr/>
        </p:nvPicPr>
        <p:blipFill rotWithShape="1">
          <a:blip r:embed="rId5">
            <a:alphaModFix/>
          </a:blip>
          <a:srcRect b="0" l="0" r="0" t="0"/>
          <a:stretch/>
        </p:blipFill>
        <p:spPr>
          <a:xfrm>
            <a:off x="3541680" y="3750480"/>
            <a:ext cx="1528920" cy="1145160"/>
          </a:xfrm>
          <a:prstGeom prst="rect">
            <a:avLst/>
          </a:prstGeom>
          <a:noFill/>
          <a:ln>
            <a:noFill/>
          </a:ln>
        </p:spPr>
      </p:pic>
      <p:sp>
        <p:nvSpPr>
          <p:cNvPr id="552" name="Google Shape;552;p105"/>
          <p:cNvSpPr/>
          <p:nvPr/>
        </p:nvSpPr>
        <p:spPr>
          <a:xfrm rot="10800000">
            <a:off x="4305960" y="3471480"/>
            <a:ext cx="360" cy="279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553" name="Google Shape;553;p105"/>
          <p:cNvSpPr/>
          <p:nvPr/>
        </p:nvSpPr>
        <p:spPr>
          <a:xfrm>
            <a:off x="2012400" y="4468680"/>
            <a:ext cx="1528920" cy="584640"/>
          </a:xfrm>
          <a:prstGeom prst="rect">
            <a:avLst/>
          </a:prstGeom>
          <a:solidFill>
            <a:srgbClr val="FFFFFF"/>
          </a:solid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2A3990"/>
              </a:buClr>
              <a:buSzPts val="900"/>
              <a:buFont typeface="Roboto"/>
              <a:buChar char="●"/>
            </a:pPr>
            <a:r>
              <a:rPr b="1" lang="en-US" sz="900" strike="noStrike">
                <a:solidFill>
                  <a:srgbClr val="2A3990"/>
                </a:solidFill>
                <a:latin typeface="Roboto"/>
                <a:ea typeface="Roboto"/>
                <a:cs typeface="Roboto"/>
                <a:sym typeface="Roboto"/>
              </a:rPr>
              <a:t>Rag-Based Learning</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2A3990"/>
              </a:buClr>
              <a:buSzPts val="900"/>
              <a:buFont typeface="Roboto"/>
              <a:buChar char="●"/>
            </a:pPr>
            <a:r>
              <a:rPr b="1" lang="en-US" sz="900" strike="noStrike">
                <a:solidFill>
                  <a:srgbClr val="2A3990"/>
                </a:solidFill>
                <a:latin typeface="Roboto"/>
                <a:ea typeface="Roboto"/>
                <a:cs typeface="Roboto"/>
                <a:sym typeface="Roboto"/>
              </a:rPr>
              <a:t>AI Training Dashboard</a:t>
            </a:r>
            <a:endParaRPr b="0" sz="900" strike="noStrike">
              <a:latin typeface="Arial"/>
              <a:ea typeface="Arial"/>
              <a:cs typeface="Arial"/>
              <a:sym typeface="Arial"/>
            </a:endParaRPr>
          </a:p>
        </p:txBody>
      </p:sp>
      <p:sp>
        <p:nvSpPr>
          <p:cNvPr id="554" name="Google Shape;554;p105"/>
          <p:cNvSpPr/>
          <p:nvPr/>
        </p:nvSpPr>
        <p:spPr>
          <a:xfrm>
            <a:off x="2540520" y="1863360"/>
            <a:ext cx="783720" cy="9799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555" name="Google Shape;555;p105"/>
          <p:cNvGrpSpPr/>
          <p:nvPr/>
        </p:nvGrpSpPr>
        <p:grpSpPr>
          <a:xfrm>
            <a:off x="367200" y="2665440"/>
            <a:ext cx="2172600" cy="1646280"/>
            <a:chOff x="367200" y="2665440"/>
            <a:chExt cx="2172600" cy="1646280"/>
          </a:xfrm>
        </p:grpSpPr>
        <p:grpSp>
          <p:nvGrpSpPr>
            <p:cNvPr id="556" name="Google Shape;556;p105"/>
            <p:cNvGrpSpPr/>
            <p:nvPr/>
          </p:nvGrpSpPr>
          <p:grpSpPr>
            <a:xfrm>
              <a:off x="367200" y="2665440"/>
              <a:ext cx="2172600" cy="1646280"/>
              <a:chOff x="367200" y="2665440"/>
              <a:chExt cx="2172600" cy="1646280"/>
            </a:xfrm>
          </p:grpSpPr>
          <p:pic>
            <p:nvPicPr>
              <p:cNvPr id="557" name="Google Shape;557;p105"/>
              <p:cNvPicPr preferRelativeResize="0"/>
              <p:nvPr/>
            </p:nvPicPr>
            <p:blipFill rotWithShape="1">
              <a:blip r:embed="rId3">
                <a:alphaModFix/>
              </a:blip>
              <a:srcRect b="0" l="0" r="0" t="0"/>
              <a:stretch/>
            </p:blipFill>
            <p:spPr>
              <a:xfrm>
                <a:off x="543960" y="3099600"/>
                <a:ext cx="417240" cy="351360"/>
              </a:xfrm>
              <a:prstGeom prst="rect">
                <a:avLst/>
              </a:prstGeom>
              <a:noFill/>
              <a:ln>
                <a:noFill/>
              </a:ln>
            </p:spPr>
          </p:pic>
          <p:pic>
            <p:nvPicPr>
              <p:cNvPr id="558" name="Google Shape;558;p105"/>
              <p:cNvPicPr preferRelativeResize="0"/>
              <p:nvPr/>
            </p:nvPicPr>
            <p:blipFill rotWithShape="1">
              <a:blip r:embed="rId3">
                <a:alphaModFix/>
              </a:blip>
              <a:srcRect b="0" l="0" r="0" t="0"/>
              <a:stretch/>
            </p:blipFill>
            <p:spPr>
              <a:xfrm>
                <a:off x="1338120" y="3099600"/>
                <a:ext cx="417240" cy="351360"/>
              </a:xfrm>
              <a:prstGeom prst="rect">
                <a:avLst/>
              </a:prstGeom>
              <a:noFill/>
              <a:ln>
                <a:noFill/>
              </a:ln>
            </p:spPr>
          </p:pic>
          <p:pic>
            <p:nvPicPr>
              <p:cNvPr id="559" name="Google Shape;559;p105"/>
              <p:cNvPicPr preferRelativeResize="0"/>
              <p:nvPr/>
            </p:nvPicPr>
            <p:blipFill rotWithShape="1">
              <a:blip r:embed="rId3">
                <a:alphaModFix/>
              </a:blip>
              <a:srcRect b="0" l="0" r="0" t="0"/>
              <a:stretch/>
            </p:blipFill>
            <p:spPr>
              <a:xfrm>
                <a:off x="2003040" y="3099600"/>
                <a:ext cx="417240" cy="351360"/>
              </a:xfrm>
              <a:prstGeom prst="rect">
                <a:avLst/>
              </a:prstGeom>
              <a:noFill/>
              <a:ln>
                <a:noFill/>
              </a:ln>
            </p:spPr>
          </p:pic>
          <p:pic>
            <p:nvPicPr>
              <p:cNvPr id="560" name="Google Shape;560;p105"/>
              <p:cNvPicPr preferRelativeResize="0"/>
              <p:nvPr/>
            </p:nvPicPr>
            <p:blipFill rotWithShape="1">
              <a:blip r:embed="rId3">
                <a:alphaModFix/>
              </a:blip>
              <a:srcRect b="0" l="0" r="0" t="0"/>
              <a:stretch/>
            </p:blipFill>
            <p:spPr>
              <a:xfrm>
                <a:off x="2003040" y="3772800"/>
                <a:ext cx="417240" cy="351360"/>
              </a:xfrm>
              <a:prstGeom prst="rect">
                <a:avLst/>
              </a:prstGeom>
              <a:noFill/>
              <a:ln>
                <a:noFill/>
              </a:ln>
            </p:spPr>
          </p:pic>
          <p:pic>
            <p:nvPicPr>
              <p:cNvPr id="561" name="Google Shape;561;p105"/>
              <p:cNvPicPr preferRelativeResize="0"/>
              <p:nvPr/>
            </p:nvPicPr>
            <p:blipFill rotWithShape="1">
              <a:blip r:embed="rId3">
                <a:alphaModFix/>
              </a:blip>
              <a:srcRect b="0" l="0" r="0" t="0"/>
              <a:stretch/>
            </p:blipFill>
            <p:spPr>
              <a:xfrm>
                <a:off x="1399680" y="3687120"/>
                <a:ext cx="417240" cy="351360"/>
              </a:xfrm>
              <a:prstGeom prst="rect">
                <a:avLst/>
              </a:prstGeom>
              <a:noFill/>
              <a:ln>
                <a:noFill/>
              </a:ln>
            </p:spPr>
          </p:pic>
          <p:pic>
            <p:nvPicPr>
              <p:cNvPr id="562" name="Google Shape;562;p105"/>
              <p:cNvPicPr preferRelativeResize="0"/>
              <p:nvPr/>
            </p:nvPicPr>
            <p:blipFill rotWithShape="1">
              <a:blip r:embed="rId3">
                <a:alphaModFix/>
              </a:blip>
              <a:srcRect b="0" l="0" r="0" t="0"/>
              <a:stretch/>
            </p:blipFill>
            <p:spPr>
              <a:xfrm>
                <a:off x="707760" y="3718080"/>
                <a:ext cx="417240" cy="351360"/>
              </a:xfrm>
              <a:prstGeom prst="rect">
                <a:avLst/>
              </a:prstGeom>
              <a:noFill/>
              <a:ln>
                <a:noFill/>
              </a:ln>
            </p:spPr>
          </p:pic>
          <p:sp>
            <p:nvSpPr>
              <p:cNvPr id="563" name="Google Shape;563;p105"/>
              <p:cNvSpPr/>
              <p:nvPr/>
            </p:nvSpPr>
            <p:spPr>
              <a:xfrm>
                <a:off x="367200" y="2665440"/>
                <a:ext cx="2172600" cy="164628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Schema Ontologies</a:t>
                </a:r>
                <a:endParaRPr b="0" sz="1000" strike="noStrike">
                  <a:latin typeface="Arial"/>
                  <a:ea typeface="Arial"/>
                  <a:cs typeface="Arial"/>
                  <a:sym typeface="Arial"/>
                </a:endParaRPr>
              </a:p>
            </p:txBody>
          </p:sp>
        </p:grpSp>
        <p:sp>
          <p:nvSpPr>
            <p:cNvPr id="564" name="Google Shape;564;p105"/>
            <p:cNvSpPr/>
            <p:nvPr/>
          </p:nvSpPr>
          <p:spPr>
            <a:xfrm>
              <a:off x="541080" y="303048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500" strike="noStrike">
                  <a:solidFill>
                    <a:srgbClr val="000000"/>
                  </a:solidFill>
                  <a:latin typeface="Arial"/>
                  <a:ea typeface="Arial"/>
                  <a:cs typeface="Arial"/>
                  <a:sym typeface="Arial"/>
                </a:rPr>
                <a:t>Ontology</a:t>
              </a:r>
              <a:endParaRPr b="0" sz="500" strike="noStrike">
                <a:latin typeface="Arial"/>
                <a:ea typeface="Arial"/>
                <a:cs typeface="Arial"/>
                <a:sym typeface="Arial"/>
              </a:endParaRPr>
            </a:p>
          </p:txBody>
        </p:sp>
        <p:sp>
          <p:nvSpPr>
            <p:cNvPr id="565" name="Google Shape;565;p105"/>
            <p:cNvSpPr/>
            <p:nvPr/>
          </p:nvSpPr>
          <p:spPr>
            <a:xfrm>
              <a:off x="1199160" y="309096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500" strike="noStrike">
                  <a:solidFill>
                    <a:srgbClr val="000000"/>
                  </a:solidFill>
                  <a:latin typeface="Arial"/>
                  <a:ea typeface="Arial"/>
                  <a:cs typeface="Arial"/>
                  <a:sym typeface="Arial"/>
                </a:rPr>
                <a:t>Ontology</a:t>
              </a:r>
              <a:endParaRPr b="0" sz="500" strike="noStrike">
                <a:latin typeface="Arial"/>
                <a:ea typeface="Arial"/>
                <a:cs typeface="Arial"/>
                <a:sym typeface="Arial"/>
              </a:endParaRPr>
            </a:p>
          </p:txBody>
        </p:sp>
        <p:sp>
          <p:nvSpPr>
            <p:cNvPr id="566" name="Google Shape;566;p105"/>
            <p:cNvSpPr/>
            <p:nvPr/>
          </p:nvSpPr>
          <p:spPr>
            <a:xfrm>
              <a:off x="632160" y="351756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500" strike="noStrike">
                  <a:solidFill>
                    <a:srgbClr val="000000"/>
                  </a:solidFill>
                  <a:latin typeface="Arial"/>
                  <a:ea typeface="Arial"/>
                  <a:cs typeface="Arial"/>
                  <a:sym typeface="Arial"/>
                </a:rPr>
                <a:t>Ontology</a:t>
              </a:r>
              <a:endParaRPr b="0" sz="500" strike="noStrike">
                <a:latin typeface="Arial"/>
                <a:ea typeface="Arial"/>
                <a:cs typeface="Arial"/>
                <a:sym typeface="Arial"/>
              </a:endParaRPr>
            </a:p>
          </p:txBody>
        </p:sp>
        <p:sp>
          <p:nvSpPr>
            <p:cNvPr id="567" name="Google Shape;567;p105"/>
            <p:cNvSpPr/>
            <p:nvPr/>
          </p:nvSpPr>
          <p:spPr>
            <a:xfrm>
              <a:off x="1275840" y="365148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500" strike="noStrike">
                  <a:solidFill>
                    <a:srgbClr val="000000"/>
                  </a:solidFill>
                  <a:latin typeface="Arial"/>
                  <a:ea typeface="Arial"/>
                  <a:cs typeface="Arial"/>
                  <a:sym typeface="Arial"/>
                </a:rPr>
                <a:t>Ontology</a:t>
              </a:r>
              <a:endParaRPr b="0" sz="500" strike="noStrike">
                <a:latin typeface="Arial"/>
                <a:ea typeface="Arial"/>
                <a:cs typeface="Arial"/>
                <a:sym typeface="Arial"/>
              </a:endParaRPr>
            </a:p>
          </p:txBody>
        </p:sp>
        <p:sp>
          <p:nvSpPr>
            <p:cNvPr id="568" name="Google Shape;568;p105"/>
            <p:cNvSpPr/>
            <p:nvPr/>
          </p:nvSpPr>
          <p:spPr>
            <a:xfrm>
              <a:off x="1819440" y="322740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500" strike="noStrike">
                  <a:solidFill>
                    <a:srgbClr val="000000"/>
                  </a:solidFill>
                  <a:latin typeface="Arial"/>
                  <a:ea typeface="Arial"/>
                  <a:cs typeface="Arial"/>
                  <a:sym typeface="Arial"/>
                </a:rPr>
                <a:t>Ontology</a:t>
              </a:r>
              <a:endParaRPr b="0" sz="500" strike="noStrike">
                <a:latin typeface="Arial"/>
                <a:ea typeface="Arial"/>
                <a:cs typeface="Arial"/>
                <a:sym typeface="Arial"/>
              </a:endParaRPr>
            </a:p>
          </p:txBody>
        </p:sp>
        <p:sp>
          <p:nvSpPr>
            <p:cNvPr id="569" name="Google Shape;569;p105"/>
            <p:cNvSpPr/>
            <p:nvPr/>
          </p:nvSpPr>
          <p:spPr>
            <a:xfrm>
              <a:off x="1919880" y="366084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500" strike="noStrike">
                  <a:solidFill>
                    <a:srgbClr val="000000"/>
                  </a:solidFill>
                  <a:latin typeface="Arial"/>
                  <a:ea typeface="Arial"/>
                  <a:cs typeface="Arial"/>
                  <a:sym typeface="Arial"/>
                </a:rPr>
                <a:t>Ontology</a:t>
              </a:r>
              <a:endParaRPr b="0" sz="500" strike="noStrike">
                <a:latin typeface="Arial"/>
                <a:ea typeface="Arial"/>
                <a:cs typeface="Arial"/>
                <a:sym typeface="Arial"/>
              </a:endParaRPr>
            </a:p>
          </p:txBody>
        </p:sp>
      </p:grpSp>
      <p:sp>
        <p:nvSpPr>
          <p:cNvPr id="570" name="Google Shape;570;p105"/>
          <p:cNvSpPr/>
          <p:nvPr/>
        </p:nvSpPr>
        <p:spPr>
          <a:xfrm flipH="1" rot="10800000">
            <a:off x="2562175" y="2849674"/>
            <a:ext cx="741150" cy="830628"/>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571" name="Google Shape;571;p105"/>
          <p:cNvGrpSpPr/>
          <p:nvPr/>
        </p:nvGrpSpPr>
        <p:grpSpPr>
          <a:xfrm>
            <a:off x="6072480" y="2159280"/>
            <a:ext cx="2172600" cy="1368000"/>
            <a:chOff x="6072480" y="2159280"/>
            <a:chExt cx="2172600" cy="1368000"/>
          </a:xfrm>
        </p:grpSpPr>
        <p:grpSp>
          <p:nvGrpSpPr>
            <p:cNvPr id="572" name="Google Shape;572;p105"/>
            <p:cNvGrpSpPr/>
            <p:nvPr/>
          </p:nvGrpSpPr>
          <p:grpSpPr>
            <a:xfrm>
              <a:off x="6072480" y="2159280"/>
              <a:ext cx="2172600" cy="1368000"/>
              <a:chOff x="6072480" y="2159280"/>
              <a:chExt cx="2172600" cy="1368000"/>
            </a:xfrm>
          </p:grpSpPr>
          <p:pic>
            <p:nvPicPr>
              <p:cNvPr id="573" name="Google Shape;573;p105"/>
              <p:cNvPicPr preferRelativeResize="0"/>
              <p:nvPr/>
            </p:nvPicPr>
            <p:blipFill rotWithShape="1">
              <a:blip r:embed="rId3">
                <a:alphaModFix/>
              </a:blip>
              <a:srcRect b="0" l="0" r="0" t="0"/>
              <a:stretch/>
            </p:blipFill>
            <p:spPr>
              <a:xfrm>
                <a:off x="6248880" y="2520360"/>
                <a:ext cx="417240" cy="291960"/>
              </a:xfrm>
              <a:prstGeom prst="rect">
                <a:avLst/>
              </a:prstGeom>
              <a:noFill/>
              <a:ln>
                <a:noFill/>
              </a:ln>
            </p:spPr>
          </p:pic>
          <p:pic>
            <p:nvPicPr>
              <p:cNvPr id="574" name="Google Shape;574;p105"/>
              <p:cNvPicPr preferRelativeResize="0"/>
              <p:nvPr/>
            </p:nvPicPr>
            <p:blipFill rotWithShape="1">
              <a:blip r:embed="rId3">
                <a:alphaModFix/>
              </a:blip>
              <a:srcRect b="0" l="0" r="0" t="0"/>
              <a:stretch/>
            </p:blipFill>
            <p:spPr>
              <a:xfrm>
                <a:off x="7043400" y="2520360"/>
                <a:ext cx="417240" cy="291960"/>
              </a:xfrm>
              <a:prstGeom prst="rect">
                <a:avLst/>
              </a:prstGeom>
              <a:noFill/>
              <a:ln>
                <a:noFill/>
              </a:ln>
            </p:spPr>
          </p:pic>
          <p:pic>
            <p:nvPicPr>
              <p:cNvPr id="575" name="Google Shape;575;p105"/>
              <p:cNvPicPr preferRelativeResize="0"/>
              <p:nvPr/>
            </p:nvPicPr>
            <p:blipFill rotWithShape="1">
              <a:blip r:embed="rId3">
                <a:alphaModFix/>
              </a:blip>
              <a:srcRect b="0" l="0" r="0" t="0"/>
              <a:stretch/>
            </p:blipFill>
            <p:spPr>
              <a:xfrm>
                <a:off x="7707960" y="2520360"/>
                <a:ext cx="417240" cy="291960"/>
              </a:xfrm>
              <a:prstGeom prst="rect">
                <a:avLst/>
              </a:prstGeom>
              <a:noFill/>
              <a:ln>
                <a:noFill/>
              </a:ln>
            </p:spPr>
          </p:pic>
          <p:pic>
            <p:nvPicPr>
              <p:cNvPr id="576" name="Google Shape;576;p105"/>
              <p:cNvPicPr preferRelativeResize="0"/>
              <p:nvPr/>
            </p:nvPicPr>
            <p:blipFill rotWithShape="1">
              <a:blip r:embed="rId3">
                <a:alphaModFix/>
              </a:blip>
              <a:srcRect b="0" l="0" r="0" t="0"/>
              <a:stretch/>
            </p:blipFill>
            <p:spPr>
              <a:xfrm>
                <a:off x="7707960" y="3079440"/>
                <a:ext cx="417240" cy="291960"/>
              </a:xfrm>
              <a:prstGeom prst="rect">
                <a:avLst/>
              </a:prstGeom>
              <a:noFill/>
              <a:ln>
                <a:noFill/>
              </a:ln>
            </p:spPr>
          </p:pic>
          <p:pic>
            <p:nvPicPr>
              <p:cNvPr id="577" name="Google Shape;577;p105"/>
              <p:cNvPicPr preferRelativeResize="0"/>
              <p:nvPr/>
            </p:nvPicPr>
            <p:blipFill rotWithShape="1">
              <a:blip r:embed="rId3">
                <a:alphaModFix/>
              </a:blip>
              <a:srcRect b="0" l="0" r="0" t="0"/>
              <a:stretch/>
            </p:blipFill>
            <p:spPr>
              <a:xfrm>
                <a:off x="7104600" y="3008160"/>
                <a:ext cx="417240" cy="291960"/>
              </a:xfrm>
              <a:prstGeom prst="rect">
                <a:avLst/>
              </a:prstGeom>
              <a:noFill/>
              <a:ln>
                <a:noFill/>
              </a:ln>
            </p:spPr>
          </p:pic>
          <p:pic>
            <p:nvPicPr>
              <p:cNvPr id="578" name="Google Shape;578;p105"/>
              <p:cNvPicPr preferRelativeResize="0"/>
              <p:nvPr/>
            </p:nvPicPr>
            <p:blipFill rotWithShape="1">
              <a:blip r:embed="rId3">
                <a:alphaModFix/>
              </a:blip>
              <a:srcRect b="0" l="0" r="0" t="0"/>
              <a:stretch/>
            </p:blipFill>
            <p:spPr>
              <a:xfrm>
                <a:off x="6412680" y="3034080"/>
                <a:ext cx="417240" cy="291960"/>
              </a:xfrm>
              <a:prstGeom prst="rect">
                <a:avLst/>
              </a:prstGeom>
              <a:noFill/>
              <a:ln>
                <a:noFill/>
              </a:ln>
            </p:spPr>
          </p:pic>
          <p:sp>
            <p:nvSpPr>
              <p:cNvPr id="579" name="Google Shape;579;p105"/>
              <p:cNvSpPr/>
              <p:nvPr/>
            </p:nvSpPr>
            <p:spPr>
              <a:xfrm>
                <a:off x="6072480" y="2159280"/>
                <a:ext cx="2172600" cy="13680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Schema Mapping Ontologies</a:t>
                </a:r>
                <a:endParaRPr b="0" sz="1000" strike="noStrike">
                  <a:latin typeface="Arial"/>
                  <a:ea typeface="Arial"/>
                  <a:cs typeface="Arial"/>
                  <a:sym typeface="Arial"/>
                </a:endParaRPr>
              </a:p>
            </p:txBody>
          </p:sp>
        </p:grpSp>
        <p:pic>
          <p:nvPicPr>
            <p:cNvPr id="580" name="Google Shape;580;p105"/>
            <p:cNvPicPr preferRelativeResize="0"/>
            <p:nvPr/>
          </p:nvPicPr>
          <p:blipFill rotWithShape="1">
            <a:blip r:embed="rId4">
              <a:alphaModFix/>
            </a:blip>
            <a:srcRect b="0" l="0" r="0" t="0"/>
            <a:stretch/>
          </p:blipFill>
          <p:spPr>
            <a:xfrm>
              <a:off x="7288555" y="2897160"/>
              <a:ext cx="654120" cy="282240"/>
            </a:xfrm>
            <a:prstGeom prst="rect">
              <a:avLst/>
            </a:prstGeom>
            <a:noFill/>
            <a:ln>
              <a:noFill/>
            </a:ln>
          </p:spPr>
        </p:pic>
        <p:pic>
          <p:nvPicPr>
            <p:cNvPr id="581" name="Google Shape;581;p105"/>
            <p:cNvPicPr preferRelativeResize="0"/>
            <p:nvPr/>
          </p:nvPicPr>
          <p:blipFill rotWithShape="1">
            <a:blip r:embed="rId4">
              <a:alphaModFix/>
            </a:blip>
            <a:srcRect b="0" l="0" r="0" t="0"/>
            <a:stretch/>
          </p:blipFill>
          <p:spPr>
            <a:xfrm>
              <a:off x="6231960" y="2685240"/>
              <a:ext cx="654120" cy="282240"/>
            </a:xfrm>
            <a:prstGeom prst="rect">
              <a:avLst/>
            </a:prstGeom>
            <a:noFill/>
            <a:ln>
              <a:noFill/>
            </a:ln>
          </p:spPr>
        </p:pic>
        <p:pic>
          <p:nvPicPr>
            <p:cNvPr id="582" name="Google Shape;582;p105"/>
            <p:cNvPicPr preferRelativeResize="0"/>
            <p:nvPr/>
          </p:nvPicPr>
          <p:blipFill rotWithShape="1">
            <a:blip r:embed="rId4">
              <a:alphaModFix/>
            </a:blip>
            <a:srcRect b="0" l="0" r="0" t="0"/>
            <a:stretch/>
          </p:blipFill>
          <p:spPr>
            <a:xfrm>
              <a:off x="6274440" y="3135600"/>
              <a:ext cx="654120" cy="282240"/>
            </a:xfrm>
            <a:prstGeom prst="rect">
              <a:avLst/>
            </a:prstGeom>
            <a:noFill/>
            <a:ln>
              <a:noFill/>
            </a:ln>
          </p:spPr>
        </p:pic>
      </p:grpSp>
      <p:sp>
        <p:nvSpPr>
          <p:cNvPr id="583" name="Google Shape;583;p105"/>
          <p:cNvSpPr/>
          <p:nvPr/>
        </p:nvSpPr>
        <p:spPr>
          <a:xfrm>
            <a:off x="5288400" y="2843640"/>
            <a:ext cx="78372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584" name="Google Shape;584;p105"/>
          <p:cNvSpPr/>
          <p:nvPr/>
        </p:nvSpPr>
        <p:spPr>
          <a:xfrm>
            <a:off x="6147360" y="3604320"/>
            <a:ext cx="2022120" cy="4615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2A3990"/>
                </a:solidFill>
                <a:latin typeface="Roboto"/>
                <a:ea typeface="Roboto"/>
                <a:cs typeface="Roboto"/>
                <a:sym typeface="Roboto"/>
              </a:rPr>
              <a:t>Top-Down Ontologies are mapped to Bottom Up Ontologies</a:t>
            </a:r>
            <a:endParaRPr b="0" sz="900" strike="noStrike">
              <a:latin typeface="Arial"/>
              <a:ea typeface="Arial"/>
              <a:cs typeface="Arial"/>
              <a:sym typeface="Arial"/>
            </a:endParaRPr>
          </a:p>
        </p:txBody>
      </p:sp>
      <p:pic>
        <p:nvPicPr>
          <p:cNvPr id="585" name="Google Shape;585;p105"/>
          <p:cNvPicPr preferRelativeResize="0"/>
          <p:nvPr/>
        </p:nvPicPr>
        <p:blipFill rotWithShape="1">
          <a:blip r:embed="rId6">
            <a:alphaModFix/>
          </a:blip>
          <a:srcRect b="0" l="0" r="0" t="0"/>
          <a:stretch/>
        </p:blipFill>
        <p:spPr>
          <a:xfrm>
            <a:off x="6549120" y="704160"/>
            <a:ext cx="1219320" cy="862920"/>
          </a:xfrm>
          <a:prstGeom prst="rect">
            <a:avLst/>
          </a:prstGeom>
          <a:noFill/>
          <a:ln cap="flat" cmpd="sng" w="28425">
            <a:solidFill>
              <a:srgbClr val="D8DADA"/>
            </a:solidFill>
            <a:prstDash val="solid"/>
            <a:round/>
            <a:headEnd len="sm" w="sm" type="none"/>
            <a:tailEnd len="sm" w="sm" type="none"/>
          </a:ln>
        </p:spPr>
      </p:pic>
      <p:sp>
        <p:nvSpPr>
          <p:cNvPr id="586" name="Google Shape;586;p105"/>
          <p:cNvSpPr/>
          <p:nvPr/>
        </p:nvSpPr>
        <p:spPr>
          <a:xfrm>
            <a:off x="6886074" y="2826725"/>
            <a:ext cx="424818" cy="213138"/>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587" name="Google Shape;587;p105"/>
          <p:cNvSpPr/>
          <p:nvPr/>
        </p:nvSpPr>
        <p:spPr>
          <a:xfrm flipH="1" rot="10800000">
            <a:off x="6945325" y="3060556"/>
            <a:ext cx="357804" cy="204444"/>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588" name="Google Shape;588;p105"/>
          <p:cNvPicPr preferRelativeResize="0"/>
          <p:nvPr/>
        </p:nvPicPr>
        <p:blipFill rotWithShape="1">
          <a:blip r:embed="rId7">
            <a:alphaModFix/>
          </a:blip>
          <a:srcRect b="0" l="0" r="0" t="0"/>
          <a:stretch/>
        </p:blipFill>
        <p:spPr>
          <a:xfrm>
            <a:off x="204840" y="3942360"/>
            <a:ext cx="369360" cy="369360"/>
          </a:xfrm>
          <a:prstGeom prst="rect">
            <a:avLst/>
          </a:prstGeom>
          <a:noFill/>
          <a:ln>
            <a:noFill/>
          </a:ln>
        </p:spPr>
      </p:pic>
      <p:pic>
        <p:nvPicPr>
          <p:cNvPr id="589" name="Google Shape;589;p105"/>
          <p:cNvPicPr preferRelativeResize="0"/>
          <p:nvPr/>
        </p:nvPicPr>
        <p:blipFill rotWithShape="1">
          <a:blip r:embed="rId7">
            <a:alphaModFix/>
          </a:blip>
          <a:srcRect b="0" l="0" r="0" t="0"/>
          <a:stretch/>
        </p:blipFill>
        <p:spPr>
          <a:xfrm>
            <a:off x="131040" y="2122560"/>
            <a:ext cx="424800" cy="424800"/>
          </a:xfrm>
          <a:prstGeom prst="rect">
            <a:avLst/>
          </a:prstGeom>
          <a:noFill/>
          <a:ln>
            <a:noFill/>
          </a:ln>
        </p:spPr>
      </p:pic>
      <p:pic>
        <p:nvPicPr>
          <p:cNvPr id="590" name="Google Shape;590;p105"/>
          <p:cNvPicPr preferRelativeResize="0"/>
          <p:nvPr/>
        </p:nvPicPr>
        <p:blipFill rotWithShape="1">
          <a:blip r:embed="rId8">
            <a:alphaModFix/>
          </a:blip>
          <a:srcRect b="0" l="0" r="0" t="0"/>
          <a:stretch/>
        </p:blipFill>
        <p:spPr>
          <a:xfrm>
            <a:off x="3690360" y="1080720"/>
            <a:ext cx="547200" cy="547200"/>
          </a:xfrm>
          <a:prstGeom prst="rect">
            <a:avLst/>
          </a:prstGeom>
          <a:noFill/>
          <a:ln>
            <a:noFill/>
          </a:ln>
        </p:spPr>
      </p:pic>
      <p:sp>
        <p:nvSpPr>
          <p:cNvPr id="591" name="Google Shape;591;p105"/>
          <p:cNvSpPr/>
          <p:nvPr/>
        </p:nvSpPr>
        <p:spPr>
          <a:xfrm>
            <a:off x="4354200" y="1123560"/>
            <a:ext cx="547200" cy="46152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US" sz="800" strike="noStrike">
                <a:solidFill>
                  <a:srgbClr val="434343"/>
                </a:solidFill>
                <a:latin typeface="Roboto"/>
                <a:ea typeface="Roboto"/>
                <a:cs typeface="Roboto"/>
                <a:sym typeface="Roboto"/>
              </a:rPr>
              <a:t>LLM 1</a:t>
            </a:r>
            <a:endParaRPr b="0" sz="800" strike="noStrike">
              <a:latin typeface="Arial"/>
              <a:ea typeface="Arial"/>
              <a:cs typeface="Arial"/>
              <a:sym typeface="Arial"/>
            </a:endParaRPr>
          </a:p>
          <a:p>
            <a:pPr indent="0" lvl="0" marL="0" marR="0" rtl="0" algn="l">
              <a:lnSpc>
                <a:spcPct val="115000"/>
              </a:lnSpc>
              <a:spcBef>
                <a:spcPts val="0"/>
              </a:spcBef>
              <a:spcAft>
                <a:spcPts val="0"/>
              </a:spcAft>
              <a:buNone/>
            </a:pPr>
            <a:r>
              <a:rPr b="1" lang="en-US" sz="800" strike="noStrike">
                <a:solidFill>
                  <a:srgbClr val="434343"/>
                </a:solidFill>
                <a:latin typeface="Roboto"/>
                <a:ea typeface="Roboto"/>
                <a:cs typeface="Roboto"/>
                <a:sym typeface="Roboto"/>
              </a:rPr>
              <a:t>LLM 2</a:t>
            </a:r>
            <a:endParaRPr b="0" sz="800" strike="noStrike">
              <a:latin typeface="Arial"/>
              <a:ea typeface="Arial"/>
              <a:cs typeface="Arial"/>
              <a:sym typeface="Arial"/>
            </a:endParaRPr>
          </a:p>
          <a:p>
            <a:pPr indent="0" lvl="0" marL="0" marR="0" rtl="0" algn="l">
              <a:lnSpc>
                <a:spcPct val="115000"/>
              </a:lnSpc>
              <a:spcBef>
                <a:spcPts val="0"/>
              </a:spcBef>
              <a:spcAft>
                <a:spcPts val="0"/>
              </a:spcAft>
              <a:buNone/>
            </a:pPr>
            <a:r>
              <a:rPr b="1" lang="en-US" sz="800" strike="noStrike">
                <a:solidFill>
                  <a:srgbClr val="434343"/>
                </a:solidFill>
                <a:latin typeface="Roboto"/>
                <a:ea typeface="Roboto"/>
                <a:cs typeface="Roboto"/>
                <a:sym typeface="Roboto"/>
              </a:rPr>
              <a:t>LLM 3</a:t>
            </a:r>
            <a:endParaRPr b="0" sz="800" strike="noStrike">
              <a:latin typeface="Arial"/>
              <a:ea typeface="Arial"/>
              <a:cs typeface="Arial"/>
              <a:sym typeface="Arial"/>
            </a:endParaRPr>
          </a:p>
        </p:txBody>
      </p:sp>
      <p:pic>
        <p:nvPicPr>
          <p:cNvPr id="592" name="Google Shape;592;p105"/>
          <p:cNvPicPr preferRelativeResize="0"/>
          <p:nvPr/>
        </p:nvPicPr>
        <p:blipFill rotWithShape="1">
          <a:blip r:embed="rId9">
            <a:alphaModFix/>
          </a:blip>
          <a:srcRect b="0" l="0" r="0" t="0"/>
          <a:stretch/>
        </p:blipFill>
        <p:spPr>
          <a:xfrm>
            <a:off x="3769200" y="2610000"/>
            <a:ext cx="1091160" cy="745560"/>
          </a:xfrm>
          <a:prstGeom prst="rect">
            <a:avLst/>
          </a:prstGeom>
          <a:noFill/>
          <a:ln>
            <a:noFill/>
          </a:ln>
        </p:spPr>
      </p:pic>
      <p:pic>
        <p:nvPicPr>
          <p:cNvPr id="593" name="Google Shape;593;p105"/>
          <p:cNvPicPr preferRelativeResize="0"/>
          <p:nvPr/>
        </p:nvPicPr>
        <p:blipFill rotWithShape="1">
          <a:blip r:embed="rId10">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6"/>
          <p:cNvSpPr/>
          <p:nvPr/>
        </p:nvSpPr>
        <p:spPr>
          <a:xfrm>
            <a:off x="473760" y="189000"/>
            <a:ext cx="6617160" cy="27972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 (Service Management)</a:t>
            </a:r>
            <a:endParaRPr b="0" sz="1800" strike="noStrike">
              <a:latin typeface="Arial"/>
              <a:ea typeface="Arial"/>
              <a:cs typeface="Arial"/>
              <a:sym typeface="Arial"/>
            </a:endParaRPr>
          </a:p>
        </p:txBody>
      </p:sp>
      <p:sp>
        <p:nvSpPr>
          <p:cNvPr id="599" name="Google Shape;599;p106"/>
          <p:cNvSpPr/>
          <p:nvPr/>
        </p:nvSpPr>
        <p:spPr>
          <a:xfrm>
            <a:off x="481320" y="587520"/>
            <a:ext cx="8290800" cy="145836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100" strike="noStrike">
                <a:solidFill>
                  <a:srgbClr val="000000"/>
                </a:solidFill>
                <a:latin typeface="Arial"/>
                <a:ea typeface="Arial"/>
                <a:cs typeface="Arial"/>
                <a:sym typeface="Arial"/>
              </a:rPr>
              <a:t>Service Delivery Model</a:t>
            </a:r>
            <a:endParaRPr b="0" sz="1100" strike="noStrike">
              <a:latin typeface="Arial"/>
              <a:ea typeface="Arial"/>
              <a:cs typeface="Arial"/>
              <a:sym typeface="Arial"/>
            </a:endParaRPr>
          </a:p>
        </p:txBody>
      </p:sp>
      <p:sp>
        <p:nvSpPr>
          <p:cNvPr id="600" name="Google Shape;600;p106"/>
          <p:cNvSpPr/>
          <p:nvPr/>
        </p:nvSpPr>
        <p:spPr>
          <a:xfrm>
            <a:off x="473760" y="2117520"/>
            <a:ext cx="8290800" cy="13824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100" strike="noStrike">
                <a:solidFill>
                  <a:srgbClr val="000000"/>
                </a:solidFill>
                <a:latin typeface="Arial"/>
                <a:ea typeface="Arial"/>
                <a:cs typeface="Arial"/>
                <a:sym typeface="Arial"/>
              </a:rPr>
              <a:t>Service Improvement Model</a:t>
            </a:r>
            <a:endParaRPr b="0" sz="1100" strike="noStrike">
              <a:latin typeface="Arial"/>
              <a:ea typeface="Arial"/>
              <a:cs typeface="Arial"/>
              <a:sym typeface="Arial"/>
            </a:endParaRPr>
          </a:p>
        </p:txBody>
      </p:sp>
      <p:sp>
        <p:nvSpPr>
          <p:cNvPr id="601" name="Google Shape;601;p106"/>
          <p:cNvSpPr/>
          <p:nvPr/>
        </p:nvSpPr>
        <p:spPr>
          <a:xfrm>
            <a:off x="105300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INBOUND</a:t>
            </a:r>
            <a:endParaRPr b="0" sz="900" strike="noStrike">
              <a:latin typeface="Arial"/>
              <a:ea typeface="Arial"/>
              <a:cs typeface="Arial"/>
              <a:sym typeface="Arial"/>
            </a:endParaRPr>
          </a:p>
        </p:txBody>
      </p:sp>
      <p:sp>
        <p:nvSpPr>
          <p:cNvPr id="602" name="Google Shape;602;p106"/>
          <p:cNvSpPr/>
          <p:nvPr/>
        </p:nvSpPr>
        <p:spPr>
          <a:xfrm>
            <a:off x="3623040" y="1037880"/>
            <a:ext cx="23115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PROCESSING</a:t>
            </a:r>
            <a:endParaRPr b="0" sz="900" strike="noStrike">
              <a:latin typeface="Arial"/>
              <a:ea typeface="Arial"/>
              <a:cs typeface="Arial"/>
              <a:sym typeface="Arial"/>
            </a:endParaRPr>
          </a:p>
        </p:txBody>
      </p:sp>
      <p:sp>
        <p:nvSpPr>
          <p:cNvPr id="603" name="Google Shape;603;p106"/>
          <p:cNvSpPr/>
          <p:nvPr/>
        </p:nvSpPr>
        <p:spPr>
          <a:xfrm>
            <a:off x="1095120" y="133308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Sourcing</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Ingestion</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Scheduling</a:t>
            </a:r>
            <a:endParaRPr b="0" sz="900" strike="noStrike">
              <a:latin typeface="Arial"/>
              <a:ea typeface="Arial"/>
              <a:cs typeface="Arial"/>
              <a:sym typeface="Arial"/>
            </a:endParaRPr>
          </a:p>
        </p:txBody>
      </p:sp>
      <p:sp>
        <p:nvSpPr>
          <p:cNvPr id="604" name="Google Shape;604;p106"/>
          <p:cNvSpPr/>
          <p:nvPr/>
        </p:nvSpPr>
        <p:spPr>
          <a:xfrm>
            <a:off x="2533680" y="1333080"/>
            <a:ext cx="25664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Mapping at Scale</a:t>
            </a:r>
            <a:endParaRPr b="0" sz="900"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Knowledge to Digital Assets (Vertically)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Knowledge to 3rd Party (Horizontally)</a:t>
            </a:r>
            <a:endParaRPr b="0" i="0" sz="900" u="none" cap="none" strike="noStrike">
              <a:latin typeface="Arial"/>
              <a:ea typeface="Arial"/>
              <a:cs typeface="Arial"/>
              <a:sym typeface="Arial"/>
            </a:endParaRPr>
          </a:p>
        </p:txBody>
      </p:sp>
      <p:sp>
        <p:nvSpPr>
          <p:cNvPr id="605" name="Google Shape;605;p106"/>
          <p:cNvSpPr/>
          <p:nvPr/>
        </p:nvSpPr>
        <p:spPr>
          <a:xfrm>
            <a:off x="1030680" y="2525400"/>
            <a:ext cx="1227960" cy="3200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DEMAND</a:t>
            </a:r>
            <a:endParaRPr b="0" sz="900" strike="noStrike">
              <a:latin typeface="Arial"/>
              <a:ea typeface="Arial"/>
              <a:cs typeface="Arial"/>
              <a:sym typeface="Arial"/>
            </a:endParaRPr>
          </a:p>
        </p:txBody>
      </p:sp>
      <p:sp>
        <p:nvSpPr>
          <p:cNvPr id="606" name="Google Shape;606;p106"/>
          <p:cNvSpPr/>
          <p:nvPr/>
        </p:nvSpPr>
        <p:spPr>
          <a:xfrm>
            <a:off x="876960" y="2845800"/>
            <a:ext cx="15163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Customer Requests</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Service Gaps</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Capability Roadmap</a:t>
            </a:r>
            <a:endParaRPr b="0" sz="900" strike="noStrike">
              <a:latin typeface="Arial"/>
              <a:ea typeface="Arial"/>
              <a:cs typeface="Arial"/>
              <a:sym typeface="Arial"/>
            </a:endParaRPr>
          </a:p>
        </p:txBody>
      </p:sp>
      <p:grpSp>
        <p:nvGrpSpPr>
          <p:cNvPr id="607" name="Google Shape;607;p106"/>
          <p:cNvGrpSpPr/>
          <p:nvPr/>
        </p:nvGrpSpPr>
        <p:grpSpPr>
          <a:xfrm>
            <a:off x="2466720" y="2525400"/>
            <a:ext cx="5707800" cy="320040"/>
            <a:chOff x="2466720" y="2525400"/>
            <a:chExt cx="5707800" cy="320040"/>
          </a:xfrm>
        </p:grpSpPr>
        <p:sp>
          <p:nvSpPr>
            <p:cNvPr id="608" name="Google Shape;608;p106"/>
            <p:cNvSpPr/>
            <p:nvPr/>
          </p:nvSpPr>
          <p:spPr>
            <a:xfrm>
              <a:off x="656748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DELIVER</a:t>
              </a:r>
              <a:endParaRPr b="0" sz="900" strike="noStrike">
                <a:latin typeface="Arial"/>
                <a:ea typeface="Arial"/>
                <a:cs typeface="Arial"/>
                <a:sym typeface="Arial"/>
              </a:endParaRPr>
            </a:p>
          </p:txBody>
        </p:sp>
        <p:sp>
          <p:nvSpPr>
            <p:cNvPr id="609" name="Google Shape;609;p106"/>
            <p:cNvSpPr/>
            <p:nvPr/>
          </p:nvSpPr>
          <p:spPr>
            <a:xfrm>
              <a:off x="51678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DEVELOP</a:t>
              </a:r>
              <a:endParaRPr b="0" sz="900" strike="noStrike">
                <a:latin typeface="Arial"/>
                <a:ea typeface="Arial"/>
                <a:cs typeface="Arial"/>
                <a:sym typeface="Arial"/>
              </a:endParaRPr>
            </a:p>
          </p:txBody>
        </p:sp>
        <p:sp>
          <p:nvSpPr>
            <p:cNvPr id="610" name="Google Shape;610;p106"/>
            <p:cNvSpPr/>
            <p:nvPr/>
          </p:nvSpPr>
          <p:spPr>
            <a:xfrm>
              <a:off x="37620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DESIGN</a:t>
              </a:r>
              <a:endParaRPr b="0" sz="900" strike="noStrike">
                <a:latin typeface="Arial"/>
                <a:ea typeface="Arial"/>
                <a:cs typeface="Arial"/>
                <a:sym typeface="Arial"/>
              </a:endParaRPr>
            </a:p>
          </p:txBody>
        </p:sp>
        <p:sp>
          <p:nvSpPr>
            <p:cNvPr id="611" name="Google Shape;611;p106"/>
            <p:cNvSpPr/>
            <p:nvPr/>
          </p:nvSpPr>
          <p:spPr>
            <a:xfrm>
              <a:off x="246672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DEFINE</a:t>
              </a:r>
              <a:endParaRPr b="0" sz="900" strike="noStrike">
                <a:latin typeface="Arial"/>
                <a:ea typeface="Arial"/>
                <a:cs typeface="Arial"/>
                <a:sym typeface="Arial"/>
              </a:endParaRPr>
            </a:p>
          </p:txBody>
        </p:sp>
      </p:grpSp>
      <p:sp>
        <p:nvSpPr>
          <p:cNvPr id="612" name="Google Shape;612;p106"/>
          <p:cNvSpPr/>
          <p:nvPr/>
        </p:nvSpPr>
        <p:spPr>
          <a:xfrm>
            <a:off x="3179160" y="2882520"/>
            <a:ext cx="19429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Knowledge Engineering</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Systems Engineering</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Information Architecture</a:t>
            </a:r>
            <a:endParaRPr b="0" sz="900" strike="noStrike">
              <a:latin typeface="Arial"/>
              <a:ea typeface="Arial"/>
              <a:cs typeface="Arial"/>
              <a:sym typeface="Arial"/>
            </a:endParaRPr>
          </a:p>
        </p:txBody>
      </p:sp>
      <p:sp>
        <p:nvSpPr>
          <p:cNvPr id="613" name="Google Shape;613;p106"/>
          <p:cNvSpPr/>
          <p:nvPr/>
        </p:nvSpPr>
        <p:spPr>
          <a:xfrm>
            <a:off x="5206680" y="2882520"/>
            <a:ext cx="231156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W3C, OMG Semantic Governance</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ISO 11179, OMG Meta-Object Facility</a:t>
            </a:r>
            <a:endParaRPr b="0" sz="900" strike="noStrike">
              <a:latin typeface="Arial"/>
              <a:ea typeface="Arial"/>
              <a:cs typeface="Arial"/>
              <a:sym typeface="Arial"/>
            </a:endParaRPr>
          </a:p>
        </p:txBody>
      </p:sp>
      <p:sp>
        <p:nvSpPr>
          <p:cNvPr id="614" name="Google Shape;614;p106"/>
          <p:cNvSpPr/>
          <p:nvPr/>
        </p:nvSpPr>
        <p:spPr>
          <a:xfrm>
            <a:off x="5100480" y="133272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Training &amp; Learning</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Extending Knowledge</a:t>
            </a:r>
            <a:endParaRPr b="0" sz="900"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Manually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Automated</a:t>
            </a:r>
            <a:endParaRPr b="0" i="0" sz="900" u="none" cap="none" strike="noStrike">
              <a:latin typeface="Arial"/>
              <a:ea typeface="Arial"/>
              <a:cs typeface="Arial"/>
              <a:sym typeface="Arial"/>
            </a:endParaRPr>
          </a:p>
        </p:txBody>
      </p:sp>
      <p:sp>
        <p:nvSpPr>
          <p:cNvPr id="615" name="Google Shape;615;p106"/>
          <p:cNvSpPr/>
          <p:nvPr/>
        </p:nvSpPr>
        <p:spPr>
          <a:xfrm>
            <a:off x="449280" y="3562560"/>
            <a:ext cx="8322480" cy="140292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1100" strike="noStrike">
                <a:solidFill>
                  <a:srgbClr val="000000"/>
                </a:solidFill>
                <a:latin typeface="Arial"/>
                <a:ea typeface="Arial"/>
                <a:cs typeface="Arial"/>
                <a:sym typeface="Arial"/>
              </a:rPr>
              <a:t>Service Operating Model</a:t>
            </a:r>
            <a:endParaRPr b="0" sz="1100" strike="noStrike">
              <a:latin typeface="Arial"/>
              <a:ea typeface="Arial"/>
              <a:cs typeface="Arial"/>
              <a:sym typeface="Arial"/>
            </a:endParaRPr>
          </a:p>
        </p:txBody>
      </p:sp>
      <p:sp>
        <p:nvSpPr>
          <p:cNvPr id="616" name="Google Shape;616;p106"/>
          <p:cNvSpPr/>
          <p:nvPr/>
        </p:nvSpPr>
        <p:spPr>
          <a:xfrm>
            <a:off x="87696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Service Level Management</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Monitoring &amp; Measurement</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Continuous Improvement</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Continuous Learning</a:t>
            </a:r>
            <a:endParaRPr b="0" sz="900" strike="noStrike">
              <a:latin typeface="Arial"/>
              <a:ea typeface="Arial"/>
              <a:cs typeface="Arial"/>
              <a:sym typeface="Arial"/>
            </a:endParaRPr>
          </a:p>
        </p:txBody>
      </p:sp>
      <p:sp>
        <p:nvSpPr>
          <p:cNvPr id="617" name="Google Shape;617;p106"/>
          <p:cNvSpPr/>
          <p:nvPr/>
        </p:nvSpPr>
        <p:spPr>
          <a:xfrm>
            <a:off x="3147480" y="4019400"/>
            <a:ext cx="28922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Business Continuity</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Issue / Investigation Management</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Escalation/ Communications Management</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Problem / Resolution Management</a:t>
            </a:r>
            <a:endParaRPr b="0" sz="900" strike="noStrike">
              <a:latin typeface="Arial"/>
              <a:ea typeface="Arial"/>
              <a:cs typeface="Arial"/>
              <a:sym typeface="Arial"/>
            </a:endParaRPr>
          </a:p>
        </p:txBody>
      </p:sp>
      <p:sp>
        <p:nvSpPr>
          <p:cNvPr id="618" name="Google Shape;618;p106"/>
          <p:cNvSpPr/>
          <p:nvPr/>
        </p:nvSpPr>
        <p:spPr>
          <a:xfrm>
            <a:off x="6769800" y="103788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OUTBOUND</a:t>
            </a:r>
            <a:endParaRPr b="0" sz="900" strike="noStrike">
              <a:latin typeface="Arial"/>
              <a:ea typeface="Arial"/>
              <a:cs typeface="Arial"/>
              <a:sym typeface="Arial"/>
            </a:endParaRPr>
          </a:p>
        </p:txBody>
      </p:sp>
      <p:sp>
        <p:nvSpPr>
          <p:cNvPr id="619" name="Google Shape;619;p106"/>
          <p:cNvSpPr/>
          <p:nvPr/>
        </p:nvSpPr>
        <p:spPr>
          <a:xfrm>
            <a:off x="6811560" y="133236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Publishing</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Subscription</a:t>
            </a:r>
            <a:endParaRPr b="0" sz="900" strike="noStrike">
              <a:latin typeface="Arial"/>
              <a:ea typeface="Arial"/>
              <a:cs typeface="Arial"/>
              <a:sym typeface="Arial"/>
            </a:endParaRPr>
          </a:p>
        </p:txBody>
      </p:sp>
      <p:sp>
        <p:nvSpPr>
          <p:cNvPr id="620" name="Google Shape;620;p106"/>
          <p:cNvSpPr/>
          <p:nvPr/>
        </p:nvSpPr>
        <p:spPr>
          <a:xfrm>
            <a:off x="636624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Portfolio Management</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Customer Relationship Mgmt.</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Value / Outcome Reporting</a:t>
            </a:r>
            <a:endParaRPr b="0" sz="900"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Value Gap Assessment</a:t>
            </a:r>
            <a:endParaRPr b="0" sz="900" strike="noStrike">
              <a:latin typeface="Arial"/>
              <a:ea typeface="Arial"/>
              <a:cs typeface="Arial"/>
              <a:sym typeface="Arial"/>
            </a:endParaRPr>
          </a:p>
        </p:txBody>
      </p:sp>
      <p:pic>
        <p:nvPicPr>
          <p:cNvPr id="621" name="Google Shape;621;p106"/>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grpSp>
        <p:nvGrpSpPr>
          <p:cNvPr id="626" name="Google Shape;626;p107"/>
          <p:cNvGrpSpPr/>
          <p:nvPr/>
        </p:nvGrpSpPr>
        <p:grpSpPr>
          <a:xfrm>
            <a:off x="4939560" y="1219680"/>
            <a:ext cx="3837240" cy="2703960"/>
            <a:chOff x="4939560" y="1219680"/>
            <a:chExt cx="3837240" cy="2703960"/>
          </a:xfrm>
        </p:grpSpPr>
        <p:sp>
          <p:nvSpPr>
            <p:cNvPr id="627" name="Google Shape;627;p107"/>
            <p:cNvSpPr/>
            <p:nvPr/>
          </p:nvSpPr>
          <p:spPr>
            <a:xfrm>
              <a:off x="493956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28" name="Google Shape;628;p107"/>
            <p:cNvSpPr/>
            <p:nvPr/>
          </p:nvSpPr>
          <p:spPr>
            <a:xfrm>
              <a:off x="536580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29" name="Google Shape;629;p107"/>
            <p:cNvSpPr/>
            <p:nvPr/>
          </p:nvSpPr>
          <p:spPr>
            <a:xfrm>
              <a:off x="579204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30" name="Google Shape;630;p107"/>
            <p:cNvSpPr/>
            <p:nvPr/>
          </p:nvSpPr>
          <p:spPr>
            <a:xfrm>
              <a:off x="621864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31" name="Google Shape;631;p107"/>
            <p:cNvSpPr/>
            <p:nvPr/>
          </p:nvSpPr>
          <p:spPr>
            <a:xfrm>
              <a:off x="664488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32" name="Google Shape;632;p107"/>
            <p:cNvSpPr/>
            <p:nvPr/>
          </p:nvSpPr>
          <p:spPr>
            <a:xfrm>
              <a:off x="707112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33" name="Google Shape;633;p107"/>
            <p:cNvSpPr/>
            <p:nvPr/>
          </p:nvSpPr>
          <p:spPr>
            <a:xfrm>
              <a:off x="749736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34" name="Google Shape;634;p107"/>
            <p:cNvSpPr/>
            <p:nvPr/>
          </p:nvSpPr>
          <p:spPr>
            <a:xfrm>
              <a:off x="792396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35" name="Google Shape;635;p107"/>
            <p:cNvSpPr/>
            <p:nvPr/>
          </p:nvSpPr>
          <p:spPr>
            <a:xfrm>
              <a:off x="835020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sp>
          <p:nvSpPr>
            <p:cNvPr id="636" name="Google Shape;636;p107"/>
            <p:cNvSpPr/>
            <p:nvPr/>
          </p:nvSpPr>
          <p:spPr>
            <a:xfrm>
              <a:off x="8776440" y="1219680"/>
              <a:ext cx="360" cy="2703960"/>
            </a:xfrm>
            <a:custGeom>
              <a:rect b="b" l="l" r="r" t="t"/>
              <a:pathLst>
                <a:path extrusionOk="0" h="21600" w="21600">
                  <a:moveTo>
                    <a:pt x="0" y="0"/>
                  </a:moveTo>
                  <a:lnTo>
                    <a:pt x="21600" y="21600"/>
                  </a:lnTo>
                </a:path>
              </a:pathLst>
            </a:custGeom>
            <a:noFill/>
            <a:ln cap="flat" cmpd="sng" w="9525">
              <a:solidFill>
                <a:srgbClr val="FFFFFF"/>
              </a:solidFill>
              <a:prstDash val="dashDot"/>
              <a:round/>
              <a:headEnd len="sm" w="sm" type="none"/>
              <a:tailEnd len="sm" w="sm" type="none"/>
            </a:ln>
          </p:spPr>
        </p:sp>
      </p:grpSp>
      <p:sp>
        <p:nvSpPr>
          <p:cNvPr id="637" name="Google Shape;637;p107"/>
          <p:cNvSpPr/>
          <p:nvPr/>
        </p:nvSpPr>
        <p:spPr>
          <a:xfrm>
            <a:off x="7014960" y="2133000"/>
            <a:ext cx="286200" cy="286200"/>
          </a:xfrm>
          <a:prstGeom prst="ellipse">
            <a:avLst/>
          </a:prstGeom>
          <a:noFill/>
          <a:ln cap="flat" cmpd="sng" w="19075">
            <a:solidFill>
              <a:srgbClr val="F062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07"/>
          <p:cNvSpPr txBox="1"/>
          <p:nvPr/>
        </p:nvSpPr>
        <p:spPr>
          <a:xfrm>
            <a:off x="265680" y="1151280"/>
            <a:ext cx="4044960" cy="15642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0" lang="en-US" sz="4200" strike="noStrike">
                <a:solidFill>
                  <a:srgbClr val="2A3990"/>
                </a:solidFill>
                <a:latin typeface="Roboto"/>
                <a:ea typeface="Roboto"/>
                <a:cs typeface="Roboto"/>
                <a:sym typeface="Roboto"/>
              </a:rPr>
              <a:t>Impact</a:t>
            </a:r>
            <a:br>
              <a:rPr lang="en-US" sz="1800"/>
            </a:br>
            <a:endParaRPr b="0" sz="4200" strike="noStrike">
              <a:solidFill>
                <a:srgbClr val="000000"/>
              </a:solidFill>
              <a:latin typeface="Arial"/>
              <a:ea typeface="Arial"/>
              <a:cs typeface="Arial"/>
              <a:sym typeface="Arial"/>
            </a:endParaRPr>
          </a:p>
        </p:txBody>
      </p:sp>
      <p:grpSp>
        <p:nvGrpSpPr>
          <p:cNvPr id="639" name="Google Shape;639;p107"/>
          <p:cNvGrpSpPr/>
          <p:nvPr/>
        </p:nvGrpSpPr>
        <p:grpSpPr>
          <a:xfrm>
            <a:off x="4939560" y="2017080"/>
            <a:ext cx="3825360" cy="1573200"/>
            <a:chOff x="4939560" y="2017080"/>
            <a:chExt cx="3825360" cy="1573200"/>
          </a:xfrm>
        </p:grpSpPr>
        <p:sp>
          <p:nvSpPr>
            <p:cNvPr id="640" name="Google Shape;640;p107"/>
            <p:cNvSpPr/>
            <p:nvPr/>
          </p:nvSpPr>
          <p:spPr>
            <a:xfrm>
              <a:off x="4939560" y="2059560"/>
              <a:ext cx="3825360" cy="1505520"/>
            </a:xfrm>
            <a:custGeom>
              <a:rect b="b" l="l" r="r" t="t"/>
              <a:pathLst>
                <a:path extrusionOk="0" h="90088" w="165422">
                  <a:moveTo>
                    <a:pt x="0" y="65550"/>
                  </a:moveTo>
                  <a:cubicBezTo>
                    <a:pt x="3559" y="56002"/>
                    <a:pt x="14632" y="11595"/>
                    <a:pt x="21355" y="8262"/>
                  </a:cubicBezTo>
                  <a:cubicBezTo>
                    <a:pt x="28078" y="4929"/>
                    <a:pt x="34067" y="46906"/>
                    <a:pt x="40338" y="45550"/>
                  </a:cubicBezTo>
                  <a:cubicBezTo>
                    <a:pt x="46609" y="44194"/>
                    <a:pt x="52711" y="2161"/>
                    <a:pt x="58982" y="127"/>
                  </a:cubicBezTo>
                  <a:cubicBezTo>
                    <a:pt x="65253" y="-1907"/>
                    <a:pt x="71807" y="30974"/>
                    <a:pt x="77965" y="33347"/>
                  </a:cubicBezTo>
                  <a:cubicBezTo>
                    <a:pt x="84123" y="35720"/>
                    <a:pt x="90055" y="6285"/>
                    <a:pt x="95931" y="14364"/>
                  </a:cubicBezTo>
                  <a:cubicBezTo>
                    <a:pt x="101807" y="22443"/>
                    <a:pt x="107626" y="77414"/>
                    <a:pt x="113219" y="81821"/>
                  </a:cubicBezTo>
                  <a:cubicBezTo>
                    <a:pt x="118812" y="86228"/>
                    <a:pt x="123671" y="39448"/>
                    <a:pt x="129490" y="40804"/>
                  </a:cubicBezTo>
                  <a:cubicBezTo>
                    <a:pt x="135309" y="42160"/>
                    <a:pt x="142145" y="92047"/>
                    <a:pt x="148134" y="89957"/>
                  </a:cubicBezTo>
                  <a:cubicBezTo>
                    <a:pt x="154123" y="87867"/>
                    <a:pt x="162541" y="38545"/>
                    <a:pt x="165422" y="28262"/>
                  </a:cubicBezTo>
                </a:path>
              </a:pathLst>
            </a:custGeom>
            <a:no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07"/>
            <p:cNvSpPr/>
            <p:nvPr/>
          </p:nvSpPr>
          <p:spPr>
            <a:xfrm>
              <a:off x="8316720" y="351252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07"/>
            <p:cNvSpPr/>
            <p:nvPr/>
          </p:nvSpPr>
          <p:spPr>
            <a:xfrm>
              <a:off x="7889400" y="271260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07"/>
            <p:cNvSpPr/>
            <p:nvPr/>
          </p:nvSpPr>
          <p:spPr>
            <a:xfrm>
              <a:off x="7524720" y="337860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07"/>
            <p:cNvSpPr/>
            <p:nvPr/>
          </p:nvSpPr>
          <p:spPr>
            <a:xfrm>
              <a:off x="7116840" y="224208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07"/>
            <p:cNvSpPr/>
            <p:nvPr/>
          </p:nvSpPr>
          <p:spPr>
            <a:xfrm>
              <a:off x="6702120" y="257004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07"/>
            <p:cNvSpPr/>
            <p:nvPr/>
          </p:nvSpPr>
          <p:spPr>
            <a:xfrm>
              <a:off x="6266520" y="201708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07"/>
            <p:cNvSpPr/>
            <p:nvPr/>
          </p:nvSpPr>
          <p:spPr>
            <a:xfrm>
              <a:off x="5839200" y="277344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07"/>
            <p:cNvSpPr/>
            <p:nvPr/>
          </p:nvSpPr>
          <p:spPr>
            <a:xfrm>
              <a:off x="5401080" y="2163960"/>
              <a:ext cx="77760" cy="77760"/>
            </a:xfrm>
            <a:prstGeom prst="ellipse">
              <a:avLst/>
            </a:prstGeom>
            <a:solidFill>
              <a:srgbClr val="FFFFFF"/>
            </a:solidFill>
            <a:ln cap="flat" cmpd="sng" w="190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9" name="Google Shape;649;p107"/>
          <p:cNvSpPr/>
          <p:nvPr/>
        </p:nvSpPr>
        <p:spPr>
          <a:xfrm>
            <a:off x="6847200" y="1577880"/>
            <a:ext cx="1179360" cy="343440"/>
          </a:xfrm>
          <a:prstGeom prst="wedgeRoundRectCallout">
            <a:avLst>
              <a:gd fmla="val -21432" name="adj1"/>
              <a:gd fmla="val 84969" name="adj2"/>
              <a:gd fmla="val 0" name="adj3"/>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0" name="Google Shape;650;p107"/>
          <p:cNvGrpSpPr/>
          <p:nvPr/>
        </p:nvGrpSpPr>
        <p:grpSpPr>
          <a:xfrm>
            <a:off x="4939560" y="1778040"/>
            <a:ext cx="3836520" cy="1503720"/>
            <a:chOff x="4939560" y="1778040"/>
            <a:chExt cx="3836520" cy="1503720"/>
          </a:xfrm>
        </p:grpSpPr>
        <p:sp>
          <p:nvSpPr>
            <p:cNvPr id="651" name="Google Shape;651;p107"/>
            <p:cNvSpPr/>
            <p:nvPr/>
          </p:nvSpPr>
          <p:spPr>
            <a:xfrm>
              <a:off x="4939560" y="1800720"/>
              <a:ext cx="3836520" cy="1455480"/>
            </a:xfrm>
            <a:custGeom>
              <a:rect b="b" l="l" r="r" t="t"/>
              <a:pathLst>
                <a:path extrusionOk="0" h="63079" w="166262">
                  <a:moveTo>
                    <a:pt x="0" y="34952"/>
                  </a:moveTo>
                  <a:cubicBezTo>
                    <a:pt x="3623" y="29133"/>
                    <a:pt x="14946" y="1167"/>
                    <a:pt x="21740" y="37"/>
                  </a:cubicBezTo>
                  <a:cubicBezTo>
                    <a:pt x="28534" y="-1093"/>
                    <a:pt x="34478" y="24048"/>
                    <a:pt x="40762" y="28172"/>
                  </a:cubicBezTo>
                  <a:cubicBezTo>
                    <a:pt x="47046" y="32296"/>
                    <a:pt x="53256" y="18986"/>
                    <a:pt x="59446" y="24782"/>
                  </a:cubicBezTo>
                  <a:cubicBezTo>
                    <a:pt x="65636" y="30578"/>
                    <a:pt x="71730" y="60803"/>
                    <a:pt x="77901" y="62950"/>
                  </a:cubicBezTo>
                  <a:cubicBezTo>
                    <a:pt x="84072" y="65097"/>
                    <a:pt x="90490" y="39675"/>
                    <a:pt x="96472" y="37664"/>
                  </a:cubicBezTo>
                  <a:cubicBezTo>
                    <a:pt x="102455" y="35653"/>
                    <a:pt x="108078" y="54726"/>
                    <a:pt x="113796" y="50884"/>
                  </a:cubicBezTo>
                  <a:cubicBezTo>
                    <a:pt x="119514" y="47042"/>
                    <a:pt x="125063" y="18059"/>
                    <a:pt x="130781" y="14613"/>
                  </a:cubicBezTo>
                  <a:cubicBezTo>
                    <a:pt x="136499" y="11167"/>
                    <a:pt x="142192" y="30515"/>
                    <a:pt x="148105" y="30206"/>
                  </a:cubicBezTo>
                  <a:cubicBezTo>
                    <a:pt x="154019" y="29897"/>
                    <a:pt x="163236" y="15665"/>
                    <a:pt x="166262" y="12757"/>
                  </a:cubicBezTo>
                </a:path>
              </a:pathLst>
            </a:custGeom>
            <a:no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07"/>
            <p:cNvSpPr/>
            <p:nvPr/>
          </p:nvSpPr>
          <p:spPr>
            <a:xfrm>
              <a:off x="5401080" y="177804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07"/>
            <p:cNvSpPr/>
            <p:nvPr/>
          </p:nvSpPr>
          <p:spPr>
            <a:xfrm>
              <a:off x="5839200" y="240408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07"/>
            <p:cNvSpPr/>
            <p:nvPr/>
          </p:nvSpPr>
          <p:spPr>
            <a:xfrm>
              <a:off x="6266520" y="232596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07"/>
            <p:cNvSpPr/>
            <p:nvPr/>
          </p:nvSpPr>
          <p:spPr>
            <a:xfrm>
              <a:off x="6702120" y="320400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07"/>
            <p:cNvSpPr/>
            <p:nvPr/>
          </p:nvSpPr>
          <p:spPr>
            <a:xfrm>
              <a:off x="7116840" y="263988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07"/>
            <p:cNvSpPr/>
            <p:nvPr/>
          </p:nvSpPr>
          <p:spPr>
            <a:xfrm>
              <a:off x="7506360" y="293760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07"/>
            <p:cNvSpPr/>
            <p:nvPr/>
          </p:nvSpPr>
          <p:spPr>
            <a:xfrm>
              <a:off x="7908480" y="210384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07"/>
            <p:cNvSpPr/>
            <p:nvPr/>
          </p:nvSpPr>
          <p:spPr>
            <a:xfrm>
              <a:off x="8316720" y="2464200"/>
              <a:ext cx="77760" cy="77760"/>
            </a:xfrm>
            <a:prstGeom prst="ellipse">
              <a:avLst/>
            </a:prstGeom>
            <a:solidFill>
              <a:srgbClr val="D23369"/>
            </a:solidFill>
            <a:ln cap="flat" cmpd="sng" w="190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0" name="Google Shape;660;p107"/>
          <p:cNvSpPr txBox="1"/>
          <p:nvPr/>
        </p:nvSpPr>
        <p:spPr>
          <a:xfrm>
            <a:off x="6847200" y="1606320"/>
            <a:ext cx="1179360" cy="2862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0" lang="en-US" sz="1300" strike="noStrike">
                <a:solidFill>
                  <a:srgbClr val="2A3990"/>
                </a:solidFill>
                <a:latin typeface="Roboto"/>
                <a:ea typeface="Roboto"/>
                <a:cs typeface="Roboto"/>
                <a:sym typeface="Roboto"/>
              </a:rPr>
              <a:t>max growth</a:t>
            </a:r>
            <a:endParaRPr b="0" sz="1300" strike="noStrike">
              <a:solidFill>
                <a:srgbClr val="000000"/>
              </a:solidFill>
              <a:latin typeface="Arial"/>
              <a:ea typeface="Arial"/>
              <a:cs typeface="Arial"/>
              <a:sym typeface="Arial"/>
            </a:endParaRPr>
          </a:p>
        </p:txBody>
      </p:sp>
      <p:pic>
        <p:nvPicPr>
          <p:cNvPr id="661" name="Google Shape;661;p107"/>
          <p:cNvPicPr preferRelativeResize="0"/>
          <p:nvPr/>
        </p:nvPicPr>
        <p:blipFill rotWithShape="1">
          <a:blip r:embed="rId3">
            <a:alphaModFix/>
          </a:blip>
          <a:srcRect b="-3486" l="-11849" r="-8340" t="-10097"/>
          <a:stretch/>
        </p:blipFill>
        <p:spPr>
          <a:xfrm>
            <a:off x="1972440" y="3054600"/>
            <a:ext cx="765000" cy="1040400"/>
          </a:xfrm>
          <a:prstGeom prst="rect">
            <a:avLst/>
          </a:prstGeom>
          <a:noFill/>
          <a:ln>
            <a:noFill/>
          </a:ln>
        </p:spPr>
      </p:pic>
      <p:sp>
        <p:nvSpPr>
          <p:cNvPr id="662" name="Google Shape;662;p107"/>
          <p:cNvSpPr txBox="1"/>
          <p:nvPr/>
        </p:nvSpPr>
        <p:spPr>
          <a:xfrm>
            <a:off x="265680" y="2349720"/>
            <a:ext cx="4044960" cy="126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lang="en-US" sz="2100" strike="noStrike">
                <a:solidFill>
                  <a:srgbClr val="434343"/>
                </a:solidFill>
                <a:latin typeface="Roboto"/>
                <a:ea typeface="Roboto"/>
                <a:cs typeface="Roboto"/>
                <a:sym typeface="Roboto"/>
              </a:rPr>
              <a:t>Future Opportunities</a:t>
            </a:r>
            <a:endParaRPr b="0" sz="2100"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108"/>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a:t>
            </a:r>
            <a:r>
              <a:rPr b="0" lang="en-US" sz="1800" strike="noStrike">
                <a:solidFill>
                  <a:srgbClr val="2A3990"/>
                </a:solidFill>
                <a:latin typeface="Roboto"/>
                <a:ea typeface="Roboto"/>
                <a:cs typeface="Roboto"/>
                <a:sym typeface="Roboto"/>
              </a:rPr>
              <a:t> (Integration Opportunities)</a:t>
            </a:r>
            <a:endParaRPr b="0" sz="1800" strike="noStrike">
              <a:solidFill>
                <a:srgbClr val="000000"/>
              </a:solidFill>
              <a:latin typeface="Arial"/>
              <a:ea typeface="Arial"/>
              <a:cs typeface="Arial"/>
              <a:sym typeface="Arial"/>
            </a:endParaRPr>
          </a:p>
        </p:txBody>
      </p:sp>
      <p:sp>
        <p:nvSpPr>
          <p:cNvPr id="668" name="Google Shape;668;p108"/>
          <p:cNvSpPr/>
          <p:nvPr/>
        </p:nvSpPr>
        <p:spPr>
          <a:xfrm>
            <a:off x="3654720" y="1733040"/>
            <a:ext cx="1502640" cy="1440360"/>
          </a:xfrm>
          <a:prstGeom prst="flowChartConnector">
            <a:avLst/>
          </a:prstGeom>
          <a:solidFill>
            <a:srgbClr val="6D9EEB"/>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100" strike="noStrike">
                <a:solidFill>
                  <a:srgbClr val="FFFFFF"/>
                </a:solidFill>
                <a:latin typeface="Arial"/>
                <a:ea typeface="Arial"/>
                <a:cs typeface="Arial"/>
                <a:sym typeface="Arial"/>
              </a:rPr>
              <a:t>Semantic Governance</a:t>
            </a:r>
            <a:endParaRPr b="0" sz="1100" strike="noStrike">
              <a:latin typeface="Arial"/>
              <a:ea typeface="Arial"/>
              <a:cs typeface="Arial"/>
              <a:sym typeface="Arial"/>
            </a:endParaRPr>
          </a:p>
        </p:txBody>
      </p:sp>
      <p:sp>
        <p:nvSpPr>
          <p:cNvPr id="669" name="Google Shape;669;p108"/>
          <p:cNvSpPr/>
          <p:nvPr/>
        </p:nvSpPr>
        <p:spPr>
          <a:xfrm>
            <a:off x="1625760" y="980280"/>
            <a:ext cx="1280520" cy="666720"/>
          </a:xfrm>
          <a:prstGeom prst="roundRect">
            <a:avLst>
              <a:gd fmla="val 16667" name="adj"/>
            </a:avLst>
          </a:prstGeom>
          <a:solidFill>
            <a:srgbClr val="6D9EEB"/>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Knowledge Engineering</a:t>
            </a:r>
            <a:endParaRPr b="0" sz="1200" strike="noStrike">
              <a:latin typeface="Arial"/>
              <a:ea typeface="Arial"/>
              <a:cs typeface="Arial"/>
              <a:sym typeface="Arial"/>
            </a:endParaRPr>
          </a:p>
        </p:txBody>
      </p:sp>
      <p:sp>
        <p:nvSpPr>
          <p:cNvPr id="670" name="Google Shape;670;p108"/>
          <p:cNvSpPr/>
          <p:nvPr/>
        </p:nvSpPr>
        <p:spPr>
          <a:xfrm>
            <a:off x="5872320" y="98028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Content</a:t>
            </a:r>
            <a:endParaRPr b="0" sz="120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Management</a:t>
            </a:r>
            <a:endParaRPr b="0" sz="1200" strike="noStrike">
              <a:latin typeface="Arial"/>
              <a:ea typeface="Arial"/>
              <a:cs typeface="Arial"/>
              <a:sym typeface="Arial"/>
            </a:endParaRPr>
          </a:p>
        </p:txBody>
      </p:sp>
      <p:sp>
        <p:nvSpPr>
          <p:cNvPr id="671" name="Google Shape;671;p108"/>
          <p:cNvSpPr/>
          <p:nvPr/>
        </p:nvSpPr>
        <p:spPr>
          <a:xfrm>
            <a:off x="1625760" y="318996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Process Management</a:t>
            </a:r>
            <a:endParaRPr b="0" sz="1200" strike="noStrike">
              <a:latin typeface="Arial"/>
              <a:ea typeface="Arial"/>
              <a:cs typeface="Arial"/>
              <a:sym typeface="Arial"/>
            </a:endParaRPr>
          </a:p>
        </p:txBody>
      </p:sp>
      <p:sp>
        <p:nvSpPr>
          <p:cNvPr id="672" name="Google Shape;672;p108"/>
          <p:cNvSpPr/>
          <p:nvPr/>
        </p:nvSpPr>
        <p:spPr>
          <a:xfrm>
            <a:off x="5872320" y="318996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Data</a:t>
            </a:r>
            <a:endParaRPr b="0" sz="120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Management</a:t>
            </a:r>
            <a:endParaRPr b="0" sz="1200" strike="noStrike">
              <a:latin typeface="Arial"/>
              <a:ea typeface="Arial"/>
              <a:cs typeface="Arial"/>
              <a:sym typeface="Arial"/>
            </a:endParaRPr>
          </a:p>
        </p:txBody>
      </p:sp>
      <p:cxnSp>
        <p:nvCxnSpPr>
          <p:cNvPr id="673" name="Google Shape;673;p108"/>
          <p:cNvCxnSpPr/>
          <p:nvPr/>
        </p:nvCxnSpPr>
        <p:spPr>
          <a:xfrm rot="-5400000">
            <a:off x="4945530" y="2665950"/>
            <a:ext cx="1139400" cy="714300"/>
          </a:xfrm>
          <a:prstGeom prst="bentConnector3">
            <a:avLst>
              <a:gd fmla="val 0" name="adj1"/>
            </a:avLst>
          </a:prstGeom>
          <a:noFill/>
          <a:ln cap="flat" cmpd="sng" w="19075">
            <a:solidFill>
              <a:srgbClr val="93C47D"/>
            </a:solidFill>
            <a:prstDash val="solid"/>
            <a:round/>
            <a:headEnd len="sm" w="sm" type="none"/>
            <a:tailEnd len="med" w="med" type="triangle"/>
          </a:ln>
        </p:spPr>
      </p:cxnSp>
      <p:cxnSp>
        <p:nvCxnSpPr>
          <p:cNvPr id="674" name="Google Shape;674;p108"/>
          <p:cNvCxnSpPr/>
          <p:nvPr/>
        </p:nvCxnSpPr>
        <p:spPr>
          <a:xfrm flipH="1" rot="-5400000">
            <a:off x="4979970" y="2631150"/>
            <a:ext cx="1069800" cy="714300"/>
          </a:xfrm>
          <a:prstGeom prst="bentConnector3">
            <a:avLst>
              <a:gd fmla="val 0" name="adj1"/>
            </a:avLst>
          </a:prstGeom>
          <a:noFill/>
          <a:ln cap="flat" cmpd="sng" w="19075">
            <a:solidFill>
              <a:srgbClr val="93C47D"/>
            </a:solidFill>
            <a:prstDash val="solid"/>
            <a:round/>
            <a:headEnd len="sm" w="sm" type="none"/>
            <a:tailEnd len="med" w="med" type="triangle"/>
          </a:ln>
        </p:spPr>
      </p:cxnSp>
      <p:cxnSp>
        <p:nvCxnSpPr>
          <p:cNvPr id="675" name="Google Shape;675;p108"/>
          <p:cNvCxnSpPr/>
          <p:nvPr/>
        </p:nvCxnSpPr>
        <p:spPr>
          <a:xfrm flipH="1" rot="5400000">
            <a:off x="2711370" y="1510050"/>
            <a:ext cx="1139400" cy="747300"/>
          </a:xfrm>
          <a:prstGeom prst="bentConnector3">
            <a:avLst>
              <a:gd fmla="val 0" name="adj1"/>
            </a:avLst>
          </a:prstGeom>
          <a:noFill/>
          <a:ln cap="flat" cmpd="sng" w="19075">
            <a:solidFill>
              <a:srgbClr val="0089EC"/>
            </a:solidFill>
            <a:prstDash val="solid"/>
            <a:round/>
            <a:headEnd len="med" w="med" type="triangle"/>
            <a:tailEnd len="sm" w="sm" type="none"/>
          </a:ln>
        </p:spPr>
      </p:cxnSp>
      <p:cxnSp>
        <p:nvCxnSpPr>
          <p:cNvPr id="676" name="Google Shape;676;p108"/>
          <p:cNvCxnSpPr/>
          <p:nvPr/>
        </p:nvCxnSpPr>
        <p:spPr>
          <a:xfrm rot="5400000">
            <a:off x="2745810" y="2614650"/>
            <a:ext cx="1069800" cy="747300"/>
          </a:xfrm>
          <a:prstGeom prst="bentConnector3">
            <a:avLst>
              <a:gd fmla="val 0" name="adj1"/>
            </a:avLst>
          </a:prstGeom>
          <a:noFill/>
          <a:ln cap="flat" cmpd="sng" w="19075">
            <a:solidFill>
              <a:srgbClr val="93C47D"/>
            </a:solidFill>
            <a:prstDash val="solid"/>
            <a:round/>
            <a:headEnd len="sm" w="sm" type="none"/>
            <a:tailEnd len="med" w="med" type="triangle"/>
          </a:ln>
        </p:spPr>
      </p:cxnSp>
      <p:sp>
        <p:nvSpPr>
          <p:cNvPr id="677" name="Google Shape;677;p108"/>
          <p:cNvSpPr/>
          <p:nvPr/>
        </p:nvSpPr>
        <p:spPr>
          <a:xfrm>
            <a:off x="3749040" y="60300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Compliance Management</a:t>
            </a:r>
            <a:endParaRPr b="0" sz="1200" strike="noStrike">
              <a:latin typeface="Arial"/>
              <a:ea typeface="Arial"/>
              <a:cs typeface="Arial"/>
              <a:sym typeface="Arial"/>
            </a:endParaRPr>
          </a:p>
        </p:txBody>
      </p:sp>
      <p:sp>
        <p:nvSpPr>
          <p:cNvPr id="678" name="Google Shape;678;p108"/>
          <p:cNvSpPr/>
          <p:nvPr/>
        </p:nvSpPr>
        <p:spPr>
          <a:xfrm>
            <a:off x="6400800" y="212004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Analytic Insights</a:t>
            </a:r>
            <a:endParaRPr b="0" sz="1200" strike="noStrike">
              <a:latin typeface="Arial"/>
              <a:ea typeface="Arial"/>
              <a:cs typeface="Arial"/>
              <a:sym typeface="Arial"/>
            </a:endParaRPr>
          </a:p>
        </p:txBody>
      </p:sp>
      <p:sp>
        <p:nvSpPr>
          <p:cNvPr id="679" name="Google Shape;679;p108"/>
          <p:cNvSpPr/>
          <p:nvPr/>
        </p:nvSpPr>
        <p:spPr>
          <a:xfrm>
            <a:off x="953640" y="2120040"/>
            <a:ext cx="165456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Trad AI </a:t>
            </a:r>
            <a:endParaRPr b="0" sz="120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000" strike="noStrike">
                <a:solidFill>
                  <a:srgbClr val="FFFFFF"/>
                </a:solidFill>
                <a:latin typeface="Arial"/>
                <a:ea typeface="Arial"/>
                <a:cs typeface="Arial"/>
                <a:sym typeface="Arial"/>
              </a:rPr>
              <a:t>Analysis &amp; Decision Making</a:t>
            </a:r>
            <a:endParaRPr b="0" sz="1000" strike="noStrike">
              <a:latin typeface="Arial"/>
              <a:ea typeface="Arial"/>
              <a:cs typeface="Arial"/>
              <a:sym typeface="Arial"/>
            </a:endParaRPr>
          </a:p>
        </p:txBody>
      </p:sp>
      <p:cxnSp>
        <p:nvCxnSpPr>
          <p:cNvPr id="680" name="Google Shape;680;p108"/>
          <p:cNvCxnSpPr/>
          <p:nvPr/>
        </p:nvCxnSpPr>
        <p:spPr>
          <a:xfrm flipH="1">
            <a:off x="2607120" y="2453400"/>
            <a:ext cx="1045800" cy="600"/>
          </a:xfrm>
          <a:prstGeom prst="bentConnector3">
            <a:avLst>
              <a:gd fmla="val 50000" name="adj1"/>
            </a:avLst>
          </a:prstGeom>
          <a:noFill/>
          <a:ln cap="flat" cmpd="sng" w="19075">
            <a:solidFill>
              <a:srgbClr val="93C47D"/>
            </a:solidFill>
            <a:prstDash val="solid"/>
            <a:round/>
            <a:headEnd len="sm" w="sm" type="none"/>
            <a:tailEnd len="med" w="med" type="triangle"/>
          </a:ln>
        </p:spPr>
      </p:cxnSp>
      <p:sp>
        <p:nvSpPr>
          <p:cNvPr id="681" name="Google Shape;681;p108"/>
          <p:cNvSpPr/>
          <p:nvPr/>
        </p:nvSpPr>
        <p:spPr>
          <a:xfrm>
            <a:off x="4389480" y="1270440"/>
            <a:ext cx="16200" cy="462600"/>
          </a:xfrm>
          <a:custGeom>
            <a:rect b="b" l="l" r="r" t="t"/>
            <a:pathLst>
              <a:path extrusionOk="0" h="21600" w="21600">
                <a:moveTo>
                  <a:pt x="0" y="0"/>
                </a:moveTo>
                <a:lnTo>
                  <a:pt x="21600" y="21600"/>
                </a:lnTo>
              </a:path>
            </a:pathLst>
          </a:custGeom>
          <a:noFill/>
          <a:ln cap="flat" cmpd="sng" w="19075">
            <a:solidFill>
              <a:srgbClr val="93C47D"/>
            </a:solidFill>
            <a:prstDash val="solid"/>
            <a:round/>
            <a:headEnd len="med" w="med" type="triangle"/>
            <a:tailEnd len="sm" w="sm" type="none"/>
          </a:ln>
        </p:spPr>
      </p:sp>
      <p:cxnSp>
        <p:nvCxnSpPr>
          <p:cNvPr id="682" name="Google Shape;682;p108"/>
          <p:cNvCxnSpPr/>
          <p:nvPr/>
        </p:nvCxnSpPr>
        <p:spPr>
          <a:xfrm>
            <a:off x="5157720" y="2453400"/>
            <a:ext cx="1243200" cy="600"/>
          </a:xfrm>
          <a:prstGeom prst="bentConnector3">
            <a:avLst>
              <a:gd fmla="val 49990" name="adj1"/>
            </a:avLst>
          </a:prstGeom>
          <a:noFill/>
          <a:ln cap="flat" cmpd="sng" w="19075">
            <a:solidFill>
              <a:srgbClr val="93C47D"/>
            </a:solidFill>
            <a:prstDash val="solid"/>
            <a:round/>
            <a:headEnd len="sm" w="sm" type="none"/>
            <a:tailEnd len="med" w="med" type="triangle"/>
          </a:ln>
        </p:spPr>
      </p:cxnSp>
      <p:sp>
        <p:nvSpPr>
          <p:cNvPr id="683" name="Google Shape;683;p108"/>
          <p:cNvSpPr/>
          <p:nvPr/>
        </p:nvSpPr>
        <p:spPr>
          <a:xfrm>
            <a:off x="2200320" y="4389120"/>
            <a:ext cx="19753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Gen AI </a:t>
            </a:r>
            <a:endParaRPr b="0" sz="120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000" strike="noStrike">
                <a:solidFill>
                  <a:srgbClr val="FFFFFF"/>
                </a:solidFill>
                <a:latin typeface="Arial"/>
                <a:ea typeface="Arial"/>
                <a:cs typeface="Arial"/>
                <a:sym typeface="Arial"/>
              </a:rPr>
              <a:t>Generate, Synthesize, Dynamic Problem Solving</a:t>
            </a:r>
            <a:endParaRPr b="0" sz="1000" strike="noStrike">
              <a:latin typeface="Arial"/>
              <a:ea typeface="Arial"/>
              <a:cs typeface="Arial"/>
              <a:sym typeface="Arial"/>
            </a:endParaRPr>
          </a:p>
        </p:txBody>
      </p:sp>
      <p:sp>
        <p:nvSpPr>
          <p:cNvPr id="684" name="Google Shape;684;p108"/>
          <p:cNvSpPr/>
          <p:nvPr/>
        </p:nvSpPr>
        <p:spPr>
          <a:xfrm>
            <a:off x="4682160" y="4389120"/>
            <a:ext cx="19753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200" strike="noStrike">
                <a:solidFill>
                  <a:srgbClr val="FFFFFF"/>
                </a:solidFill>
                <a:latin typeface="Arial"/>
                <a:ea typeface="Arial"/>
                <a:cs typeface="Arial"/>
                <a:sym typeface="Arial"/>
              </a:rPr>
              <a:t>Agentic AI </a:t>
            </a:r>
            <a:endParaRPr b="0" sz="120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000" strike="noStrike">
                <a:solidFill>
                  <a:srgbClr val="FFFFFF"/>
                </a:solidFill>
                <a:latin typeface="Arial"/>
                <a:ea typeface="Arial"/>
                <a:cs typeface="Arial"/>
                <a:sym typeface="Arial"/>
              </a:rPr>
              <a:t>Autonomy, Goal-Oriented Behavior, Reasoning</a:t>
            </a:r>
            <a:endParaRPr b="0" sz="1000" strike="noStrike">
              <a:latin typeface="Arial"/>
              <a:ea typeface="Arial"/>
              <a:cs typeface="Arial"/>
              <a:sym typeface="Arial"/>
            </a:endParaRPr>
          </a:p>
        </p:txBody>
      </p:sp>
      <p:cxnSp>
        <p:nvCxnSpPr>
          <p:cNvPr id="685" name="Google Shape;685;p108"/>
          <p:cNvCxnSpPr/>
          <p:nvPr/>
        </p:nvCxnSpPr>
        <p:spPr>
          <a:xfrm flipH="1">
            <a:off x="3188640" y="3173760"/>
            <a:ext cx="1217400" cy="1215300"/>
          </a:xfrm>
          <a:prstGeom prst="bentConnector3">
            <a:avLst>
              <a:gd fmla="val 0" name="adj1"/>
            </a:avLst>
          </a:prstGeom>
          <a:noFill/>
          <a:ln cap="flat" cmpd="sng" w="19075">
            <a:solidFill>
              <a:srgbClr val="93C47D"/>
            </a:solidFill>
            <a:prstDash val="solid"/>
            <a:round/>
            <a:headEnd len="sm" w="sm" type="none"/>
            <a:tailEnd len="med" w="med" type="triangle"/>
          </a:ln>
        </p:spPr>
      </p:cxnSp>
      <p:cxnSp>
        <p:nvCxnSpPr>
          <p:cNvPr id="686" name="Google Shape;686;p108"/>
          <p:cNvCxnSpPr/>
          <p:nvPr/>
        </p:nvCxnSpPr>
        <p:spPr>
          <a:xfrm>
            <a:off x="4404780" y="3173580"/>
            <a:ext cx="1263300" cy="1215300"/>
          </a:xfrm>
          <a:prstGeom prst="bentConnector3">
            <a:avLst>
              <a:gd fmla="val 0" name="adj1"/>
            </a:avLst>
          </a:prstGeom>
          <a:noFill/>
          <a:ln cap="flat" cmpd="sng" w="19075">
            <a:solidFill>
              <a:srgbClr val="93C47D"/>
            </a:solidFill>
            <a:prstDash val="solid"/>
            <a:round/>
            <a:headEnd len="sm" w="sm" type="none"/>
            <a:tailEnd len="med" w="med" type="triangle"/>
          </a:ln>
        </p:spPr>
      </p:cxnSp>
      <p:sp>
        <p:nvSpPr>
          <p:cNvPr id="687" name="Google Shape;687;p108"/>
          <p:cNvSpPr/>
          <p:nvPr/>
        </p:nvSpPr>
        <p:spPr>
          <a:xfrm>
            <a:off x="3921840" y="1767600"/>
            <a:ext cx="93528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00"/>
                </a:solidFill>
                <a:latin typeface="Arial"/>
                <a:ea typeface="Arial"/>
                <a:cs typeface="Arial"/>
                <a:sym typeface="Arial"/>
              </a:rPr>
              <a:t>Metadata Management</a:t>
            </a:r>
            <a:endParaRPr b="0" sz="900" strike="noStrike">
              <a:latin typeface="Arial"/>
              <a:ea typeface="Arial"/>
              <a:cs typeface="Arial"/>
              <a:sym typeface="Arial"/>
            </a:endParaRPr>
          </a:p>
        </p:txBody>
      </p:sp>
      <p:sp>
        <p:nvSpPr>
          <p:cNvPr id="688" name="Google Shape;688;p108"/>
          <p:cNvSpPr/>
          <p:nvPr/>
        </p:nvSpPr>
        <p:spPr>
          <a:xfrm>
            <a:off x="3921840" y="2659680"/>
            <a:ext cx="93528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en-US" sz="900" strike="noStrike">
                <a:solidFill>
                  <a:srgbClr val="0000FF"/>
                </a:solidFill>
                <a:latin typeface="Arial"/>
                <a:ea typeface="Arial"/>
                <a:cs typeface="Arial"/>
                <a:sym typeface="Arial"/>
              </a:rPr>
              <a:t>Knowledge Graphs</a:t>
            </a:r>
            <a:endParaRPr b="0" sz="900" strike="noStrike">
              <a:latin typeface="Arial"/>
              <a:ea typeface="Arial"/>
              <a:cs typeface="Arial"/>
              <a:sym typeface="Arial"/>
            </a:endParaRPr>
          </a:p>
        </p:txBody>
      </p:sp>
      <p:pic>
        <p:nvPicPr>
          <p:cNvPr id="689" name="Google Shape;689;p108"/>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09"/>
          <p:cNvSpPr txBox="1"/>
          <p:nvPr/>
        </p:nvSpPr>
        <p:spPr>
          <a:xfrm>
            <a:off x="430920" y="728280"/>
            <a:ext cx="3931560" cy="956520"/>
          </a:xfrm>
          <a:prstGeom prst="rect">
            <a:avLst/>
          </a:prstGeom>
          <a:noFill/>
          <a:ln>
            <a:noFill/>
          </a:ln>
        </p:spPr>
        <p:txBody>
          <a:bodyPr anchorCtr="0" anchor="t" bIns="0" lIns="0" spcFirstLastPara="1" rIns="0" wrap="square" tIns="0">
            <a:noAutofit/>
          </a:bodyPr>
          <a:lstStyle/>
          <a:p>
            <a:pPr indent="0" lvl="0" marL="127080" marR="0" rtl="0" algn="l">
              <a:lnSpc>
                <a:spcPct val="100000"/>
              </a:lnSpc>
              <a:spcBef>
                <a:spcPts val="0"/>
              </a:spcBef>
              <a:spcAft>
                <a:spcPts val="0"/>
              </a:spcAft>
              <a:buNone/>
            </a:pPr>
            <a:r>
              <a:rPr b="0" lang="en-US" sz="1400" strike="noStrike">
                <a:solidFill>
                  <a:srgbClr val="434343"/>
                </a:solidFill>
                <a:latin typeface="Roboto"/>
                <a:ea typeface="Roboto"/>
                <a:cs typeface="Roboto"/>
                <a:sym typeface="Roboto"/>
              </a:rPr>
              <a:t>The OODA loop was introduced in the 1950’s by military strategist, US Air Force Colonel John Boyd to help pilots make faster and better decisions. </a:t>
            </a:r>
            <a:endParaRPr b="0" sz="1400" strike="noStrike">
              <a:solidFill>
                <a:srgbClr val="000000"/>
              </a:solidFill>
              <a:latin typeface="Arial"/>
              <a:ea typeface="Arial"/>
              <a:cs typeface="Arial"/>
              <a:sym typeface="Arial"/>
            </a:endParaRPr>
          </a:p>
        </p:txBody>
      </p:sp>
      <p:sp>
        <p:nvSpPr>
          <p:cNvPr id="695" name="Google Shape;695;p109"/>
          <p:cNvSpPr txBox="1"/>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lang="en-US" sz="700" strike="noStrike">
                <a:solidFill>
                  <a:srgbClr val="2A3990"/>
                </a:solidFill>
                <a:latin typeface="Arial"/>
                <a:ea typeface="Arial"/>
                <a:cs typeface="Arial"/>
                <a:sym typeface="Arial"/>
              </a:rPr>
              <a:t>‹#›</a:t>
            </a:fld>
            <a:endParaRPr b="0" sz="700" strike="noStrike">
              <a:latin typeface="Times New Roman"/>
              <a:ea typeface="Times New Roman"/>
              <a:cs typeface="Times New Roman"/>
              <a:sym typeface="Times New Roman"/>
            </a:endParaRPr>
          </a:p>
        </p:txBody>
      </p:sp>
      <p:pic>
        <p:nvPicPr>
          <p:cNvPr id="696" name="Google Shape;696;p109"/>
          <p:cNvPicPr preferRelativeResize="0"/>
          <p:nvPr/>
        </p:nvPicPr>
        <p:blipFill rotWithShape="1">
          <a:blip r:embed="rId3">
            <a:alphaModFix/>
          </a:blip>
          <a:srcRect b="0" l="0" r="0" t="0"/>
          <a:stretch/>
        </p:blipFill>
        <p:spPr>
          <a:xfrm>
            <a:off x="520200" y="1685160"/>
            <a:ext cx="3753720" cy="1815840"/>
          </a:xfrm>
          <a:prstGeom prst="rect">
            <a:avLst/>
          </a:prstGeom>
          <a:noFill/>
          <a:ln>
            <a:noFill/>
          </a:ln>
        </p:spPr>
      </p:pic>
      <p:sp>
        <p:nvSpPr>
          <p:cNvPr id="697" name="Google Shape;697;p109"/>
          <p:cNvSpPr/>
          <p:nvPr/>
        </p:nvSpPr>
        <p:spPr>
          <a:xfrm>
            <a:off x="4846320" y="728280"/>
            <a:ext cx="3931560" cy="956520"/>
          </a:xfrm>
          <a:prstGeom prst="rect">
            <a:avLst/>
          </a:prstGeom>
          <a:noFill/>
          <a:ln>
            <a:noFill/>
          </a:ln>
        </p:spPr>
        <p:txBody>
          <a:bodyPr anchorCtr="0" anchor="t" bIns="0" lIns="0" spcFirstLastPara="1" rIns="0" wrap="square" tIns="0">
            <a:noAutofit/>
          </a:bodyPr>
          <a:lstStyle/>
          <a:p>
            <a:pPr indent="0" lvl="0" marL="127080" marR="0" rtl="0" algn="l">
              <a:lnSpc>
                <a:spcPct val="100000"/>
              </a:lnSpc>
              <a:spcBef>
                <a:spcPts val="0"/>
              </a:spcBef>
              <a:spcAft>
                <a:spcPts val="0"/>
              </a:spcAft>
              <a:buNone/>
            </a:pPr>
            <a:r>
              <a:rPr b="0" lang="en-US" sz="1400" strike="noStrike">
                <a:solidFill>
                  <a:srgbClr val="2A3990"/>
                </a:solidFill>
                <a:latin typeface="Arial"/>
                <a:ea typeface="Arial"/>
                <a:cs typeface="Arial"/>
                <a:sym typeface="Arial"/>
              </a:rPr>
              <a:t>The SUDA model was developed more recently to improve decision making for AI by leveraging biomimicry to simulate the feedback &amp; learning. </a:t>
            </a:r>
            <a:endParaRPr b="0" sz="1400" strike="noStrike">
              <a:latin typeface="Arial"/>
              <a:ea typeface="Arial"/>
              <a:cs typeface="Arial"/>
              <a:sym typeface="Arial"/>
            </a:endParaRPr>
          </a:p>
        </p:txBody>
      </p:sp>
      <p:pic>
        <p:nvPicPr>
          <p:cNvPr id="698" name="Google Shape;698;p109"/>
          <p:cNvPicPr preferRelativeResize="0"/>
          <p:nvPr/>
        </p:nvPicPr>
        <p:blipFill rotWithShape="1">
          <a:blip r:embed="rId4">
            <a:alphaModFix/>
          </a:blip>
          <a:srcRect b="0" l="0" r="0" t="0"/>
          <a:stretch/>
        </p:blipFill>
        <p:spPr>
          <a:xfrm>
            <a:off x="4935240" y="1693080"/>
            <a:ext cx="3753720" cy="1640520"/>
          </a:xfrm>
          <a:prstGeom prst="rect">
            <a:avLst/>
          </a:prstGeom>
          <a:noFill/>
          <a:ln>
            <a:noFill/>
          </a:ln>
        </p:spPr>
      </p:pic>
      <p:sp>
        <p:nvSpPr>
          <p:cNvPr id="699" name="Google Shape;699;p109"/>
          <p:cNvSpPr/>
          <p:nvPr/>
        </p:nvSpPr>
        <p:spPr>
          <a:xfrm>
            <a:off x="4300200" y="2269080"/>
            <a:ext cx="543240" cy="353880"/>
          </a:xfrm>
          <a:prstGeom prst="rightArrow">
            <a:avLst>
              <a:gd fmla="val 50000" name="adj1"/>
              <a:gd fmla="val 50000" name="adj2"/>
            </a:avLst>
          </a:prstGeom>
          <a:solidFill>
            <a:srgbClr val="212D74"/>
          </a:solidFill>
          <a:ln cap="flat" cmpd="sng" w="25550">
            <a:solidFill>
              <a:srgbClr val="9B1F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09"/>
          <p:cNvSpPr/>
          <p:nvPr/>
        </p:nvSpPr>
        <p:spPr>
          <a:xfrm>
            <a:off x="1603080" y="3558240"/>
            <a:ext cx="6433200" cy="738360"/>
          </a:xfrm>
          <a:prstGeom prst="rect">
            <a:avLst/>
          </a:prstGeom>
          <a:solidFill>
            <a:srgbClr val="C2EA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1400" strike="noStrike">
                <a:solidFill>
                  <a:srgbClr val="000000"/>
                </a:solidFill>
                <a:latin typeface="Arial"/>
                <a:ea typeface="Arial"/>
                <a:cs typeface="Arial"/>
                <a:sym typeface="Arial"/>
              </a:rPr>
              <a:t>SUDA builds on OODA by introducing models of knowledge and mapping data (content &amp; context) to concepts at scale under a semantic governance framework of continuous learning and adaptation, which embraces complexity.</a:t>
            </a:r>
            <a:endParaRPr b="0" sz="1400" strike="noStrike">
              <a:latin typeface="Arial"/>
              <a:ea typeface="Arial"/>
              <a:cs typeface="Arial"/>
              <a:sym typeface="Arial"/>
            </a:endParaRPr>
          </a:p>
        </p:txBody>
      </p:sp>
      <p:sp>
        <p:nvSpPr>
          <p:cNvPr id="701" name="Google Shape;701;p109"/>
          <p:cNvSpPr txBox="1"/>
          <p:nvPr/>
        </p:nvSpPr>
        <p:spPr>
          <a:xfrm>
            <a:off x="457200" y="110880"/>
            <a:ext cx="7086240" cy="2952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a:t>
            </a:r>
            <a:r>
              <a:rPr b="0" lang="en-US" sz="1800" strike="noStrike">
                <a:solidFill>
                  <a:srgbClr val="2A3990"/>
                </a:solidFill>
                <a:latin typeface="Roboto"/>
                <a:ea typeface="Roboto"/>
                <a:cs typeface="Roboto"/>
                <a:sym typeface="Roboto"/>
              </a:rPr>
              <a:t> (From OODA to SUDA)</a:t>
            </a:r>
            <a:endParaRPr b="0" sz="1800" strike="noStrike">
              <a:solidFill>
                <a:srgbClr val="000000"/>
              </a:solidFill>
              <a:latin typeface="Arial"/>
              <a:ea typeface="Arial"/>
              <a:cs typeface="Arial"/>
              <a:sym typeface="Arial"/>
            </a:endParaRPr>
          </a:p>
        </p:txBody>
      </p:sp>
      <p:pic>
        <p:nvPicPr>
          <p:cNvPr id="702" name="Google Shape;702;p109"/>
          <p:cNvPicPr preferRelativeResize="0"/>
          <p:nvPr/>
        </p:nvPicPr>
        <p:blipFill rotWithShape="1">
          <a:blip r:embed="rId5">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110"/>
          <p:cNvSpPr txBox="1"/>
          <p:nvPr/>
        </p:nvSpPr>
        <p:spPr>
          <a:xfrm>
            <a:off x="457200" y="136080"/>
            <a:ext cx="8018640" cy="2340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a:t>
            </a:r>
            <a:r>
              <a:rPr b="0" lang="en-US" sz="1800" strike="noStrike">
                <a:solidFill>
                  <a:srgbClr val="2A3990"/>
                </a:solidFill>
                <a:latin typeface="Roboto"/>
                <a:ea typeface="Roboto"/>
                <a:cs typeface="Roboto"/>
                <a:sym typeface="Roboto"/>
              </a:rPr>
              <a:t> </a:t>
            </a:r>
            <a:r>
              <a:rPr b="0" lang="en-US" sz="1700" strike="noStrike">
                <a:solidFill>
                  <a:srgbClr val="2A3990"/>
                </a:solidFill>
                <a:latin typeface="Roboto"/>
                <a:ea typeface="Roboto"/>
                <a:cs typeface="Roboto"/>
                <a:sym typeface="Roboto"/>
              </a:rPr>
              <a:t>Mapping of concerns:  Personas, Use Cases, Agents…</a:t>
            </a:r>
            <a:endParaRPr b="0" sz="1700" strike="noStrike">
              <a:solidFill>
                <a:srgbClr val="000000"/>
              </a:solidFill>
              <a:latin typeface="Arial"/>
              <a:ea typeface="Arial"/>
              <a:cs typeface="Arial"/>
              <a:sym typeface="Arial"/>
            </a:endParaRPr>
          </a:p>
        </p:txBody>
      </p:sp>
      <p:pic>
        <p:nvPicPr>
          <p:cNvPr id="708" name="Google Shape;708;p110"/>
          <p:cNvPicPr preferRelativeResize="0"/>
          <p:nvPr/>
        </p:nvPicPr>
        <p:blipFill rotWithShape="1">
          <a:blip r:embed="rId3">
            <a:alphaModFix/>
          </a:blip>
          <a:srcRect b="0" l="0" r="0" t="0"/>
          <a:stretch/>
        </p:blipFill>
        <p:spPr>
          <a:xfrm>
            <a:off x="3263760" y="541440"/>
            <a:ext cx="5599080" cy="4467960"/>
          </a:xfrm>
          <a:prstGeom prst="rect">
            <a:avLst/>
          </a:prstGeom>
          <a:noFill/>
          <a:ln>
            <a:noFill/>
          </a:ln>
        </p:spPr>
      </p:pic>
      <p:sp>
        <p:nvSpPr>
          <p:cNvPr id="709" name="Google Shape;709;p110"/>
          <p:cNvSpPr/>
          <p:nvPr/>
        </p:nvSpPr>
        <p:spPr>
          <a:xfrm>
            <a:off x="299160" y="617760"/>
            <a:ext cx="2964240" cy="4349520"/>
          </a:xfrm>
          <a:prstGeom prst="rect">
            <a:avLst/>
          </a:prstGeom>
          <a:solidFill>
            <a:srgbClr val="CFCFC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US" sz="900" strike="noStrike">
                <a:solidFill>
                  <a:srgbClr val="000000"/>
                </a:solidFill>
                <a:latin typeface="Arial"/>
                <a:ea typeface="Arial"/>
                <a:cs typeface="Arial"/>
                <a:sym typeface="Arial"/>
              </a:rPr>
              <a:t>Need to understand granularity &amp; cardinality in the larger scheme:</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Actor (= Persona)</a:t>
            </a:r>
            <a:endParaRPr b="0" sz="900" strike="noStrike">
              <a:latin typeface="Arial"/>
              <a:ea typeface="Arial"/>
              <a:cs typeface="Arial"/>
              <a:sym typeface="Arial"/>
            </a:endParaRPr>
          </a:p>
          <a:p>
            <a:pPr indent="-285480" lvl="1" marL="91440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1:M Use Case (taxa?)</a:t>
            </a:r>
            <a:endParaRPr b="0" i="0" sz="900" u="none" cap="none" strike="noStrike">
              <a:latin typeface="Arial"/>
              <a:ea typeface="Arial"/>
              <a:cs typeface="Arial"/>
              <a:sym typeface="Arial"/>
            </a:endParaRPr>
          </a:p>
          <a:p>
            <a:pPr indent="-285480" lvl="2" marL="137160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1:M Intents</a:t>
            </a:r>
            <a:endParaRPr b="0" i="0" sz="900" u="none" cap="none" strike="noStrike">
              <a:latin typeface="Arial"/>
              <a:ea typeface="Arial"/>
              <a:cs typeface="Arial"/>
              <a:sym typeface="Arial"/>
            </a:endParaRPr>
          </a:p>
          <a:p>
            <a:pPr indent="-285480" lvl="3" marL="182880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1:M Services</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Service</a:t>
            </a:r>
            <a:endParaRPr b="0" sz="900" strike="noStrike">
              <a:latin typeface="Arial"/>
              <a:ea typeface="Arial"/>
              <a:cs typeface="Arial"/>
              <a:sym typeface="Arial"/>
            </a:endParaRPr>
          </a:p>
          <a:p>
            <a:pPr indent="-285480" lvl="1" marL="91440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Integration </a:t>
            </a:r>
            <a:endParaRPr b="0" i="0" sz="900" u="none" cap="none" strike="noStrike">
              <a:latin typeface="Arial"/>
              <a:ea typeface="Arial"/>
              <a:cs typeface="Arial"/>
              <a:sym typeface="Arial"/>
            </a:endParaRPr>
          </a:p>
          <a:p>
            <a:pPr indent="-285480" lvl="1" marL="91440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Agent (Bi)</a:t>
            </a:r>
            <a:endParaRPr b="0" i="0" sz="900" u="none" cap="none" strike="noStrike">
              <a:latin typeface="Arial"/>
              <a:ea typeface="Arial"/>
              <a:cs typeface="Arial"/>
              <a:sym typeface="Arial"/>
            </a:endParaRPr>
          </a:p>
          <a:p>
            <a:pPr indent="-285480" lvl="1" marL="91440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Agent (AI)</a:t>
            </a:r>
            <a:endParaRPr b="0" i="0" sz="900" u="none" cap="none" strike="noStrike">
              <a:latin typeface="Arial"/>
              <a:ea typeface="Arial"/>
              <a:cs typeface="Arial"/>
              <a:sym typeface="Arial"/>
            </a:endParaRPr>
          </a:p>
          <a:p>
            <a:pPr indent="-285480" lvl="1" marL="91440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Agent (DI)</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Service granularity (taxa)</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Agent granularity (taxa?)</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rPr b="0" lang="en-US" sz="900" strike="noStrike">
                <a:solidFill>
                  <a:srgbClr val="000000"/>
                </a:solidFill>
                <a:latin typeface="Arial"/>
                <a:ea typeface="Arial"/>
                <a:cs typeface="Arial"/>
                <a:sym typeface="Arial"/>
              </a:rPr>
              <a:t>We may need to build registries covering:</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Use Cases</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Services</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Agents</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Models</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Metrics</a:t>
            </a:r>
            <a:endParaRPr b="0" sz="900" strike="noStrike">
              <a:latin typeface="Arial"/>
              <a:ea typeface="Arial"/>
              <a:cs typeface="Arial"/>
              <a:sym typeface="Arial"/>
            </a:endParaRPr>
          </a:p>
          <a:p>
            <a:pPr indent="-285480" lvl="0" marL="457200" marR="0" rtl="0" algn="l">
              <a:lnSpc>
                <a:spcPct val="10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Decisions</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rPr b="0" lang="en-US" sz="900" strike="noStrike">
                <a:solidFill>
                  <a:srgbClr val="000000"/>
                </a:solidFill>
                <a:latin typeface="Arial"/>
                <a:ea typeface="Arial"/>
                <a:cs typeface="Arial"/>
                <a:sym typeface="Arial"/>
              </a:rPr>
              <a:t>Need a scalable way to track usage (embed) and/or consumption (service requests). Former is Design Time, Latter is Run Time</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p:txBody>
      </p:sp>
      <p:pic>
        <p:nvPicPr>
          <p:cNvPr id="710" name="Google Shape;710;p110"/>
          <p:cNvPicPr preferRelativeResize="0"/>
          <p:nvPr/>
        </p:nvPicPr>
        <p:blipFill rotWithShape="1">
          <a:blip r:embed="rId4">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11"/>
          <p:cNvSpPr txBox="1"/>
          <p:nvPr/>
        </p:nvSpPr>
        <p:spPr>
          <a:xfrm>
            <a:off x="457200" y="136080"/>
            <a:ext cx="8126640" cy="2340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lang="en-US" sz="1910" strike="noStrike">
                <a:solidFill>
                  <a:srgbClr val="2A3990"/>
                </a:solidFill>
                <a:latin typeface="Roboto"/>
                <a:ea typeface="Roboto"/>
                <a:cs typeface="Roboto"/>
                <a:sym typeface="Roboto"/>
              </a:rPr>
              <a:t>Semantic Governance:</a:t>
            </a:r>
            <a:r>
              <a:rPr b="0" lang="en-US" sz="1910" strike="noStrike">
                <a:solidFill>
                  <a:srgbClr val="2A3990"/>
                </a:solidFill>
                <a:latin typeface="Roboto"/>
                <a:ea typeface="Roboto"/>
                <a:cs typeface="Roboto"/>
                <a:sym typeface="Roboto"/>
              </a:rPr>
              <a:t> </a:t>
            </a:r>
            <a:r>
              <a:rPr b="0" lang="en-US" sz="1810" strike="noStrike">
                <a:solidFill>
                  <a:srgbClr val="2A3990"/>
                </a:solidFill>
                <a:latin typeface="Roboto"/>
                <a:ea typeface="Roboto"/>
                <a:cs typeface="Roboto"/>
                <a:sym typeface="Roboto"/>
              </a:rPr>
              <a:t>Lifecycle Considerations - Blending of Design Time &amp; Run Time </a:t>
            </a:r>
            <a:endParaRPr b="0" sz="1810" strike="noStrike">
              <a:solidFill>
                <a:srgbClr val="000000"/>
              </a:solidFill>
              <a:latin typeface="Arial"/>
              <a:ea typeface="Arial"/>
              <a:cs typeface="Arial"/>
              <a:sym typeface="Arial"/>
            </a:endParaRPr>
          </a:p>
        </p:txBody>
      </p:sp>
      <p:sp>
        <p:nvSpPr>
          <p:cNvPr id="716" name="Google Shape;716;p111"/>
          <p:cNvSpPr txBox="1"/>
          <p:nvPr/>
        </p:nvSpPr>
        <p:spPr>
          <a:xfrm>
            <a:off x="457200" y="718560"/>
            <a:ext cx="8167320" cy="39459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lang="en-US" sz="1600" strike="noStrike">
                <a:solidFill>
                  <a:srgbClr val="434343"/>
                </a:solidFill>
                <a:latin typeface="Roboto"/>
                <a:ea typeface="Roboto"/>
                <a:cs typeface="Roboto"/>
                <a:sym typeface="Roboto"/>
              </a:rPr>
              <a:t>As we step into Agent-Based design, we may want to align on some target state capabilities so we reduce the costs for refactoring agents. Much of our solution design is still macro level focus as design is driven by Use Cases, which are also macro level and cross-domain concerns. </a:t>
            </a:r>
            <a:endParaRPr b="0" sz="1600"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sz="1600"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0" lang="en-US" sz="1600" strike="noStrike">
                <a:solidFill>
                  <a:srgbClr val="434343"/>
                </a:solidFill>
                <a:latin typeface="Roboto"/>
                <a:ea typeface="Roboto"/>
                <a:cs typeface="Roboto"/>
                <a:sym typeface="Roboto"/>
              </a:rPr>
              <a:t>Do we need to start thinking about ….</a:t>
            </a:r>
            <a:endParaRPr b="0" sz="1600"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sz="1600" strike="noStrike">
              <a:solidFill>
                <a:srgbClr val="000000"/>
              </a:solidFill>
              <a:latin typeface="Arial"/>
              <a:ea typeface="Arial"/>
              <a:cs typeface="Arial"/>
              <a:sym typeface="Arial"/>
            </a:endParaRPr>
          </a:p>
          <a:p>
            <a:pPr indent="0" lvl="0" marL="457200" marR="0" rtl="0" algn="l">
              <a:lnSpc>
                <a:spcPct val="100000"/>
              </a:lnSpc>
              <a:spcBef>
                <a:spcPts val="901"/>
              </a:spcBef>
              <a:spcAft>
                <a:spcPts val="0"/>
              </a:spcAft>
              <a:buNone/>
            </a:pPr>
            <a:r>
              <a:rPr b="0" lang="en-US" sz="1600" strike="noStrike">
                <a:solidFill>
                  <a:srgbClr val="434343"/>
                </a:solidFill>
                <a:latin typeface="Roboto"/>
                <a:ea typeface="Roboto"/>
                <a:cs typeface="Roboto"/>
                <a:sym typeface="Roboto"/>
              </a:rPr>
              <a:t>== &gt; </a:t>
            </a:r>
            <a:r>
              <a:rPr b="0" lang="en-US" sz="1600" strike="noStrike">
                <a:solidFill>
                  <a:srgbClr val="7890CD"/>
                </a:solidFill>
                <a:latin typeface="Roboto"/>
                <a:ea typeface="Roboto"/>
                <a:cs typeface="Roboto"/>
                <a:sym typeface="Roboto"/>
              </a:rPr>
              <a:t>Lifecycle Design for Build &amp; Assembly (static, then dynamic)</a:t>
            </a:r>
            <a:endParaRPr b="0" sz="1600" strike="noStrike">
              <a:solidFill>
                <a:srgbClr val="000000"/>
              </a:solidFill>
              <a:latin typeface="Arial"/>
              <a:ea typeface="Arial"/>
              <a:cs typeface="Arial"/>
              <a:sym typeface="Arial"/>
            </a:endParaRPr>
          </a:p>
        </p:txBody>
      </p:sp>
      <p:pic>
        <p:nvPicPr>
          <p:cNvPr id="717" name="Google Shape;717;p111"/>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12"/>
          <p:cNvSpPr txBox="1"/>
          <p:nvPr/>
        </p:nvSpPr>
        <p:spPr>
          <a:xfrm>
            <a:off x="457200" y="136080"/>
            <a:ext cx="7086240" cy="2340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a:t>
            </a:r>
            <a:r>
              <a:rPr b="0" lang="en-US" sz="1800" strike="noStrike">
                <a:solidFill>
                  <a:srgbClr val="2A3990"/>
                </a:solidFill>
                <a:latin typeface="Roboto"/>
                <a:ea typeface="Roboto"/>
                <a:cs typeface="Roboto"/>
                <a:sym typeface="Roboto"/>
              </a:rPr>
              <a:t> </a:t>
            </a:r>
            <a:r>
              <a:rPr b="0" lang="en-US" sz="1700" strike="noStrike">
                <a:solidFill>
                  <a:srgbClr val="2A3990"/>
                </a:solidFill>
                <a:latin typeface="Roboto"/>
                <a:ea typeface="Roboto"/>
                <a:cs typeface="Roboto"/>
                <a:sym typeface="Roboto"/>
              </a:rPr>
              <a:t>Lifecycle Considerations - DFMA as a Discipline</a:t>
            </a:r>
            <a:endParaRPr b="0" sz="1700" strike="noStrike">
              <a:solidFill>
                <a:srgbClr val="000000"/>
              </a:solidFill>
              <a:latin typeface="Arial"/>
              <a:ea typeface="Arial"/>
              <a:cs typeface="Arial"/>
              <a:sym typeface="Arial"/>
            </a:endParaRPr>
          </a:p>
        </p:txBody>
      </p:sp>
      <p:sp>
        <p:nvSpPr>
          <p:cNvPr id="723" name="Google Shape;723;p112"/>
          <p:cNvSpPr txBox="1"/>
          <p:nvPr/>
        </p:nvSpPr>
        <p:spPr>
          <a:xfrm>
            <a:off x="457200" y="718560"/>
            <a:ext cx="8167320" cy="39459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lang="en-US" sz="1600" strike="noStrike">
                <a:solidFill>
                  <a:srgbClr val="434343"/>
                </a:solidFill>
                <a:latin typeface="Roboto"/>
                <a:ea typeface="Roboto"/>
                <a:cs typeface="Roboto"/>
                <a:sym typeface="Roboto"/>
              </a:rPr>
              <a:t>DFMA = Design for Manufacturing and Assembly (introduced to support Industry 4.0+)</a:t>
            </a:r>
            <a:endParaRPr b="0" sz="1600"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sz="1600"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0" lang="en-US" sz="1600" strike="noStrike">
                <a:solidFill>
                  <a:srgbClr val="434343"/>
                </a:solidFill>
                <a:latin typeface="Roboto"/>
                <a:ea typeface="Roboto"/>
                <a:cs typeface="Roboto"/>
                <a:sym typeface="Roboto"/>
              </a:rPr>
              <a:t>This has been around for a number of years and is gaining momentum as companies begin exploring agent based design. </a:t>
            </a:r>
            <a:endParaRPr b="0" sz="1600" strike="noStrike">
              <a:solidFill>
                <a:srgbClr val="000000"/>
              </a:solidFill>
              <a:latin typeface="Arial"/>
              <a:ea typeface="Arial"/>
              <a:cs typeface="Arial"/>
              <a:sym typeface="Arial"/>
            </a:endParaRPr>
          </a:p>
          <a:p>
            <a:pPr indent="0" lvl="0" marL="0" marR="0" rtl="0" algn="l">
              <a:lnSpc>
                <a:spcPct val="115000"/>
              </a:lnSpc>
              <a:spcBef>
                <a:spcPts val="1001"/>
              </a:spcBef>
              <a:spcAft>
                <a:spcPts val="0"/>
              </a:spcAft>
              <a:buNone/>
            </a:pPr>
            <a:r>
              <a:t/>
            </a:r>
            <a:endParaRPr b="0" sz="1600" strike="noStrike">
              <a:solidFill>
                <a:srgbClr val="000000"/>
              </a:solidFill>
              <a:latin typeface="Arial"/>
              <a:ea typeface="Arial"/>
              <a:cs typeface="Arial"/>
              <a:sym typeface="Arial"/>
            </a:endParaRPr>
          </a:p>
        </p:txBody>
      </p:sp>
      <p:sp>
        <p:nvSpPr>
          <p:cNvPr id="724" name="Google Shape;724;p112"/>
          <p:cNvSpPr/>
          <p:nvPr/>
        </p:nvSpPr>
        <p:spPr>
          <a:xfrm>
            <a:off x="5624640" y="1919520"/>
            <a:ext cx="2999520" cy="2617200"/>
          </a:xfrm>
          <a:prstGeom prst="rect">
            <a:avLst/>
          </a:prstGeom>
          <a:solidFill>
            <a:srgbClr val="C9DAF8"/>
          </a:solid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n-US" sz="1100" strike="noStrike">
                <a:solidFill>
                  <a:srgbClr val="222222"/>
                </a:solidFill>
                <a:latin typeface="Arial"/>
                <a:ea typeface="Arial"/>
                <a:cs typeface="Arial"/>
                <a:sym typeface="Arial"/>
              </a:rPr>
              <a:t>Core Principles:</a:t>
            </a:r>
            <a:endParaRPr b="0" sz="1100" strike="noStrike">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Make multi functioned parts</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Minimize parts</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Simplify/optimize manufacturing process.</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Eliminate interfaces</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Use standard components</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Ease in handling</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Minimize reorientation during machining or assembly</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Encourages concurrent engineering</a:t>
            </a:r>
            <a:endParaRPr b="0" sz="1100" strike="noStrike">
              <a:latin typeface="Arial"/>
              <a:ea typeface="Arial"/>
              <a:cs typeface="Arial"/>
              <a:sym typeface="Arial"/>
            </a:endParaRPr>
          </a:p>
          <a:p>
            <a:pPr indent="-298080" lvl="0" marL="457200" marR="0" rtl="0" algn="l">
              <a:lnSpc>
                <a:spcPct val="115000"/>
              </a:lnSpc>
              <a:spcBef>
                <a:spcPts val="0"/>
              </a:spcBef>
              <a:spcAft>
                <a:spcPts val="0"/>
              </a:spcAft>
              <a:buClr>
                <a:srgbClr val="222222"/>
              </a:buClr>
              <a:buSzPts val="1100"/>
              <a:buFont typeface="Arial"/>
              <a:buChar char="●"/>
            </a:pPr>
            <a:r>
              <a:rPr b="0" lang="en-US" sz="1100" strike="noStrike">
                <a:solidFill>
                  <a:srgbClr val="222222"/>
                </a:solidFill>
                <a:latin typeface="Arial"/>
                <a:ea typeface="Arial"/>
                <a:cs typeface="Arial"/>
                <a:sym typeface="Arial"/>
              </a:rPr>
              <a:t>Take advantage of modular assembly</a:t>
            </a:r>
            <a:endParaRPr b="0" sz="1100" strike="noStrike">
              <a:latin typeface="Arial"/>
              <a:ea typeface="Arial"/>
              <a:cs typeface="Arial"/>
              <a:sym typeface="Arial"/>
            </a:endParaRPr>
          </a:p>
        </p:txBody>
      </p:sp>
      <p:sp>
        <p:nvSpPr>
          <p:cNvPr id="725" name="Google Shape;725;p112"/>
          <p:cNvSpPr/>
          <p:nvPr/>
        </p:nvSpPr>
        <p:spPr>
          <a:xfrm>
            <a:off x="1131480" y="2239560"/>
            <a:ext cx="3514320" cy="1988640"/>
          </a:xfrm>
          <a:prstGeom prst="rect">
            <a:avLst/>
          </a:prstGeom>
          <a:noFill/>
          <a:ln cap="flat" cmpd="sng" w="19075">
            <a:solidFill>
              <a:srgbClr val="7890C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n-US" sz="1200" strike="noStrike">
                <a:solidFill>
                  <a:srgbClr val="222222"/>
                </a:solidFill>
                <a:latin typeface="Arial"/>
                <a:ea typeface="Arial"/>
                <a:cs typeface="Arial"/>
                <a:sym typeface="Arial"/>
              </a:rPr>
              <a:t>DFMA is the combination of DFM (mfg) and DFA (assembly)</a:t>
            </a:r>
            <a:endParaRPr b="0" sz="1200" strike="noStrike">
              <a:latin typeface="Arial"/>
              <a:ea typeface="Arial"/>
              <a:cs typeface="Arial"/>
              <a:sym typeface="Arial"/>
            </a:endParaRPr>
          </a:p>
          <a:p>
            <a:pPr indent="-304560" lvl="0" marL="596880" marR="0" rtl="0" algn="l">
              <a:lnSpc>
                <a:spcPct val="115000"/>
              </a:lnSpc>
              <a:spcBef>
                <a:spcPts val="1001"/>
              </a:spcBef>
              <a:spcAft>
                <a:spcPts val="0"/>
              </a:spcAft>
              <a:buClr>
                <a:srgbClr val="222222"/>
              </a:buClr>
              <a:buSzPts val="1200"/>
              <a:buFont typeface="Arial"/>
              <a:buChar char="●"/>
            </a:pPr>
            <a:r>
              <a:rPr b="0" lang="en-US" sz="1200" strike="noStrike">
                <a:solidFill>
                  <a:srgbClr val="222222"/>
                </a:solidFill>
                <a:latin typeface="Arial"/>
                <a:ea typeface="Arial"/>
                <a:cs typeface="Arial"/>
                <a:sym typeface="Arial"/>
              </a:rPr>
              <a:t>Focus on simplifying product with manufacturing ease and efficient assembly. </a:t>
            </a:r>
            <a:endParaRPr b="0" sz="1200" strike="noStrike">
              <a:latin typeface="Arial"/>
              <a:ea typeface="Arial"/>
              <a:cs typeface="Arial"/>
              <a:sym typeface="Arial"/>
            </a:endParaRPr>
          </a:p>
          <a:p>
            <a:pPr indent="-304560" lvl="0" marL="596880" marR="0" rtl="0" algn="l">
              <a:lnSpc>
                <a:spcPct val="115000"/>
              </a:lnSpc>
              <a:spcBef>
                <a:spcPts val="0"/>
              </a:spcBef>
              <a:spcAft>
                <a:spcPts val="0"/>
              </a:spcAft>
              <a:buClr>
                <a:srgbClr val="222222"/>
              </a:buClr>
              <a:buSzPts val="1200"/>
              <a:buFont typeface="Arial"/>
              <a:buChar char="●"/>
            </a:pPr>
            <a:r>
              <a:rPr b="0" lang="en-US" sz="1200" strike="noStrike">
                <a:solidFill>
                  <a:srgbClr val="222222"/>
                </a:solidFill>
                <a:latin typeface="Arial"/>
                <a:ea typeface="Arial"/>
                <a:cs typeface="Arial"/>
                <a:sym typeface="Arial"/>
              </a:rPr>
              <a:t>Minimum Time (Shorter time to market)</a:t>
            </a:r>
            <a:endParaRPr b="0" sz="1200" strike="noStrike">
              <a:latin typeface="Arial"/>
              <a:ea typeface="Arial"/>
              <a:cs typeface="Arial"/>
              <a:sym typeface="Arial"/>
            </a:endParaRPr>
          </a:p>
          <a:p>
            <a:pPr indent="-304560" lvl="0" marL="596880" marR="0" rtl="0" algn="l">
              <a:lnSpc>
                <a:spcPct val="115000"/>
              </a:lnSpc>
              <a:spcBef>
                <a:spcPts val="0"/>
              </a:spcBef>
              <a:spcAft>
                <a:spcPts val="0"/>
              </a:spcAft>
              <a:buClr>
                <a:srgbClr val="222222"/>
              </a:buClr>
              <a:buSzPts val="1200"/>
              <a:buFont typeface="Arial"/>
              <a:buChar char="●"/>
            </a:pPr>
            <a:r>
              <a:rPr b="0" lang="en-US" sz="1200" strike="noStrike">
                <a:solidFill>
                  <a:srgbClr val="222222"/>
                </a:solidFill>
                <a:latin typeface="Arial"/>
                <a:ea typeface="Arial"/>
                <a:cs typeface="Arial"/>
                <a:sym typeface="Arial"/>
              </a:rPr>
              <a:t>Lower cost</a:t>
            </a:r>
            <a:endParaRPr b="0" sz="1200" strike="noStrike">
              <a:latin typeface="Arial"/>
              <a:ea typeface="Arial"/>
              <a:cs typeface="Arial"/>
              <a:sym typeface="Arial"/>
            </a:endParaRPr>
          </a:p>
          <a:p>
            <a:pPr indent="-304560" lvl="0" marL="596880" marR="0" rtl="0" algn="l">
              <a:lnSpc>
                <a:spcPct val="115000"/>
              </a:lnSpc>
              <a:spcBef>
                <a:spcPts val="0"/>
              </a:spcBef>
              <a:spcAft>
                <a:spcPts val="0"/>
              </a:spcAft>
              <a:buClr>
                <a:srgbClr val="222222"/>
              </a:buClr>
              <a:buSzPts val="1200"/>
              <a:buFont typeface="Arial"/>
              <a:buChar char="●"/>
            </a:pPr>
            <a:r>
              <a:rPr b="0" lang="en-US" sz="1200" strike="noStrike">
                <a:solidFill>
                  <a:srgbClr val="222222"/>
                </a:solidFill>
                <a:latin typeface="Arial"/>
                <a:ea typeface="Arial"/>
                <a:cs typeface="Arial"/>
                <a:sym typeface="Arial"/>
              </a:rPr>
              <a:t>Increased reliability</a:t>
            </a:r>
            <a:endParaRPr b="0" sz="1200" strike="noStrike">
              <a:latin typeface="Arial"/>
              <a:ea typeface="Arial"/>
              <a:cs typeface="Arial"/>
              <a:sym typeface="Arial"/>
            </a:endParaRPr>
          </a:p>
        </p:txBody>
      </p:sp>
      <p:pic>
        <p:nvPicPr>
          <p:cNvPr id="726" name="Google Shape;726;p112"/>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13"/>
          <p:cNvSpPr txBox="1"/>
          <p:nvPr/>
        </p:nvSpPr>
        <p:spPr>
          <a:xfrm>
            <a:off x="457200" y="136080"/>
            <a:ext cx="8112960" cy="2340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1700" strike="noStrike">
                <a:solidFill>
                  <a:srgbClr val="2A3990"/>
                </a:solidFill>
                <a:latin typeface="Roboto"/>
                <a:ea typeface="Roboto"/>
                <a:cs typeface="Roboto"/>
                <a:sym typeface="Roboto"/>
              </a:rPr>
              <a:t>Semantic Governance:</a:t>
            </a:r>
            <a:r>
              <a:rPr b="0" lang="en-US" sz="1700" strike="noStrike">
                <a:solidFill>
                  <a:srgbClr val="2A3990"/>
                </a:solidFill>
                <a:latin typeface="Roboto"/>
                <a:ea typeface="Roboto"/>
                <a:cs typeface="Roboto"/>
                <a:sym typeface="Roboto"/>
              </a:rPr>
              <a:t> Lifecycle Considerations - Learning in Complex Systems</a:t>
            </a:r>
            <a:endParaRPr b="0" sz="1700" strike="noStrike">
              <a:solidFill>
                <a:srgbClr val="000000"/>
              </a:solidFill>
              <a:latin typeface="Arial"/>
              <a:ea typeface="Arial"/>
              <a:cs typeface="Arial"/>
              <a:sym typeface="Arial"/>
            </a:endParaRPr>
          </a:p>
        </p:txBody>
      </p:sp>
      <p:sp>
        <p:nvSpPr>
          <p:cNvPr id="732" name="Google Shape;732;p113"/>
          <p:cNvSpPr txBox="1"/>
          <p:nvPr/>
        </p:nvSpPr>
        <p:spPr>
          <a:xfrm>
            <a:off x="457200" y="718560"/>
            <a:ext cx="8037720" cy="39459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lang="en-US" sz="1800" strike="noStrike">
                <a:solidFill>
                  <a:srgbClr val="434343"/>
                </a:solidFill>
                <a:latin typeface="Roboto"/>
                <a:ea typeface="Roboto"/>
                <a:cs typeface="Roboto"/>
                <a:sym typeface="Roboto"/>
              </a:rPr>
              <a:t>DFA and Emergent Behavior Theory maps very nicely into our goals with AI, BI, SI (semantic), and DI (decision):</a:t>
            </a:r>
            <a:endParaRPr b="0" sz="1800"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sz="1800" strike="noStrike">
              <a:solidFill>
                <a:srgbClr val="000000"/>
              </a:solidFill>
              <a:latin typeface="Arial"/>
              <a:ea typeface="Arial"/>
              <a:cs typeface="Arial"/>
              <a:sym typeface="Arial"/>
            </a:endParaRPr>
          </a:p>
          <a:p>
            <a:pPr indent="-342720" lvl="0" marL="914400" marR="0" rtl="0" algn="l">
              <a:lnSpc>
                <a:spcPct val="115000"/>
              </a:lnSpc>
              <a:spcBef>
                <a:spcPts val="901"/>
              </a:spcBef>
              <a:spcAft>
                <a:spcPts val="0"/>
              </a:spcAft>
              <a:buClr>
                <a:srgbClr val="2A3990"/>
              </a:buClr>
              <a:buSzPts val="1800"/>
              <a:buFont typeface="Arial"/>
              <a:buChar char="●"/>
            </a:pPr>
            <a:r>
              <a:rPr b="0" lang="en-US" sz="1800" strike="noStrike">
                <a:solidFill>
                  <a:srgbClr val="434343"/>
                </a:solidFill>
                <a:latin typeface="Roboto"/>
                <a:ea typeface="Roboto"/>
                <a:cs typeface="Roboto"/>
                <a:sym typeface="Roboto"/>
              </a:rPr>
              <a:t>Collective Learning (top level domain)</a:t>
            </a:r>
            <a:endParaRPr b="0" sz="1800" strike="noStrike">
              <a:solidFill>
                <a:srgbClr val="000000"/>
              </a:solidFill>
              <a:latin typeface="Arial"/>
              <a:ea typeface="Arial"/>
              <a:cs typeface="Arial"/>
              <a:sym typeface="Arial"/>
            </a:endParaRPr>
          </a:p>
          <a:p>
            <a:pPr indent="-342720" lvl="0" marL="914400" marR="0" rtl="0" algn="l">
              <a:lnSpc>
                <a:spcPct val="115000"/>
              </a:lnSpc>
              <a:spcBef>
                <a:spcPts val="0"/>
              </a:spcBef>
              <a:spcAft>
                <a:spcPts val="0"/>
              </a:spcAft>
              <a:buClr>
                <a:srgbClr val="2A3990"/>
              </a:buClr>
              <a:buSzPts val="1800"/>
              <a:buFont typeface="Arial"/>
              <a:buChar char="●"/>
            </a:pPr>
            <a:r>
              <a:rPr b="0" lang="en-US" sz="1800" strike="noStrike">
                <a:solidFill>
                  <a:srgbClr val="434343"/>
                </a:solidFill>
                <a:latin typeface="Roboto"/>
                <a:ea typeface="Roboto"/>
                <a:cs typeface="Roboto"/>
                <a:sym typeface="Roboto"/>
              </a:rPr>
              <a:t>Collaborative Learning (inter-domain)</a:t>
            </a:r>
            <a:endParaRPr b="0" sz="1800" strike="noStrike">
              <a:solidFill>
                <a:srgbClr val="000000"/>
              </a:solidFill>
              <a:latin typeface="Arial"/>
              <a:ea typeface="Arial"/>
              <a:cs typeface="Arial"/>
              <a:sym typeface="Arial"/>
            </a:endParaRPr>
          </a:p>
          <a:p>
            <a:pPr indent="-342720" lvl="0" marL="914400" marR="0" rtl="0" algn="l">
              <a:lnSpc>
                <a:spcPct val="115000"/>
              </a:lnSpc>
              <a:spcBef>
                <a:spcPts val="0"/>
              </a:spcBef>
              <a:spcAft>
                <a:spcPts val="0"/>
              </a:spcAft>
              <a:buClr>
                <a:srgbClr val="2A3990"/>
              </a:buClr>
              <a:buSzPts val="1800"/>
              <a:buFont typeface="Arial"/>
              <a:buChar char="●"/>
            </a:pPr>
            <a:r>
              <a:rPr b="0" lang="en-US" sz="1800" strike="noStrike">
                <a:solidFill>
                  <a:srgbClr val="434343"/>
                </a:solidFill>
                <a:latin typeface="Roboto"/>
                <a:ea typeface="Roboto"/>
                <a:cs typeface="Roboto"/>
                <a:sym typeface="Roboto"/>
              </a:rPr>
              <a:t>Organized Learning (intra-domain = bottom up) </a:t>
            </a:r>
            <a:endParaRPr b="0" sz="1800" strike="noStrike">
              <a:solidFill>
                <a:srgbClr val="000000"/>
              </a:solidFill>
              <a:latin typeface="Arial"/>
              <a:ea typeface="Arial"/>
              <a:cs typeface="Arial"/>
              <a:sym typeface="Arial"/>
            </a:endParaRPr>
          </a:p>
          <a:p>
            <a:pPr indent="-342720" lvl="0" marL="914400" marR="0" rtl="0" algn="l">
              <a:lnSpc>
                <a:spcPct val="115000"/>
              </a:lnSpc>
              <a:spcBef>
                <a:spcPts val="0"/>
              </a:spcBef>
              <a:spcAft>
                <a:spcPts val="0"/>
              </a:spcAft>
              <a:buClr>
                <a:srgbClr val="2A3990"/>
              </a:buClr>
              <a:buSzPts val="1800"/>
              <a:buFont typeface="Arial"/>
              <a:buChar char="●"/>
            </a:pPr>
            <a:r>
              <a:rPr b="0" lang="en-US" sz="1800" strike="noStrike">
                <a:solidFill>
                  <a:srgbClr val="434343"/>
                </a:solidFill>
                <a:latin typeface="Roboto"/>
                <a:ea typeface="Roboto"/>
                <a:cs typeface="Roboto"/>
                <a:sym typeface="Roboto"/>
              </a:rPr>
              <a:t>Organizational Learning (macro)</a:t>
            </a:r>
            <a:endParaRPr b="0" sz="1800" strike="noStrike">
              <a:solidFill>
                <a:srgbClr val="000000"/>
              </a:solidFill>
              <a:latin typeface="Arial"/>
              <a:ea typeface="Arial"/>
              <a:cs typeface="Arial"/>
              <a:sym typeface="Arial"/>
            </a:endParaRPr>
          </a:p>
          <a:p>
            <a:pPr indent="0" lvl="0" marL="0" marR="0" rtl="0" algn="l">
              <a:lnSpc>
                <a:spcPct val="115000"/>
              </a:lnSpc>
              <a:spcBef>
                <a:spcPts val="901"/>
              </a:spcBef>
              <a:spcAft>
                <a:spcPts val="0"/>
              </a:spcAft>
              <a:buNone/>
            </a:pPr>
            <a:r>
              <a:t/>
            </a:r>
            <a:endParaRPr b="0" sz="1800" strike="noStrike">
              <a:solidFill>
                <a:srgbClr val="000000"/>
              </a:solidFill>
              <a:latin typeface="Arial"/>
              <a:ea typeface="Arial"/>
              <a:cs typeface="Arial"/>
              <a:sym typeface="Arial"/>
            </a:endParaRPr>
          </a:p>
          <a:p>
            <a:pPr indent="0" lvl="0" marL="0" marR="0" rtl="0" algn="l">
              <a:lnSpc>
                <a:spcPct val="115000"/>
              </a:lnSpc>
              <a:spcBef>
                <a:spcPts val="901"/>
              </a:spcBef>
              <a:spcAft>
                <a:spcPts val="0"/>
              </a:spcAft>
              <a:buNone/>
            </a:pPr>
            <a:r>
              <a:rPr b="0" lang="en-US" sz="1800" strike="noStrike">
                <a:solidFill>
                  <a:srgbClr val="434343"/>
                </a:solidFill>
                <a:latin typeface="Roboto"/>
                <a:ea typeface="Roboto"/>
                <a:cs typeface="Roboto"/>
                <a:sym typeface="Roboto"/>
              </a:rPr>
              <a:t>Some of the challenges we are facing with complex systems involve computational resource optimization, linguistic translation, and algorithmic complexity when we REACT using our solution designs</a:t>
            </a:r>
            <a:endParaRPr b="0" sz="1800" strike="noStrike">
              <a:solidFill>
                <a:srgbClr val="000000"/>
              </a:solidFill>
              <a:latin typeface="Arial"/>
              <a:ea typeface="Arial"/>
              <a:cs typeface="Arial"/>
              <a:sym typeface="Arial"/>
            </a:endParaRPr>
          </a:p>
        </p:txBody>
      </p:sp>
      <p:pic>
        <p:nvPicPr>
          <p:cNvPr id="733" name="Google Shape;733;p113"/>
          <p:cNvPicPr preferRelativeResize="0"/>
          <p:nvPr/>
        </p:nvPicPr>
        <p:blipFill rotWithShape="1">
          <a:blip r:embed="rId3">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14"/>
          <p:cNvSpPr txBox="1"/>
          <p:nvPr/>
        </p:nvSpPr>
        <p:spPr>
          <a:xfrm>
            <a:off x="457200" y="110880"/>
            <a:ext cx="7086240" cy="2952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1800" strike="noStrike">
                <a:solidFill>
                  <a:srgbClr val="2A3990"/>
                </a:solidFill>
                <a:latin typeface="Roboto"/>
                <a:ea typeface="Roboto"/>
                <a:cs typeface="Roboto"/>
                <a:sym typeface="Roboto"/>
              </a:rPr>
              <a:t>Semantic Governance:</a:t>
            </a:r>
            <a:r>
              <a:rPr b="0" lang="en-US" sz="1800" strike="noStrike">
                <a:solidFill>
                  <a:srgbClr val="2A3990"/>
                </a:solidFill>
                <a:latin typeface="Roboto"/>
                <a:ea typeface="Roboto"/>
                <a:cs typeface="Roboto"/>
                <a:sym typeface="Roboto"/>
              </a:rPr>
              <a:t> (Enabling Emergent Intelligence &amp; Behaviors)</a:t>
            </a:r>
            <a:endParaRPr b="0" sz="1800" strike="noStrike">
              <a:solidFill>
                <a:srgbClr val="000000"/>
              </a:solidFill>
              <a:latin typeface="Arial"/>
              <a:ea typeface="Arial"/>
              <a:cs typeface="Arial"/>
              <a:sym typeface="Arial"/>
            </a:endParaRPr>
          </a:p>
        </p:txBody>
      </p:sp>
      <p:sp>
        <p:nvSpPr>
          <p:cNvPr id="739" name="Google Shape;739;p114"/>
          <p:cNvSpPr/>
          <p:nvPr/>
        </p:nvSpPr>
        <p:spPr>
          <a:xfrm>
            <a:off x="2635560" y="515160"/>
            <a:ext cx="6199920" cy="4268520"/>
          </a:xfrm>
          <a:prstGeom prst="rect">
            <a:avLst/>
          </a:prstGeom>
          <a:noFill/>
          <a:ln cap="flat" cmpd="sng" w="28425">
            <a:solidFill>
              <a:srgbClr val="A5A5A5"/>
            </a:solidFill>
            <a:prstDash val="dashDot"/>
            <a:round/>
            <a:headEnd len="sm" w="sm" type="none"/>
            <a:tailEnd len="sm" w="sm" type="none"/>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n-US" sz="1400" strike="noStrike">
                <a:solidFill>
                  <a:srgbClr val="7F7F7F"/>
                </a:solidFill>
                <a:latin typeface="Arial"/>
                <a:ea typeface="Arial"/>
                <a:cs typeface="Arial"/>
                <a:sym typeface="Arial"/>
              </a:rPr>
              <a:t>Agent: Reference Model</a:t>
            </a:r>
            <a:endParaRPr b="0" sz="1400" strike="noStrike">
              <a:latin typeface="Arial"/>
              <a:ea typeface="Arial"/>
              <a:cs typeface="Arial"/>
              <a:sym typeface="Arial"/>
            </a:endParaRPr>
          </a:p>
        </p:txBody>
      </p:sp>
      <p:sp>
        <p:nvSpPr>
          <p:cNvPr id="740" name="Google Shape;740;p114"/>
          <p:cNvSpPr/>
          <p:nvPr/>
        </p:nvSpPr>
        <p:spPr>
          <a:xfrm>
            <a:off x="4647600" y="1796040"/>
            <a:ext cx="2111760" cy="758880"/>
          </a:xfrm>
          <a:prstGeom prst="roundRect">
            <a:avLst>
              <a:gd fmla="val 16667" name="adj"/>
            </a:avLst>
          </a:prstGeom>
          <a:solidFill>
            <a:srgbClr val="747676"/>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lang="en-US" sz="1500" strike="noStrike">
                <a:solidFill>
                  <a:srgbClr val="FFFFFF"/>
                </a:solidFill>
                <a:latin typeface="Arial"/>
                <a:ea typeface="Arial"/>
                <a:cs typeface="Arial"/>
                <a:sym typeface="Arial"/>
              </a:rPr>
              <a:t>Agent</a:t>
            </a:r>
            <a:endParaRPr b="0" sz="1500" strike="noStrike">
              <a:latin typeface="Arial"/>
              <a:ea typeface="Arial"/>
              <a:cs typeface="Arial"/>
              <a:sym typeface="Arial"/>
            </a:endParaRPr>
          </a:p>
        </p:txBody>
      </p:sp>
      <p:sp>
        <p:nvSpPr>
          <p:cNvPr id="741" name="Google Shape;741;p114"/>
          <p:cNvSpPr/>
          <p:nvPr/>
        </p:nvSpPr>
        <p:spPr>
          <a:xfrm>
            <a:off x="7394040" y="1755000"/>
            <a:ext cx="1227600" cy="7999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Sense</a:t>
            </a:r>
            <a:r>
              <a:rPr b="0" lang="en-US" sz="1500" strike="noStrike">
                <a:solidFill>
                  <a:srgbClr val="EE0000"/>
                </a:solidFill>
                <a:latin typeface="Arial"/>
                <a:ea typeface="Arial"/>
                <a:cs typeface="Arial"/>
                <a:sym typeface="Arial"/>
              </a:rPr>
              <a:t>*</a:t>
            </a:r>
            <a:endParaRPr b="0" sz="150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&amp; Understand</a:t>
            </a:r>
            <a:endParaRPr b="0" sz="1500" strike="noStrike">
              <a:latin typeface="Arial"/>
              <a:ea typeface="Arial"/>
              <a:cs typeface="Arial"/>
              <a:sym typeface="Arial"/>
            </a:endParaRPr>
          </a:p>
        </p:txBody>
      </p:sp>
      <p:sp>
        <p:nvSpPr>
          <p:cNvPr id="742" name="Google Shape;742;p114"/>
          <p:cNvSpPr/>
          <p:nvPr/>
        </p:nvSpPr>
        <p:spPr>
          <a:xfrm>
            <a:off x="5140080" y="4090680"/>
            <a:ext cx="1126080" cy="5043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Act</a:t>
            </a:r>
            <a:endParaRPr b="0" sz="1500" strike="noStrike">
              <a:latin typeface="Arial"/>
              <a:ea typeface="Arial"/>
              <a:cs typeface="Arial"/>
              <a:sym typeface="Arial"/>
            </a:endParaRPr>
          </a:p>
        </p:txBody>
      </p:sp>
      <p:sp>
        <p:nvSpPr>
          <p:cNvPr id="743" name="Google Shape;743;p114"/>
          <p:cNvSpPr/>
          <p:nvPr/>
        </p:nvSpPr>
        <p:spPr>
          <a:xfrm>
            <a:off x="5172480" y="691200"/>
            <a:ext cx="1061280" cy="4255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Goals</a:t>
            </a:r>
            <a:endParaRPr b="0" sz="1500" strike="noStrike">
              <a:latin typeface="Arial"/>
              <a:ea typeface="Arial"/>
              <a:cs typeface="Arial"/>
              <a:sym typeface="Arial"/>
            </a:endParaRPr>
          </a:p>
        </p:txBody>
      </p:sp>
      <p:sp>
        <p:nvSpPr>
          <p:cNvPr id="744" name="Google Shape;744;p114"/>
          <p:cNvSpPr/>
          <p:nvPr/>
        </p:nvSpPr>
        <p:spPr>
          <a:xfrm>
            <a:off x="6779880" y="881640"/>
            <a:ext cx="1061280" cy="582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Memory</a:t>
            </a:r>
            <a:endParaRPr b="0" sz="1500" strike="noStrike">
              <a:latin typeface="Arial"/>
              <a:ea typeface="Arial"/>
              <a:cs typeface="Arial"/>
              <a:sym typeface="Arial"/>
            </a:endParaRPr>
          </a:p>
        </p:txBody>
      </p:sp>
      <p:sp>
        <p:nvSpPr>
          <p:cNvPr id="745" name="Google Shape;745;p114"/>
          <p:cNvSpPr/>
          <p:nvPr/>
        </p:nvSpPr>
        <p:spPr>
          <a:xfrm>
            <a:off x="3090600" y="1884600"/>
            <a:ext cx="1061280" cy="582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Reason</a:t>
            </a:r>
            <a:endParaRPr b="0" sz="1500" strike="noStrike">
              <a:latin typeface="Arial"/>
              <a:ea typeface="Arial"/>
              <a:cs typeface="Arial"/>
              <a:sym typeface="Arial"/>
            </a:endParaRPr>
          </a:p>
        </p:txBody>
      </p:sp>
      <p:sp>
        <p:nvSpPr>
          <p:cNvPr id="746" name="Google Shape;746;p114"/>
          <p:cNvSpPr/>
          <p:nvPr/>
        </p:nvSpPr>
        <p:spPr>
          <a:xfrm>
            <a:off x="5140080" y="3470400"/>
            <a:ext cx="1126080" cy="375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Coordinate</a:t>
            </a:r>
            <a:endParaRPr b="0" sz="1500" strike="noStrike">
              <a:latin typeface="Arial"/>
              <a:ea typeface="Arial"/>
              <a:cs typeface="Arial"/>
              <a:sym typeface="Arial"/>
            </a:endParaRPr>
          </a:p>
        </p:txBody>
      </p:sp>
      <p:sp>
        <p:nvSpPr>
          <p:cNvPr id="747" name="Google Shape;747;p114"/>
          <p:cNvSpPr/>
          <p:nvPr/>
        </p:nvSpPr>
        <p:spPr>
          <a:xfrm>
            <a:off x="5140080" y="2800440"/>
            <a:ext cx="1126080" cy="375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Plan</a:t>
            </a:r>
            <a:endParaRPr b="0" sz="1500" strike="noStrike">
              <a:latin typeface="Arial"/>
              <a:ea typeface="Arial"/>
              <a:cs typeface="Arial"/>
              <a:sym typeface="Arial"/>
            </a:endParaRPr>
          </a:p>
        </p:txBody>
      </p:sp>
      <p:sp>
        <p:nvSpPr>
          <p:cNvPr id="748" name="Google Shape;748;p114"/>
          <p:cNvSpPr/>
          <p:nvPr/>
        </p:nvSpPr>
        <p:spPr>
          <a:xfrm>
            <a:off x="3090960" y="3031920"/>
            <a:ext cx="1061280" cy="582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Learn</a:t>
            </a:r>
            <a:r>
              <a:rPr b="0" lang="en-US" sz="1500" strike="noStrike">
                <a:solidFill>
                  <a:srgbClr val="EE0000"/>
                </a:solidFill>
                <a:latin typeface="Arial"/>
                <a:ea typeface="Arial"/>
                <a:cs typeface="Arial"/>
                <a:sym typeface="Arial"/>
              </a:rPr>
              <a:t>*</a:t>
            </a:r>
            <a:endParaRPr b="0" sz="1500" strike="noStrike">
              <a:latin typeface="Arial"/>
              <a:ea typeface="Arial"/>
              <a:cs typeface="Arial"/>
              <a:sym typeface="Arial"/>
            </a:endParaRPr>
          </a:p>
        </p:txBody>
      </p:sp>
      <p:sp>
        <p:nvSpPr>
          <p:cNvPr id="749" name="Google Shape;749;p114"/>
          <p:cNvSpPr/>
          <p:nvPr/>
        </p:nvSpPr>
        <p:spPr>
          <a:xfrm rot="10800000">
            <a:off x="5703120" y="1117080"/>
            <a:ext cx="360" cy="6789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750" name="Google Shape;750;p114"/>
          <p:cNvSpPr/>
          <p:nvPr/>
        </p:nvSpPr>
        <p:spPr>
          <a:xfrm>
            <a:off x="5703480" y="2555280"/>
            <a:ext cx="360" cy="2451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751" name="Google Shape;751;p114"/>
          <p:cNvSpPr/>
          <p:nvPr/>
        </p:nvSpPr>
        <p:spPr>
          <a:xfrm>
            <a:off x="5703480" y="3175920"/>
            <a:ext cx="360" cy="29412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752" name="Google Shape;752;p114"/>
          <p:cNvSpPr/>
          <p:nvPr/>
        </p:nvSpPr>
        <p:spPr>
          <a:xfrm>
            <a:off x="5703480" y="3845520"/>
            <a:ext cx="360" cy="2451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753" name="Google Shape;753;p114"/>
          <p:cNvSpPr/>
          <p:nvPr/>
        </p:nvSpPr>
        <p:spPr>
          <a:xfrm rot="10800000">
            <a:off x="4152600" y="2175120"/>
            <a:ext cx="495000" cy="3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754" name="Google Shape;754;p114"/>
          <p:cNvSpPr/>
          <p:nvPr/>
        </p:nvSpPr>
        <p:spPr>
          <a:xfrm flipH="1">
            <a:off x="4152600" y="2988360"/>
            <a:ext cx="987120" cy="33444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755" name="Google Shape;755;p114"/>
          <p:cNvSpPr/>
          <p:nvPr/>
        </p:nvSpPr>
        <p:spPr>
          <a:xfrm rot="10800000">
            <a:off x="4152960" y="3323520"/>
            <a:ext cx="987120" cy="33444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756" name="Google Shape;756;p114"/>
          <p:cNvSpPr/>
          <p:nvPr/>
        </p:nvSpPr>
        <p:spPr>
          <a:xfrm>
            <a:off x="3621240" y="2466720"/>
            <a:ext cx="360" cy="56484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cxnSp>
        <p:nvCxnSpPr>
          <p:cNvPr id="757" name="Google Shape;757;p114"/>
          <p:cNvCxnSpPr>
            <a:stCxn id="740" idx="0"/>
            <a:endCxn id="744" idx="1"/>
          </p:cNvCxnSpPr>
          <p:nvPr/>
        </p:nvCxnSpPr>
        <p:spPr>
          <a:xfrm rot="-5400000">
            <a:off x="5929980" y="946140"/>
            <a:ext cx="623400" cy="1076400"/>
          </a:xfrm>
          <a:prstGeom prst="curvedConnector2">
            <a:avLst/>
          </a:prstGeom>
          <a:noFill/>
          <a:ln cap="flat" cmpd="sng" w="19075">
            <a:solidFill>
              <a:srgbClr val="AEAEAE"/>
            </a:solidFill>
            <a:prstDash val="solid"/>
            <a:round/>
            <a:headEnd len="sm" w="sm" type="none"/>
            <a:tailEnd len="med" w="med" type="triangle"/>
          </a:ln>
        </p:spPr>
      </p:cxnSp>
      <p:cxnSp>
        <p:nvCxnSpPr>
          <p:cNvPr id="758" name="Google Shape;758;p114"/>
          <p:cNvCxnSpPr/>
          <p:nvPr/>
        </p:nvCxnSpPr>
        <p:spPr>
          <a:xfrm rot="5400000">
            <a:off x="6679830" y="1544370"/>
            <a:ext cx="711300" cy="550800"/>
          </a:xfrm>
          <a:prstGeom prst="curvedConnector2">
            <a:avLst/>
          </a:prstGeom>
          <a:noFill/>
          <a:ln cap="flat" cmpd="sng" w="19075">
            <a:solidFill>
              <a:srgbClr val="AEAEAE"/>
            </a:solidFill>
            <a:prstDash val="solid"/>
            <a:round/>
            <a:headEnd len="sm" w="sm" type="none"/>
            <a:tailEnd len="med" w="med" type="triangle"/>
          </a:ln>
        </p:spPr>
      </p:cxnSp>
      <p:sp>
        <p:nvSpPr>
          <p:cNvPr id="759" name="Google Shape;759;p114"/>
          <p:cNvSpPr/>
          <p:nvPr/>
        </p:nvSpPr>
        <p:spPr>
          <a:xfrm>
            <a:off x="365400" y="931320"/>
            <a:ext cx="1798560" cy="1581840"/>
          </a:xfrm>
          <a:prstGeom prst="rect">
            <a:avLst/>
          </a:prstGeom>
          <a:solidFill>
            <a:srgbClr val="FFE599"/>
          </a:solid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n-US" sz="1300" strike="noStrike">
                <a:solidFill>
                  <a:srgbClr val="000000"/>
                </a:solidFill>
                <a:latin typeface="Arial"/>
                <a:ea typeface="Arial"/>
                <a:cs typeface="Arial"/>
                <a:sym typeface="Arial"/>
              </a:rPr>
              <a:t>Convergence of 4 separate disciplines:</a:t>
            </a:r>
            <a:endParaRPr b="0" sz="1300" strike="noStrike">
              <a:latin typeface="Arial"/>
              <a:ea typeface="Arial"/>
              <a:cs typeface="Arial"/>
              <a:sym typeface="Arial"/>
            </a:endParaRPr>
          </a:p>
          <a:p>
            <a:pPr indent="-190080" lvl="0" marL="216000" marR="0" rtl="0" algn="l">
              <a:lnSpc>
                <a:spcPct val="100000"/>
              </a:lnSpc>
              <a:spcBef>
                <a:spcPts val="1001"/>
              </a:spcBef>
              <a:spcAft>
                <a:spcPts val="0"/>
              </a:spcAft>
              <a:buClr>
                <a:srgbClr val="000000"/>
              </a:buClr>
              <a:buSzPts val="1300"/>
              <a:buFont typeface="Arial"/>
              <a:buChar char="•"/>
            </a:pPr>
            <a:r>
              <a:rPr b="1" lang="en-US" sz="1300" strike="noStrike">
                <a:solidFill>
                  <a:srgbClr val="000000"/>
                </a:solidFill>
                <a:latin typeface="Arial"/>
                <a:ea typeface="Arial"/>
                <a:cs typeface="Arial"/>
                <a:sym typeface="Arial"/>
              </a:rPr>
              <a:t>BI (analytic)</a:t>
            </a:r>
            <a:endParaRPr b="0" sz="1300" strike="noStrike">
              <a:latin typeface="Arial"/>
              <a:ea typeface="Arial"/>
              <a:cs typeface="Arial"/>
              <a:sym typeface="Arial"/>
            </a:endParaRPr>
          </a:p>
          <a:p>
            <a:pPr indent="-190080" lvl="0" marL="216000" marR="0" rtl="0" algn="l">
              <a:lnSpc>
                <a:spcPct val="100000"/>
              </a:lnSpc>
              <a:spcBef>
                <a:spcPts val="0"/>
              </a:spcBef>
              <a:spcAft>
                <a:spcPts val="0"/>
              </a:spcAft>
              <a:buClr>
                <a:srgbClr val="000000"/>
              </a:buClr>
              <a:buSzPts val="1300"/>
              <a:buFont typeface="Arial"/>
              <a:buChar char="•"/>
            </a:pPr>
            <a:r>
              <a:rPr b="1" lang="en-US" sz="1300" strike="noStrike">
                <a:solidFill>
                  <a:srgbClr val="000000"/>
                </a:solidFill>
                <a:latin typeface="Arial"/>
                <a:ea typeface="Arial"/>
                <a:cs typeface="Arial"/>
                <a:sym typeface="Arial"/>
              </a:rPr>
              <a:t>AI (probabilistic)</a:t>
            </a:r>
            <a:endParaRPr b="0" sz="1300" strike="noStrike">
              <a:latin typeface="Arial"/>
              <a:ea typeface="Arial"/>
              <a:cs typeface="Arial"/>
              <a:sym typeface="Arial"/>
            </a:endParaRPr>
          </a:p>
          <a:p>
            <a:pPr indent="-190080" lvl="0" marL="216000" marR="0" rtl="0" algn="l">
              <a:lnSpc>
                <a:spcPct val="100000"/>
              </a:lnSpc>
              <a:spcBef>
                <a:spcPts val="0"/>
              </a:spcBef>
              <a:spcAft>
                <a:spcPts val="0"/>
              </a:spcAft>
              <a:buClr>
                <a:srgbClr val="000000"/>
              </a:buClr>
              <a:buSzPts val="1300"/>
              <a:buFont typeface="Arial"/>
              <a:buChar char="•"/>
            </a:pPr>
            <a:r>
              <a:rPr b="1" lang="en-US" sz="1300" strike="noStrike">
                <a:solidFill>
                  <a:srgbClr val="000000"/>
                </a:solidFill>
                <a:latin typeface="Arial"/>
                <a:ea typeface="Arial"/>
                <a:cs typeface="Arial"/>
                <a:sym typeface="Arial"/>
              </a:rPr>
              <a:t>SI (deterministic)</a:t>
            </a:r>
            <a:endParaRPr b="0" sz="1300" strike="noStrike">
              <a:latin typeface="Arial"/>
              <a:ea typeface="Arial"/>
              <a:cs typeface="Arial"/>
              <a:sym typeface="Arial"/>
            </a:endParaRPr>
          </a:p>
          <a:p>
            <a:pPr indent="-209160" lvl="0" marL="216000" marR="0" rtl="0" algn="l">
              <a:lnSpc>
                <a:spcPct val="100000"/>
              </a:lnSpc>
              <a:spcBef>
                <a:spcPts val="0"/>
              </a:spcBef>
              <a:spcAft>
                <a:spcPts val="0"/>
              </a:spcAft>
              <a:buClr>
                <a:srgbClr val="000000"/>
              </a:buClr>
              <a:buSzPts val="1300"/>
              <a:buFont typeface="Arial"/>
              <a:buChar char="•"/>
            </a:pPr>
            <a:r>
              <a:rPr b="1" lang="en-US" sz="1300" strike="noStrike">
                <a:solidFill>
                  <a:srgbClr val="000000"/>
                </a:solidFill>
                <a:latin typeface="Arial"/>
                <a:ea typeface="Arial"/>
                <a:cs typeface="Arial"/>
                <a:sym typeface="Arial"/>
              </a:rPr>
              <a:t>DI (decisions)</a:t>
            </a:r>
            <a:endParaRPr b="0" sz="13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1300" strike="noStrike">
              <a:latin typeface="Arial"/>
              <a:ea typeface="Arial"/>
              <a:cs typeface="Arial"/>
              <a:sym typeface="Arial"/>
            </a:endParaRPr>
          </a:p>
        </p:txBody>
      </p:sp>
      <p:sp>
        <p:nvSpPr>
          <p:cNvPr id="760" name="Google Shape;760;p114"/>
          <p:cNvSpPr/>
          <p:nvPr/>
        </p:nvSpPr>
        <p:spPr>
          <a:xfrm flipH="1" rot="10800000">
            <a:off x="6759720" y="2175480"/>
            <a:ext cx="634320" cy="201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pic>
        <p:nvPicPr>
          <p:cNvPr id="761" name="Google Shape;761;p114"/>
          <p:cNvPicPr preferRelativeResize="0"/>
          <p:nvPr/>
        </p:nvPicPr>
        <p:blipFill rotWithShape="1">
          <a:blip r:embed="rId3">
            <a:alphaModFix/>
          </a:blip>
          <a:srcRect b="0" l="0" r="0" t="0"/>
          <a:stretch/>
        </p:blipFill>
        <p:spPr>
          <a:xfrm>
            <a:off x="524520" y="3845520"/>
            <a:ext cx="1480320" cy="564840"/>
          </a:xfrm>
          <a:prstGeom prst="rect">
            <a:avLst/>
          </a:prstGeom>
          <a:noFill/>
          <a:ln>
            <a:noFill/>
          </a:ln>
        </p:spPr>
      </p:pic>
      <p:sp>
        <p:nvSpPr>
          <p:cNvPr id="762" name="Google Shape;762;p114"/>
          <p:cNvSpPr/>
          <p:nvPr/>
        </p:nvSpPr>
        <p:spPr>
          <a:xfrm>
            <a:off x="379080" y="3040920"/>
            <a:ext cx="898560" cy="40500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LLM</a:t>
            </a:r>
            <a:endParaRPr b="0" sz="1500" strike="noStrike">
              <a:latin typeface="Arial"/>
              <a:ea typeface="Arial"/>
              <a:cs typeface="Arial"/>
              <a:sym typeface="Arial"/>
            </a:endParaRPr>
          </a:p>
        </p:txBody>
      </p:sp>
      <p:sp>
        <p:nvSpPr>
          <p:cNvPr id="763" name="Google Shape;763;p114"/>
          <p:cNvSpPr/>
          <p:nvPr/>
        </p:nvSpPr>
        <p:spPr>
          <a:xfrm>
            <a:off x="1364040" y="3040920"/>
            <a:ext cx="495000" cy="2451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lang="en-US" sz="900" strike="noStrike">
                <a:solidFill>
                  <a:srgbClr val="0E2841"/>
                </a:solidFill>
                <a:latin typeface="Arial"/>
                <a:ea typeface="Arial"/>
                <a:cs typeface="Arial"/>
                <a:sym typeface="Arial"/>
              </a:rPr>
              <a:t>SLM</a:t>
            </a:r>
            <a:endParaRPr b="0" sz="900" strike="noStrike">
              <a:latin typeface="Arial"/>
              <a:ea typeface="Arial"/>
              <a:cs typeface="Arial"/>
              <a:sym typeface="Arial"/>
            </a:endParaRPr>
          </a:p>
        </p:txBody>
      </p:sp>
      <p:sp>
        <p:nvSpPr>
          <p:cNvPr id="764" name="Google Shape;764;p114"/>
          <p:cNvSpPr/>
          <p:nvPr/>
        </p:nvSpPr>
        <p:spPr>
          <a:xfrm>
            <a:off x="1516680" y="3193560"/>
            <a:ext cx="495000" cy="2451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lang="en-US" sz="900" strike="noStrike">
                <a:solidFill>
                  <a:srgbClr val="0E2841"/>
                </a:solidFill>
                <a:latin typeface="Arial"/>
                <a:ea typeface="Arial"/>
                <a:cs typeface="Arial"/>
                <a:sym typeface="Arial"/>
              </a:rPr>
              <a:t>SLM</a:t>
            </a:r>
            <a:endParaRPr b="0" sz="900" strike="noStrike">
              <a:latin typeface="Arial"/>
              <a:ea typeface="Arial"/>
              <a:cs typeface="Arial"/>
              <a:sym typeface="Arial"/>
            </a:endParaRPr>
          </a:p>
        </p:txBody>
      </p:sp>
      <p:sp>
        <p:nvSpPr>
          <p:cNvPr id="765" name="Google Shape;765;p114"/>
          <p:cNvSpPr/>
          <p:nvPr/>
        </p:nvSpPr>
        <p:spPr>
          <a:xfrm>
            <a:off x="1668960" y="3345840"/>
            <a:ext cx="495000" cy="2451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lang="en-US" sz="900" strike="noStrike">
                <a:solidFill>
                  <a:srgbClr val="0E2841"/>
                </a:solidFill>
                <a:latin typeface="Arial"/>
                <a:ea typeface="Arial"/>
                <a:cs typeface="Arial"/>
                <a:sym typeface="Arial"/>
              </a:rPr>
              <a:t>SLM</a:t>
            </a:r>
            <a:endParaRPr b="0" sz="900" strike="noStrike">
              <a:latin typeface="Arial"/>
              <a:ea typeface="Arial"/>
              <a:cs typeface="Arial"/>
              <a:sym typeface="Arial"/>
            </a:endParaRPr>
          </a:p>
        </p:txBody>
      </p:sp>
      <p:sp>
        <p:nvSpPr>
          <p:cNvPr id="766" name="Google Shape;766;p114"/>
          <p:cNvSpPr/>
          <p:nvPr/>
        </p:nvSpPr>
        <p:spPr>
          <a:xfrm>
            <a:off x="828360" y="3446280"/>
            <a:ext cx="468720" cy="39888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767" name="Google Shape;767;p114"/>
          <p:cNvSpPr/>
          <p:nvPr/>
        </p:nvSpPr>
        <p:spPr>
          <a:xfrm flipH="1">
            <a:off x="1274400" y="3484440"/>
            <a:ext cx="245160" cy="3747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768" name="Google Shape;768;p114"/>
          <p:cNvSpPr/>
          <p:nvPr/>
        </p:nvSpPr>
        <p:spPr>
          <a:xfrm>
            <a:off x="248760" y="2921760"/>
            <a:ext cx="1982520" cy="1647000"/>
          </a:xfrm>
          <a:prstGeom prst="roundRect">
            <a:avLst>
              <a:gd fmla="val 16667" name="adj"/>
            </a:avLst>
          </a:prstGeom>
          <a:no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14"/>
          <p:cNvSpPr/>
          <p:nvPr/>
        </p:nvSpPr>
        <p:spPr>
          <a:xfrm>
            <a:off x="6715080" y="2800440"/>
            <a:ext cx="1126080" cy="375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n-US" sz="1500" strike="noStrike">
                <a:solidFill>
                  <a:srgbClr val="0E2841"/>
                </a:solidFill>
                <a:latin typeface="Arial"/>
                <a:ea typeface="Arial"/>
                <a:cs typeface="Arial"/>
                <a:sym typeface="Arial"/>
              </a:rPr>
              <a:t>Decide</a:t>
            </a:r>
            <a:endParaRPr b="0" sz="1500" strike="noStrike">
              <a:latin typeface="Arial"/>
              <a:ea typeface="Arial"/>
              <a:cs typeface="Arial"/>
              <a:sym typeface="Arial"/>
            </a:endParaRPr>
          </a:p>
        </p:txBody>
      </p:sp>
      <p:sp>
        <p:nvSpPr>
          <p:cNvPr id="770" name="Google Shape;770;p114"/>
          <p:cNvSpPr/>
          <p:nvPr/>
        </p:nvSpPr>
        <p:spPr>
          <a:xfrm rot="10800000">
            <a:off x="6266880" y="2988000"/>
            <a:ext cx="448200" cy="3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cxnSp>
        <p:nvCxnSpPr>
          <p:cNvPr id="771" name="Google Shape;771;p114"/>
          <p:cNvCxnSpPr/>
          <p:nvPr/>
        </p:nvCxnSpPr>
        <p:spPr>
          <a:xfrm rot="5400000">
            <a:off x="7708410" y="2688450"/>
            <a:ext cx="432600" cy="165900"/>
          </a:xfrm>
          <a:prstGeom prst="curvedConnector2">
            <a:avLst/>
          </a:prstGeom>
          <a:noFill/>
          <a:ln cap="flat" cmpd="sng" w="19075">
            <a:solidFill>
              <a:srgbClr val="AEAEAE"/>
            </a:solidFill>
            <a:prstDash val="solid"/>
            <a:round/>
            <a:headEnd len="sm" w="sm" type="none"/>
            <a:tailEnd len="med" w="med" type="triangle"/>
          </a:ln>
        </p:spPr>
      </p:cxnSp>
      <p:pic>
        <p:nvPicPr>
          <p:cNvPr id="772" name="Google Shape;772;p114"/>
          <p:cNvPicPr preferRelativeResize="0"/>
          <p:nvPr/>
        </p:nvPicPr>
        <p:blipFill rotWithShape="1">
          <a:blip r:embed="rId4">
            <a:alphaModFix/>
          </a:blip>
          <a:srcRect b="-3486" l="-11849" r="-8340" t="-10097"/>
          <a:stretch/>
        </p:blipFill>
        <p:spPr>
          <a:xfrm>
            <a:off x="8378640" y="-25200"/>
            <a:ext cx="765000" cy="1040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15"/>
          <p:cNvSpPr txBox="1"/>
          <p:nvPr/>
        </p:nvSpPr>
        <p:spPr>
          <a:xfrm>
            <a:off x="597960" y="1398960"/>
            <a:ext cx="8221680" cy="20458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n-US" sz="3200" strike="noStrike">
                <a:solidFill>
                  <a:srgbClr val="FFD966"/>
                </a:solidFill>
                <a:latin typeface="Roboto"/>
                <a:ea typeface="Roboto"/>
                <a:cs typeface="Roboto"/>
                <a:sym typeface="Roboto"/>
              </a:rPr>
              <a:t>The Journey Continues…</a:t>
            </a:r>
            <a:br>
              <a:rPr lang="en-US" sz="1800"/>
            </a:br>
            <a:br>
              <a:rPr lang="en-US" sz="1800"/>
            </a:br>
            <a:r>
              <a:rPr b="0" lang="en-US" sz="3800" strike="noStrike">
                <a:solidFill>
                  <a:srgbClr val="FFFFFF"/>
                </a:solidFill>
                <a:latin typeface="Roboto"/>
                <a:ea typeface="Roboto"/>
                <a:cs typeface="Roboto"/>
                <a:sym typeface="Roboto"/>
              </a:rPr>
              <a:t>Thank You</a:t>
            </a:r>
            <a:endParaRPr b="0" sz="3800"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