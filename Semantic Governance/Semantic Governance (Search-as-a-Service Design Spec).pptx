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32" name="Shape 532"/>
          <p:cNvSpPr/>
          <p:nvPr>
            <p:ph type="sldImg"/>
          </p:nvPr>
        </p:nvSpPr>
        <p:spPr>
          <a:xfrm>
            <a:off x="1143000" y="685800"/>
            <a:ext cx="4572000" cy="3429000"/>
          </a:xfrm>
          <a:prstGeom prst="rect">
            <a:avLst/>
          </a:prstGeom>
        </p:spPr>
        <p:txBody>
          <a:bodyPr/>
          <a:lstStyle/>
          <a:p>
            <a:pPr/>
          </a:p>
        </p:txBody>
      </p:sp>
      <p:sp>
        <p:nvSpPr>
          <p:cNvPr id="533" name="Shape 53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OBJECT">
    <p:spTree>
      <p:nvGrpSpPr>
        <p:cNvPr id="1" name=""/>
        <p:cNvGrpSpPr/>
        <p:nvPr/>
      </p:nvGrpSpPr>
      <p:grpSpPr>
        <a:xfrm>
          <a:off x="0" y="0"/>
          <a:ext cx="0" cy="0"/>
          <a:chOff x="0" y="0"/>
          <a:chExt cx="0" cy="0"/>
        </a:xfrm>
      </p:grpSpPr>
      <p:pic>
        <p:nvPicPr>
          <p:cNvPr id="13" name="Google Shape;10;p1" descr="Google Shape;10;p1"/>
          <p:cNvPicPr>
            <a:picLocks noChangeAspect="1"/>
          </p:cNvPicPr>
          <p:nvPr/>
        </p:nvPicPr>
        <p:blipFill>
          <a:blip r:embed="rId2">
            <a:extLst/>
          </a:blip>
          <a:stretch>
            <a:fillRect/>
          </a:stretch>
        </p:blipFill>
        <p:spPr>
          <a:xfrm>
            <a:off x="0" y="0"/>
            <a:ext cx="14629681" cy="8228880"/>
          </a:xfrm>
          <a:prstGeom prst="rect">
            <a:avLst/>
          </a:prstGeom>
          <a:ln w="12700">
            <a:miter lim="400000"/>
          </a:ln>
        </p:spPr>
      </p:pic>
      <p:sp>
        <p:nvSpPr>
          <p:cNvPr id="14" name="Google Shape;11;p1"/>
          <p:cNvSpPr/>
          <p:nvPr/>
        </p:nvSpPr>
        <p:spPr>
          <a:xfrm>
            <a:off x="0" y="0"/>
            <a:ext cx="14629681" cy="8228880"/>
          </a:xfrm>
          <a:prstGeom prst="rect">
            <a:avLst/>
          </a:prstGeom>
          <a:solidFill>
            <a:srgbClr val="FFFFFF">
              <a:alpha val="94902"/>
            </a:srgbClr>
          </a:solidFill>
          <a:ln w="12700">
            <a:miter lim="400000"/>
          </a:ln>
        </p:spPr>
        <p:txBody>
          <a:bodyPr lIns="0" tIns="0" rIns="0" bIns="0" anchor="ctr"/>
          <a:lstStyle/>
          <a:p>
            <a:pPr/>
          </a:p>
        </p:txBody>
      </p:sp>
      <p:sp>
        <p:nvSpPr>
          <p:cNvPr id="15"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6" name="Body Level One…"/>
          <p:cNvSpPr txBox="1"/>
          <p:nvPr>
            <p:ph type="body" idx="1"/>
          </p:nvPr>
        </p:nvSpPr>
        <p:spPr>
          <a:xfrm>
            <a:off x="731519" y="1925640"/>
            <a:ext cx="1316700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31"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32" name="Body Level One…"/>
          <p:cNvSpPr txBox="1"/>
          <p:nvPr>
            <p:ph type="body" idx="1"/>
          </p:nvPr>
        </p:nvSpPr>
        <p:spPr>
          <a:xfrm>
            <a:off x="731519" y="1925640"/>
            <a:ext cx="13167001" cy="4772520"/>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40"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1" name="Body Level One…"/>
          <p:cNvSpPr txBox="1"/>
          <p:nvPr>
            <p:ph type="body" sz="half" idx="1"/>
          </p:nvPr>
        </p:nvSpPr>
        <p:spPr>
          <a:xfrm>
            <a:off x="731519" y="1925640"/>
            <a:ext cx="642528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2" name="Google Shape;24;p5"/>
          <p:cNvSpPr txBox="1"/>
          <p:nvPr>
            <p:ph type="body" sz="half" idx="21"/>
          </p:nvPr>
        </p:nvSpPr>
        <p:spPr>
          <a:xfrm>
            <a:off x="7478280" y="1925640"/>
            <a:ext cx="6425280" cy="4772520"/>
          </a:xfrm>
          <a:prstGeom prst="rect">
            <a:avLst/>
          </a:prstGeom>
        </p:spPr>
        <p:txBody>
          <a:bodyPr/>
          <a:lstStyle/>
          <a:p>
            <a:pPr/>
          </a:p>
        </p:txBody>
      </p:sp>
      <p:sp>
        <p:nvSpPr>
          <p:cNvPr id="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50"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ONLY">
    <p:spTree>
      <p:nvGrpSpPr>
        <p:cNvPr id="1" name=""/>
        <p:cNvGrpSpPr/>
        <p:nvPr/>
      </p:nvGrpSpPr>
      <p:grpSpPr>
        <a:xfrm>
          <a:off x="0" y="0"/>
          <a:ext cx="0" cy="0"/>
          <a:chOff x="0" y="0"/>
          <a:chExt cx="0" cy="0"/>
        </a:xfrm>
      </p:grpSpPr>
      <p:sp>
        <p:nvSpPr>
          <p:cNvPr id="58" name="Body Level One…"/>
          <p:cNvSpPr txBox="1"/>
          <p:nvPr>
            <p:ph type="body" idx="1"/>
          </p:nvPr>
        </p:nvSpPr>
        <p:spPr>
          <a:xfrm>
            <a:off x="731519" y="328320"/>
            <a:ext cx="13167001" cy="6369121"/>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AND_OBJECT">
    <p:spTree>
      <p:nvGrpSpPr>
        <p:cNvPr id="1" name=""/>
        <p:cNvGrpSpPr/>
        <p:nvPr/>
      </p:nvGrpSpPr>
      <p:grpSpPr>
        <a:xfrm>
          <a:off x="0" y="0"/>
          <a:ext cx="0" cy="0"/>
          <a:chOff x="0" y="0"/>
          <a:chExt cx="0" cy="0"/>
        </a:xfrm>
      </p:grpSpPr>
      <p:sp>
        <p:nvSpPr>
          <p:cNvPr id="66"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67"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68" name="Google Shape;32;p8"/>
          <p:cNvSpPr txBox="1"/>
          <p:nvPr>
            <p:ph type="body" sz="half" idx="21"/>
          </p:nvPr>
        </p:nvSpPr>
        <p:spPr>
          <a:xfrm>
            <a:off x="7478280" y="1925640"/>
            <a:ext cx="6425280" cy="4772520"/>
          </a:xfrm>
          <a:prstGeom prst="rect">
            <a:avLst/>
          </a:prstGeom>
        </p:spPr>
        <p:txBody>
          <a:bodyPr/>
          <a:lstStyle/>
          <a:p>
            <a:pPr/>
          </a:p>
        </p:txBody>
      </p:sp>
      <p:sp>
        <p:nvSpPr>
          <p:cNvPr id="69" name="Google Shape;33;p8"/>
          <p:cNvSpPr txBox="1"/>
          <p:nvPr>
            <p:ph type="body" sz="quarter" idx="22"/>
          </p:nvPr>
        </p:nvSpPr>
        <p:spPr>
          <a:xfrm>
            <a:off x="731520" y="4418639"/>
            <a:ext cx="6425280" cy="2276282"/>
          </a:xfrm>
          <a:prstGeom prst="rect">
            <a:avLst/>
          </a:prstGeom>
        </p:spPr>
        <p:txBody>
          <a:bodyPr/>
          <a:lstStyle/>
          <a:p>
            <a:pPr/>
          </a:p>
        </p:txBody>
      </p:sp>
      <p:sp>
        <p:nvSpPr>
          <p:cNvPr id="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AND_TWO_OBJECTS">
    <p:spTree>
      <p:nvGrpSpPr>
        <p:cNvPr id="1" name=""/>
        <p:cNvGrpSpPr/>
        <p:nvPr/>
      </p:nvGrpSpPr>
      <p:grpSpPr>
        <a:xfrm>
          <a:off x="0" y="0"/>
          <a:ext cx="0" cy="0"/>
          <a:chOff x="0" y="0"/>
          <a:chExt cx="0" cy="0"/>
        </a:xfrm>
      </p:grpSpPr>
      <p:sp>
        <p:nvSpPr>
          <p:cNvPr id="77"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78" name="Body Level One…"/>
          <p:cNvSpPr txBox="1"/>
          <p:nvPr>
            <p:ph type="body" sz="half" idx="1"/>
          </p:nvPr>
        </p:nvSpPr>
        <p:spPr>
          <a:xfrm>
            <a:off x="731519" y="1925640"/>
            <a:ext cx="642528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9" name="Google Shape;37;p9"/>
          <p:cNvSpPr txBox="1"/>
          <p:nvPr>
            <p:ph type="body" sz="quarter" idx="21"/>
          </p:nvPr>
        </p:nvSpPr>
        <p:spPr>
          <a:xfrm>
            <a:off x="7478280" y="1925639"/>
            <a:ext cx="6425280" cy="2276282"/>
          </a:xfrm>
          <a:prstGeom prst="rect">
            <a:avLst/>
          </a:prstGeom>
        </p:spPr>
        <p:txBody>
          <a:bodyPr/>
          <a:lstStyle/>
          <a:p>
            <a:pPr/>
          </a:p>
        </p:txBody>
      </p:sp>
      <p:sp>
        <p:nvSpPr>
          <p:cNvPr id="80" name="Google Shape;38;p9"/>
          <p:cNvSpPr txBox="1"/>
          <p:nvPr>
            <p:ph type="body" sz="quarter" idx="22"/>
          </p:nvPr>
        </p:nvSpPr>
        <p:spPr>
          <a:xfrm>
            <a:off x="7478280" y="4418639"/>
            <a:ext cx="6425280" cy="2276282"/>
          </a:xfrm>
          <a:prstGeom prst="rect">
            <a:avLst/>
          </a:prstGeom>
        </p:spPr>
        <p:txBody>
          <a:bodyPr/>
          <a:lstStyle/>
          <a:p>
            <a:pP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OVER_TEXT">
    <p:spTree>
      <p:nvGrpSpPr>
        <p:cNvPr id="1" name=""/>
        <p:cNvGrpSpPr/>
        <p:nvPr/>
      </p:nvGrpSpPr>
      <p:grpSpPr>
        <a:xfrm>
          <a:off x="0" y="0"/>
          <a:ext cx="0" cy="0"/>
          <a:chOff x="0" y="0"/>
          <a:chExt cx="0" cy="0"/>
        </a:xfrm>
      </p:grpSpPr>
      <p:sp>
        <p:nvSpPr>
          <p:cNvPr id="88"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89"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0" name="Google Shape;42;p10"/>
          <p:cNvSpPr txBox="1"/>
          <p:nvPr>
            <p:ph type="body" sz="quarter" idx="21"/>
          </p:nvPr>
        </p:nvSpPr>
        <p:spPr>
          <a:xfrm>
            <a:off x="7478280" y="1925639"/>
            <a:ext cx="6425280" cy="2276282"/>
          </a:xfrm>
          <a:prstGeom prst="rect">
            <a:avLst/>
          </a:prstGeom>
        </p:spPr>
        <p:txBody>
          <a:bodyPr/>
          <a:lstStyle/>
          <a:p>
            <a:pPr/>
          </a:p>
        </p:txBody>
      </p:sp>
      <p:sp>
        <p:nvSpPr>
          <p:cNvPr id="91" name="Google Shape;43;p10"/>
          <p:cNvSpPr txBox="1"/>
          <p:nvPr>
            <p:ph type="body" sz="half" idx="22"/>
          </p:nvPr>
        </p:nvSpPr>
        <p:spPr>
          <a:xfrm>
            <a:off x="731519" y="4418639"/>
            <a:ext cx="13167001" cy="2276282"/>
          </a:xfrm>
          <a:prstGeom prst="rect">
            <a:avLst/>
          </a:prstGeom>
        </p:spPr>
        <p:txBody>
          <a:bodyPr/>
          <a:lstStyle/>
          <a:p>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OVER_TEXT">
    <p:spTree>
      <p:nvGrpSpPr>
        <p:cNvPr id="1" name=""/>
        <p:cNvGrpSpPr/>
        <p:nvPr/>
      </p:nvGrpSpPr>
      <p:grpSpPr>
        <a:xfrm>
          <a:off x="0" y="0"/>
          <a:ext cx="0" cy="0"/>
          <a:chOff x="0" y="0"/>
          <a:chExt cx="0" cy="0"/>
        </a:xfrm>
      </p:grpSpPr>
      <p:sp>
        <p:nvSpPr>
          <p:cNvPr id="99"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00" name="Body Level One…"/>
          <p:cNvSpPr txBox="1"/>
          <p:nvPr>
            <p:ph type="body" sz="half" idx="1"/>
          </p:nvPr>
        </p:nvSpPr>
        <p:spPr>
          <a:xfrm>
            <a:off x="731519" y="1925640"/>
            <a:ext cx="1316700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1" name="Google Shape;47;p11"/>
          <p:cNvSpPr txBox="1"/>
          <p:nvPr>
            <p:ph type="body" sz="half" idx="21"/>
          </p:nvPr>
        </p:nvSpPr>
        <p:spPr>
          <a:xfrm>
            <a:off x="731519" y="4418639"/>
            <a:ext cx="13167001" cy="2276282"/>
          </a:xfrm>
          <a:prstGeom prst="rect">
            <a:avLst/>
          </a:prstGeom>
        </p:spPr>
        <p:txBody>
          <a:bodyPr/>
          <a:lstStyle/>
          <a:p>
            <a:pPr/>
          </a:p>
        </p:txBody>
      </p:sp>
      <p:sp>
        <p:nvSpPr>
          <p:cNvPr id="10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UR_OBJECTS">
    <p:spTree>
      <p:nvGrpSpPr>
        <p:cNvPr id="1" name=""/>
        <p:cNvGrpSpPr/>
        <p:nvPr/>
      </p:nvGrpSpPr>
      <p:grpSpPr>
        <a:xfrm>
          <a:off x="0" y="0"/>
          <a:ext cx="0" cy="0"/>
          <a:chOff x="0" y="0"/>
          <a:chExt cx="0" cy="0"/>
        </a:xfrm>
      </p:grpSpPr>
      <p:sp>
        <p:nvSpPr>
          <p:cNvPr id="109"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10"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1" name="Google Shape;51;p12"/>
          <p:cNvSpPr txBox="1"/>
          <p:nvPr>
            <p:ph type="body" sz="quarter" idx="21"/>
          </p:nvPr>
        </p:nvSpPr>
        <p:spPr>
          <a:xfrm>
            <a:off x="7478280" y="1925639"/>
            <a:ext cx="6425280" cy="2276282"/>
          </a:xfrm>
          <a:prstGeom prst="rect">
            <a:avLst/>
          </a:prstGeom>
        </p:spPr>
        <p:txBody>
          <a:bodyPr/>
          <a:lstStyle/>
          <a:p>
            <a:pPr/>
          </a:p>
        </p:txBody>
      </p:sp>
      <p:sp>
        <p:nvSpPr>
          <p:cNvPr id="112" name="Google Shape;52;p12"/>
          <p:cNvSpPr txBox="1"/>
          <p:nvPr>
            <p:ph type="body" sz="quarter" idx="22"/>
          </p:nvPr>
        </p:nvSpPr>
        <p:spPr>
          <a:xfrm>
            <a:off x="731520" y="4418639"/>
            <a:ext cx="6425280" cy="2276282"/>
          </a:xfrm>
          <a:prstGeom prst="rect">
            <a:avLst/>
          </a:prstGeom>
        </p:spPr>
        <p:txBody>
          <a:bodyPr/>
          <a:lstStyle/>
          <a:p>
            <a:pPr/>
          </a:p>
        </p:txBody>
      </p:sp>
      <p:sp>
        <p:nvSpPr>
          <p:cNvPr id="113" name="Google Shape;53;p12"/>
          <p:cNvSpPr txBox="1"/>
          <p:nvPr>
            <p:ph type="body" sz="quarter" idx="23"/>
          </p:nvPr>
        </p:nvSpPr>
        <p:spPr>
          <a:xfrm>
            <a:off x="7478280" y="4418639"/>
            <a:ext cx="6425280" cy="2276282"/>
          </a:xfrm>
          <a:prstGeom prst="rect">
            <a:avLst/>
          </a:prstGeom>
        </p:spPr>
        <p:txBody>
          <a:bodyPr/>
          <a:lstStyle/>
          <a:p>
            <a:pPr/>
          </a:p>
        </p:txBody>
      </p:sp>
      <p:sp>
        <p:nvSpPr>
          <p:cNvPr id="1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6 Content">
    <p:spTree>
      <p:nvGrpSpPr>
        <p:cNvPr id="1" name=""/>
        <p:cNvGrpSpPr/>
        <p:nvPr/>
      </p:nvGrpSpPr>
      <p:grpSpPr>
        <a:xfrm>
          <a:off x="0" y="0"/>
          <a:ext cx="0" cy="0"/>
          <a:chOff x="0" y="0"/>
          <a:chExt cx="0" cy="0"/>
        </a:xfrm>
      </p:grpSpPr>
      <p:sp>
        <p:nvSpPr>
          <p:cNvPr id="121"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22" name="Body Level One…"/>
          <p:cNvSpPr txBox="1"/>
          <p:nvPr>
            <p:ph type="body" sz="quarter" idx="1"/>
          </p:nvPr>
        </p:nvSpPr>
        <p:spPr>
          <a:xfrm>
            <a:off x="731519" y="1925640"/>
            <a:ext cx="423936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3" name="Google Shape;57;p13"/>
          <p:cNvSpPr txBox="1"/>
          <p:nvPr>
            <p:ph type="body" sz="quarter" idx="21"/>
          </p:nvPr>
        </p:nvSpPr>
        <p:spPr>
          <a:xfrm>
            <a:off x="5183280" y="1925639"/>
            <a:ext cx="4239361" cy="2276282"/>
          </a:xfrm>
          <a:prstGeom prst="rect">
            <a:avLst/>
          </a:prstGeom>
        </p:spPr>
        <p:txBody>
          <a:bodyPr/>
          <a:lstStyle/>
          <a:p>
            <a:pPr/>
          </a:p>
        </p:txBody>
      </p:sp>
      <p:sp>
        <p:nvSpPr>
          <p:cNvPr id="124" name="Google Shape;58;p13"/>
          <p:cNvSpPr txBox="1"/>
          <p:nvPr>
            <p:ph type="body" sz="quarter" idx="22"/>
          </p:nvPr>
        </p:nvSpPr>
        <p:spPr>
          <a:xfrm>
            <a:off x="9635039" y="1925639"/>
            <a:ext cx="4239361" cy="2276282"/>
          </a:xfrm>
          <a:prstGeom prst="rect">
            <a:avLst/>
          </a:prstGeom>
        </p:spPr>
        <p:txBody>
          <a:bodyPr/>
          <a:lstStyle/>
          <a:p>
            <a:pPr/>
          </a:p>
        </p:txBody>
      </p:sp>
      <p:sp>
        <p:nvSpPr>
          <p:cNvPr id="125" name="Google Shape;59;p13"/>
          <p:cNvSpPr txBox="1"/>
          <p:nvPr>
            <p:ph type="body" sz="quarter" idx="23"/>
          </p:nvPr>
        </p:nvSpPr>
        <p:spPr>
          <a:xfrm>
            <a:off x="731520" y="4418639"/>
            <a:ext cx="4239360" cy="2276282"/>
          </a:xfrm>
          <a:prstGeom prst="rect">
            <a:avLst/>
          </a:prstGeom>
        </p:spPr>
        <p:txBody>
          <a:bodyPr/>
          <a:lstStyle/>
          <a:p>
            <a:pPr/>
          </a:p>
        </p:txBody>
      </p:sp>
      <p:sp>
        <p:nvSpPr>
          <p:cNvPr id="126" name="Google Shape;60;p13"/>
          <p:cNvSpPr txBox="1"/>
          <p:nvPr>
            <p:ph type="body" sz="quarter" idx="24"/>
          </p:nvPr>
        </p:nvSpPr>
        <p:spPr>
          <a:xfrm>
            <a:off x="5183280" y="4418639"/>
            <a:ext cx="4239361" cy="2276282"/>
          </a:xfrm>
          <a:prstGeom prst="rect">
            <a:avLst/>
          </a:prstGeom>
        </p:spPr>
        <p:txBody>
          <a:bodyPr/>
          <a:lstStyle/>
          <a:p>
            <a:pPr/>
          </a:p>
        </p:txBody>
      </p:sp>
      <p:sp>
        <p:nvSpPr>
          <p:cNvPr id="127" name="Google Shape;61;p13"/>
          <p:cNvSpPr txBox="1"/>
          <p:nvPr>
            <p:ph type="body" sz="quarter" idx="25"/>
          </p:nvPr>
        </p:nvSpPr>
        <p:spPr>
          <a:xfrm>
            <a:off x="9635039" y="4418639"/>
            <a:ext cx="4239361" cy="2276282"/>
          </a:xfrm>
          <a:prstGeom prst="rect">
            <a:avLst/>
          </a:prstGeom>
        </p:spPr>
        <p:txBody>
          <a:bodyPr/>
          <a:lstStyle/>
          <a:p>
            <a:pP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pic>
        <p:nvPicPr>
          <p:cNvPr id="135" name="Google Shape;63;p14" descr="Google Shape;63;p14"/>
          <p:cNvPicPr>
            <a:picLocks noChangeAspect="1"/>
          </p:cNvPicPr>
          <p:nvPr/>
        </p:nvPicPr>
        <p:blipFill>
          <a:blip r:embed="rId2">
            <a:extLst/>
          </a:blip>
          <a:stretch>
            <a:fillRect/>
          </a:stretch>
        </p:blipFill>
        <p:spPr>
          <a:xfrm>
            <a:off x="0" y="0"/>
            <a:ext cx="14629681" cy="8228880"/>
          </a:xfrm>
          <a:prstGeom prst="rect">
            <a:avLst/>
          </a:prstGeom>
          <a:ln w="12700">
            <a:miter lim="400000"/>
          </a:ln>
        </p:spPr>
      </p:pic>
      <p:sp>
        <p:nvSpPr>
          <p:cNvPr id="136" name="Google Shape;64;p14"/>
          <p:cNvSpPr/>
          <p:nvPr/>
        </p:nvSpPr>
        <p:spPr>
          <a:xfrm>
            <a:off x="0" y="0"/>
            <a:ext cx="14629681" cy="8228880"/>
          </a:xfrm>
          <a:prstGeom prst="rect">
            <a:avLst/>
          </a:prstGeom>
          <a:solidFill>
            <a:srgbClr val="FFFFFF">
              <a:alpha val="94902"/>
            </a:srgbClr>
          </a:solidFill>
          <a:ln w="12700">
            <a:miter lim="400000"/>
          </a:ln>
        </p:spPr>
        <p:txBody>
          <a:bodyPr lIns="0" tIns="0" rIns="0" bIns="0" anchor="ctr"/>
          <a:lstStyle/>
          <a:p>
            <a:pP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144"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45" name="Body Level One…"/>
          <p:cNvSpPr txBox="1"/>
          <p:nvPr>
            <p:ph type="body" idx="1"/>
          </p:nvPr>
        </p:nvSpPr>
        <p:spPr>
          <a:xfrm>
            <a:off x="731519" y="1925640"/>
            <a:ext cx="13167001" cy="4772520"/>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153"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54" name="Body Level One…"/>
          <p:cNvSpPr txBox="1"/>
          <p:nvPr>
            <p:ph type="body" idx="1"/>
          </p:nvPr>
        </p:nvSpPr>
        <p:spPr>
          <a:xfrm>
            <a:off x="731519" y="1925640"/>
            <a:ext cx="1316700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162"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63" name="Body Level One…"/>
          <p:cNvSpPr txBox="1"/>
          <p:nvPr>
            <p:ph type="body" sz="half" idx="1"/>
          </p:nvPr>
        </p:nvSpPr>
        <p:spPr>
          <a:xfrm>
            <a:off x="731519" y="1925640"/>
            <a:ext cx="642528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64" name="Google Shape;77;p18"/>
          <p:cNvSpPr txBox="1"/>
          <p:nvPr>
            <p:ph type="body" sz="half" idx="21"/>
          </p:nvPr>
        </p:nvSpPr>
        <p:spPr>
          <a:xfrm>
            <a:off x="7478280" y="1925640"/>
            <a:ext cx="6425280" cy="4772520"/>
          </a:xfrm>
          <a:prstGeom prst="rect">
            <a:avLst/>
          </a:prstGeom>
        </p:spPr>
        <p:txBody>
          <a:bodyPr/>
          <a:lstStyle/>
          <a:p>
            <a:pPr/>
          </a:p>
        </p:txBody>
      </p:sp>
      <p:sp>
        <p:nvSpPr>
          <p:cNvPr id="1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172"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ONLY">
    <p:spTree>
      <p:nvGrpSpPr>
        <p:cNvPr id="1" name=""/>
        <p:cNvGrpSpPr/>
        <p:nvPr/>
      </p:nvGrpSpPr>
      <p:grpSpPr>
        <a:xfrm>
          <a:off x="0" y="0"/>
          <a:ext cx="0" cy="0"/>
          <a:chOff x="0" y="0"/>
          <a:chExt cx="0" cy="0"/>
        </a:xfrm>
      </p:grpSpPr>
      <p:sp>
        <p:nvSpPr>
          <p:cNvPr id="180" name="Body Level One…"/>
          <p:cNvSpPr txBox="1"/>
          <p:nvPr>
            <p:ph type="body" idx="1"/>
          </p:nvPr>
        </p:nvSpPr>
        <p:spPr>
          <a:xfrm>
            <a:off x="731519" y="328320"/>
            <a:ext cx="13167001" cy="6369121"/>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AND_OBJECT">
    <p:spTree>
      <p:nvGrpSpPr>
        <p:cNvPr id="1" name=""/>
        <p:cNvGrpSpPr/>
        <p:nvPr/>
      </p:nvGrpSpPr>
      <p:grpSpPr>
        <a:xfrm>
          <a:off x="0" y="0"/>
          <a:ext cx="0" cy="0"/>
          <a:chOff x="0" y="0"/>
          <a:chExt cx="0" cy="0"/>
        </a:xfrm>
      </p:grpSpPr>
      <p:sp>
        <p:nvSpPr>
          <p:cNvPr id="188"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189"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90" name="Google Shape;85;p21"/>
          <p:cNvSpPr txBox="1"/>
          <p:nvPr>
            <p:ph type="body" sz="half" idx="21"/>
          </p:nvPr>
        </p:nvSpPr>
        <p:spPr>
          <a:xfrm>
            <a:off x="7478280" y="1925640"/>
            <a:ext cx="6425280" cy="4772520"/>
          </a:xfrm>
          <a:prstGeom prst="rect">
            <a:avLst/>
          </a:prstGeom>
        </p:spPr>
        <p:txBody>
          <a:bodyPr/>
          <a:lstStyle/>
          <a:p>
            <a:pPr/>
          </a:p>
        </p:txBody>
      </p:sp>
      <p:sp>
        <p:nvSpPr>
          <p:cNvPr id="191" name="Google Shape;86;p21"/>
          <p:cNvSpPr txBox="1"/>
          <p:nvPr>
            <p:ph type="body" sz="quarter" idx="22"/>
          </p:nvPr>
        </p:nvSpPr>
        <p:spPr>
          <a:xfrm>
            <a:off x="731520" y="4418639"/>
            <a:ext cx="6425280" cy="2276282"/>
          </a:xfrm>
          <a:prstGeom prst="rect">
            <a:avLst/>
          </a:prstGeom>
        </p:spPr>
        <p:txBody>
          <a:bodyPr/>
          <a:lstStyle/>
          <a:p>
            <a:pPr/>
          </a:p>
        </p:txBody>
      </p:sp>
      <p:sp>
        <p:nvSpPr>
          <p:cNvPr id="1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AND_TWO_OBJECTS">
    <p:spTree>
      <p:nvGrpSpPr>
        <p:cNvPr id="1" name=""/>
        <p:cNvGrpSpPr/>
        <p:nvPr/>
      </p:nvGrpSpPr>
      <p:grpSpPr>
        <a:xfrm>
          <a:off x="0" y="0"/>
          <a:ext cx="0" cy="0"/>
          <a:chOff x="0" y="0"/>
          <a:chExt cx="0" cy="0"/>
        </a:xfrm>
      </p:grpSpPr>
      <p:sp>
        <p:nvSpPr>
          <p:cNvPr id="199"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200" name="Body Level One…"/>
          <p:cNvSpPr txBox="1"/>
          <p:nvPr>
            <p:ph type="body" sz="half" idx="1"/>
          </p:nvPr>
        </p:nvSpPr>
        <p:spPr>
          <a:xfrm>
            <a:off x="731519" y="1925640"/>
            <a:ext cx="642528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01" name="Google Shape;90;p22"/>
          <p:cNvSpPr txBox="1"/>
          <p:nvPr>
            <p:ph type="body" sz="quarter" idx="21"/>
          </p:nvPr>
        </p:nvSpPr>
        <p:spPr>
          <a:xfrm>
            <a:off x="7478280" y="1925639"/>
            <a:ext cx="6425280" cy="2276282"/>
          </a:xfrm>
          <a:prstGeom prst="rect">
            <a:avLst/>
          </a:prstGeom>
        </p:spPr>
        <p:txBody>
          <a:bodyPr/>
          <a:lstStyle/>
          <a:p>
            <a:pPr/>
          </a:p>
        </p:txBody>
      </p:sp>
      <p:sp>
        <p:nvSpPr>
          <p:cNvPr id="202" name="Google Shape;91;p22"/>
          <p:cNvSpPr txBox="1"/>
          <p:nvPr>
            <p:ph type="body" sz="quarter" idx="22"/>
          </p:nvPr>
        </p:nvSpPr>
        <p:spPr>
          <a:xfrm>
            <a:off x="7478280" y="4418639"/>
            <a:ext cx="6425280" cy="2276282"/>
          </a:xfrm>
          <a:prstGeom prst="rect">
            <a:avLst/>
          </a:prstGeom>
        </p:spPr>
        <p:txBody>
          <a:bodyPr/>
          <a:lstStyle/>
          <a:p>
            <a:pPr/>
          </a:p>
        </p:txBody>
      </p:sp>
      <p:sp>
        <p:nvSpPr>
          <p:cNvPr id="2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OVER_TEXT">
    <p:spTree>
      <p:nvGrpSpPr>
        <p:cNvPr id="1" name=""/>
        <p:cNvGrpSpPr/>
        <p:nvPr/>
      </p:nvGrpSpPr>
      <p:grpSpPr>
        <a:xfrm>
          <a:off x="0" y="0"/>
          <a:ext cx="0" cy="0"/>
          <a:chOff x="0" y="0"/>
          <a:chExt cx="0" cy="0"/>
        </a:xfrm>
      </p:grpSpPr>
      <p:sp>
        <p:nvSpPr>
          <p:cNvPr id="210"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211"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12" name="Google Shape;95;p23"/>
          <p:cNvSpPr txBox="1"/>
          <p:nvPr>
            <p:ph type="body" sz="quarter" idx="21"/>
          </p:nvPr>
        </p:nvSpPr>
        <p:spPr>
          <a:xfrm>
            <a:off x="7478280" y="1925639"/>
            <a:ext cx="6425280" cy="2276282"/>
          </a:xfrm>
          <a:prstGeom prst="rect">
            <a:avLst/>
          </a:prstGeom>
        </p:spPr>
        <p:txBody>
          <a:bodyPr/>
          <a:lstStyle/>
          <a:p>
            <a:pPr/>
          </a:p>
        </p:txBody>
      </p:sp>
      <p:sp>
        <p:nvSpPr>
          <p:cNvPr id="213" name="Google Shape;96;p23"/>
          <p:cNvSpPr txBox="1"/>
          <p:nvPr>
            <p:ph type="body" sz="half" idx="22"/>
          </p:nvPr>
        </p:nvSpPr>
        <p:spPr>
          <a:xfrm>
            <a:off x="731519" y="4418639"/>
            <a:ext cx="13167001" cy="2276282"/>
          </a:xfrm>
          <a:prstGeom prst="rect">
            <a:avLst/>
          </a:prstGeom>
        </p:spPr>
        <p:txBody>
          <a:bodyPr/>
          <a:lstStyle/>
          <a:p>
            <a:pPr/>
          </a:p>
        </p:txBody>
      </p:sp>
      <p:sp>
        <p:nvSpPr>
          <p:cNvPr id="2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OVER_TEXT">
    <p:spTree>
      <p:nvGrpSpPr>
        <p:cNvPr id="1" name=""/>
        <p:cNvGrpSpPr/>
        <p:nvPr/>
      </p:nvGrpSpPr>
      <p:grpSpPr>
        <a:xfrm>
          <a:off x="0" y="0"/>
          <a:ext cx="0" cy="0"/>
          <a:chOff x="0" y="0"/>
          <a:chExt cx="0" cy="0"/>
        </a:xfrm>
      </p:grpSpPr>
      <p:sp>
        <p:nvSpPr>
          <p:cNvPr id="221"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222" name="Body Level One…"/>
          <p:cNvSpPr txBox="1"/>
          <p:nvPr>
            <p:ph type="body" sz="half" idx="1"/>
          </p:nvPr>
        </p:nvSpPr>
        <p:spPr>
          <a:xfrm>
            <a:off x="731519" y="1925640"/>
            <a:ext cx="1316700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3" name="Google Shape;100;p24"/>
          <p:cNvSpPr txBox="1"/>
          <p:nvPr>
            <p:ph type="body" sz="half" idx="21"/>
          </p:nvPr>
        </p:nvSpPr>
        <p:spPr>
          <a:xfrm>
            <a:off x="731519" y="4418639"/>
            <a:ext cx="13167001" cy="2276282"/>
          </a:xfrm>
          <a:prstGeom prst="rect">
            <a:avLst/>
          </a:prstGeom>
        </p:spPr>
        <p:txBody>
          <a:bodyPr/>
          <a:lstStyle/>
          <a:p>
            <a:pPr/>
          </a:p>
        </p:txBody>
      </p:sp>
      <p:sp>
        <p:nvSpPr>
          <p:cNvPr id="2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UR_OBJECTS">
    <p:spTree>
      <p:nvGrpSpPr>
        <p:cNvPr id="1" name=""/>
        <p:cNvGrpSpPr/>
        <p:nvPr/>
      </p:nvGrpSpPr>
      <p:grpSpPr>
        <a:xfrm>
          <a:off x="0" y="0"/>
          <a:ext cx="0" cy="0"/>
          <a:chOff x="0" y="0"/>
          <a:chExt cx="0" cy="0"/>
        </a:xfrm>
      </p:grpSpPr>
      <p:sp>
        <p:nvSpPr>
          <p:cNvPr id="231"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232"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3" name="Google Shape;104;p25"/>
          <p:cNvSpPr txBox="1"/>
          <p:nvPr>
            <p:ph type="body" sz="quarter" idx="21"/>
          </p:nvPr>
        </p:nvSpPr>
        <p:spPr>
          <a:xfrm>
            <a:off x="7478280" y="1925639"/>
            <a:ext cx="6425280" cy="2276282"/>
          </a:xfrm>
          <a:prstGeom prst="rect">
            <a:avLst/>
          </a:prstGeom>
        </p:spPr>
        <p:txBody>
          <a:bodyPr/>
          <a:lstStyle/>
          <a:p>
            <a:pPr/>
          </a:p>
        </p:txBody>
      </p:sp>
      <p:sp>
        <p:nvSpPr>
          <p:cNvPr id="234" name="Google Shape;105;p25"/>
          <p:cNvSpPr txBox="1"/>
          <p:nvPr>
            <p:ph type="body" sz="quarter" idx="22"/>
          </p:nvPr>
        </p:nvSpPr>
        <p:spPr>
          <a:xfrm>
            <a:off x="731520" y="4418639"/>
            <a:ext cx="6425280" cy="2276282"/>
          </a:xfrm>
          <a:prstGeom prst="rect">
            <a:avLst/>
          </a:prstGeom>
        </p:spPr>
        <p:txBody>
          <a:bodyPr/>
          <a:lstStyle/>
          <a:p>
            <a:pPr/>
          </a:p>
        </p:txBody>
      </p:sp>
      <p:sp>
        <p:nvSpPr>
          <p:cNvPr id="235" name="Google Shape;106;p25"/>
          <p:cNvSpPr txBox="1"/>
          <p:nvPr>
            <p:ph type="body" sz="quarter" idx="23"/>
          </p:nvPr>
        </p:nvSpPr>
        <p:spPr>
          <a:xfrm>
            <a:off x="7478280" y="4418639"/>
            <a:ext cx="6425280" cy="2276282"/>
          </a:xfrm>
          <a:prstGeom prst="rect">
            <a:avLst/>
          </a:prstGeom>
        </p:spPr>
        <p:txBody>
          <a:bodyPr/>
          <a:lstStyle/>
          <a:p>
            <a:pPr/>
          </a:p>
        </p:txBody>
      </p:sp>
      <p:sp>
        <p:nvSpPr>
          <p:cNvPr id="2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6 Content">
    <p:spTree>
      <p:nvGrpSpPr>
        <p:cNvPr id="1" name=""/>
        <p:cNvGrpSpPr/>
        <p:nvPr/>
      </p:nvGrpSpPr>
      <p:grpSpPr>
        <a:xfrm>
          <a:off x="0" y="0"/>
          <a:ext cx="0" cy="0"/>
          <a:chOff x="0" y="0"/>
          <a:chExt cx="0" cy="0"/>
        </a:xfrm>
      </p:grpSpPr>
      <p:sp>
        <p:nvSpPr>
          <p:cNvPr id="243"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244" name="Body Level One…"/>
          <p:cNvSpPr txBox="1"/>
          <p:nvPr>
            <p:ph type="body" sz="quarter" idx="1"/>
          </p:nvPr>
        </p:nvSpPr>
        <p:spPr>
          <a:xfrm>
            <a:off x="731519" y="1925640"/>
            <a:ext cx="423936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45" name="Google Shape;110;p26"/>
          <p:cNvSpPr txBox="1"/>
          <p:nvPr>
            <p:ph type="body" sz="quarter" idx="21"/>
          </p:nvPr>
        </p:nvSpPr>
        <p:spPr>
          <a:xfrm>
            <a:off x="5183280" y="1925639"/>
            <a:ext cx="4239361" cy="2276282"/>
          </a:xfrm>
          <a:prstGeom prst="rect">
            <a:avLst/>
          </a:prstGeom>
        </p:spPr>
        <p:txBody>
          <a:bodyPr/>
          <a:lstStyle/>
          <a:p>
            <a:pPr/>
          </a:p>
        </p:txBody>
      </p:sp>
      <p:sp>
        <p:nvSpPr>
          <p:cNvPr id="246" name="Google Shape;111;p26"/>
          <p:cNvSpPr txBox="1"/>
          <p:nvPr>
            <p:ph type="body" sz="quarter" idx="22"/>
          </p:nvPr>
        </p:nvSpPr>
        <p:spPr>
          <a:xfrm>
            <a:off x="9635039" y="1925639"/>
            <a:ext cx="4239361" cy="2276282"/>
          </a:xfrm>
          <a:prstGeom prst="rect">
            <a:avLst/>
          </a:prstGeom>
        </p:spPr>
        <p:txBody>
          <a:bodyPr/>
          <a:lstStyle/>
          <a:p>
            <a:pPr/>
          </a:p>
        </p:txBody>
      </p:sp>
      <p:sp>
        <p:nvSpPr>
          <p:cNvPr id="247" name="Google Shape;112;p26"/>
          <p:cNvSpPr txBox="1"/>
          <p:nvPr>
            <p:ph type="body" sz="quarter" idx="23"/>
          </p:nvPr>
        </p:nvSpPr>
        <p:spPr>
          <a:xfrm>
            <a:off x="731520" y="4418639"/>
            <a:ext cx="4239360" cy="2276282"/>
          </a:xfrm>
          <a:prstGeom prst="rect">
            <a:avLst/>
          </a:prstGeom>
        </p:spPr>
        <p:txBody>
          <a:bodyPr/>
          <a:lstStyle/>
          <a:p>
            <a:pPr/>
          </a:p>
        </p:txBody>
      </p:sp>
      <p:sp>
        <p:nvSpPr>
          <p:cNvPr id="248" name="Google Shape;113;p26"/>
          <p:cNvSpPr txBox="1"/>
          <p:nvPr>
            <p:ph type="body" sz="quarter" idx="24"/>
          </p:nvPr>
        </p:nvSpPr>
        <p:spPr>
          <a:xfrm>
            <a:off x="5183280" y="4418639"/>
            <a:ext cx="4239361" cy="2276282"/>
          </a:xfrm>
          <a:prstGeom prst="rect">
            <a:avLst/>
          </a:prstGeom>
        </p:spPr>
        <p:txBody>
          <a:bodyPr/>
          <a:lstStyle/>
          <a:p>
            <a:pPr/>
          </a:p>
        </p:txBody>
      </p:sp>
      <p:sp>
        <p:nvSpPr>
          <p:cNvPr id="249" name="Google Shape;114;p26"/>
          <p:cNvSpPr txBox="1"/>
          <p:nvPr>
            <p:ph type="body" sz="quarter" idx="25"/>
          </p:nvPr>
        </p:nvSpPr>
        <p:spPr>
          <a:xfrm>
            <a:off x="9635039" y="4418639"/>
            <a:ext cx="4239361" cy="2276282"/>
          </a:xfrm>
          <a:prstGeom prst="rect">
            <a:avLst/>
          </a:prstGeom>
        </p:spPr>
        <p:txBody>
          <a:bodyPr/>
          <a:lstStyle/>
          <a:p>
            <a:pPr/>
          </a:p>
        </p:txBody>
      </p:sp>
      <p:sp>
        <p:nvSpPr>
          <p:cNvPr id="2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bg>
      <p:bgPr>
        <a:solidFill>
          <a:srgbClr val="FFFFFF"/>
        </a:solidFill>
      </p:bgPr>
    </p:bg>
    <p:spTree>
      <p:nvGrpSpPr>
        <p:cNvPr id="1" name=""/>
        <p:cNvGrpSpPr/>
        <p:nvPr/>
      </p:nvGrpSpPr>
      <p:grpSpPr>
        <a:xfrm>
          <a:off x="0" y="0"/>
          <a:ext cx="0" cy="0"/>
          <a:chOff x="0" y="0"/>
          <a:chExt cx="0" cy="0"/>
        </a:xfrm>
      </p:grpSpPr>
      <p:sp>
        <p:nvSpPr>
          <p:cNvPr id="257"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258"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259"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2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bg>
      <p:bgPr>
        <a:solidFill>
          <a:srgbClr val="FFFFFF"/>
        </a:solidFill>
      </p:bgPr>
    </p:bg>
    <p:spTree>
      <p:nvGrpSpPr>
        <p:cNvPr id="1" name=""/>
        <p:cNvGrpSpPr/>
        <p:nvPr/>
      </p:nvGrpSpPr>
      <p:grpSpPr>
        <a:xfrm>
          <a:off x="0" y="0"/>
          <a:ext cx="0" cy="0"/>
          <a:chOff x="0" y="0"/>
          <a:chExt cx="0" cy="0"/>
        </a:xfrm>
      </p:grpSpPr>
      <p:sp>
        <p:nvSpPr>
          <p:cNvPr id="267"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268"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269"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270"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271" name="Body Level One…"/>
          <p:cNvSpPr txBox="1"/>
          <p:nvPr>
            <p:ph type="body" idx="1"/>
          </p:nvPr>
        </p:nvSpPr>
        <p:spPr>
          <a:xfrm>
            <a:off x="731519" y="1925640"/>
            <a:ext cx="13167001" cy="4772520"/>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2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bg>
      <p:bgPr>
        <a:solidFill>
          <a:srgbClr val="FFFFFF"/>
        </a:solidFill>
      </p:bgPr>
    </p:bg>
    <p:spTree>
      <p:nvGrpSpPr>
        <p:cNvPr id="1" name=""/>
        <p:cNvGrpSpPr/>
        <p:nvPr/>
      </p:nvGrpSpPr>
      <p:grpSpPr>
        <a:xfrm>
          <a:off x="0" y="0"/>
          <a:ext cx="0" cy="0"/>
          <a:chOff x="0" y="0"/>
          <a:chExt cx="0" cy="0"/>
        </a:xfrm>
      </p:grpSpPr>
      <p:sp>
        <p:nvSpPr>
          <p:cNvPr id="279"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280"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281"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282"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283" name="Body Level One…"/>
          <p:cNvSpPr txBox="1"/>
          <p:nvPr>
            <p:ph type="body" idx="1"/>
          </p:nvPr>
        </p:nvSpPr>
        <p:spPr>
          <a:xfrm>
            <a:off x="731519" y="1925640"/>
            <a:ext cx="1316700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bg>
      <p:bgPr>
        <a:solidFill>
          <a:srgbClr val="FFFFFF"/>
        </a:solidFill>
      </p:bgPr>
    </p:bg>
    <p:spTree>
      <p:nvGrpSpPr>
        <p:cNvPr id="1" name=""/>
        <p:cNvGrpSpPr/>
        <p:nvPr/>
      </p:nvGrpSpPr>
      <p:grpSpPr>
        <a:xfrm>
          <a:off x="0" y="0"/>
          <a:ext cx="0" cy="0"/>
          <a:chOff x="0" y="0"/>
          <a:chExt cx="0" cy="0"/>
        </a:xfrm>
      </p:grpSpPr>
      <p:sp>
        <p:nvSpPr>
          <p:cNvPr id="291"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292"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293"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294"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295" name="Body Level One…"/>
          <p:cNvSpPr txBox="1"/>
          <p:nvPr>
            <p:ph type="body" sz="half" idx="1"/>
          </p:nvPr>
        </p:nvSpPr>
        <p:spPr>
          <a:xfrm>
            <a:off x="731519" y="1925640"/>
            <a:ext cx="642528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96" name="Google Shape;132;p31"/>
          <p:cNvSpPr txBox="1"/>
          <p:nvPr>
            <p:ph type="body" sz="half" idx="21"/>
          </p:nvPr>
        </p:nvSpPr>
        <p:spPr>
          <a:xfrm>
            <a:off x="7478280" y="1925640"/>
            <a:ext cx="6425280" cy="4772520"/>
          </a:xfrm>
          <a:prstGeom prst="rect">
            <a:avLst/>
          </a:prstGeom>
        </p:spPr>
        <p:txBody>
          <a:bodyPr/>
          <a:lstStyle/>
          <a:p>
            <a:pPr/>
          </a:p>
        </p:txBody>
      </p:sp>
      <p:sp>
        <p:nvSpPr>
          <p:cNvPr id="2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bg>
      <p:bgPr>
        <a:solidFill>
          <a:srgbClr val="FFFFFF"/>
        </a:solidFill>
      </p:bgPr>
    </p:bg>
    <p:spTree>
      <p:nvGrpSpPr>
        <p:cNvPr id="1" name=""/>
        <p:cNvGrpSpPr/>
        <p:nvPr/>
      </p:nvGrpSpPr>
      <p:grpSpPr>
        <a:xfrm>
          <a:off x="0" y="0"/>
          <a:ext cx="0" cy="0"/>
          <a:chOff x="0" y="0"/>
          <a:chExt cx="0" cy="0"/>
        </a:xfrm>
      </p:grpSpPr>
      <p:sp>
        <p:nvSpPr>
          <p:cNvPr id="304"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305"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306"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307"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3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ONLY">
    <p:bg>
      <p:bgPr>
        <a:solidFill>
          <a:srgbClr val="FFFFFF"/>
        </a:solidFill>
      </p:bgPr>
    </p:bg>
    <p:spTree>
      <p:nvGrpSpPr>
        <p:cNvPr id="1" name=""/>
        <p:cNvGrpSpPr/>
        <p:nvPr/>
      </p:nvGrpSpPr>
      <p:grpSpPr>
        <a:xfrm>
          <a:off x="0" y="0"/>
          <a:ext cx="0" cy="0"/>
          <a:chOff x="0" y="0"/>
          <a:chExt cx="0" cy="0"/>
        </a:xfrm>
      </p:grpSpPr>
      <p:sp>
        <p:nvSpPr>
          <p:cNvPr id="315"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316"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317"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318" name="Body Level One…"/>
          <p:cNvSpPr txBox="1"/>
          <p:nvPr>
            <p:ph type="body" idx="1"/>
          </p:nvPr>
        </p:nvSpPr>
        <p:spPr>
          <a:xfrm>
            <a:off x="731519" y="328320"/>
            <a:ext cx="13167001" cy="6369121"/>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AND_OBJECT">
    <p:bg>
      <p:bgPr>
        <a:solidFill>
          <a:srgbClr val="FFFFFF"/>
        </a:solidFill>
      </p:bgPr>
    </p:bg>
    <p:spTree>
      <p:nvGrpSpPr>
        <p:cNvPr id="1" name=""/>
        <p:cNvGrpSpPr/>
        <p:nvPr/>
      </p:nvGrpSpPr>
      <p:grpSpPr>
        <a:xfrm>
          <a:off x="0" y="0"/>
          <a:ext cx="0" cy="0"/>
          <a:chOff x="0" y="0"/>
          <a:chExt cx="0" cy="0"/>
        </a:xfrm>
      </p:grpSpPr>
      <p:sp>
        <p:nvSpPr>
          <p:cNvPr id="326"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327"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328"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329"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330"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31" name="Google Shape;140;p34"/>
          <p:cNvSpPr txBox="1"/>
          <p:nvPr>
            <p:ph type="body" sz="half" idx="21"/>
          </p:nvPr>
        </p:nvSpPr>
        <p:spPr>
          <a:xfrm>
            <a:off x="7478280" y="1925640"/>
            <a:ext cx="6425280" cy="4772520"/>
          </a:xfrm>
          <a:prstGeom prst="rect">
            <a:avLst/>
          </a:prstGeom>
        </p:spPr>
        <p:txBody>
          <a:bodyPr/>
          <a:lstStyle/>
          <a:p>
            <a:pPr/>
          </a:p>
        </p:txBody>
      </p:sp>
      <p:sp>
        <p:nvSpPr>
          <p:cNvPr id="332" name="Google Shape;141;p34"/>
          <p:cNvSpPr txBox="1"/>
          <p:nvPr>
            <p:ph type="body" sz="quarter" idx="22"/>
          </p:nvPr>
        </p:nvSpPr>
        <p:spPr>
          <a:xfrm>
            <a:off x="731520" y="4418639"/>
            <a:ext cx="6425280" cy="2276282"/>
          </a:xfrm>
          <a:prstGeom prst="rect">
            <a:avLst/>
          </a:prstGeom>
        </p:spPr>
        <p:txBody>
          <a:bodyPr/>
          <a:lstStyle/>
          <a:p>
            <a:pPr/>
          </a:p>
        </p:txBody>
      </p:sp>
      <p:sp>
        <p:nvSpPr>
          <p:cNvPr id="3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AND_TWO_OBJECTS">
    <p:bg>
      <p:bgPr>
        <a:solidFill>
          <a:srgbClr val="FFFFFF"/>
        </a:solidFill>
      </p:bgPr>
    </p:bg>
    <p:spTree>
      <p:nvGrpSpPr>
        <p:cNvPr id="1" name=""/>
        <p:cNvGrpSpPr/>
        <p:nvPr/>
      </p:nvGrpSpPr>
      <p:grpSpPr>
        <a:xfrm>
          <a:off x="0" y="0"/>
          <a:ext cx="0" cy="0"/>
          <a:chOff x="0" y="0"/>
          <a:chExt cx="0" cy="0"/>
        </a:xfrm>
      </p:grpSpPr>
      <p:sp>
        <p:nvSpPr>
          <p:cNvPr id="340"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341"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342"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343"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344" name="Body Level One…"/>
          <p:cNvSpPr txBox="1"/>
          <p:nvPr>
            <p:ph type="body" sz="half" idx="1"/>
          </p:nvPr>
        </p:nvSpPr>
        <p:spPr>
          <a:xfrm>
            <a:off x="731519" y="1925640"/>
            <a:ext cx="642528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45" name="Google Shape;145;p35"/>
          <p:cNvSpPr txBox="1"/>
          <p:nvPr>
            <p:ph type="body" sz="quarter" idx="21"/>
          </p:nvPr>
        </p:nvSpPr>
        <p:spPr>
          <a:xfrm>
            <a:off x="7478280" y="1925639"/>
            <a:ext cx="6425280" cy="2276282"/>
          </a:xfrm>
          <a:prstGeom prst="rect">
            <a:avLst/>
          </a:prstGeom>
        </p:spPr>
        <p:txBody>
          <a:bodyPr/>
          <a:lstStyle/>
          <a:p>
            <a:pPr/>
          </a:p>
        </p:txBody>
      </p:sp>
      <p:sp>
        <p:nvSpPr>
          <p:cNvPr id="346" name="Google Shape;146;p35"/>
          <p:cNvSpPr txBox="1"/>
          <p:nvPr>
            <p:ph type="body" sz="quarter" idx="22"/>
          </p:nvPr>
        </p:nvSpPr>
        <p:spPr>
          <a:xfrm>
            <a:off x="7478280" y="4418639"/>
            <a:ext cx="6425280" cy="2276282"/>
          </a:xfrm>
          <a:prstGeom prst="rect">
            <a:avLst/>
          </a:prstGeom>
        </p:spPr>
        <p:txBody>
          <a:bodyPr/>
          <a:lstStyle/>
          <a:p>
            <a:pPr/>
          </a:p>
        </p:txBody>
      </p:sp>
      <p:sp>
        <p:nvSpPr>
          <p:cNvPr id="3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OVER_TEXT">
    <p:bg>
      <p:bgPr>
        <a:solidFill>
          <a:srgbClr val="FFFFFF"/>
        </a:solidFill>
      </p:bgPr>
    </p:bg>
    <p:spTree>
      <p:nvGrpSpPr>
        <p:cNvPr id="1" name=""/>
        <p:cNvGrpSpPr/>
        <p:nvPr/>
      </p:nvGrpSpPr>
      <p:grpSpPr>
        <a:xfrm>
          <a:off x="0" y="0"/>
          <a:ext cx="0" cy="0"/>
          <a:chOff x="0" y="0"/>
          <a:chExt cx="0" cy="0"/>
        </a:xfrm>
      </p:grpSpPr>
      <p:sp>
        <p:nvSpPr>
          <p:cNvPr id="354"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355"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356"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357"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358"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59" name="Google Shape;150;p36"/>
          <p:cNvSpPr txBox="1"/>
          <p:nvPr>
            <p:ph type="body" sz="quarter" idx="21"/>
          </p:nvPr>
        </p:nvSpPr>
        <p:spPr>
          <a:xfrm>
            <a:off x="7478280" y="1925639"/>
            <a:ext cx="6425280" cy="2276282"/>
          </a:xfrm>
          <a:prstGeom prst="rect">
            <a:avLst/>
          </a:prstGeom>
        </p:spPr>
        <p:txBody>
          <a:bodyPr/>
          <a:lstStyle/>
          <a:p>
            <a:pPr/>
          </a:p>
        </p:txBody>
      </p:sp>
      <p:sp>
        <p:nvSpPr>
          <p:cNvPr id="360" name="Google Shape;151;p36"/>
          <p:cNvSpPr txBox="1"/>
          <p:nvPr>
            <p:ph type="body" sz="half" idx="22"/>
          </p:nvPr>
        </p:nvSpPr>
        <p:spPr>
          <a:xfrm>
            <a:off x="731519" y="4418639"/>
            <a:ext cx="13167001" cy="2276282"/>
          </a:xfrm>
          <a:prstGeom prst="rect">
            <a:avLst/>
          </a:prstGeom>
        </p:spPr>
        <p:txBody>
          <a:bodyPr/>
          <a:lstStyle/>
          <a:p>
            <a:pPr/>
          </a:p>
        </p:txBody>
      </p:sp>
      <p:sp>
        <p:nvSpPr>
          <p:cNvPr id="3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OVER_TEXT">
    <p:bg>
      <p:bgPr>
        <a:solidFill>
          <a:srgbClr val="FFFFFF"/>
        </a:solidFill>
      </p:bgPr>
    </p:bg>
    <p:spTree>
      <p:nvGrpSpPr>
        <p:cNvPr id="1" name=""/>
        <p:cNvGrpSpPr/>
        <p:nvPr/>
      </p:nvGrpSpPr>
      <p:grpSpPr>
        <a:xfrm>
          <a:off x="0" y="0"/>
          <a:ext cx="0" cy="0"/>
          <a:chOff x="0" y="0"/>
          <a:chExt cx="0" cy="0"/>
        </a:xfrm>
      </p:grpSpPr>
      <p:sp>
        <p:nvSpPr>
          <p:cNvPr id="368"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369"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370"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371"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372" name="Body Level One…"/>
          <p:cNvSpPr txBox="1"/>
          <p:nvPr>
            <p:ph type="body" sz="half" idx="1"/>
          </p:nvPr>
        </p:nvSpPr>
        <p:spPr>
          <a:xfrm>
            <a:off x="731519" y="1925640"/>
            <a:ext cx="1316700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73" name="Google Shape;155;p37"/>
          <p:cNvSpPr txBox="1"/>
          <p:nvPr>
            <p:ph type="body" sz="half" idx="21"/>
          </p:nvPr>
        </p:nvSpPr>
        <p:spPr>
          <a:xfrm>
            <a:off x="731519" y="4418639"/>
            <a:ext cx="13167001" cy="2276282"/>
          </a:xfrm>
          <a:prstGeom prst="rect">
            <a:avLst/>
          </a:prstGeom>
        </p:spPr>
        <p:txBody>
          <a:bodyPr/>
          <a:lstStyle/>
          <a:p>
            <a:pPr/>
          </a:p>
        </p:txBody>
      </p:sp>
      <p:sp>
        <p:nvSpPr>
          <p:cNvPr id="3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FOUR_OBJECTS">
    <p:bg>
      <p:bgPr>
        <a:solidFill>
          <a:srgbClr val="FFFFFF"/>
        </a:solidFill>
      </p:bgPr>
    </p:bg>
    <p:spTree>
      <p:nvGrpSpPr>
        <p:cNvPr id="1" name=""/>
        <p:cNvGrpSpPr/>
        <p:nvPr/>
      </p:nvGrpSpPr>
      <p:grpSpPr>
        <a:xfrm>
          <a:off x="0" y="0"/>
          <a:ext cx="0" cy="0"/>
          <a:chOff x="0" y="0"/>
          <a:chExt cx="0" cy="0"/>
        </a:xfrm>
      </p:grpSpPr>
      <p:sp>
        <p:nvSpPr>
          <p:cNvPr id="381"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382"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383"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384"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385"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86" name="Google Shape;159;p38"/>
          <p:cNvSpPr txBox="1"/>
          <p:nvPr>
            <p:ph type="body" sz="quarter" idx="21"/>
          </p:nvPr>
        </p:nvSpPr>
        <p:spPr>
          <a:xfrm>
            <a:off x="7478280" y="1925639"/>
            <a:ext cx="6425280" cy="2276282"/>
          </a:xfrm>
          <a:prstGeom prst="rect">
            <a:avLst/>
          </a:prstGeom>
        </p:spPr>
        <p:txBody>
          <a:bodyPr/>
          <a:lstStyle/>
          <a:p>
            <a:pPr/>
          </a:p>
        </p:txBody>
      </p:sp>
      <p:sp>
        <p:nvSpPr>
          <p:cNvPr id="387" name="Google Shape;160;p38"/>
          <p:cNvSpPr txBox="1"/>
          <p:nvPr>
            <p:ph type="body" sz="quarter" idx="22"/>
          </p:nvPr>
        </p:nvSpPr>
        <p:spPr>
          <a:xfrm>
            <a:off x="731520" y="4418639"/>
            <a:ext cx="6425280" cy="2276282"/>
          </a:xfrm>
          <a:prstGeom prst="rect">
            <a:avLst/>
          </a:prstGeom>
        </p:spPr>
        <p:txBody>
          <a:bodyPr/>
          <a:lstStyle/>
          <a:p>
            <a:pPr/>
          </a:p>
        </p:txBody>
      </p:sp>
      <p:sp>
        <p:nvSpPr>
          <p:cNvPr id="388" name="Google Shape;161;p38"/>
          <p:cNvSpPr txBox="1"/>
          <p:nvPr>
            <p:ph type="body" sz="quarter" idx="23"/>
          </p:nvPr>
        </p:nvSpPr>
        <p:spPr>
          <a:xfrm>
            <a:off x="7478280" y="4418639"/>
            <a:ext cx="6425280" cy="2276282"/>
          </a:xfrm>
          <a:prstGeom prst="rect">
            <a:avLst/>
          </a:prstGeom>
        </p:spPr>
        <p:txBody>
          <a:bodyPr/>
          <a:lstStyle/>
          <a:p>
            <a:pPr/>
          </a:p>
        </p:txBody>
      </p:sp>
      <p:sp>
        <p:nvSpPr>
          <p:cNvPr id="3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6 Content">
    <p:bg>
      <p:bgPr>
        <a:solidFill>
          <a:srgbClr val="FFFFFF"/>
        </a:solidFill>
      </p:bgPr>
    </p:bg>
    <p:spTree>
      <p:nvGrpSpPr>
        <p:cNvPr id="1" name=""/>
        <p:cNvGrpSpPr/>
        <p:nvPr/>
      </p:nvGrpSpPr>
      <p:grpSpPr>
        <a:xfrm>
          <a:off x="0" y="0"/>
          <a:ext cx="0" cy="0"/>
          <a:chOff x="0" y="0"/>
          <a:chExt cx="0" cy="0"/>
        </a:xfrm>
      </p:grpSpPr>
      <p:sp>
        <p:nvSpPr>
          <p:cNvPr id="396" name="Google Shape;116;p27"/>
          <p:cNvSpPr txBox="1"/>
          <p:nvPr/>
        </p:nvSpPr>
        <p:spPr>
          <a:xfrm>
            <a:off x="4200479" y="7617959"/>
            <a:ext cx="5910122"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000"/>
            </a:lvl1pPr>
          </a:lstStyle>
          <a:p>
            <a:pPr/>
            <a:r>
              <a:t>Verizon confidential and proprietary. Unauthorized disclosure, reproduction or other use prohibited.</a:t>
            </a:r>
          </a:p>
        </p:txBody>
      </p:sp>
      <p:pic>
        <p:nvPicPr>
          <p:cNvPr id="397" name="Google Shape;117;p27" descr="Google Shape;117;p27"/>
          <p:cNvPicPr>
            <a:picLocks noChangeAspect="1"/>
          </p:cNvPicPr>
          <p:nvPr/>
        </p:nvPicPr>
        <p:blipFill>
          <a:blip r:embed="rId2">
            <a:extLst/>
          </a:blip>
          <a:stretch>
            <a:fillRect/>
          </a:stretch>
        </p:blipFill>
        <p:spPr>
          <a:xfrm>
            <a:off x="596159" y="7412400"/>
            <a:ext cx="1346042" cy="550441"/>
          </a:xfrm>
          <a:prstGeom prst="rect">
            <a:avLst/>
          </a:prstGeom>
          <a:ln w="12700">
            <a:miter lim="400000"/>
          </a:ln>
        </p:spPr>
      </p:pic>
      <p:sp>
        <p:nvSpPr>
          <p:cNvPr id="398" name="Google Shape;121;p27"/>
          <p:cNvSpPr/>
          <p:nvPr/>
        </p:nvSpPr>
        <p:spPr>
          <a:xfrm>
            <a:off x="731519" y="731519"/>
            <a:ext cx="13167002" cy="361"/>
          </a:xfrm>
          <a:prstGeom prst="line">
            <a:avLst/>
          </a:prstGeom>
          <a:ln w="47500">
            <a:solidFill>
              <a:srgbClr val="000000"/>
            </a:solidFill>
          </a:ln>
        </p:spPr>
        <p:txBody>
          <a:bodyPr lIns="0" tIns="0" rIns="0" bIns="0"/>
          <a:lstStyle/>
          <a:p>
            <a:pPr/>
          </a:p>
        </p:txBody>
      </p:sp>
      <p:sp>
        <p:nvSpPr>
          <p:cNvPr id="399"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00" name="Body Level One…"/>
          <p:cNvSpPr txBox="1"/>
          <p:nvPr>
            <p:ph type="body" sz="quarter" idx="1"/>
          </p:nvPr>
        </p:nvSpPr>
        <p:spPr>
          <a:xfrm>
            <a:off x="731519" y="1925640"/>
            <a:ext cx="423936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1" name="Google Shape;165;p39"/>
          <p:cNvSpPr txBox="1"/>
          <p:nvPr>
            <p:ph type="body" sz="quarter" idx="21"/>
          </p:nvPr>
        </p:nvSpPr>
        <p:spPr>
          <a:xfrm>
            <a:off x="5183280" y="1925639"/>
            <a:ext cx="4239361" cy="2276282"/>
          </a:xfrm>
          <a:prstGeom prst="rect">
            <a:avLst/>
          </a:prstGeom>
        </p:spPr>
        <p:txBody>
          <a:bodyPr/>
          <a:lstStyle/>
          <a:p>
            <a:pPr/>
          </a:p>
        </p:txBody>
      </p:sp>
      <p:sp>
        <p:nvSpPr>
          <p:cNvPr id="402" name="Google Shape;166;p39"/>
          <p:cNvSpPr txBox="1"/>
          <p:nvPr>
            <p:ph type="body" sz="quarter" idx="22"/>
          </p:nvPr>
        </p:nvSpPr>
        <p:spPr>
          <a:xfrm>
            <a:off x="9635039" y="1925639"/>
            <a:ext cx="4239361" cy="2276282"/>
          </a:xfrm>
          <a:prstGeom prst="rect">
            <a:avLst/>
          </a:prstGeom>
        </p:spPr>
        <p:txBody>
          <a:bodyPr/>
          <a:lstStyle/>
          <a:p>
            <a:pPr/>
          </a:p>
        </p:txBody>
      </p:sp>
      <p:sp>
        <p:nvSpPr>
          <p:cNvPr id="403" name="Google Shape;167;p39"/>
          <p:cNvSpPr txBox="1"/>
          <p:nvPr>
            <p:ph type="body" sz="quarter" idx="23"/>
          </p:nvPr>
        </p:nvSpPr>
        <p:spPr>
          <a:xfrm>
            <a:off x="731520" y="4418639"/>
            <a:ext cx="4239360" cy="2276282"/>
          </a:xfrm>
          <a:prstGeom prst="rect">
            <a:avLst/>
          </a:prstGeom>
        </p:spPr>
        <p:txBody>
          <a:bodyPr/>
          <a:lstStyle/>
          <a:p>
            <a:pPr/>
          </a:p>
        </p:txBody>
      </p:sp>
      <p:sp>
        <p:nvSpPr>
          <p:cNvPr id="404" name="Google Shape;168;p39"/>
          <p:cNvSpPr txBox="1"/>
          <p:nvPr>
            <p:ph type="body" sz="quarter" idx="24"/>
          </p:nvPr>
        </p:nvSpPr>
        <p:spPr>
          <a:xfrm>
            <a:off x="5183280" y="4418639"/>
            <a:ext cx="4239361" cy="2276282"/>
          </a:xfrm>
          <a:prstGeom prst="rect">
            <a:avLst/>
          </a:prstGeom>
        </p:spPr>
        <p:txBody>
          <a:bodyPr/>
          <a:lstStyle/>
          <a:p>
            <a:pPr/>
          </a:p>
        </p:txBody>
      </p:sp>
      <p:sp>
        <p:nvSpPr>
          <p:cNvPr id="405" name="Google Shape;169;p39"/>
          <p:cNvSpPr txBox="1"/>
          <p:nvPr>
            <p:ph type="body" sz="quarter" idx="25"/>
          </p:nvPr>
        </p:nvSpPr>
        <p:spPr>
          <a:xfrm>
            <a:off x="9635039" y="4418639"/>
            <a:ext cx="4239361" cy="2276282"/>
          </a:xfrm>
          <a:prstGeom prst="rect">
            <a:avLst/>
          </a:prstGeom>
        </p:spPr>
        <p:txBody>
          <a:bodyPr/>
          <a:lstStyle/>
          <a:p>
            <a:pPr/>
          </a:p>
        </p:txBody>
      </p:sp>
      <p:sp>
        <p:nvSpPr>
          <p:cNvPr id="4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bg>
      <p:bgPr>
        <a:solidFill>
          <a:srgbClr val="FFFFFF"/>
        </a:solidFill>
      </p:bgPr>
    </p:bg>
    <p:spTree>
      <p:nvGrpSpPr>
        <p:cNvPr id="1" name=""/>
        <p:cNvGrpSpPr/>
        <p:nvPr/>
      </p:nvGrpSpPr>
      <p:grpSpPr>
        <a:xfrm>
          <a:off x="0" y="0"/>
          <a:ext cx="0" cy="0"/>
          <a:chOff x="0" y="0"/>
          <a:chExt cx="0" cy="0"/>
        </a:xfrm>
      </p:grpSpPr>
      <p:sp>
        <p:nvSpPr>
          <p:cNvPr id="413"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bg>
      <p:bgPr>
        <a:solidFill>
          <a:srgbClr val="FFFFFF"/>
        </a:solidFill>
      </p:bgPr>
    </p:bg>
    <p:spTree>
      <p:nvGrpSpPr>
        <p:cNvPr id="1" name=""/>
        <p:cNvGrpSpPr/>
        <p:nvPr/>
      </p:nvGrpSpPr>
      <p:grpSpPr>
        <a:xfrm>
          <a:off x="0" y="0"/>
          <a:ext cx="0" cy="0"/>
          <a:chOff x="0" y="0"/>
          <a:chExt cx="0" cy="0"/>
        </a:xfrm>
      </p:grpSpPr>
      <p:sp>
        <p:nvSpPr>
          <p:cNvPr id="4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bg>
      <p:bgPr>
        <a:solidFill>
          <a:srgbClr val="FFFFFF"/>
        </a:solidFill>
      </p:bgPr>
    </p:bg>
    <p:spTree>
      <p:nvGrpSpPr>
        <p:cNvPr id="1" name=""/>
        <p:cNvGrpSpPr/>
        <p:nvPr/>
      </p:nvGrpSpPr>
      <p:grpSpPr>
        <a:xfrm>
          <a:off x="0" y="0"/>
          <a:ext cx="0" cy="0"/>
          <a:chOff x="0" y="0"/>
          <a:chExt cx="0" cy="0"/>
        </a:xfrm>
      </p:grpSpPr>
      <p:sp>
        <p:nvSpPr>
          <p:cNvPr id="428"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29" name="Body Level One…"/>
          <p:cNvSpPr txBox="1"/>
          <p:nvPr>
            <p:ph type="body" idx="1"/>
          </p:nvPr>
        </p:nvSpPr>
        <p:spPr>
          <a:xfrm>
            <a:off x="731519" y="1925640"/>
            <a:ext cx="13167001" cy="4772520"/>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4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bg>
      <p:bgPr>
        <a:solidFill>
          <a:srgbClr val="FFFFFF"/>
        </a:solidFill>
      </p:bgPr>
    </p:bg>
    <p:spTree>
      <p:nvGrpSpPr>
        <p:cNvPr id="1" name=""/>
        <p:cNvGrpSpPr/>
        <p:nvPr/>
      </p:nvGrpSpPr>
      <p:grpSpPr>
        <a:xfrm>
          <a:off x="0" y="0"/>
          <a:ext cx="0" cy="0"/>
          <a:chOff x="0" y="0"/>
          <a:chExt cx="0" cy="0"/>
        </a:xfrm>
      </p:grpSpPr>
      <p:sp>
        <p:nvSpPr>
          <p:cNvPr id="437"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38" name="Body Level One…"/>
          <p:cNvSpPr txBox="1"/>
          <p:nvPr>
            <p:ph type="body" idx="1"/>
          </p:nvPr>
        </p:nvSpPr>
        <p:spPr>
          <a:xfrm>
            <a:off x="731519" y="1925640"/>
            <a:ext cx="1316700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3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bg>
      <p:bgPr>
        <a:solidFill>
          <a:srgbClr val="FFFFFF"/>
        </a:solidFill>
      </p:bgPr>
    </p:bg>
    <p:spTree>
      <p:nvGrpSpPr>
        <p:cNvPr id="1" name=""/>
        <p:cNvGrpSpPr/>
        <p:nvPr/>
      </p:nvGrpSpPr>
      <p:grpSpPr>
        <a:xfrm>
          <a:off x="0" y="0"/>
          <a:ext cx="0" cy="0"/>
          <a:chOff x="0" y="0"/>
          <a:chExt cx="0" cy="0"/>
        </a:xfrm>
      </p:grpSpPr>
      <p:sp>
        <p:nvSpPr>
          <p:cNvPr id="446"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47" name="Body Level One…"/>
          <p:cNvSpPr txBox="1"/>
          <p:nvPr>
            <p:ph type="body" sz="half" idx="1"/>
          </p:nvPr>
        </p:nvSpPr>
        <p:spPr>
          <a:xfrm>
            <a:off x="731519" y="1925640"/>
            <a:ext cx="642528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48" name="Google Shape;188;p45"/>
          <p:cNvSpPr txBox="1"/>
          <p:nvPr>
            <p:ph type="body" sz="half" idx="21"/>
          </p:nvPr>
        </p:nvSpPr>
        <p:spPr>
          <a:xfrm>
            <a:off x="7478280" y="1925640"/>
            <a:ext cx="6425280" cy="4772520"/>
          </a:xfrm>
          <a:prstGeom prst="rect">
            <a:avLst/>
          </a:prstGeom>
        </p:spPr>
        <p:txBody>
          <a:bodyPr/>
          <a:lstStyle/>
          <a:p>
            <a:pPr/>
          </a:p>
        </p:txBody>
      </p:sp>
      <p:sp>
        <p:nvSpPr>
          <p:cNvPr id="4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ONLY">
    <p:bg>
      <p:bgPr>
        <a:solidFill>
          <a:srgbClr val="FFFFFF"/>
        </a:solidFill>
      </p:bgPr>
    </p:bg>
    <p:spTree>
      <p:nvGrpSpPr>
        <p:cNvPr id="1" name=""/>
        <p:cNvGrpSpPr/>
        <p:nvPr/>
      </p:nvGrpSpPr>
      <p:grpSpPr>
        <a:xfrm>
          <a:off x="0" y="0"/>
          <a:ext cx="0" cy="0"/>
          <a:chOff x="0" y="0"/>
          <a:chExt cx="0" cy="0"/>
        </a:xfrm>
      </p:grpSpPr>
      <p:sp>
        <p:nvSpPr>
          <p:cNvPr id="456" name="Body Level One…"/>
          <p:cNvSpPr txBox="1"/>
          <p:nvPr>
            <p:ph type="body" idx="1"/>
          </p:nvPr>
        </p:nvSpPr>
        <p:spPr>
          <a:xfrm>
            <a:off x="731519" y="328320"/>
            <a:ext cx="13167001" cy="6369121"/>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4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AND_OBJECT">
    <p:bg>
      <p:bgPr>
        <a:solidFill>
          <a:srgbClr val="FFFFFF"/>
        </a:solidFill>
      </p:bgPr>
    </p:bg>
    <p:spTree>
      <p:nvGrpSpPr>
        <p:cNvPr id="1" name=""/>
        <p:cNvGrpSpPr/>
        <p:nvPr/>
      </p:nvGrpSpPr>
      <p:grpSpPr>
        <a:xfrm>
          <a:off x="0" y="0"/>
          <a:ext cx="0" cy="0"/>
          <a:chOff x="0" y="0"/>
          <a:chExt cx="0" cy="0"/>
        </a:xfrm>
      </p:grpSpPr>
      <p:sp>
        <p:nvSpPr>
          <p:cNvPr id="464"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65"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66" name="Google Shape;194;p47"/>
          <p:cNvSpPr txBox="1"/>
          <p:nvPr>
            <p:ph type="body" sz="half" idx="21"/>
          </p:nvPr>
        </p:nvSpPr>
        <p:spPr>
          <a:xfrm>
            <a:off x="7478280" y="1925640"/>
            <a:ext cx="6425280" cy="4772520"/>
          </a:xfrm>
          <a:prstGeom prst="rect">
            <a:avLst/>
          </a:prstGeom>
        </p:spPr>
        <p:txBody>
          <a:bodyPr/>
          <a:lstStyle/>
          <a:p>
            <a:pPr/>
          </a:p>
        </p:txBody>
      </p:sp>
      <p:sp>
        <p:nvSpPr>
          <p:cNvPr id="467" name="Google Shape;195;p47"/>
          <p:cNvSpPr txBox="1"/>
          <p:nvPr>
            <p:ph type="body" sz="quarter" idx="22"/>
          </p:nvPr>
        </p:nvSpPr>
        <p:spPr>
          <a:xfrm>
            <a:off x="731520" y="4418639"/>
            <a:ext cx="6425280" cy="2276282"/>
          </a:xfrm>
          <a:prstGeom prst="rect">
            <a:avLst/>
          </a:prstGeom>
        </p:spPr>
        <p:txBody>
          <a:bodyPr/>
          <a:lstStyle/>
          <a:p>
            <a:pPr/>
          </a:p>
        </p:txBody>
      </p:sp>
      <p:sp>
        <p:nvSpPr>
          <p:cNvPr id="4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AND_TWO_OBJECTS">
    <p:bg>
      <p:bgPr>
        <a:solidFill>
          <a:srgbClr val="FFFFFF"/>
        </a:solidFill>
      </p:bgPr>
    </p:bg>
    <p:spTree>
      <p:nvGrpSpPr>
        <p:cNvPr id="1" name=""/>
        <p:cNvGrpSpPr/>
        <p:nvPr/>
      </p:nvGrpSpPr>
      <p:grpSpPr>
        <a:xfrm>
          <a:off x="0" y="0"/>
          <a:ext cx="0" cy="0"/>
          <a:chOff x="0" y="0"/>
          <a:chExt cx="0" cy="0"/>
        </a:xfrm>
      </p:grpSpPr>
      <p:sp>
        <p:nvSpPr>
          <p:cNvPr id="475"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76" name="Body Level One…"/>
          <p:cNvSpPr txBox="1"/>
          <p:nvPr>
            <p:ph type="body" sz="half" idx="1"/>
          </p:nvPr>
        </p:nvSpPr>
        <p:spPr>
          <a:xfrm>
            <a:off x="731519" y="1925640"/>
            <a:ext cx="6425281" cy="477252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77" name="Google Shape;199;p48"/>
          <p:cNvSpPr txBox="1"/>
          <p:nvPr>
            <p:ph type="body" sz="quarter" idx="21"/>
          </p:nvPr>
        </p:nvSpPr>
        <p:spPr>
          <a:xfrm>
            <a:off x="7478280" y="1925639"/>
            <a:ext cx="6425280" cy="2276282"/>
          </a:xfrm>
          <a:prstGeom prst="rect">
            <a:avLst/>
          </a:prstGeom>
        </p:spPr>
        <p:txBody>
          <a:bodyPr/>
          <a:lstStyle/>
          <a:p>
            <a:pPr/>
          </a:p>
        </p:txBody>
      </p:sp>
      <p:sp>
        <p:nvSpPr>
          <p:cNvPr id="478" name="Google Shape;200;p48"/>
          <p:cNvSpPr txBox="1"/>
          <p:nvPr>
            <p:ph type="body" sz="quarter" idx="22"/>
          </p:nvPr>
        </p:nvSpPr>
        <p:spPr>
          <a:xfrm>
            <a:off x="7478280" y="4418639"/>
            <a:ext cx="6425280" cy="2276282"/>
          </a:xfrm>
          <a:prstGeom prst="rect">
            <a:avLst/>
          </a:prstGeom>
        </p:spPr>
        <p:txBody>
          <a:bodyPr/>
          <a:lstStyle/>
          <a:p>
            <a:pPr/>
          </a:p>
        </p:txBody>
      </p:sp>
      <p:sp>
        <p:nvSpPr>
          <p:cNvPr id="4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OVER_TEXT">
    <p:bg>
      <p:bgPr>
        <a:solidFill>
          <a:srgbClr val="FFFFFF"/>
        </a:solidFill>
      </p:bgPr>
    </p:bg>
    <p:spTree>
      <p:nvGrpSpPr>
        <p:cNvPr id="1" name=""/>
        <p:cNvGrpSpPr/>
        <p:nvPr/>
      </p:nvGrpSpPr>
      <p:grpSpPr>
        <a:xfrm>
          <a:off x="0" y="0"/>
          <a:ext cx="0" cy="0"/>
          <a:chOff x="0" y="0"/>
          <a:chExt cx="0" cy="0"/>
        </a:xfrm>
      </p:grpSpPr>
      <p:sp>
        <p:nvSpPr>
          <p:cNvPr id="486"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87"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88" name="Google Shape;204;p49"/>
          <p:cNvSpPr txBox="1"/>
          <p:nvPr>
            <p:ph type="body" sz="quarter" idx="21"/>
          </p:nvPr>
        </p:nvSpPr>
        <p:spPr>
          <a:xfrm>
            <a:off x="7478280" y="1925639"/>
            <a:ext cx="6425280" cy="2276282"/>
          </a:xfrm>
          <a:prstGeom prst="rect">
            <a:avLst/>
          </a:prstGeom>
        </p:spPr>
        <p:txBody>
          <a:bodyPr/>
          <a:lstStyle/>
          <a:p>
            <a:pPr/>
          </a:p>
        </p:txBody>
      </p:sp>
      <p:sp>
        <p:nvSpPr>
          <p:cNvPr id="489" name="Google Shape;205;p49"/>
          <p:cNvSpPr txBox="1"/>
          <p:nvPr>
            <p:ph type="body" sz="half" idx="22"/>
          </p:nvPr>
        </p:nvSpPr>
        <p:spPr>
          <a:xfrm>
            <a:off x="731519" y="4418639"/>
            <a:ext cx="13167001" cy="2276282"/>
          </a:xfrm>
          <a:prstGeom prst="rect">
            <a:avLst/>
          </a:prstGeom>
        </p:spPr>
        <p:txBody>
          <a:bodyPr/>
          <a:lstStyle/>
          <a:p>
            <a:pPr/>
          </a:p>
        </p:txBody>
      </p:sp>
      <p:sp>
        <p:nvSpPr>
          <p:cNvPr id="4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OVER_TEXT">
    <p:bg>
      <p:bgPr>
        <a:solidFill>
          <a:srgbClr val="FFFFFF"/>
        </a:solidFill>
      </p:bgPr>
    </p:bg>
    <p:spTree>
      <p:nvGrpSpPr>
        <p:cNvPr id="1" name=""/>
        <p:cNvGrpSpPr/>
        <p:nvPr/>
      </p:nvGrpSpPr>
      <p:grpSpPr>
        <a:xfrm>
          <a:off x="0" y="0"/>
          <a:ext cx="0" cy="0"/>
          <a:chOff x="0" y="0"/>
          <a:chExt cx="0" cy="0"/>
        </a:xfrm>
      </p:grpSpPr>
      <p:sp>
        <p:nvSpPr>
          <p:cNvPr id="497"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498" name="Body Level One…"/>
          <p:cNvSpPr txBox="1"/>
          <p:nvPr>
            <p:ph type="body" sz="half" idx="1"/>
          </p:nvPr>
        </p:nvSpPr>
        <p:spPr>
          <a:xfrm>
            <a:off x="731519" y="1925640"/>
            <a:ext cx="1316700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99" name="Google Shape;209;p50"/>
          <p:cNvSpPr txBox="1"/>
          <p:nvPr>
            <p:ph type="body" sz="half" idx="21"/>
          </p:nvPr>
        </p:nvSpPr>
        <p:spPr>
          <a:xfrm>
            <a:off x="731519" y="4418639"/>
            <a:ext cx="13167001" cy="2276282"/>
          </a:xfrm>
          <a:prstGeom prst="rect">
            <a:avLst/>
          </a:prstGeom>
        </p:spPr>
        <p:txBody>
          <a:bodyPr/>
          <a:lstStyle/>
          <a:p>
            <a:pPr/>
          </a:p>
        </p:txBody>
      </p:sp>
      <p:sp>
        <p:nvSpPr>
          <p:cNvPr id="5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FOUR_OBJECTS">
    <p:bg>
      <p:bgPr>
        <a:solidFill>
          <a:srgbClr val="FFFFFF"/>
        </a:solidFill>
      </p:bgPr>
    </p:bg>
    <p:spTree>
      <p:nvGrpSpPr>
        <p:cNvPr id="1" name=""/>
        <p:cNvGrpSpPr/>
        <p:nvPr/>
      </p:nvGrpSpPr>
      <p:grpSpPr>
        <a:xfrm>
          <a:off x="0" y="0"/>
          <a:ext cx="0" cy="0"/>
          <a:chOff x="0" y="0"/>
          <a:chExt cx="0" cy="0"/>
        </a:xfrm>
      </p:grpSpPr>
      <p:sp>
        <p:nvSpPr>
          <p:cNvPr id="507"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508" name="Body Level One…"/>
          <p:cNvSpPr txBox="1"/>
          <p:nvPr>
            <p:ph type="body" sz="quarter" idx="1"/>
          </p:nvPr>
        </p:nvSpPr>
        <p:spPr>
          <a:xfrm>
            <a:off x="731519" y="1925640"/>
            <a:ext cx="642528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09" name="Google Shape;213;p51"/>
          <p:cNvSpPr txBox="1"/>
          <p:nvPr>
            <p:ph type="body" sz="quarter" idx="21"/>
          </p:nvPr>
        </p:nvSpPr>
        <p:spPr>
          <a:xfrm>
            <a:off x="7478280" y="1925639"/>
            <a:ext cx="6425280" cy="2276282"/>
          </a:xfrm>
          <a:prstGeom prst="rect">
            <a:avLst/>
          </a:prstGeom>
        </p:spPr>
        <p:txBody>
          <a:bodyPr/>
          <a:lstStyle/>
          <a:p>
            <a:pPr/>
          </a:p>
        </p:txBody>
      </p:sp>
      <p:sp>
        <p:nvSpPr>
          <p:cNvPr id="510" name="Google Shape;214;p51"/>
          <p:cNvSpPr txBox="1"/>
          <p:nvPr>
            <p:ph type="body" sz="quarter" idx="22"/>
          </p:nvPr>
        </p:nvSpPr>
        <p:spPr>
          <a:xfrm>
            <a:off x="731520" y="4418639"/>
            <a:ext cx="6425280" cy="2276282"/>
          </a:xfrm>
          <a:prstGeom prst="rect">
            <a:avLst/>
          </a:prstGeom>
        </p:spPr>
        <p:txBody>
          <a:bodyPr/>
          <a:lstStyle/>
          <a:p>
            <a:pPr/>
          </a:p>
        </p:txBody>
      </p:sp>
      <p:sp>
        <p:nvSpPr>
          <p:cNvPr id="511" name="Google Shape;215;p51"/>
          <p:cNvSpPr txBox="1"/>
          <p:nvPr>
            <p:ph type="body" sz="quarter" idx="23"/>
          </p:nvPr>
        </p:nvSpPr>
        <p:spPr>
          <a:xfrm>
            <a:off x="7478280" y="4418639"/>
            <a:ext cx="6425280" cy="2276282"/>
          </a:xfrm>
          <a:prstGeom prst="rect">
            <a:avLst/>
          </a:prstGeom>
        </p:spPr>
        <p:txBody>
          <a:bodyPr/>
          <a:lstStyle/>
          <a:p>
            <a:pPr/>
          </a:p>
        </p:txBody>
      </p:sp>
      <p:sp>
        <p:nvSpPr>
          <p:cNvPr id="5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6 Content">
    <p:bg>
      <p:bgPr>
        <a:solidFill>
          <a:srgbClr val="FFFFFF"/>
        </a:solidFill>
      </p:bgPr>
    </p:bg>
    <p:spTree>
      <p:nvGrpSpPr>
        <p:cNvPr id="1" name=""/>
        <p:cNvGrpSpPr/>
        <p:nvPr/>
      </p:nvGrpSpPr>
      <p:grpSpPr>
        <a:xfrm>
          <a:off x="0" y="0"/>
          <a:ext cx="0" cy="0"/>
          <a:chOff x="0" y="0"/>
          <a:chExt cx="0" cy="0"/>
        </a:xfrm>
      </p:grpSpPr>
      <p:sp>
        <p:nvSpPr>
          <p:cNvPr id="519" name="Title Text"/>
          <p:cNvSpPr txBox="1"/>
          <p:nvPr>
            <p:ph type="title"/>
          </p:nvPr>
        </p:nvSpPr>
        <p:spPr>
          <a:xfrm>
            <a:off x="731519" y="328320"/>
            <a:ext cx="13167001" cy="1373761"/>
          </a:xfrm>
          <a:prstGeom prst="rect">
            <a:avLst/>
          </a:prstGeom>
        </p:spPr>
        <p:txBody>
          <a:bodyPr>
            <a:normAutofit fontScale="100000" lnSpcReduction="0"/>
          </a:bodyPr>
          <a:lstStyle/>
          <a:p>
            <a:pPr/>
            <a:r>
              <a:t>Title Text</a:t>
            </a:r>
          </a:p>
        </p:txBody>
      </p:sp>
      <p:sp>
        <p:nvSpPr>
          <p:cNvPr id="520" name="Body Level One…"/>
          <p:cNvSpPr txBox="1"/>
          <p:nvPr>
            <p:ph type="body" sz="quarter" idx="1"/>
          </p:nvPr>
        </p:nvSpPr>
        <p:spPr>
          <a:xfrm>
            <a:off x="731519" y="1925640"/>
            <a:ext cx="4239361" cy="227628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21" name="Google Shape;219;p52"/>
          <p:cNvSpPr txBox="1"/>
          <p:nvPr>
            <p:ph type="body" sz="quarter" idx="21"/>
          </p:nvPr>
        </p:nvSpPr>
        <p:spPr>
          <a:xfrm>
            <a:off x="5183280" y="1925639"/>
            <a:ext cx="4239361" cy="2276282"/>
          </a:xfrm>
          <a:prstGeom prst="rect">
            <a:avLst/>
          </a:prstGeom>
        </p:spPr>
        <p:txBody>
          <a:bodyPr/>
          <a:lstStyle/>
          <a:p>
            <a:pPr/>
          </a:p>
        </p:txBody>
      </p:sp>
      <p:sp>
        <p:nvSpPr>
          <p:cNvPr id="522" name="Google Shape;220;p52"/>
          <p:cNvSpPr txBox="1"/>
          <p:nvPr>
            <p:ph type="body" sz="quarter" idx="22"/>
          </p:nvPr>
        </p:nvSpPr>
        <p:spPr>
          <a:xfrm>
            <a:off x="9635039" y="1925639"/>
            <a:ext cx="4239361" cy="2276282"/>
          </a:xfrm>
          <a:prstGeom prst="rect">
            <a:avLst/>
          </a:prstGeom>
        </p:spPr>
        <p:txBody>
          <a:bodyPr/>
          <a:lstStyle/>
          <a:p>
            <a:pPr/>
          </a:p>
        </p:txBody>
      </p:sp>
      <p:sp>
        <p:nvSpPr>
          <p:cNvPr id="523" name="Google Shape;221;p52"/>
          <p:cNvSpPr txBox="1"/>
          <p:nvPr>
            <p:ph type="body" sz="quarter" idx="23"/>
          </p:nvPr>
        </p:nvSpPr>
        <p:spPr>
          <a:xfrm>
            <a:off x="731520" y="4418639"/>
            <a:ext cx="4239360" cy="2276282"/>
          </a:xfrm>
          <a:prstGeom prst="rect">
            <a:avLst/>
          </a:prstGeom>
        </p:spPr>
        <p:txBody>
          <a:bodyPr/>
          <a:lstStyle/>
          <a:p>
            <a:pPr/>
          </a:p>
        </p:txBody>
      </p:sp>
      <p:sp>
        <p:nvSpPr>
          <p:cNvPr id="524" name="Google Shape;222;p52"/>
          <p:cNvSpPr txBox="1"/>
          <p:nvPr>
            <p:ph type="body" sz="quarter" idx="24"/>
          </p:nvPr>
        </p:nvSpPr>
        <p:spPr>
          <a:xfrm>
            <a:off x="5183280" y="4418639"/>
            <a:ext cx="4239361" cy="2276282"/>
          </a:xfrm>
          <a:prstGeom prst="rect">
            <a:avLst/>
          </a:prstGeom>
        </p:spPr>
        <p:txBody>
          <a:bodyPr/>
          <a:lstStyle/>
          <a:p>
            <a:pPr/>
          </a:p>
        </p:txBody>
      </p:sp>
      <p:sp>
        <p:nvSpPr>
          <p:cNvPr id="525" name="Google Shape;223;p52"/>
          <p:cNvSpPr txBox="1"/>
          <p:nvPr>
            <p:ph type="body" sz="quarter" idx="25"/>
          </p:nvPr>
        </p:nvSpPr>
        <p:spPr>
          <a:xfrm>
            <a:off x="9635039" y="4418639"/>
            <a:ext cx="4239361" cy="2276282"/>
          </a:xfrm>
          <a:prstGeom prst="rect">
            <a:avLst/>
          </a:prstGeom>
        </p:spPr>
        <p:txBody>
          <a:bodyPr/>
          <a:lstStyle/>
          <a:p>
            <a:pPr/>
          </a:p>
        </p:txBody>
      </p:sp>
      <p:sp>
        <p:nvSpPr>
          <p:cNvPr id="5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 Id="rId30" Type="http://schemas.openxmlformats.org/officeDocument/2006/relationships/slideLayout" Target="../slideLayouts/slideLayout28.xml"/><Relationship Id="rId31" Type="http://schemas.openxmlformats.org/officeDocument/2006/relationships/slideLayout" Target="../slideLayouts/slideLayout29.xml"/><Relationship Id="rId32" Type="http://schemas.openxmlformats.org/officeDocument/2006/relationships/slideLayout" Target="../slideLayouts/slideLayout30.xml"/><Relationship Id="rId33" Type="http://schemas.openxmlformats.org/officeDocument/2006/relationships/slideLayout" Target="../slideLayouts/slideLayout31.xml"/><Relationship Id="rId34" Type="http://schemas.openxmlformats.org/officeDocument/2006/relationships/slideLayout" Target="../slideLayouts/slideLayout32.xml"/><Relationship Id="rId35" Type="http://schemas.openxmlformats.org/officeDocument/2006/relationships/slideLayout" Target="../slideLayouts/slideLayout33.xml"/><Relationship Id="rId36" Type="http://schemas.openxmlformats.org/officeDocument/2006/relationships/slideLayout" Target="../slideLayouts/slideLayout34.xml"/><Relationship Id="rId37" Type="http://schemas.openxmlformats.org/officeDocument/2006/relationships/slideLayout" Target="../slideLayouts/slideLayout35.xml"/><Relationship Id="rId38" Type="http://schemas.openxmlformats.org/officeDocument/2006/relationships/slideLayout" Target="../slideLayouts/slideLayout36.xml"/><Relationship Id="rId39" Type="http://schemas.openxmlformats.org/officeDocument/2006/relationships/slideLayout" Target="../slideLayouts/slideLayout37.xml"/><Relationship Id="rId40" Type="http://schemas.openxmlformats.org/officeDocument/2006/relationships/slideLayout" Target="../slideLayouts/slideLayout38.xml"/><Relationship Id="rId41" Type="http://schemas.openxmlformats.org/officeDocument/2006/relationships/slideLayout" Target="../slideLayouts/slideLayout39.xml"/><Relationship Id="rId42" Type="http://schemas.openxmlformats.org/officeDocument/2006/relationships/slideLayout" Target="../slideLayouts/slideLayout40.xml"/><Relationship Id="rId43" Type="http://schemas.openxmlformats.org/officeDocument/2006/relationships/slideLayout" Target="../slideLayouts/slideLayout41.xml"/><Relationship Id="rId44" Type="http://schemas.openxmlformats.org/officeDocument/2006/relationships/slideLayout" Target="../slideLayouts/slideLayout42.xml"/><Relationship Id="rId45" Type="http://schemas.openxmlformats.org/officeDocument/2006/relationships/slideLayout" Target="../slideLayouts/slideLayout43.xml"/><Relationship Id="rId46" Type="http://schemas.openxmlformats.org/officeDocument/2006/relationships/slideLayout" Target="../slideLayouts/slideLayout44.xml"/><Relationship Id="rId47" Type="http://schemas.openxmlformats.org/officeDocument/2006/relationships/slideLayout" Target="../slideLayouts/slideLayout45.xml"/><Relationship Id="rId48" Type="http://schemas.openxmlformats.org/officeDocument/2006/relationships/slideLayout" Target="../slideLayouts/slideLayout46.xml"/><Relationship Id="rId49" Type="http://schemas.openxmlformats.org/officeDocument/2006/relationships/slideLayout" Target="../slideLayouts/slideLayout47.xml"/><Relationship Id="rId50"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pic>
        <p:nvPicPr>
          <p:cNvPr id="2" name="Google Shape;10;p1" descr="Google Shape;10;p1"/>
          <p:cNvPicPr>
            <a:picLocks noChangeAspect="1"/>
          </p:cNvPicPr>
          <p:nvPr/>
        </p:nvPicPr>
        <p:blipFill>
          <a:blip r:embed="rId2">
            <a:extLst/>
          </a:blip>
          <a:stretch>
            <a:fillRect/>
          </a:stretch>
        </p:blipFill>
        <p:spPr>
          <a:xfrm>
            <a:off x="0" y="0"/>
            <a:ext cx="14629681" cy="8228880"/>
          </a:xfrm>
          <a:prstGeom prst="rect">
            <a:avLst/>
          </a:prstGeom>
          <a:ln w="12700">
            <a:miter lim="400000"/>
          </a:ln>
        </p:spPr>
      </p:pic>
      <p:sp>
        <p:nvSpPr>
          <p:cNvPr id="3" name="Google Shape;11;p1"/>
          <p:cNvSpPr/>
          <p:nvPr/>
        </p:nvSpPr>
        <p:spPr>
          <a:xfrm>
            <a:off x="0" y="0"/>
            <a:ext cx="14629681" cy="8228880"/>
          </a:xfrm>
          <a:prstGeom prst="rect">
            <a:avLst/>
          </a:prstGeom>
          <a:solidFill>
            <a:srgbClr val="FFFFFF">
              <a:alpha val="94902"/>
            </a:srgbClr>
          </a:solidFill>
          <a:ln w="12700">
            <a:miter lim="400000"/>
          </a:ln>
        </p:spPr>
        <p:txBody>
          <a:bodyPr lIns="0" tIns="0" rIns="0" bIns="0" anchor="ctr"/>
          <a:lstStyle/>
          <a:p>
            <a:pPr/>
          </a:p>
        </p:txBody>
      </p:sp>
      <p:sp>
        <p:nvSpPr>
          <p:cNvPr id="4" name="Title Text"/>
          <p:cNvSpPr txBox="1"/>
          <p:nvPr>
            <p:ph type="title"/>
          </p:nvPr>
        </p:nvSpPr>
        <p:spPr>
          <a:xfrm>
            <a:off x="731520" y="110489"/>
            <a:ext cx="13167361" cy="18097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p>
            <a:pPr/>
            <a:r>
              <a:t>Title Text</a:t>
            </a:r>
          </a:p>
        </p:txBody>
      </p:sp>
      <p:sp>
        <p:nvSpPr>
          <p:cNvPr id="5" name="Body Level One…"/>
          <p:cNvSpPr txBox="1"/>
          <p:nvPr>
            <p:ph type="body" idx="1"/>
          </p:nvPr>
        </p:nvSpPr>
        <p:spPr>
          <a:xfrm>
            <a:off x="731520" y="1920239"/>
            <a:ext cx="13167361" cy="6309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7071359" y="7408545"/>
            <a:ext cx="3413761" cy="438150"/>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9pPr>
    </p:titleStyle>
    <p:bodyStyle>
      <a:lvl1pPr marL="22860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1pPr>
      <a:lvl2pPr marL="228600" marR="0" indent="45720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2pPr>
      <a:lvl3pPr marL="228600" marR="0" indent="91440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3pPr>
      <a:lvl4pPr marL="228600" marR="0" indent="137160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4pPr>
      <a:lvl5pPr marL="228600" marR="0" indent="182880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5pPr>
      <a:lvl6pPr marL="228600" marR="0" indent="228600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6pPr>
      <a:lvl7pPr marL="228600" marR="0" indent="274320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7pPr>
      <a:lvl8pPr marL="228600" marR="0" indent="320040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8pPr>
      <a:lvl9pPr marL="228600" marR="0" indent="365760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png"/><Relationship Id="rId3"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4.png"/><Relationship Id="rId3" Type="http://schemas.openxmlformats.org/officeDocument/2006/relationships/image" Target="../media/image4.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4.png"/><Relationship Id="rId3" Type="http://schemas.openxmlformats.org/officeDocument/2006/relationships/image" Target="../media/image4.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4.png"/><Relationship Id="rId3" Type="http://schemas.openxmlformats.org/officeDocument/2006/relationships/image" Target="../media/image4.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docs.google.com/spreadsheets/d/1PFEgSgQaLW9RPYImxc2ZsHITw2ncfVi_kUzFIAngeyc/edit?gid=0#gid=0" TargetMode="External"/><Relationship Id="rId3" Type="http://schemas.openxmlformats.org/officeDocument/2006/relationships/image" Target="../media/image4.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4.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vzthoughtspot.verizon.com/#/pinboard/43276c73-e69c-4e0c-bc84-76cf0fb87401" TargetMode="External"/><Relationship Id="rId3" Type="http://schemas.openxmlformats.org/officeDocument/2006/relationships/image" Target="../media/image4.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7.png"/><Relationship Id="rId3" Type="http://schemas.openxmlformats.org/officeDocument/2006/relationships/image" Target="../media/image4.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4.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2.png"/><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35" name="Google Shape;229;p53" descr="Google Shape;229;p53"/>
          <p:cNvPicPr>
            <a:picLocks noChangeAspect="1"/>
          </p:cNvPicPr>
          <p:nvPr/>
        </p:nvPicPr>
        <p:blipFill>
          <a:blip r:embed="rId2">
            <a:extLst/>
          </a:blip>
          <a:stretch>
            <a:fillRect/>
          </a:stretch>
        </p:blipFill>
        <p:spPr>
          <a:xfrm>
            <a:off x="9144000" y="0"/>
            <a:ext cx="5485680" cy="8228880"/>
          </a:xfrm>
          <a:prstGeom prst="rect">
            <a:avLst/>
          </a:prstGeom>
          <a:ln w="12700">
            <a:miter lim="400000"/>
          </a:ln>
        </p:spPr>
      </p:pic>
      <p:sp>
        <p:nvSpPr>
          <p:cNvPr id="536" name="Google Shape;230;p53"/>
          <p:cNvSpPr txBox="1"/>
          <p:nvPr/>
        </p:nvSpPr>
        <p:spPr>
          <a:xfrm>
            <a:off x="793800" y="1785599"/>
            <a:ext cx="7555680" cy="147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5000"/>
              </a:lnSpc>
              <a:defRPr b="1" sz="5000">
                <a:latin typeface="Petrona"/>
                <a:ea typeface="Petrona"/>
                <a:cs typeface="Petrona"/>
                <a:sym typeface="Petrona"/>
              </a:defRPr>
            </a:pPr>
            <a:r>
              <a:t>Search as a Service </a:t>
            </a:r>
          </a:p>
          <a:p>
            <a:pPr>
              <a:lnSpc>
                <a:spcPct val="125000"/>
              </a:lnSpc>
              <a:defRPr b="1" sz="3400">
                <a:solidFill>
                  <a:srgbClr val="4A86E8"/>
                </a:solidFill>
                <a:latin typeface="Petrona"/>
                <a:ea typeface="Petrona"/>
                <a:cs typeface="Petrona"/>
                <a:sym typeface="Petrona"/>
              </a:defRPr>
            </a:pPr>
            <a:r>
              <a:t>Design Specification</a:t>
            </a:r>
          </a:p>
        </p:txBody>
      </p:sp>
      <p:sp>
        <p:nvSpPr>
          <p:cNvPr id="537" name="Google Shape;231;p53"/>
          <p:cNvSpPr txBox="1"/>
          <p:nvPr/>
        </p:nvSpPr>
        <p:spPr>
          <a:xfrm>
            <a:off x="793800" y="3614399"/>
            <a:ext cx="7555680" cy="18999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700">
                <a:solidFill>
                  <a:srgbClr val="272525"/>
                </a:solidFill>
                <a:latin typeface="Inter"/>
                <a:ea typeface="Inter"/>
                <a:cs typeface="Inter"/>
                <a:sym typeface="Inter"/>
              </a:defRPr>
            </a:lvl1pPr>
          </a:lstStyle>
          <a:p>
            <a:pPr/>
            <a:r>
              <a:t>This presentation outlines a comprehensive design specification for Search as a Service, covering various scenarios from basic search to intelligent assistants. The system incorporates Persona, Location, Party (Organization), Role, and Job To Be Done within the context of Technical, Operational, or Business Services, mapped to Projects or Services.</a:t>
            </a:r>
          </a:p>
        </p:txBody>
      </p:sp>
      <p:sp>
        <p:nvSpPr>
          <p:cNvPr id="538" name="Google Shape;232;p53"/>
          <p:cNvSpPr/>
          <p:nvPr/>
        </p:nvSpPr>
        <p:spPr>
          <a:xfrm>
            <a:off x="793799" y="6063839"/>
            <a:ext cx="362161" cy="362161"/>
          </a:xfrm>
          <a:prstGeom prst="roundRect">
            <a:avLst>
              <a:gd name="adj" fmla="val 50000"/>
            </a:avLst>
          </a:prstGeom>
          <a:ln>
            <a:solidFill>
              <a:srgbClr val="FFFFFF"/>
            </a:solidFill>
          </a:ln>
        </p:spPr>
        <p:txBody>
          <a:bodyPr lIns="0" tIns="0" rIns="0" bIns="0" anchor="ctr"/>
          <a:lstStyle/>
          <a:p>
            <a:pPr/>
          </a:p>
        </p:txBody>
      </p:sp>
      <p:grpSp>
        <p:nvGrpSpPr>
          <p:cNvPr id="543" name="Google Shape;233;p53"/>
          <p:cNvGrpSpPr/>
          <p:nvPr/>
        </p:nvGrpSpPr>
        <p:grpSpPr>
          <a:xfrm>
            <a:off x="7110000" y="1520999"/>
            <a:ext cx="1401121" cy="1684198"/>
            <a:chOff x="0" y="0"/>
            <a:chExt cx="1401120" cy="1684196"/>
          </a:xfrm>
        </p:grpSpPr>
        <p:sp>
          <p:nvSpPr>
            <p:cNvPr id="539" name="Google Shape;234;p53"/>
            <p:cNvSpPr/>
            <p:nvPr/>
          </p:nvSpPr>
          <p:spPr>
            <a:xfrm>
              <a:off x="0" y="0"/>
              <a:ext cx="1400761" cy="160308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542" name="Google Shape;235;p53"/>
            <p:cNvGrpSpPr/>
            <p:nvPr/>
          </p:nvGrpSpPr>
          <p:grpSpPr>
            <a:xfrm>
              <a:off x="91080" y="360"/>
              <a:ext cx="1310041" cy="1683837"/>
              <a:chOff x="0" y="0"/>
              <a:chExt cx="1310040" cy="1683836"/>
            </a:xfrm>
          </p:grpSpPr>
          <p:pic>
            <p:nvPicPr>
              <p:cNvPr id="540" name="Google Shape;236;p53" descr="Google Shape;236;p53"/>
              <p:cNvPicPr>
                <a:picLocks noChangeAspect="1"/>
              </p:cNvPicPr>
              <p:nvPr/>
            </p:nvPicPr>
            <p:blipFill>
              <a:blip r:embed="rId3">
                <a:extLst/>
              </a:blip>
              <a:srcRect l="20669" t="0" r="9844" b="0"/>
              <a:stretch>
                <a:fillRect/>
              </a:stretch>
            </p:blipFill>
            <p:spPr>
              <a:xfrm>
                <a:off x="0" y="0"/>
                <a:ext cx="1251721" cy="1251721"/>
              </a:xfrm>
              <a:prstGeom prst="rect">
                <a:avLst/>
              </a:prstGeom>
              <a:ln w="12700" cap="flat">
                <a:noFill/>
                <a:miter lim="400000"/>
              </a:ln>
              <a:effectLst/>
            </p:spPr>
          </p:pic>
          <p:sp>
            <p:nvSpPr>
              <p:cNvPr id="541" name="Google Shape;237;p53"/>
              <p:cNvSpPr txBox="1"/>
              <p:nvPr/>
            </p:nvSpPr>
            <p:spPr>
              <a:xfrm>
                <a:off x="0" y="1082402"/>
                <a:ext cx="1310041" cy="60143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0424" tIns="100424" rIns="100424" bIns="100424" numCol="1" anchor="ctr">
                <a:spAutoFit/>
              </a:bodyPr>
              <a:lstStyle/>
              <a:p>
                <a:pPr algn="ctr">
                  <a:defRPr b="1">
                    <a:solidFill>
                      <a:srgbClr val="EE0000"/>
                    </a:solidFill>
                  </a:defRPr>
                </a:pPr>
                <a:r>
                  <a:t>SEMANTIC</a:t>
                </a:r>
              </a:p>
              <a:p>
                <a:pPr algn="ctr"/>
                <a:r>
                  <a:t>Governance</a:t>
                </a:r>
              </a:p>
            </p:txBody>
          </p:sp>
        </p:grpSp>
      </p:gr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62" name="Google Shape;243;p54"/>
          <p:cNvGrpSpPr/>
          <p:nvPr/>
        </p:nvGrpSpPr>
        <p:grpSpPr>
          <a:xfrm>
            <a:off x="498240" y="800999"/>
            <a:ext cx="13703761" cy="6780241"/>
            <a:chOff x="0" y="0"/>
            <a:chExt cx="13703759" cy="6780239"/>
          </a:xfrm>
        </p:grpSpPr>
        <p:sp>
          <p:nvSpPr>
            <p:cNvPr id="545" name="Google Shape;244;p54"/>
            <p:cNvSpPr txBox="1"/>
            <p:nvPr/>
          </p:nvSpPr>
          <p:spPr>
            <a:xfrm>
              <a:off x="314999" y="0"/>
              <a:ext cx="7809842" cy="698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5000"/>
                </a:lnSpc>
                <a:defRPr b="1" sz="4600">
                  <a:latin typeface="Petrona"/>
                  <a:ea typeface="Petrona"/>
                  <a:cs typeface="Petrona"/>
                  <a:sym typeface="Petrona"/>
                </a:defRPr>
              </a:lvl1pPr>
            </a:lstStyle>
            <a:p>
              <a:pPr/>
              <a:r>
                <a:t>Search Scenarios Overview</a:t>
              </a:r>
            </a:p>
          </p:txBody>
        </p:sp>
        <p:sp>
          <p:nvSpPr>
            <p:cNvPr id="546" name="Google Shape;245;p54"/>
            <p:cNvSpPr/>
            <p:nvPr/>
          </p:nvSpPr>
          <p:spPr>
            <a:xfrm>
              <a:off x="315000" y="3068639"/>
              <a:ext cx="543241" cy="1077121"/>
            </a:xfrm>
            <a:prstGeom prst="roundRect">
              <a:avLst>
                <a:gd name="adj" fmla="val 18669"/>
              </a:avLst>
            </a:prstGeom>
            <a:solidFill>
              <a:srgbClr val="CCEEFF"/>
            </a:solidFill>
            <a:ln w="9525" cap="flat">
              <a:solidFill>
                <a:srgbClr val="B2D4E5"/>
              </a:solidFill>
              <a:prstDash val="solid"/>
              <a:round/>
            </a:ln>
            <a:effectLst/>
          </p:spPr>
          <p:txBody>
            <a:bodyPr wrap="square" lIns="0" tIns="0" rIns="0" bIns="0" numCol="1" anchor="ctr">
              <a:noAutofit/>
            </a:bodyPr>
            <a:lstStyle/>
            <a:p>
              <a:pPr/>
            </a:p>
          </p:txBody>
        </p:sp>
        <p:sp>
          <p:nvSpPr>
            <p:cNvPr id="547" name="Google Shape;246;p54"/>
            <p:cNvSpPr txBox="1"/>
            <p:nvPr/>
          </p:nvSpPr>
          <p:spPr>
            <a:xfrm>
              <a:off x="505440" y="3230279"/>
              <a:ext cx="162361"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800">
                  <a:solidFill>
                    <a:srgbClr val="272525"/>
                  </a:solidFill>
                  <a:latin typeface="Petrona"/>
                  <a:ea typeface="Petrona"/>
                  <a:cs typeface="Petrona"/>
                  <a:sym typeface="Petrona"/>
                </a:defRPr>
              </a:lvl1pPr>
            </a:lstStyle>
            <a:p>
              <a:pPr/>
              <a:r>
                <a:t>1</a:t>
              </a:r>
            </a:p>
          </p:txBody>
        </p:sp>
        <p:sp>
          <p:nvSpPr>
            <p:cNvPr id="548" name="Google Shape;247;p54"/>
            <p:cNvSpPr txBox="1"/>
            <p:nvPr/>
          </p:nvSpPr>
          <p:spPr>
            <a:xfrm>
              <a:off x="1100880" y="3068639"/>
              <a:ext cx="317268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300">
                  <a:solidFill>
                    <a:srgbClr val="272525"/>
                  </a:solidFill>
                  <a:latin typeface="Petrona"/>
                  <a:ea typeface="Petrona"/>
                  <a:cs typeface="Petrona"/>
                  <a:sym typeface="Petrona"/>
                </a:defRPr>
              </a:lvl1pPr>
            </a:lstStyle>
            <a:p>
              <a:pPr/>
              <a:r>
                <a:t>Basic Search</a:t>
              </a:r>
            </a:p>
          </p:txBody>
        </p:sp>
        <p:sp>
          <p:nvSpPr>
            <p:cNvPr id="549" name="Google Shape;248;p54"/>
            <p:cNvSpPr/>
            <p:nvPr/>
          </p:nvSpPr>
          <p:spPr>
            <a:xfrm>
              <a:off x="5030280" y="3068639"/>
              <a:ext cx="543241" cy="1077121"/>
            </a:xfrm>
            <a:prstGeom prst="roundRect">
              <a:avLst>
                <a:gd name="adj" fmla="val 18669"/>
              </a:avLst>
            </a:prstGeom>
            <a:solidFill>
              <a:srgbClr val="CCEEFF"/>
            </a:solidFill>
            <a:ln w="9525" cap="flat">
              <a:solidFill>
                <a:srgbClr val="B2D4E5"/>
              </a:solidFill>
              <a:prstDash val="solid"/>
              <a:round/>
            </a:ln>
            <a:effectLst/>
          </p:spPr>
          <p:txBody>
            <a:bodyPr wrap="square" lIns="0" tIns="0" rIns="0" bIns="0" numCol="1" anchor="ctr">
              <a:noAutofit/>
            </a:bodyPr>
            <a:lstStyle/>
            <a:p>
              <a:pPr/>
            </a:p>
          </p:txBody>
        </p:sp>
        <p:sp>
          <p:nvSpPr>
            <p:cNvPr id="550" name="Google Shape;249;p54"/>
            <p:cNvSpPr txBox="1"/>
            <p:nvPr/>
          </p:nvSpPr>
          <p:spPr>
            <a:xfrm>
              <a:off x="5194080" y="3230279"/>
              <a:ext cx="215281"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800">
                  <a:solidFill>
                    <a:srgbClr val="272525"/>
                  </a:solidFill>
                  <a:latin typeface="Petrona"/>
                  <a:ea typeface="Petrona"/>
                  <a:cs typeface="Petrona"/>
                  <a:sym typeface="Petrona"/>
                </a:defRPr>
              </a:lvl1pPr>
            </a:lstStyle>
            <a:p>
              <a:pPr/>
              <a:r>
                <a:t>2</a:t>
              </a:r>
            </a:p>
          </p:txBody>
        </p:sp>
        <p:sp>
          <p:nvSpPr>
            <p:cNvPr id="551" name="Google Shape;250;p54"/>
            <p:cNvSpPr txBox="1"/>
            <p:nvPr/>
          </p:nvSpPr>
          <p:spPr>
            <a:xfrm>
              <a:off x="5815800" y="3068639"/>
              <a:ext cx="317268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300">
                  <a:solidFill>
                    <a:srgbClr val="272525"/>
                  </a:solidFill>
                  <a:latin typeface="Petrona"/>
                  <a:ea typeface="Petrona"/>
                  <a:cs typeface="Petrona"/>
                  <a:sym typeface="Petrona"/>
                </a:defRPr>
              </a:lvl1pPr>
            </a:lstStyle>
            <a:p>
              <a:pPr/>
              <a:r>
                <a:t>Augmented Search</a:t>
              </a:r>
            </a:p>
          </p:txBody>
        </p:sp>
        <p:sp>
          <p:nvSpPr>
            <p:cNvPr id="552" name="Google Shape;251;p54"/>
            <p:cNvSpPr/>
            <p:nvPr/>
          </p:nvSpPr>
          <p:spPr>
            <a:xfrm>
              <a:off x="9745200" y="3068639"/>
              <a:ext cx="543241" cy="1077121"/>
            </a:xfrm>
            <a:prstGeom prst="roundRect">
              <a:avLst>
                <a:gd name="adj" fmla="val 18669"/>
              </a:avLst>
            </a:prstGeom>
            <a:solidFill>
              <a:srgbClr val="CCEEFF"/>
            </a:solidFill>
            <a:ln w="9525" cap="flat">
              <a:solidFill>
                <a:srgbClr val="B2D4E5"/>
              </a:solidFill>
              <a:prstDash val="solid"/>
              <a:round/>
            </a:ln>
            <a:effectLst/>
          </p:spPr>
          <p:txBody>
            <a:bodyPr wrap="square" lIns="0" tIns="0" rIns="0" bIns="0" numCol="1" anchor="ctr">
              <a:noAutofit/>
            </a:bodyPr>
            <a:lstStyle/>
            <a:p>
              <a:pPr/>
            </a:p>
          </p:txBody>
        </p:sp>
        <p:sp>
          <p:nvSpPr>
            <p:cNvPr id="553" name="Google Shape;252;p54"/>
            <p:cNvSpPr txBox="1"/>
            <p:nvPr/>
          </p:nvSpPr>
          <p:spPr>
            <a:xfrm>
              <a:off x="9909360" y="3230279"/>
              <a:ext cx="214921"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800">
                  <a:solidFill>
                    <a:srgbClr val="272525"/>
                  </a:solidFill>
                  <a:latin typeface="Petrona"/>
                  <a:ea typeface="Petrona"/>
                  <a:cs typeface="Petrona"/>
                  <a:sym typeface="Petrona"/>
                </a:defRPr>
              </a:lvl1pPr>
            </a:lstStyle>
            <a:p>
              <a:pPr/>
              <a:r>
                <a:t>3</a:t>
              </a:r>
            </a:p>
          </p:txBody>
        </p:sp>
        <p:sp>
          <p:nvSpPr>
            <p:cNvPr id="554" name="Google Shape;253;p54"/>
            <p:cNvSpPr txBox="1"/>
            <p:nvPr/>
          </p:nvSpPr>
          <p:spPr>
            <a:xfrm>
              <a:off x="10531080" y="3068639"/>
              <a:ext cx="317268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300">
                  <a:solidFill>
                    <a:srgbClr val="272525"/>
                  </a:solidFill>
                  <a:latin typeface="Petrona"/>
                  <a:ea typeface="Petrona"/>
                  <a:cs typeface="Petrona"/>
                  <a:sym typeface="Petrona"/>
                </a:defRPr>
              </a:lvl1pPr>
            </a:lstStyle>
            <a:p>
              <a:pPr/>
              <a:r>
                <a:t>Intelligent Search</a:t>
              </a:r>
            </a:p>
          </p:txBody>
        </p:sp>
        <p:sp>
          <p:nvSpPr>
            <p:cNvPr id="555" name="Google Shape;254;p54"/>
            <p:cNvSpPr/>
            <p:nvPr/>
          </p:nvSpPr>
          <p:spPr>
            <a:xfrm>
              <a:off x="315000" y="5703119"/>
              <a:ext cx="543241" cy="1077121"/>
            </a:xfrm>
            <a:prstGeom prst="roundRect">
              <a:avLst>
                <a:gd name="adj" fmla="val 18669"/>
              </a:avLst>
            </a:prstGeom>
            <a:solidFill>
              <a:srgbClr val="CCEEFF"/>
            </a:solidFill>
            <a:ln w="9525" cap="flat">
              <a:solidFill>
                <a:srgbClr val="B2D4E5"/>
              </a:solidFill>
              <a:prstDash val="solid"/>
              <a:round/>
            </a:ln>
            <a:effectLst/>
          </p:spPr>
          <p:txBody>
            <a:bodyPr wrap="square" lIns="0" tIns="0" rIns="0" bIns="0" numCol="1" anchor="ctr">
              <a:noAutofit/>
            </a:bodyPr>
            <a:lstStyle/>
            <a:p>
              <a:pPr/>
            </a:p>
          </p:txBody>
        </p:sp>
        <p:sp>
          <p:nvSpPr>
            <p:cNvPr id="556" name="Google Shape;255;p54"/>
            <p:cNvSpPr txBox="1"/>
            <p:nvPr/>
          </p:nvSpPr>
          <p:spPr>
            <a:xfrm>
              <a:off x="484200" y="5864759"/>
              <a:ext cx="204481"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800">
                  <a:solidFill>
                    <a:srgbClr val="272525"/>
                  </a:solidFill>
                  <a:latin typeface="Petrona"/>
                  <a:ea typeface="Petrona"/>
                  <a:cs typeface="Petrona"/>
                  <a:sym typeface="Petrona"/>
                </a:defRPr>
              </a:lvl1pPr>
            </a:lstStyle>
            <a:p>
              <a:pPr/>
              <a:r>
                <a:t>4</a:t>
              </a:r>
            </a:p>
          </p:txBody>
        </p:sp>
        <p:sp>
          <p:nvSpPr>
            <p:cNvPr id="557" name="Google Shape;256;p54"/>
            <p:cNvSpPr txBox="1"/>
            <p:nvPr/>
          </p:nvSpPr>
          <p:spPr>
            <a:xfrm>
              <a:off x="1100880" y="5703119"/>
              <a:ext cx="317268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300">
                  <a:solidFill>
                    <a:srgbClr val="272525"/>
                  </a:solidFill>
                  <a:latin typeface="Petrona"/>
                  <a:ea typeface="Petrona"/>
                  <a:cs typeface="Petrona"/>
                  <a:sym typeface="Petrona"/>
                </a:defRPr>
              </a:lvl1pPr>
            </a:lstStyle>
            <a:p>
              <a:pPr/>
              <a:r>
                <a:t>Simulation Search</a:t>
              </a:r>
            </a:p>
          </p:txBody>
        </p:sp>
        <p:sp>
          <p:nvSpPr>
            <p:cNvPr id="558" name="Google Shape;257;p54"/>
            <p:cNvSpPr/>
            <p:nvPr/>
          </p:nvSpPr>
          <p:spPr>
            <a:xfrm>
              <a:off x="7387920" y="5703119"/>
              <a:ext cx="543241" cy="1077121"/>
            </a:xfrm>
            <a:prstGeom prst="roundRect">
              <a:avLst>
                <a:gd name="adj" fmla="val 18669"/>
              </a:avLst>
            </a:prstGeom>
            <a:solidFill>
              <a:srgbClr val="CCEEFF"/>
            </a:solidFill>
            <a:ln w="9525" cap="flat">
              <a:solidFill>
                <a:srgbClr val="B2D4E5"/>
              </a:solidFill>
              <a:prstDash val="solid"/>
              <a:round/>
            </a:ln>
            <a:effectLst/>
          </p:spPr>
          <p:txBody>
            <a:bodyPr wrap="square" lIns="0" tIns="0" rIns="0" bIns="0" numCol="1" anchor="ctr">
              <a:noAutofit/>
            </a:bodyPr>
            <a:lstStyle/>
            <a:p>
              <a:pPr/>
            </a:p>
          </p:txBody>
        </p:sp>
        <p:sp>
          <p:nvSpPr>
            <p:cNvPr id="559" name="Google Shape;258;p54"/>
            <p:cNvSpPr txBox="1"/>
            <p:nvPr/>
          </p:nvSpPr>
          <p:spPr>
            <a:xfrm>
              <a:off x="7551720" y="5864759"/>
              <a:ext cx="215641"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800">
                  <a:solidFill>
                    <a:srgbClr val="272525"/>
                  </a:solidFill>
                  <a:latin typeface="Petrona"/>
                  <a:ea typeface="Petrona"/>
                  <a:cs typeface="Petrona"/>
                  <a:sym typeface="Petrona"/>
                </a:defRPr>
              </a:lvl1pPr>
            </a:lstStyle>
            <a:p>
              <a:pPr/>
              <a:r>
                <a:t>5</a:t>
              </a:r>
            </a:p>
          </p:txBody>
        </p:sp>
        <p:sp>
          <p:nvSpPr>
            <p:cNvPr id="560" name="Google Shape;259;p54"/>
            <p:cNvSpPr txBox="1"/>
            <p:nvPr/>
          </p:nvSpPr>
          <p:spPr>
            <a:xfrm>
              <a:off x="8173440" y="5703119"/>
              <a:ext cx="317268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300">
                  <a:solidFill>
                    <a:srgbClr val="272525"/>
                  </a:solidFill>
                  <a:latin typeface="Petrona"/>
                  <a:ea typeface="Petrona"/>
                  <a:cs typeface="Petrona"/>
                  <a:sym typeface="Petrona"/>
                </a:defRPr>
              </a:lvl1pPr>
            </a:lstStyle>
            <a:p>
              <a:pPr/>
              <a:r>
                <a:t>Intelligent Assistant</a:t>
              </a:r>
            </a:p>
          </p:txBody>
        </p:sp>
        <p:sp>
          <p:nvSpPr>
            <p:cNvPr id="561" name="Google Shape;260;p54"/>
            <p:cNvSpPr/>
            <p:nvPr/>
          </p:nvSpPr>
          <p:spPr>
            <a:xfrm>
              <a:off x="0" y="2002319"/>
              <a:ext cx="9466921" cy="3190681"/>
            </a:xfrm>
            <a:prstGeom prst="ellipse">
              <a:avLst/>
            </a:prstGeom>
            <a:noFill/>
            <a:ln w="28425" cap="flat">
              <a:solidFill>
                <a:srgbClr val="E06666"/>
              </a:solidFill>
              <a:prstDash val="solid"/>
              <a:round/>
            </a:ln>
            <a:effectLst/>
          </p:spPr>
          <p:txBody>
            <a:bodyPr wrap="square" lIns="0" tIns="0" rIns="0" bIns="0" numCol="1" anchor="ctr">
              <a:noAutofit/>
            </a:bodyPr>
            <a:lstStyle/>
            <a:p>
              <a:pPr/>
            </a:p>
          </p:txBody>
        </p:sp>
      </p:grpSp>
      <p:grpSp>
        <p:nvGrpSpPr>
          <p:cNvPr id="567" name="Google Shape;261;p54"/>
          <p:cNvGrpSpPr/>
          <p:nvPr/>
        </p:nvGrpSpPr>
        <p:grpSpPr>
          <a:xfrm>
            <a:off x="13783679" y="-1"/>
            <a:ext cx="846360" cy="1009205"/>
            <a:chOff x="0" y="0"/>
            <a:chExt cx="846359" cy="1009203"/>
          </a:xfrm>
        </p:grpSpPr>
        <p:sp>
          <p:nvSpPr>
            <p:cNvPr id="563" name="Google Shape;262;p54"/>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566" name="Google Shape;263;p54"/>
            <p:cNvGrpSpPr/>
            <p:nvPr/>
          </p:nvGrpSpPr>
          <p:grpSpPr>
            <a:xfrm>
              <a:off x="55079" y="-1"/>
              <a:ext cx="791281" cy="1009205"/>
              <a:chOff x="0" y="0"/>
              <a:chExt cx="791279" cy="1009203"/>
            </a:xfrm>
          </p:grpSpPr>
          <p:pic>
            <p:nvPicPr>
              <p:cNvPr id="564" name="Google Shape;264;p54" descr="Google Shape;264;p54"/>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565" name="Google Shape;265;p54"/>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69" name="Google Shape;271;p55" descr="Google Shape;271;p55"/>
          <p:cNvPicPr>
            <a:picLocks noChangeAspect="1"/>
          </p:cNvPicPr>
          <p:nvPr/>
        </p:nvPicPr>
        <p:blipFill>
          <a:blip r:embed="rId2">
            <a:extLst/>
          </a:blip>
          <a:stretch>
            <a:fillRect/>
          </a:stretch>
        </p:blipFill>
        <p:spPr>
          <a:xfrm>
            <a:off x="10972800" y="0"/>
            <a:ext cx="3656880" cy="8228880"/>
          </a:xfrm>
          <a:prstGeom prst="rect">
            <a:avLst/>
          </a:prstGeom>
          <a:ln w="12700">
            <a:miter lim="400000"/>
          </a:ln>
        </p:spPr>
      </p:pic>
      <p:sp>
        <p:nvSpPr>
          <p:cNvPr id="570" name="Google Shape;272;p55"/>
          <p:cNvSpPr txBox="1"/>
          <p:nvPr/>
        </p:nvSpPr>
        <p:spPr>
          <a:xfrm>
            <a:off x="793800" y="1576079"/>
            <a:ext cx="7654091"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Basic Search Features</a:t>
            </a:r>
          </a:p>
        </p:txBody>
      </p:sp>
      <p:pic>
        <p:nvPicPr>
          <p:cNvPr id="571" name="Google Shape;273;p55" descr="Google Shape;273;p55"/>
          <p:cNvPicPr>
            <a:picLocks noChangeAspect="1"/>
          </p:cNvPicPr>
          <p:nvPr/>
        </p:nvPicPr>
        <p:blipFill>
          <a:blip r:embed="rId3">
            <a:extLst/>
          </a:blip>
          <a:stretch>
            <a:fillRect/>
          </a:stretch>
        </p:blipFill>
        <p:spPr>
          <a:xfrm>
            <a:off x="793799" y="2660400"/>
            <a:ext cx="566282" cy="566281"/>
          </a:xfrm>
          <a:prstGeom prst="rect">
            <a:avLst/>
          </a:prstGeom>
          <a:ln w="12700">
            <a:miter lim="400000"/>
          </a:ln>
        </p:spPr>
      </p:pic>
      <p:sp>
        <p:nvSpPr>
          <p:cNvPr id="572" name="Google Shape;274;p55"/>
          <p:cNvSpPr txBox="1"/>
          <p:nvPr/>
        </p:nvSpPr>
        <p:spPr>
          <a:xfrm>
            <a:off x="793799" y="3454200"/>
            <a:ext cx="2976482"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Keyword Matching</a:t>
            </a:r>
          </a:p>
        </p:txBody>
      </p:sp>
      <p:pic>
        <p:nvPicPr>
          <p:cNvPr id="573" name="Google Shape;275;p55" descr="Google Shape;275;p55"/>
          <p:cNvPicPr>
            <a:picLocks noChangeAspect="1"/>
          </p:cNvPicPr>
          <p:nvPr/>
        </p:nvPicPr>
        <p:blipFill>
          <a:blip r:embed="rId4">
            <a:extLst/>
          </a:blip>
          <a:stretch>
            <a:fillRect/>
          </a:stretch>
        </p:blipFill>
        <p:spPr>
          <a:xfrm>
            <a:off x="5656319" y="2660400"/>
            <a:ext cx="566281" cy="566281"/>
          </a:xfrm>
          <a:prstGeom prst="rect">
            <a:avLst/>
          </a:prstGeom>
          <a:ln w="12700">
            <a:miter lim="400000"/>
          </a:ln>
        </p:spPr>
      </p:pic>
      <p:sp>
        <p:nvSpPr>
          <p:cNvPr id="574" name="Google Shape;276;p55"/>
          <p:cNvSpPr txBox="1"/>
          <p:nvPr/>
        </p:nvSpPr>
        <p:spPr>
          <a:xfrm>
            <a:off x="5656319" y="3454200"/>
            <a:ext cx="297648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Simple Filtering</a:t>
            </a:r>
          </a:p>
        </p:txBody>
      </p:sp>
      <p:pic>
        <p:nvPicPr>
          <p:cNvPr id="575" name="Google Shape;277;p55" descr="Google Shape;277;p55"/>
          <p:cNvPicPr>
            <a:picLocks noChangeAspect="1"/>
          </p:cNvPicPr>
          <p:nvPr/>
        </p:nvPicPr>
        <p:blipFill>
          <a:blip r:embed="rId5">
            <a:extLst/>
          </a:blip>
          <a:stretch>
            <a:fillRect/>
          </a:stretch>
        </p:blipFill>
        <p:spPr>
          <a:xfrm>
            <a:off x="793799" y="4506840"/>
            <a:ext cx="566282" cy="566281"/>
          </a:xfrm>
          <a:prstGeom prst="rect">
            <a:avLst/>
          </a:prstGeom>
          <a:ln w="12700">
            <a:miter lim="400000"/>
          </a:ln>
        </p:spPr>
      </p:pic>
      <p:sp>
        <p:nvSpPr>
          <p:cNvPr id="576" name="Google Shape;278;p55"/>
          <p:cNvSpPr txBox="1"/>
          <p:nvPr/>
        </p:nvSpPr>
        <p:spPr>
          <a:xfrm>
            <a:off x="793799" y="5300640"/>
            <a:ext cx="2976482"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Personalized Results</a:t>
            </a:r>
          </a:p>
        </p:txBody>
      </p:sp>
      <p:pic>
        <p:nvPicPr>
          <p:cNvPr id="577" name="Google Shape;279;p55" descr="Google Shape;279;p55"/>
          <p:cNvPicPr>
            <a:picLocks noChangeAspect="1"/>
          </p:cNvPicPr>
          <p:nvPr/>
        </p:nvPicPr>
        <p:blipFill>
          <a:blip r:embed="rId6">
            <a:extLst/>
          </a:blip>
          <a:stretch>
            <a:fillRect/>
          </a:stretch>
        </p:blipFill>
        <p:spPr>
          <a:xfrm>
            <a:off x="5656319" y="4506840"/>
            <a:ext cx="566281" cy="566281"/>
          </a:xfrm>
          <a:prstGeom prst="rect">
            <a:avLst/>
          </a:prstGeom>
          <a:ln w="12700">
            <a:miter lim="400000"/>
          </a:ln>
        </p:spPr>
      </p:pic>
      <p:sp>
        <p:nvSpPr>
          <p:cNvPr id="578" name="Google Shape;280;p55"/>
          <p:cNvSpPr txBox="1"/>
          <p:nvPr/>
        </p:nvSpPr>
        <p:spPr>
          <a:xfrm>
            <a:off x="5656319" y="5300640"/>
            <a:ext cx="297648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Boolean Logic</a:t>
            </a:r>
          </a:p>
        </p:txBody>
      </p:sp>
      <p:sp>
        <p:nvSpPr>
          <p:cNvPr id="579" name="Google Shape;281;p55"/>
          <p:cNvSpPr txBox="1"/>
          <p:nvPr/>
        </p:nvSpPr>
        <p:spPr>
          <a:xfrm>
            <a:off x="793800" y="5927759"/>
            <a:ext cx="9384480" cy="7653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900">
                <a:solidFill>
                  <a:srgbClr val="272525"/>
                </a:solidFill>
                <a:latin typeface="Inter"/>
                <a:ea typeface="Inter"/>
                <a:cs typeface="Inter"/>
                <a:sym typeface="Inter"/>
              </a:defRPr>
            </a:lvl1pPr>
          </a:lstStyle>
          <a:p>
            <a:pPr/>
            <a:r>
              <a:t>Basic Search provides fundamental search capabilities, including keyword matching, boolean logic, simple filtering, and personalized results based on user behavior.</a:t>
            </a:r>
          </a:p>
        </p:txBody>
      </p:sp>
      <p:grpSp>
        <p:nvGrpSpPr>
          <p:cNvPr id="584" name="Google Shape;282;p55"/>
          <p:cNvGrpSpPr/>
          <p:nvPr/>
        </p:nvGrpSpPr>
        <p:grpSpPr>
          <a:xfrm>
            <a:off x="13783679" y="-1"/>
            <a:ext cx="846360" cy="1009205"/>
            <a:chOff x="0" y="0"/>
            <a:chExt cx="846359" cy="1009203"/>
          </a:xfrm>
        </p:grpSpPr>
        <p:sp>
          <p:nvSpPr>
            <p:cNvPr id="580" name="Google Shape;283;p55"/>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583" name="Google Shape;284;p55"/>
            <p:cNvGrpSpPr/>
            <p:nvPr/>
          </p:nvGrpSpPr>
          <p:grpSpPr>
            <a:xfrm>
              <a:off x="55079" y="-1"/>
              <a:ext cx="791281" cy="1009205"/>
              <a:chOff x="0" y="0"/>
              <a:chExt cx="791279" cy="1009203"/>
            </a:xfrm>
          </p:grpSpPr>
          <p:pic>
            <p:nvPicPr>
              <p:cNvPr id="581" name="Google Shape;285;p55" descr="Google Shape;285;p55"/>
              <p:cNvPicPr>
                <a:picLocks noChangeAspect="1"/>
              </p:cNvPicPr>
              <p:nvPr/>
            </p:nvPicPr>
            <p:blipFill>
              <a:blip r:embed="rId7">
                <a:extLst/>
              </a:blip>
              <a:srcRect l="20669" t="0" r="9844" b="0"/>
              <a:stretch>
                <a:fillRect/>
              </a:stretch>
            </p:blipFill>
            <p:spPr>
              <a:xfrm>
                <a:off x="0" y="0"/>
                <a:ext cx="756360" cy="756361"/>
              </a:xfrm>
              <a:prstGeom prst="rect">
                <a:avLst/>
              </a:prstGeom>
              <a:ln w="12700" cap="flat">
                <a:noFill/>
                <a:miter lim="400000"/>
              </a:ln>
              <a:effectLst/>
            </p:spPr>
          </p:pic>
          <p:sp>
            <p:nvSpPr>
              <p:cNvPr id="582" name="Google Shape;286;p55"/>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93" name="Google Shape;292;p56"/>
          <p:cNvGrpSpPr/>
          <p:nvPr/>
        </p:nvGrpSpPr>
        <p:grpSpPr>
          <a:xfrm>
            <a:off x="793799" y="587159"/>
            <a:ext cx="13337642" cy="6825492"/>
            <a:chOff x="0" y="0"/>
            <a:chExt cx="13337640" cy="6825490"/>
          </a:xfrm>
        </p:grpSpPr>
        <p:sp>
          <p:nvSpPr>
            <p:cNvPr id="586" name="Google Shape;293;p56"/>
            <p:cNvSpPr txBox="1"/>
            <p:nvPr/>
          </p:nvSpPr>
          <p:spPr>
            <a:xfrm>
              <a:off x="0" y="0"/>
              <a:ext cx="8747281" cy="16002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5000"/>
                </a:lnSpc>
                <a:defRPr b="1" sz="4700">
                  <a:latin typeface="Petrona"/>
                  <a:ea typeface="Petrona"/>
                  <a:cs typeface="Petrona"/>
                  <a:sym typeface="Petrona"/>
                </a:defRPr>
              </a:lvl1pPr>
            </a:lstStyle>
            <a:p>
              <a:pPr/>
              <a:r>
                <a:t>Augmented Search Capabilities</a:t>
              </a:r>
            </a:p>
          </p:txBody>
        </p:sp>
        <p:sp>
          <p:nvSpPr>
            <p:cNvPr id="587" name="Google Shape;294;p56"/>
            <p:cNvSpPr txBox="1"/>
            <p:nvPr/>
          </p:nvSpPr>
          <p:spPr>
            <a:xfrm>
              <a:off x="0" y="2261519"/>
              <a:ext cx="4063321" cy="9184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700">
                  <a:latin typeface="Petrona"/>
                  <a:ea typeface="Petrona"/>
                  <a:cs typeface="Petrona"/>
                  <a:sym typeface="Petrona"/>
                </a:defRPr>
              </a:lvl1pPr>
            </a:lstStyle>
            <a:p>
              <a:pPr/>
              <a:r>
                <a:t>Complex Logic and Phrase Matching</a:t>
              </a:r>
            </a:p>
          </p:txBody>
        </p:sp>
        <p:sp>
          <p:nvSpPr>
            <p:cNvPr id="588" name="Google Shape;295;p56"/>
            <p:cNvSpPr txBox="1"/>
            <p:nvPr/>
          </p:nvSpPr>
          <p:spPr>
            <a:xfrm>
              <a:off x="0" y="3936240"/>
              <a:ext cx="4063321" cy="28892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62000"/>
                </a:lnSpc>
                <a:defRPr sz="2100">
                  <a:solidFill>
                    <a:srgbClr val="272525"/>
                  </a:solidFill>
                  <a:latin typeface="Inter"/>
                  <a:ea typeface="Inter"/>
                  <a:cs typeface="Inter"/>
                  <a:sym typeface="Inter"/>
                </a:defRPr>
              </a:lvl1pPr>
            </a:lstStyle>
            <a:p>
              <a:pPr/>
              <a:r>
                <a:t>Augmented Search supports advanced search techniques, allowing users to construct more sophisticated queries using complex logic and precise phrase matching.</a:t>
              </a:r>
            </a:p>
          </p:txBody>
        </p:sp>
        <p:sp>
          <p:nvSpPr>
            <p:cNvPr id="589" name="Google Shape;296;p56"/>
            <p:cNvSpPr txBox="1"/>
            <p:nvPr/>
          </p:nvSpPr>
          <p:spPr>
            <a:xfrm>
              <a:off x="4637160" y="2261520"/>
              <a:ext cx="3040561"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700">
                  <a:latin typeface="Petrona"/>
                  <a:ea typeface="Petrona"/>
                  <a:cs typeface="Petrona"/>
                  <a:sym typeface="Petrona"/>
                </a:defRPr>
              </a:lvl1pPr>
            </a:lstStyle>
            <a:p>
              <a:pPr/>
              <a:r>
                <a:t>Basic Analytics</a:t>
              </a:r>
            </a:p>
          </p:txBody>
        </p:sp>
        <p:sp>
          <p:nvSpPr>
            <p:cNvPr id="590" name="Google Shape;297;p56"/>
            <p:cNvSpPr txBox="1"/>
            <p:nvPr/>
          </p:nvSpPr>
          <p:spPr>
            <a:xfrm>
              <a:off x="4637160" y="3294720"/>
              <a:ext cx="4063321" cy="18605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62000"/>
                </a:lnSpc>
                <a:defRPr sz="2100">
                  <a:solidFill>
                    <a:srgbClr val="272525"/>
                  </a:solidFill>
                  <a:latin typeface="Inter"/>
                  <a:ea typeface="Inter"/>
                  <a:cs typeface="Inter"/>
                  <a:sym typeface="Inter"/>
                </a:defRPr>
              </a:lvl1pPr>
            </a:lstStyle>
            <a:p>
              <a:pPr/>
              <a:r>
                <a:t>This level of search introduces basic analytics capabilities, enabling users to gain insights from their search results.</a:t>
              </a:r>
            </a:p>
          </p:txBody>
        </p:sp>
        <p:sp>
          <p:nvSpPr>
            <p:cNvPr id="591" name="Google Shape;298;p56"/>
            <p:cNvSpPr txBox="1"/>
            <p:nvPr/>
          </p:nvSpPr>
          <p:spPr>
            <a:xfrm>
              <a:off x="9274320" y="2261520"/>
              <a:ext cx="4041721" cy="9184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700">
                  <a:latin typeface="Petrona"/>
                  <a:ea typeface="Petrona"/>
                  <a:cs typeface="Petrona"/>
                  <a:sym typeface="Petrona"/>
                </a:defRPr>
              </a:lvl1pPr>
            </a:lstStyle>
            <a:p>
              <a:pPr/>
              <a:r>
                <a:t>Personalized Analytics Views</a:t>
              </a:r>
            </a:p>
          </p:txBody>
        </p:sp>
        <p:sp>
          <p:nvSpPr>
            <p:cNvPr id="592" name="Google Shape;299;p56"/>
            <p:cNvSpPr txBox="1"/>
            <p:nvPr/>
          </p:nvSpPr>
          <p:spPr>
            <a:xfrm>
              <a:off x="9274320" y="3294720"/>
              <a:ext cx="4063321" cy="18605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62000"/>
                </a:lnSpc>
                <a:defRPr sz="2100">
                  <a:solidFill>
                    <a:srgbClr val="272525"/>
                  </a:solidFill>
                  <a:latin typeface="Inter"/>
                  <a:ea typeface="Inter"/>
                  <a:cs typeface="Inter"/>
                  <a:sym typeface="Inter"/>
                </a:defRPr>
              </a:lvl1pPr>
            </a:lstStyle>
            <a:p>
              <a:pPr/>
              <a:r>
                <a:t>Analytics views are tailored based on user roles and preferences, providing a more relevant and customized search experience.</a:t>
              </a:r>
            </a:p>
          </p:txBody>
        </p:sp>
      </p:grpSp>
      <p:grpSp>
        <p:nvGrpSpPr>
          <p:cNvPr id="598" name="Google Shape;300;p56"/>
          <p:cNvGrpSpPr/>
          <p:nvPr/>
        </p:nvGrpSpPr>
        <p:grpSpPr>
          <a:xfrm>
            <a:off x="13783679" y="-1"/>
            <a:ext cx="846360" cy="1009205"/>
            <a:chOff x="0" y="0"/>
            <a:chExt cx="846359" cy="1009203"/>
          </a:xfrm>
        </p:grpSpPr>
        <p:sp>
          <p:nvSpPr>
            <p:cNvPr id="594" name="Google Shape;301;p56"/>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597" name="Google Shape;302;p56"/>
            <p:cNvGrpSpPr/>
            <p:nvPr/>
          </p:nvGrpSpPr>
          <p:grpSpPr>
            <a:xfrm>
              <a:off x="55079" y="-1"/>
              <a:ext cx="791281" cy="1009205"/>
              <a:chOff x="0" y="0"/>
              <a:chExt cx="791279" cy="1009203"/>
            </a:xfrm>
          </p:grpSpPr>
          <p:pic>
            <p:nvPicPr>
              <p:cNvPr id="595" name="Google Shape;303;p56" descr="Google Shape;303;p56"/>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596" name="Google Shape;304;p56"/>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00" name="Google Shape;310;p57" descr="Google Shape;310;p57"/>
          <p:cNvPicPr>
            <a:picLocks noChangeAspect="1"/>
          </p:cNvPicPr>
          <p:nvPr/>
        </p:nvPicPr>
        <p:blipFill>
          <a:blip r:embed="rId2">
            <a:extLst/>
          </a:blip>
          <a:stretch>
            <a:fillRect/>
          </a:stretch>
        </p:blipFill>
        <p:spPr>
          <a:xfrm>
            <a:off x="0" y="0"/>
            <a:ext cx="14629681" cy="2785680"/>
          </a:xfrm>
          <a:prstGeom prst="rect">
            <a:avLst/>
          </a:prstGeom>
          <a:ln w="12700">
            <a:miter lim="400000"/>
          </a:ln>
        </p:spPr>
      </p:pic>
      <p:sp>
        <p:nvSpPr>
          <p:cNvPr id="601" name="Google Shape;311;p57"/>
          <p:cNvSpPr txBox="1"/>
          <p:nvPr/>
        </p:nvSpPr>
        <p:spPr>
          <a:xfrm>
            <a:off x="780120" y="3400559"/>
            <a:ext cx="9911107"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Key Components: Taxonomies</a:t>
            </a:r>
          </a:p>
        </p:txBody>
      </p:sp>
      <p:sp>
        <p:nvSpPr>
          <p:cNvPr id="602" name="Google Shape;312;p57"/>
          <p:cNvSpPr/>
          <p:nvPr/>
        </p:nvSpPr>
        <p:spPr>
          <a:xfrm>
            <a:off x="780120" y="4716719"/>
            <a:ext cx="389161" cy="389161"/>
          </a:xfrm>
          <a:prstGeom prst="roundRect">
            <a:avLst>
              <a:gd name="adj" fmla="val 24002"/>
            </a:avLst>
          </a:prstGeom>
          <a:solidFill>
            <a:srgbClr val="CCEEFF"/>
          </a:solidFill>
          <a:ln>
            <a:solidFill>
              <a:srgbClr val="B2D4E5"/>
            </a:solidFill>
          </a:ln>
        </p:spPr>
        <p:txBody>
          <a:bodyPr lIns="0" tIns="0" rIns="0" bIns="0" anchor="ctr"/>
          <a:lstStyle/>
          <a:p>
            <a:pPr/>
          </a:p>
        </p:txBody>
      </p:sp>
      <p:sp>
        <p:nvSpPr>
          <p:cNvPr id="603" name="Google Shape;313;p57"/>
          <p:cNvSpPr txBox="1"/>
          <p:nvPr/>
        </p:nvSpPr>
        <p:spPr>
          <a:xfrm>
            <a:off x="1393200" y="4716719"/>
            <a:ext cx="292500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000"/>
              </a:lnSpc>
              <a:defRPr b="1" sz="2300">
                <a:solidFill>
                  <a:srgbClr val="272525"/>
                </a:solidFill>
                <a:latin typeface="Petrona"/>
                <a:ea typeface="Petrona"/>
                <a:cs typeface="Petrona"/>
                <a:sym typeface="Petrona"/>
              </a:defRPr>
            </a:lvl1pPr>
          </a:lstStyle>
          <a:p>
            <a:pPr/>
            <a:r>
              <a:t>Persona</a:t>
            </a:r>
          </a:p>
        </p:txBody>
      </p:sp>
      <p:sp>
        <p:nvSpPr>
          <p:cNvPr id="604" name="Google Shape;314;p57"/>
          <p:cNvSpPr txBox="1"/>
          <p:nvPr/>
        </p:nvSpPr>
        <p:spPr>
          <a:xfrm>
            <a:off x="1393200" y="5216040"/>
            <a:ext cx="5810041"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700">
                <a:solidFill>
                  <a:srgbClr val="272525"/>
                </a:solidFill>
                <a:latin typeface="Inter"/>
                <a:ea typeface="Inter"/>
                <a:cs typeface="Inter"/>
                <a:sym typeface="Inter"/>
              </a:defRPr>
            </a:lvl1pPr>
          </a:lstStyle>
          <a:p>
            <a:pPr/>
            <a:r>
              <a:t>Defines different user types and their characteristics, enabling personalized search experiences.</a:t>
            </a:r>
          </a:p>
        </p:txBody>
      </p:sp>
      <p:sp>
        <p:nvSpPr>
          <p:cNvPr id="605" name="Google Shape;315;p57"/>
          <p:cNvSpPr/>
          <p:nvPr/>
        </p:nvSpPr>
        <p:spPr>
          <a:xfrm>
            <a:off x="7426800" y="4716719"/>
            <a:ext cx="389161" cy="389161"/>
          </a:xfrm>
          <a:prstGeom prst="roundRect">
            <a:avLst>
              <a:gd name="adj" fmla="val 24002"/>
            </a:avLst>
          </a:prstGeom>
          <a:solidFill>
            <a:srgbClr val="CCEEFF"/>
          </a:solidFill>
          <a:ln>
            <a:solidFill>
              <a:srgbClr val="B2D4E5"/>
            </a:solidFill>
          </a:ln>
        </p:spPr>
        <p:txBody>
          <a:bodyPr lIns="0" tIns="0" rIns="0" bIns="0" anchor="ctr"/>
          <a:lstStyle/>
          <a:p>
            <a:pPr/>
          </a:p>
        </p:txBody>
      </p:sp>
      <p:sp>
        <p:nvSpPr>
          <p:cNvPr id="606" name="Google Shape;316;p57"/>
          <p:cNvSpPr txBox="1"/>
          <p:nvPr/>
        </p:nvSpPr>
        <p:spPr>
          <a:xfrm>
            <a:off x="8039520" y="4716719"/>
            <a:ext cx="292500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000"/>
              </a:lnSpc>
              <a:defRPr b="1" sz="2300">
                <a:solidFill>
                  <a:srgbClr val="272525"/>
                </a:solidFill>
                <a:latin typeface="Petrona"/>
                <a:ea typeface="Petrona"/>
                <a:cs typeface="Petrona"/>
                <a:sym typeface="Petrona"/>
              </a:defRPr>
            </a:lvl1pPr>
          </a:lstStyle>
          <a:p>
            <a:pPr/>
            <a:r>
              <a:t>Location</a:t>
            </a:r>
          </a:p>
        </p:txBody>
      </p:sp>
      <p:sp>
        <p:nvSpPr>
          <p:cNvPr id="607" name="Google Shape;317;p57"/>
          <p:cNvSpPr txBox="1"/>
          <p:nvPr/>
        </p:nvSpPr>
        <p:spPr>
          <a:xfrm>
            <a:off x="8039520" y="5216040"/>
            <a:ext cx="5810041"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700">
                <a:solidFill>
                  <a:srgbClr val="272525"/>
                </a:solidFill>
                <a:latin typeface="Inter"/>
                <a:ea typeface="Inter"/>
                <a:cs typeface="Inter"/>
                <a:sym typeface="Inter"/>
              </a:defRPr>
            </a:lvl1pPr>
          </a:lstStyle>
          <a:p>
            <a:pPr/>
            <a:r>
              <a:t>Incorporates geographical and spatial information to provide location-aware search results.</a:t>
            </a:r>
          </a:p>
        </p:txBody>
      </p:sp>
      <p:sp>
        <p:nvSpPr>
          <p:cNvPr id="608" name="Google Shape;318;p57"/>
          <p:cNvSpPr/>
          <p:nvPr/>
        </p:nvSpPr>
        <p:spPr>
          <a:xfrm>
            <a:off x="780120" y="6402959"/>
            <a:ext cx="389161" cy="389161"/>
          </a:xfrm>
          <a:prstGeom prst="roundRect">
            <a:avLst>
              <a:gd name="adj" fmla="val 24002"/>
            </a:avLst>
          </a:prstGeom>
          <a:solidFill>
            <a:srgbClr val="CCEEFF"/>
          </a:solidFill>
          <a:ln>
            <a:solidFill>
              <a:srgbClr val="B2D4E5"/>
            </a:solidFill>
          </a:ln>
        </p:spPr>
        <p:txBody>
          <a:bodyPr lIns="0" tIns="0" rIns="0" bIns="0" anchor="ctr"/>
          <a:lstStyle/>
          <a:p>
            <a:pPr/>
          </a:p>
        </p:txBody>
      </p:sp>
      <p:sp>
        <p:nvSpPr>
          <p:cNvPr id="609" name="Google Shape;319;p57"/>
          <p:cNvSpPr txBox="1"/>
          <p:nvPr/>
        </p:nvSpPr>
        <p:spPr>
          <a:xfrm>
            <a:off x="1393200" y="6402959"/>
            <a:ext cx="292500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000"/>
              </a:lnSpc>
              <a:defRPr b="1" sz="2300">
                <a:solidFill>
                  <a:srgbClr val="272525"/>
                </a:solidFill>
                <a:latin typeface="Petrona"/>
                <a:ea typeface="Petrona"/>
                <a:cs typeface="Petrona"/>
                <a:sym typeface="Petrona"/>
              </a:defRPr>
            </a:lvl1pPr>
          </a:lstStyle>
          <a:p>
            <a:pPr/>
            <a:r>
              <a:t>Party (Organization)</a:t>
            </a:r>
          </a:p>
        </p:txBody>
      </p:sp>
      <p:sp>
        <p:nvSpPr>
          <p:cNvPr id="610" name="Google Shape;320;p57"/>
          <p:cNvSpPr txBox="1"/>
          <p:nvPr/>
        </p:nvSpPr>
        <p:spPr>
          <a:xfrm>
            <a:off x="1393200" y="6902280"/>
            <a:ext cx="5810041"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700">
                <a:solidFill>
                  <a:srgbClr val="272525"/>
                </a:solidFill>
                <a:latin typeface="Inter"/>
                <a:ea typeface="Inter"/>
                <a:cs typeface="Inter"/>
                <a:sym typeface="Inter"/>
              </a:defRPr>
            </a:lvl1pPr>
          </a:lstStyle>
          <a:p>
            <a:pPr/>
            <a:r>
              <a:t>Classifies different organizations and entities involved in the search ecosystem.</a:t>
            </a:r>
          </a:p>
        </p:txBody>
      </p:sp>
      <p:sp>
        <p:nvSpPr>
          <p:cNvPr id="611" name="Google Shape;321;p57"/>
          <p:cNvSpPr/>
          <p:nvPr/>
        </p:nvSpPr>
        <p:spPr>
          <a:xfrm>
            <a:off x="7426800" y="6402959"/>
            <a:ext cx="389161" cy="389161"/>
          </a:xfrm>
          <a:prstGeom prst="roundRect">
            <a:avLst>
              <a:gd name="adj" fmla="val 24002"/>
            </a:avLst>
          </a:prstGeom>
          <a:solidFill>
            <a:srgbClr val="CCEEFF"/>
          </a:solidFill>
          <a:ln>
            <a:solidFill>
              <a:srgbClr val="B2D4E5"/>
            </a:solidFill>
          </a:ln>
        </p:spPr>
        <p:txBody>
          <a:bodyPr lIns="0" tIns="0" rIns="0" bIns="0" anchor="ctr"/>
          <a:lstStyle/>
          <a:p>
            <a:pPr/>
          </a:p>
        </p:txBody>
      </p:sp>
      <p:sp>
        <p:nvSpPr>
          <p:cNvPr id="612" name="Google Shape;322;p57"/>
          <p:cNvSpPr txBox="1"/>
          <p:nvPr/>
        </p:nvSpPr>
        <p:spPr>
          <a:xfrm>
            <a:off x="8039520" y="6402959"/>
            <a:ext cx="292500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3000"/>
              </a:lnSpc>
              <a:defRPr b="1" sz="2300">
                <a:solidFill>
                  <a:srgbClr val="272525"/>
                </a:solidFill>
                <a:latin typeface="Petrona"/>
                <a:ea typeface="Petrona"/>
                <a:cs typeface="Petrona"/>
                <a:sym typeface="Petrona"/>
              </a:defRPr>
            </a:lvl1pPr>
          </a:lstStyle>
          <a:p>
            <a:pPr/>
            <a:r>
              <a:t>Role</a:t>
            </a:r>
          </a:p>
        </p:txBody>
      </p:sp>
      <p:sp>
        <p:nvSpPr>
          <p:cNvPr id="613" name="Google Shape;323;p57"/>
          <p:cNvSpPr txBox="1"/>
          <p:nvPr/>
        </p:nvSpPr>
        <p:spPr>
          <a:xfrm>
            <a:off x="8039520" y="6902280"/>
            <a:ext cx="5810041"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700">
                <a:solidFill>
                  <a:srgbClr val="272525"/>
                </a:solidFill>
                <a:latin typeface="Inter"/>
                <a:ea typeface="Inter"/>
                <a:cs typeface="Inter"/>
                <a:sym typeface="Inter"/>
              </a:defRPr>
            </a:lvl1pPr>
          </a:lstStyle>
          <a:p>
            <a:pPr/>
            <a:r>
              <a:t>Defines user roles such as Customer, Provider, and Partner, influencing search permissions and results.</a:t>
            </a:r>
          </a:p>
        </p:txBody>
      </p:sp>
      <p:grpSp>
        <p:nvGrpSpPr>
          <p:cNvPr id="618" name="Google Shape;324;p57"/>
          <p:cNvGrpSpPr/>
          <p:nvPr/>
        </p:nvGrpSpPr>
        <p:grpSpPr>
          <a:xfrm>
            <a:off x="13783679" y="-1"/>
            <a:ext cx="846360" cy="1009205"/>
            <a:chOff x="0" y="0"/>
            <a:chExt cx="846359" cy="1009203"/>
          </a:xfrm>
        </p:grpSpPr>
        <p:sp>
          <p:nvSpPr>
            <p:cNvPr id="614" name="Google Shape;325;p57"/>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617" name="Google Shape;326;p57"/>
            <p:cNvGrpSpPr/>
            <p:nvPr/>
          </p:nvGrpSpPr>
          <p:grpSpPr>
            <a:xfrm>
              <a:off x="55079" y="-1"/>
              <a:ext cx="791281" cy="1009205"/>
              <a:chOff x="0" y="0"/>
              <a:chExt cx="791279" cy="1009203"/>
            </a:xfrm>
          </p:grpSpPr>
          <p:pic>
            <p:nvPicPr>
              <p:cNvPr id="615" name="Google Shape;327;p57" descr="Google Shape;327;p57"/>
              <p:cNvPicPr>
                <a:picLocks noChangeAspect="1"/>
              </p:cNvPicPr>
              <p:nvPr/>
            </p:nvPicPr>
            <p:blipFill>
              <a:blip r:embed="rId3">
                <a:extLst/>
              </a:blip>
              <a:srcRect l="20669" t="0" r="9844" b="0"/>
              <a:stretch>
                <a:fillRect/>
              </a:stretch>
            </p:blipFill>
            <p:spPr>
              <a:xfrm>
                <a:off x="0" y="0"/>
                <a:ext cx="756360" cy="756361"/>
              </a:xfrm>
              <a:prstGeom prst="rect">
                <a:avLst/>
              </a:prstGeom>
              <a:ln w="12700" cap="flat">
                <a:noFill/>
                <a:miter lim="400000"/>
              </a:ln>
              <a:effectLst/>
            </p:spPr>
          </p:pic>
          <p:sp>
            <p:nvSpPr>
              <p:cNvPr id="616" name="Google Shape;328;p57"/>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0" name="Google Shape;334;p58"/>
          <p:cNvSpPr txBox="1"/>
          <p:nvPr/>
        </p:nvSpPr>
        <p:spPr>
          <a:xfrm>
            <a:off x="793800" y="1288800"/>
            <a:ext cx="9185378"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Key Components: Ontologies</a:t>
            </a:r>
          </a:p>
        </p:txBody>
      </p:sp>
      <p:pic>
        <p:nvPicPr>
          <p:cNvPr id="621" name="Google Shape;335;p58" descr="Google Shape;335;p58"/>
          <p:cNvPicPr>
            <a:picLocks noChangeAspect="1"/>
          </p:cNvPicPr>
          <p:nvPr/>
        </p:nvPicPr>
        <p:blipFill>
          <a:blip r:embed="rId2">
            <a:extLst/>
          </a:blip>
          <a:stretch>
            <a:fillRect/>
          </a:stretch>
        </p:blipFill>
        <p:spPr>
          <a:xfrm>
            <a:off x="3247559" y="2486879"/>
            <a:ext cx="1613161" cy="825121"/>
          </a:xfrm>
          <a:prstGeom prst="rect">
            <a:avLst/>
          </a:prstGeom>
          <a:ln w="12700">
            <a:miter lim="400000"/>
          </a:ln>
        </p:spPr>
      </p:pic>
      <p:sp>
        <p:nvSpPr>
          <p:cNvPr id="622" name="Google Shape;336;p58"/>
          <p:cNvSpPr txBox="1"/>
          <p:nvPr/>
        </p:nvSpPr>
        <p:spPr>
          <a:xfrm>
            <a:off x="3993839" y="2762640"/>
            <a:ext cx="1206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1000"/>
              </a:lnSpc>
              <a:defRPr b="1" sz="2200">
                <a:solidFill>
                  <a:srgbClr val="272525"/>
                </a:solidFill>
                <a:latin typeface="Petrona"/>
                <a:ea typeface="Petrona"/>
                <a:cs typeface="Petrona"/>
                <a:sym typeface="Petrona"/>
              </a:defRPr>
            </a:lvl1pPr>
          </a:lstStyle>
          <a:p>
            <a:pPr/>
            <a:r>
              <a:t>1</a:t>
            </a:r>
          </a:p>
        </p:txBody>
      </p:sp>
      <p:sp>
        <p:nvSpPr>
          <p:cNvPr id="623" name="Google Shape;337;p58"/>
          <p:cNvSpPr txBox="1"/>
          <p:nvPr/>
        </p:nvSpPr>
        <p:spPr>
          <a:xfrm>
            <a:off x="5088239" y="2713680"/>
            <a:ext cx="2578275"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Jobs To Be Done</a:t>
            </a:r>
          </a:p>
        </p:txBody>
      </p:sp>
      <p:sp>
        <p:nvSpPr>
          <p:cNvPr id="624" name="Google Shape;338;p58"/>
          <p:cNvSpPr/>
          <p:nvPr/>
        </p:nvSpPr>
        <p:spPr>
          <a:xfrm>
            <a:off x="4917959" y="3325679"/>
            <a:ext cx="8861041" cy="14401"/>
          </a:xfrm>
          <a:prstGeom prst="roundRect">
            <a:avLst>
              <a:gd name="adj" fmla="val 50000"/>
            </a:avLst>
          </a:prstGeom>
          <a:solidFill>
            <a:srgbClr val="B2D4E5"/>
          </a:solidFill>
          <a:ln w="12700">
            <a:miter lim="400000"/>
          </a:ln>
        </p:spPr>
        <p:txBody>
          <a:bodyPr lIns="0" tIns="0" rIns="0" bIns="0" anchor="ctr"/>
          <a:lstStyle/>
          <a:p>
            <a:pPr/>
          </a:p>
        </p:txBody>
      </p:sp>
      <p:pic>
        <p:nvPicPr>
          <p:cNvPr id="625" name="Google Shape;339;p58" descr="Google Shape;339;p58"/>
          <p:cNvPicPr>
            <a:picLocks noChangeAspect="1"/>
          </p:cNvPicPr>
          <p:nvPr/>
        </p:nvPicPr>
        <p:blipFill>
          <a:blip r:embed="rId3">
            <a:extLst/>
          </a:blip>
          <a:stretch>
            <a:fillRect/>
          </a:stretch>
        </p:blipFill>
        <p:spPr>
          <a:xfrm>
            <a:off x="2440439" y="3369240"/>
            <a:ext cx="3227402" cy="825121"/>
          </a:xfrm>
          <a:prstGeom prst="rect">
            <a:avLst/>
          </a:prstGeom>
          <a:ln w="12700">
            <a:miter lim="400000"/>
          </a:ln>
        </p:spPr>
      </p:pic>
      <p:sp>
        <p:nvSpPr>
          <p:cNvPr id="626" name="Google Shape;340;p58"/>
          <p:cNvSpPr txBox="1"/>
          <p:nvPr/>
        </p:nvSpPr>
        <p:spPr>
          <a:xfrm>
            <a:off x="3974039" y="3555360"/>
            <a:ext cx="15984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1000"/>
              </a:lnSpc>
              <a:defRPr b="1" sz="2200">
                <a:solidFill>
                  <a:srgbClr val="272525"/>
                </a:solidFill>
                <a:latin typeface="Petrona"/>
                <a:ea typeface="Petrona"/>
                <a:cs typeface="Petrona"/>
                <a:sym typeface="Petrona"/>
              </a:defRPr>
            </a:lvl1pPr>
          </a:lstStyle>
          <a:p>
            <a:pPr/>
            <a:r>
              <a:t>2</a:t>
            </a:r>
          </a:p>
        </p:txBody>
      </p:sp>
      <p:sp>
        <p:nvSpPr>
          <p:cNvPr id="627" name="Google Shape;341;p58"/>
          <p:cNvSpPr txBox="1"/>
          <p:nvPr/>
        </p:nvSpPr>
        <p:spPr>
          <a:xfrm>
            <a:off x="5895359" y="3596040"/>
            <a:ext cx="1748146"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Outcomes</a:t>
            </a:r>
          </a:p>
        </p:txBody>
      </p:sp>
      <p:sp>
        <p:nvSpPr>
          <p:cNvPr id="628" name="Google Shape;342;p58"/>
          <p:cNvSpPr/>
          <p:nvPr/>
        </p:nvSpPr>
        <p:spPr>
          <a:xfrm>
            <a:off x="5725080" y="4208040"/>
            <a:ext cx="8053921" cy="14401"/>
          </a:xfrm>
          <a:prstGeom prst="roundRect">
            <a:avLst>
              <a:gd name="adj" fmla="val 50000"/>
            </a:avLst>
          </a:prstGeom>
          <a:solidFill>
            <a:srgbClr val="B2D4E5"/>
          </a:solidFill>
          <a:ln w="12700">
            <a:miter lim="400000"/>
          </a:ln>
        </p:spPr>
        <p:txBody>
          <a:bodyPr lIns="0" tIns="0" rIns="0" bIns="0" anchor="ctr"/>
          <a:lstStyle/>
          <a:p>
            <a:pPr/>
          </a:p>
        </p:txBody>
      </p:sp>
      <p:pic>
        <p:nvPicPr>
          <p:cNvPr id="629" name="Google Shape;343;p58" descr="Google Shape;343;p58"/>
          <p:cNvPicPr>
            <a:picLocks noChangeAspect="1"/>
          </p:cNvPicPr>
          <p:nvPr/>
        </p:nvPicPr>
        <p:blipFill>
          <a:blip r:embed="rId4">
            <a:extLst/>
          </a:blip>
          <a:stretch>
            <a:fillRect/>
          </a:stretch>
        </p:blipFill>
        <p:spPr>
          <a:xfrm>
            <a:off x="1633320" y="4251600"/>
            <a:ext cx="4841281" cy="825121"/>
          </a:xfrm>
          <a:prstGeom prst="rect">
            <a:avLst/>
          </a:prstGeom>
          <a:ln w="12700">
            <a:miter lim="400000"/>
          </a:ln>
        </p:spPr>
      </p:pic>
      <p:sp>
        <p:nvSpPr>
          <p:cNvPr id="630" name="Google Shape;344;p58"/>
          <p:cNvSpPr txBox="1"/>
          <p:nvPr/>
        </p:nvSpPr>
        <p:spPr>
          <a:xfrm>
            <a:off x="3974039" y="4437719"/>
            <a:ext cx="15984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1000"/>
              </a:lnSpc>
              <a:defRPr b="1" sz="2200">
                <a:solidFill>
                  <a:srgbClr val="272525"/>
                </a:solidFill>
                <a:latin typeface="Petrona"/>
                <a:ea typeface="Petrona"/>
                <a:cs typeface="Petrona"/>
                <a:sym typeface="Petrona"/>
              </a:defRPr>
            </a:lvl1pPr>
          </a:lstStyle>
          <a:p>
            <a:pPr/>
            <a:r>
              <a:t>3</a:t>
            </a:r>
          </a:p>
        </p:txBody>
      </p:sp>
      <p:sp>
        <p:nvSpPr>
          <p:cNvPr id="631" name="Google Shape;345;p58"/>
          <p:cNvSpPr txBox="1"/>
          <p:nvPr/>
        </p:nvSpPr>
        <p:spPr>
          <a:xfrm>
            <a:off x="6702120" y="4478399"/>
            <a:ext cx="1427414"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Services</a:t>
            </a:r>
          </a:p>
        </p:txBody>
      </p:sp>
      <p:sp>
        <p:nvSpPr>
          <p:cNvPr id="632" name="Google Shape;346;p58"/>
          <p:cNvSpPr/>
          <p:nvPr/>
        </p:nvSpPr>
        <p:spPr>
          <a:xfrm>
            <a:off x="6532199" y="5090400"/>
            <a:ext cx="7247161" cy="14401"/>
          </a:xfrm>
          <a:prstGeom prst="roundRect">
            <a:avLst>
              <a:gd name="adj" fmla="val 50000"/>
            </a:avLst>
          </a:prstGeom>
          <a:solidFill>
            <a:srgbClr val="B2D4E5"/>
          </a:solidFill>
          <a:ln w="12700">
            <a:miter lim="400000"/>
          </a:ln>
        </p:spPr>
        <p:txBody>
          <a:bodyPr lIns="0" tIns="0" rIns="0" bIns="0" anchor="ctr"/>
          <a:lstStyle/>
          <a:p>
            <a:pPr/>
          </a:p>
        </p:txBody>
      </p:sp>
      <p:pic>
        <p:nvPicPr>
          <p:cNvPr id="633" name="Google Shape;347;p58" descr="Google Shape;347;p58"/>
          <p:cNvPicPr>
            <a:picLocks noChangeAspect="1"/>
          </p:cNvPicPr>
          <p:nvPr/>
        </p:nvPicPr>
        <p:blipFill>
          <a:blip r:embed="rId5">
            <a:extLst/>
          </a:blip>
          <a:stretch>
            <a:fillRect/>
          </a:stretch>
        </p:blipFill>
        <p:spPr>
          <a:xfrm>
            <a:off x="826199" y="5133959"/>
            <a:ext cx="6455521" cy="825121"/>
          </a:xfrm>
          <a:prstGeom prst="rect">
            <a:avLst/>
          </a:prstGeom>
          <a:ln w="12700">
            <a:miter lim="400000"/>
          </a:ln>
        </p:spPr>
      </p:pic>
      <p:sp>
        <p:nvSpPr>
          <p:cNvPr id="634" name="Google Shape;348;p58"/>
          <p:cNvSpPr txBox="1"/>
          <p:nvPr/>
        </p:nvSpPr>
        <p:spPr>
          <a:xfrm>
            <a:off x="3977999" y="5320079"/>
            <a:ext cx="15192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1000"/>
              </a:lnSpc>
              <a:defRPr b="1" sz="2200">
                <a:solidFill>
                  <a:srgbClr val="272525"/>
                </a:solidFill>
                <a:latin typeface="Petrona"/>
                <a:ea typeface="Petrona"/>
                <a:cs typeface="Petrona"/>
                <a:sym typeface="Petrona"/>
              </a:defRPr>
            </a:lvl1pPr>
          </a:lstStyle>
          <a:p>
            <a:pPr/>
            <a:r>
              <a:t>4</a:t>
            </a:r>
          </a:p>
        </p:txBody>
      </p:sp>
      <p:sp>
        <p:nvSpPr>
          <p:cNvPr id="635" name="Google Shape;349;p58"/>
          <p:cNvSpPr txBox="1"/>
          <p:nvPr/>
        </p:nvSpPr>
        <p:spPr>
          <a:xfrm>
            <a:off x="7509240" y="5360759"/>
            <a:ext cx="10893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Domain</a:t>
            </a:r>
          </a:p>
        </p:txBody>
      </p:sp>
      <p:sp>
        <p:nvSpPr>
          <p:cNvPr id="636" name="Google Shape;350;p58"/>
          <p:cNvSpPr txBox="1"/>
          <p:nvPr/>
        </p:nvSpPr>
        <p:spPr>
          <a:xfrm>
            <a:off x="793800" y="6214679"/>
            <a:ext cx="13042080" cy="1346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2100">
                <a:solidFill>
                  <a:srgbClr val="272525"/>
                </a:solidFill>
                <a:latin typeface="Inter"/>
                <a:ea typeface="Inter"/>
                <a:cs typeface="Inter"/>
                <a:sym typeface="Inter"/>
              </a:defRPr>
            </a:lvl1pPr>
          </a:lstStyle>
          <a:p>
            <a:pPr/>
            <a:r>
              <a:t>Ontologies provide a structured representation of knowledge within the search system, defining relationships between different concepts and entities. This hierarchical structure enables more intelligent and context-aware search capabilities.</a:t>
            </a:r>
          </a:p>
        </p:txBody>
      </p:sp>
      <p:sp>
        <p:nvSpPr>
          <p:cNvPr id="637" name="Google Shape;351;p58"/>
          <p:cNvSpPr/>
          <p:nvPr/>
        </p:nvSpPr>
        <p:spPr>
          <a:xfrm flipH="1" rot="16200000">
            <a:off x="7306021" y="3938996"/>
            <a:ext cx="882001" cy="566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w="28425">
            <a:solidFill>
              <a:srgbClr val="FF0000"/>
            </a:solidFill>
            <a:tailEnd type="triangle"/>
          </a:ln>
        </p:spPr>
        <p:txBody>
          <a:bodyPr lIns="0" tIns="0" rIns="0" bIns="0"/>
          <a:lstStyle/>
          <a:p>
            <a:pPr/>
          </a:p>
        </p:txBody>
      </p:sp>
      <p:sp>
        <p:nvSpPr>
          <p:cNvPr id="638" name="Google Shape;352;p58"/>
          <p:cNvSpPr/>
          <p:nvPr/>
        </p:nvSpPr>
        <p:spPr>
          <a:xfrm flipH="1" rot="16200000">
            <a:off x="7911188" y="4723106"/>
            <a:ext cx="882001" cy="763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w="28425">
            <a:solidFill>
              <a:srgbClr val="FF0000"/>
            </a:solidFill>
            <a:tailEnd type="triangle"/>
          </a:ln>
        </p:spPr>
        <p:txBody>
          <a:bodyPr lIns="0" tIns="0" rIns="0" bIns="0"/>
          <a:lstStyle/>
          <a:p>
            <a:pPr/>
          </a:p>
        </p:txBody>
      </p:sp>
      <p:sp>
        <p:nvSpPr>
          <p:cNvPr id="639" name="Google Shape;353;p58"/>
          <p:cNvSpPr/>
          <p:nvPr/>
        </p:nvSpPr>
        <p:spPr>
          <a:xfrm flipH="1" rot="16200000">
            <a:off x="7112893" y="3372608"/>
            <a:ext cx="559454" cy="1054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w="28425">
            <a:solidFill>
              <a:srgbClr val="FF0000"/>
            </a:solidFill>
            <a:tailEnd type="triangle"/>
          </a:ln>
        </p:spPr>
        <p:txBody>
          <a:bodyPr lIns="0" tIns="0" rIns="0" bIns="0"/>
          <a:lstStyle/>
          <a:p>
            <a:pPr/>
          </a:p>
        </p:txBody>
      </p:sp>
      <p:grpSp>
        <p:nvGrpSpPr>
          <p:cNvPr id="644" name="Google Shape;354;p58"/>
          <p:cNvGrpSpPr/>
          <p:nvPr/>
        </p:nvGrpSpPr>
        <p:grpSpPr>
          <a:xfrm>
            <a:off x="13783679" y="-1"/>
            <a:ext cx="846360" cy="1009205"/>
            <a:chOff x="0" y="0"/>
            <a:chExt cx="846359" cy="1009203"/>
          </a:xfrm>
        </p:grpSpPr>
        <p:sp>
          <p:nvSpPr>
            <p:cNvPr id="640" name="Google Shape;355;p58"/>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643" name="Google Shape;356;p58"/>
            <p:cNvGrpSpPr/>
            <p:nvPr/>
          </p:nvGrpSpPr>
          <p:grpSpPr>
            <a:xfrm>
              <a:off x="55079" y="-1"/>
              <a:ext cx="791281" cy="1009205"/>
              <a:chOff x="0" y="0"/>
              <a:chExt cx="791279" cy="1009203"/>
            </a:xfrm>
          </p:grpSpPr>
          <p:pic>
            <p:nvPicPr>
              <p:cNvPr id="641" name="Google Shape;357;p58" descr="Google Shape;357;p58"/>
              <p:cNvPicPr>
                <a:picLocks noChangeAspect="1"/>
              </p:cNvPicPr>
              <p:nvPr/>
            </p:nvPicPr>
            <p:blipFill>
              <a:blip r:embed="rId6">
                <a:extLst/>
              </a:blip>
              <a:srcRect l="20669" t="0" r="9844" b="0"/>
              <a:stretch>
                <a:fillRect/>
              </a:stretch>
            </p:blipFill>
            <p:spPr>
              <a:xfrm>
                <a:off x="0" y="0"/>
                <a:ext cx="756360" cy="756361"/>
              </a:xfrm>
              <a:prstGeom prst="rect">
                <a:avLst/>
              </a:prstGeom>
              <a:ln w="12700" cap="flat">
                <a:noFill/>
                <a:miter lim="400000"/>
              </a:ln>
              <a:effectLst/>
            </p:spPr>
          </p:pic>
          <p:sp>
            <p:nvSpPr>
              <p:cNvPr id="642" name="Google Shape;358;p58"/>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6" name="Google Shape;364;p59"/>
          <p:cNvSpPr txBox="1"/>
          <p:nvPr/>
        </p:nvSpPr>
        <p:spPr>
          <a:xfrm>
            <a:off x="548999" y="822240"/>
            <a:ext cx="8509150"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Key Components: AI Agents</a:t>
            </a:r>
          </a:p>
        </p:txBody>
      </p:sp>
      <p:sp>
        <p:nvSpPr>
          <p:cNvPr id="647" name="Google Shape;365;p59"/>
          <p:cNvSpPr/>
          <p:nvPr/>
        </p:nvSpPr>
        <p:spPr>
          <a:xfrm>
            <a:off x="622800" y="1858679"/>
            <a:ext cx="6705001" cy="3535202"/>
          </a:xfrm>
          <a:prstGeom prst="roundRect">
            <a:avLst>
              <a:gd name="adj" fmla="val 2694"/>
            </a:avLst>
          </a:prstGeom>
          <a:solidFill>
            <a:srgbClr val="CCEEFF"/>
          </a:solidFill>
          <a:ln>
            <a:solidFill>
              <a:srgbClr val="B2D4E5"/>
            </a:solidFill>
          </a:ln>
        </p:spPr>
        <p:txBody>
          <a:bodyPr lIns="0" tIns="0" rIns="0" bIns="0" anchor="ctr"/>
          <a:lstStyle/>
          <a:p>
            <a:pPr/>
          </a:p>
        </p:txBody>
      </p:sp>
      <p:sp>
        <p:nvSpPr>
          <p:cNvPr id="648" name="Google Shape;366;p59"/>
          <p:cNvSpPr txBox="1"/>
          <p:nvPr/>
        </p:nvSpPr>
        <p:spPr>
          <a:xfrm>
            <a:off x="1014840" y="2158559"/>
            <a:ext cx="5536080"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900">
                <a:solidFill>
                  <a:srgbClr val="272525"/>
                </a:solidFill>
                <a:latin typeface="Petrona"/>
                <a:ea typeface="Petrona"/>
                <a:cs typeface="Petrona"/>
                <a:sym typeface="Petrona"/>
              </a:defRPr>
            </a:lvl1pPr>
          </a:lstStyle>
          <a:p>
            <a:pPr/>
            <a:r>
              <a:t>Prompt Engineering</a:t>
            </a:r>
          </a:p>
        </p:txBody>
      </p:sp>
      <p:sp>
        <p:nvSpPr>
          <p:cNvPr id="649" name="Google Shape;367;p59"/>
          <p:cNvSpPr txBox="1"/>
          <p:nvPr/>
        </p:nvSpPr>
        <p:spPr>
          <a:xfrm>
            <a:off x="1014839" y="2903399"/>
            <a:ext cx="5943962" cy="15077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2300">
                <a:solidFill>
                  <a:srgbClr val="272525"/>
                </a:solidFill>
                <a:latin typeface="Inter"/>
                <a:ea typeface="Inter"/>
                <a:cs typeface="Inter"/>
                <a:sym typeface="Inter"/>
              </a:defRPr>
            </a:lvl1pPr>
          </a:lstStyle>
          <a:p>
            <a:pPr/>
            <a:r>
              <a:t>AI agents support the creation and optimization of prompts to improve search accuracy and relevance.</a:t>
            </a:r>
          </a:p>
        </p:txBody>
      </p:sp>
      <p:sp>
        <p:nvSpPr>
          <p:cNvPr id="650" name="Google Shape;368;p59"/>
          <p:cNvSpPr/>
          <p:nvPr/>
        </p:nvSpPr>
        <p:spPr>
          <a:xfrm>
            <a:off x="7742519" y="1924199"/>
            <a:ext cx="6093721" cy="3535202"/>
          </a:xfrm>
          <a:prstGeom prst="roundRect">
            <a:avLst>
              <a:gd name="adj" fmla="val 2694"/>
            </a:avLst>
          </a:prstGeom>
          <a:solidFill>
            <a:srgbClr val="CCEEFF"/>
          </a:solidFill>
          <a:ln>
            <a:solidFill>
              <a:srgbClr val="B2D4E5"/>
            </a:solidFill>
          </a:ln>
        </p:spPr>
        <p:txBody>
          <a:bodyPr lIns="0" tIns="0" rIns="0" bIns="0" anchor="ctr"/>
          <a:lstStyle/>
          <a:p>
            <a:pPr/>
          </a:p>
        </p:txBody>
      </p:sp>
      <p:sp>
        <p:nvSpPr>
          <p:cNvPr id="651" name="Google Shape;369;p59"/>
          <p:cNvSpPr txBox="1"/>
          <p:nvPr/>
        </p:nvSpPr>
        <p:spPr>
          <a:xfrm>
            <a:off x="8065440" y="2158559"/>
            <a:ext cx="5536081" cy="918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700">
                <a:solidFill>
                  <a:srgbClr val="272525"/>
                </a:solidFill>
                <a:latin typeface="Petrona"/>
                <a:ea typeface="Petrona"/>
                <a:cs typeface="Petrona"/>
                <a:sym typeface="Petrona"/>
              </a:defRPr>
            </a:lvl1pPr>
          </a:lstStyle>
          <a:p>
            <a:pPr/>
            <a:r>
              <a:t>Dynamic Generation of Federated Graph Queries</a:t>
            </a:r>
          </a:p>
        </p:txBody>
      </p:sp>
      <p:sp>
        <p:nvSpPr>
          <p:cNvPr id="652" name="Google Shape;370;p59"/>
          <p:cNvSpPr txBox="1"/>
          <p:nvPr/>
        </p:nvSpPr>
        <p:spPr>
          <a:xfrm>
            <a:off x="8065440" y="3410999"/>
            <a:ext cx="5536081" cy="1346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2100">
                <a:solidFill>
                  <a:srgbClr val="272525"/>
                </a:solidFill>
                <a:latin typeface="Inter"/>
                <a:ea typeface="Inter"/>
                <a:cs typeface="Inter"/>
                <a:sym typeface="Inter"/>
              </a:defRPr>
            </a:lvl1pPr>
          </a:lstStyle>
          <a:p>
            <a:pPr/>
            <a:r>
              <a:t>Agents can generate complex graph queries from natural language prompts, enabling more sophisticated search capabilities.</a:t>
            </a:r>
          </a:p>
        </p:txBody>
      </p:sp>
      <p:sp>
        <p:nvSpPr>
          <p:cNvPr id="653" name="Google Shape;371;p59"/>
          <p:cNvSpPr/>
          <p:nvPr/>
        </p:nvSpPr>
        <p:spPr>
          <a:xfrm>
            <a:off x="622800" y="5686919"/>
            <a:ext cx="13212721" cy="1702081"/>
          </a:xfrm>
          <a:prstGeom prst="roundRect">
            <a:avLst>
              <a:gd name="adj" fmla="val 5595"/>
            </a:avLst>
          </a:prstGeom>
          <a:solidFill>
            <a:srgbClr val="CCEEFF"/>
          </a:solidFill>
          <a:ln>
            <a:solidFill>
              <a:srgbClr val="B2D4E5"/>
            </a:solidFill>
          </a:ln>
        </p:spPr>
        <p:txBody>
          <a:bodyPr lIns="0" tIns="0" rIns="0" bIns="0" anchor="ctr"/>
          <a:lstStyle/>
          <a:p>
            <a:pPr/>
          </a:p>
        </p:txBody>
      </p:sp>
      <p:sp>
        <p:nvSpPr>
          <p:cNvPr id="654" name="Google Shape;372;p59"/>
          <p:cNvSpPr txBox="1"/>
          <p:nvPr/>
        </p:nvSpPr>
        <p:spPr>
          <a:xfrm>
            <a:off x="1014840" y="5921280"/>
            <a:ext cx="10225800"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800">
                <a:solidFill>
                  <a:srgbClr val="272525"/>
                </a:solidFill>
                <a:latin typeface="Petrona"/>
                <a:ea typeface="Petrona"/>
                <a:cs typeface="Petrona"/>
                <a:sym typeface="Petrona"/>
              </a:defRPr>
            </a:lvl1pPr>
          </a:lstStyle>
          <a:p>
            <a:pPr/>
            <a:r>
              <a:t>Dynamic Generation of Relational Queries</a:t>
            </a:r>
          </a:p>
        </p:txBody>
      </p:sp>
      <p:sp>
        <p:nvSpPr>
          <p:cNvPr id="655" name="Google Shape;373;p59"/>
          <p:cNvSpPr txBox="1"/>
          <p:nvPr/>
        </p:nvSpPr>
        <p:spPr>
          <a:xfrm>
            <a:off x="1014839" y="6429240"/>
            <a:ext cx="12586682" cy="8651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2200">
                <a:solidFill>
                  <a:srgbClr val="272525"/>
                </a:solidFill>
                <a:latin typeface="Inter"/>
                <a:ea typeface="Inter"/>
                <a:cs typeface="Inter"/>
                <a:sym typeface="Inter"/>
              </a:defRPr>
            </a:lvl1pPr>
          </a:lstStyle>
          <a:p>
            <a:pPr/>
            <a:r>
              <a:t>AI agents translate graph queries into relational queries, bridging the gap between different data structures and search paradigms.</a:t>
            </a:r>
          </a:p>
        </p:txBody>
      </p:sp>
      <p:sp>
        <p:nvSpPr>
          <p:cNvPr id="656" name="Google Shape;374;p59"/>
          <p:cNvSpPr/>
          <p:nvPr/>
        </p:nvSpPr>
        <p:spPr>
          <a:xfrm>
            <a:off x="7210080" y="3633480"/>
            <a:ext cx="669961" cy="338761"/>
          </a:xfrm>
          <a:prstGeom prst="rightArrow">
            <a:avLst>
              <a:gd name="adj1" fmla="val 50000"/>
              <a:gd name="adj2" fmla="val 50000"/>
            </a:avLst>
          </a:prstGeom>
          <a:solidFill>
            <a:srgbClr val="EEECE1"/>
          </a:solidFill>
          <a:ln>
            <a:solidFill>
              <a:srgbClr val="1F497D"/>
            </a:solidFill>
          </a:ln>
        </p:spPr>
        <p:txBody>
          <a:bodyPr lIns="0" tIns="0" rIns="0" bIns="0" anchor="ctr"/>
          <a:lstStyle/>
          <a:p>
            <a:pPr/>
          </a:p>
        </p:txBody>
      </p:sp>
      <p:sp>
        <p:nvSpPr>
          <p:cNvPr id="657" name="Google Shape;375;p59"/>
          <p:cNvSpPr/>
          <p:nvPr/>
        </p:nvSpPr>
        <p:spPr>
          <a:xfrm rot="5400000">
            <a:off x="10454760" y="5474520"/>
            <a:ext cx="669961" cy="338761"/>
          </a:xfrm>
          <a:prstGeom prst="rightArrow">
            <a:avLst>
              <a:gd name="adj1" fmla="val 50000"/>
              <a:gd name="adj2" fmla="val 50000"/>
            </a:avLst>
          </a:prstGeom>
          <a:solidFill>
            <a:srgbClr val="EEECE1"/>
          </a:solidFill>
          <a:ln>
            <a:solidFill>
              <a:srgbClr val="1F497D"/>
            </a:solidFill>
          </a:ln>
        </p:spPr>
        <p:txBody>
          <a:bodyPr lIns="0" tIns="0" rIns="0" bIns="0" anchor="ctr"/>
          <a:lstStyle/>
          <a:p>
            <a:pPr/>
          </a:p>
        </p:txBody>
      </p:sp>
      <p:sp>
        <p:nvSpPr>
          <p:cNvPr id="658" name="Google Shape;376;p59"/>
          <p:cNvSpPr/>
          <p:nvPr/>
        </p:nvSpPr>
        <p:spPr>
          <a:xfrm rot="16200000">
            <a:off x="3307679" y="5344559"/>
            <a:ext cx="669961" cy="338761"/>
          </a:xfrm>
          <a:prstGeom prst="rightArrow">
            <a:avLst>
              <a:gd name="adj1" fmla="val 50000"/>
              <a:gd name="adj2" fmla="val 50000"/>
            </a:avLst>
          </a:prstGeom>
          <a:solidFill>
            <a:srgbClr val="EEECE1"/>
          </a:solidFill>
          <a:ln>
            <a:solidFill>
              <a:srgbClr val="1F497D"/>
            </a:solidFill>
          </a:ln>
        </p:spPr>
        <p:txBody>
          <a:bodyPr lIns="0" tIns="0" rIns="0" bIns="0" anchor="ctr"/>
          <a:lstStyle/>
          <a:p>
            <a:pPr/>
          </a:p>
        </p:txBody>
      </p:sp>
      <p:grpSp>
        <p:nvGrpSpPr>
          <p:cNvPr id="661" name="Google Shape;377;p59"/>
          <p:cNvGrpSpPr/>
          <p:nvPr/>
        </p:nvGrpSpPr>
        <p:grpSpPr>
          <a:xfrm>
            <a:off x="10081439" y="701280"/>
            <a:ext cx="3754081" cy="864721"/>
            <a:chOff x="0" y="0"/>
            <a:chExt cx="3754080" cy="864719"/>
          </a:xfrm>
        </p:grpSpPr>
        <p:sp>
          <p:nvSpPr>
            <p:cNvPr id="659" name="Rectangle"/>
            <p:cNvSpPr/>
            <p:nvPr/>
          </p:nvSpPr>
          <p:spPr>
            <a:xfrm>
              <a:off x="-1" y="0"/>
              <a:ext cx="3754082" cy="864720"/>
            </a:xfrm>
            <a:prstGeom prst="rect">
              <a:avLst/>
            </a:prstGeom>
            <a:solidFill>
              <a:srgbClr val="F4CCCC"/>
            </a:solidFill>
            <a:ln w="12700" cap="flat">
              <a:noFill/>
              <a:miter lim="400000"/>
            </a:ln>
            <a:effectLst/>
          </p:spPr>
          <p:txBody>
            <a:bodyPr wrap="square" lIns="0" tIns="0" rIns="0" bIns="0" numCol="1" anchor="ctr">
              <a:noAutofit/>
            </a:bodyPr>
            <a:lstStyle/>
            <a:p>
              <a:pPr algn="ctr">
                <a:defRPr sz="1600"/>
              </a:pPr>
            </a:p>
          </p:txBody>
        </p:sp>
        <p:sp>
          <p:nvSpPr>
            <p:cNvPr id="660" name="Conversations are recursive by nature which requires dynamic learning and knowledge curation"/>
            <p:cNvSpPr txBox="1"/>
            <p:nvPr/>
          </p:nvSpPr>
          <p:spPr>
            <a:xfrm>
              <a:off x="-1" y="1358"/>
              <a:ext cx="3754082" cy="8620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600"/>
              </a:lvl1pPr>
            </a:lstStyle>
            <a:p>
              <a:pPr/>
              <a:r>
                <a:t>Conversations are recursive by nature which requires dynamic learning and knowledge curation</a:t>
              </a:r>
            </a:p>
          </p:txBody>
        </p:sp>
      </p:grpSp>
      <p:grpSp>
        <p:nvGrpSpPr>
          <p:cNvPr id="666" name="Google Shape;378;p59"/>
          <p:cNvGrpSpPr/>
          <p:nvPr/>
        </p:nvGrpSpPr>
        <p:grpSpPr>
          <a:xfrm>
            <a:off x="13783679" y="-1"/>
            <a:ext cx="846360" cy="1009205"/>
            <a:chOff x="0" y="0"/>
            <a:chExt cx="846359" cy="1009203"/>
          </a:xfrm>
        </p:grpSpPr>
        <p:sp>
          <p:nvSpPr>
            <p:cNvPr id="662" name="Google Shape;379;p59"/>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665" name="Google Shape;380;p59"/>
            <p:cNvGrpSpPr/>
            <p:nvPr/>
          </p:nvGrpSpPr>
          <p:grpSpPr>
            <a:xfrm>
              <a:off x="55079" y="-1"/>
              <a:ext cx="791281" cy="1009205"/>
              <a:chOff x="0" y="0"/>
              <a:chExt cx="791279" cy="1009203"/>
            </a:xfrm>
          </p:grpSpPr>
          <p:pic>
            <p:nvPicPr>
              <p:cNvPr id="663" name="Google Shape;381;p59" descr="Google Shape;381;p59"/>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664" name="Google Shape;382;p59"/>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8" name="Google Shape;388;p60"/>
          <p:cNvSpPr txBox="1"/>
          <p:nvPr/>
        </p:nvSpPr>
        <p:spPr>
          <a:xfrm>
            <a:off x="793800" y="751319"/>
            <a:ext cx="10893936"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Domain-specific Knowledge Graphs</a:t>
            </a:r>
          </a:p>
        </p:txBody>
      </p:sp>
      <p:grpSp>
        <p:nvGrpSpPr>
          <p:cNvPr id="676" name="Google Shape;389;p60"/>
          <p:cNvGrpSpPr/>
          <p:nvPr/>
        </p:nvGrpSpPr>
        <p:grpSpPr>
          <a:xfrm>
            <a:off x="793799" y="1957679"/>
            <a:ext cx="13049642" cy="4653641"/>
            <a:chOff x="0" y="0"/>
            <a:chExt cx="13049640" cy="4653640"/>
          </a:xfrm>
        </p:grpSpPr>
        <p:sp>
          <p:nvSpPr>
            <p:cNvPr id="669" name="Google Shape;390;p60"/>
            <p:cNvSpPr txBox="1"/>
            <p:nvPr/>
          </p:nvSpPr>
          <p:spPr>
            <a:xfrm>
              <a:off x="0" y="0"/>
              <a:ext cx="2976480"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900">
                  <a:latin typeface="Petrona"/>
                  <a:ea typeface="Petrona"/>
                  <a:cs typeface="Petrona"/>
                  <a:sym typeface="Petrona"/>
                </a:defRPr>
              </a:lvl1pPr>
            </a:lstStyle>
            <a:p>
              <a:pPr/>
              <a:r>
                <a:t>Purpose</a:t>
              </a:r>
            </a:p>
          </p:txBody>
        </p:sp>
        <p:sp>
          <p:nvSpPr>
            <p:cNvPr id="670" name="Google Shape;391;p60"/>
            <p:cNvSpPr txBox="1"/>
            <p:nvPr/>
          </p:nvSpPr>
          <p:spPr>
            <a:xfrm>
              <a:off x="0" y="1336680"/>
              <a:ext cx="6243841" cy="26598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62000"/>
                </a:lnSpc>
                <a:defRPr sz="2300">
                  <a:solidFill>
                    <a:srgbClr val="272525"/>
                  </a:solidFill>
                  <a:latin typeface="Inter"/>
                  <a:ea typeface="Inter"/>
                  <a:cs typeface="Inter"/>
                  <a:sym typeface="Inter"/>
                </a:defRPr>
              </a:lvl1pPr>
            </a:lstStyle>
            <a:p>
              <a:pPr/>
              <a:r>
                <a:t>Domain-specific knowledge graphs provide a structured representation of information within a particular field or industry, enhancing the search system's understanding of context and relationships.</a:t>
              </a:r>
            </a:p>
          </p:txBody>
        </p:sp>
        <p:sp>
          <p:nvSpPr>
            <p:cNvPr id="671" name="Google Shape;392;p60"/>
            <p:cNvSpPr txBox="1"/>
            <p:nvPr/>
          </p:nvSpPr>
          <p:spPr>
            <a:xfrm>
              <a:off x="6805800" y="0"/>
              <a:ext cx="2976481"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6000"/>
                </a:lnSpc>
                <a:defRPr b="1" sz="2900">
                  <a:latin typeface="Petrona"/>
                  <a:ea typeface="Petrona"/>
                  <a:cs typeface="Petrona"/>
                  <a:sym typeface="Petrona"/>
                </a:defRPr>
              </a:lvl1pPr>
            </a:lstStyle>
            <a:p>
              <a:pPr/>
              <a:r>
                <a:t>Benefits</a:t>
              </a:r>
            </a:p>
          </p:txBody>
        </p:sp>
        <p:sp>
          <p:nvSpPr>
            <p:cNvPr id="672" name="Google Shape;393;p60"/>
            <p:cNvSpPr txBox="1"/>
            <p:nvPr/>
          </p:nvSpPr>
          <p:spPr>
            <a:xfrm>
              <a:off x="6805800" y="1336680"/>
              <a:ext cx="624384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marL="343080" indent="-342719">
                <a:lnSpc>
                  <a:spcPct val="162000"/>
                </a:lnSpc>
                <a:buClr>
                  <a:srgbClr val="272525"/>
                </a:buClr>
                <a:buSzPts val="2300"/>
                <a:buFont typeface="Helvetica"/>
                <a:buChar char="•"/>
                <a:defRPr sz="2300">
                  <a:solidFill>
                    <a:srgbClr val="272525"/>
                  </a:solidFill>
                  <a:latin typeface="Inter"/>
                  <a:ea typeface="Inter"/>
                  <a:cs typeface="Inter"/>
                  <a:sym typeface="Inter"/>
                </a:defRPr>
              </a:lvl1pPr>
            </a:lstStyle>
            <a:p>
              <a:pPr/>
              <a:r>
                <a:t>Improved search accuracy</a:t>
              </a:r>
            </a:p>
          </p:txBody>
        </p:sp>
        <p:sp>
          <p:nvSpPr>
            <p:cNvPr id="673" name="Google Shape;394;p60"/>
            <p:cNvSpPr txBox="1"/>
            <p:nvPr/>
          </p:nvSpPr>
          <p:spPr>
            <a:xfrm>
              <a:off x="6805800" y="2323800"/>
              <a:ext cx="624384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marL="343080" indent="-342719">
                <a:lnSpc>
                  <a:spcPct val="162000"/>
                </a:lnSpc>
                <a:buClr>
                  <a:srgbClr val="272525"/>
                </a:buClr>
                <a:buSzPts val="2300"/>
                <a:buFont typeface="Helvetica"/>
                <a:buChar char="•"/>
                <a:defRPr sz="2300">
                  <a:solidFill>
                    <a:srgbClr val="272525"/>
                  </a:solidFill>
                  <a:latin typeface="Inter"/>
                  <a:ea typeface="Inter"/>
                  <a:cs typeface="Inter"/>
                  <a:sym typeface="Inter"/>
                </a:defRPr>
              </a:lvl1pPr>
            </a:lstStyle>
            <a:p>
              <a:pPr/>
              <a:r>
                <a:t>Enhanced context awareness</a:t>
              </a:r>
            </a:p>
          </p:txBody>
        </p:sp>
        <p:sp>
          <p:nvSpPr>
            <p:cNvPr id="674" name="Google Shape;395;p60"/>
            <p:cNvSpPr txBox="1"/>
            <p:nvPr/>
          </p:nvSpPr>
          <p:spPr>
            <a:xfrm>
              <a:off x="6805800" y="3310920"/>
              <a:ext cx="624384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marL="343080" indent="-342719">
                <a:lnSpc>
                  <a:spcPct val="162000"/>
                </a:lnSpc>
                <a:buClr>
                  <a:srgbClr val="272525"/>
                </a:buClr>
                <a:buSzPts val="2300"/>
                <a:buFont typeface="Helvetica"/>
                <a:buChar char="•"/>
                <a:defRPr sz="2300">
                  <a:solidFill>
                    <a:srgbClr val="272525"/>
                  </a:solidFill>
                  <a:latin typeface="Inter"/>
                  <a:ea typeface="Inter"/>
                  <a:cs typeface="Inter"/>
                  <a:sym typeface="Inter"/>
                </a:defRPr>
              </a:lvl1pPr>
            </a:lstStyle>
            <a:p>
              <a:pPr/>
              <a:r>
                <a:t>Better support for complex queries</a:t>
              </a:r>
            </a:p>
          </p:txBody>
        </p:sp>
        <p:sp>
          <p:nvSpPr>
            <p:cNvPr id="675" name="Google Shape;396;p60"/>
            <p:cNvSpPr txBox="1"/>
            <p:nvPr/>
          </p:nvSpPr>
          <p:spPr>
            <a:xfrm>
              <a:off x="6805800" y="4298040"/>
              <a:ext cx="624384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marL="343080" indent="-342719">
                <a:lnSpc>
                  <a:spcPct val="162000"/>
                </a:lnSpc>
                <a:buClr>
                  <a:srgbClr val="272525"/>
                </a:buClr>
                <a:buSzPts val="2300"/>
                <a:buFont typeface="Helvetica"/>
                <a:buChar char="•"/>
                <a:defRPr sz="2300">
                  <a:solidFill>
                    <a:srgbClr val="272525"/>
                  </a:solidFill>
                  <a:latin typeface="Inter"/>
                  <a:ea typeface="Inter"/>
                  <a:cs typeface="Inter"/>
                  <a:sym typeface="Inter"/>
                </a:defRPr>
              </a:lvl1pPr>
            </a:lstStyle>
            <a:p>
              <a:pPr/>
              <a:r>
                <a:t>Facilitation of knowledge discovery</a:t>
              </a:r>
            </a:p>
          </p:txBody>
        </p:sp>
      </p:grpSp>
      <p:grpSp>
        <p:nvGrpSpPr>
          <p:cNvPr id="681" name="Google Shape;397;p60"/>
          <p:cNvGrpSpPr/>
          <p:nvPr/>
        </p:nvGrpSpPr>
        <p:grpSpPr>
          <a:xfrm>
            <a:off x="13783679" y="-1"/>
            <a:ext cx="846360" cy="1009205"/>
            <a:chOff x="0" y="0"/>
            <a:chExt cx="846359" cy="1009203"/>
          </a:xfrm>
        </p:grpSpPr>
        <p:sp>
          <p:nvSpPr>
            <p:cNvPr id="677" name="Google Shape;398;p60"/>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680" name="Google Shape;399;p60"/>
            <p:cNvGrpSpPr/>
            <p:nvPr/>
          </p:nvGrpSpPr>
          <p:grpSpPr>
            <a:xfrm>
              <a:off x="55079" y="-1"/>
              <a:ext cx="791281" cy="1009205"/>
              <a:chOff x="0" y="0"/>
              <a:chExt cx="791279" cy="1009203"/>
            </a:xfrm>
          </p:grpSpPr>
          <p:pic>
            <p:nvPicPr>
              <p:cNvPr id="678" name="Google Shape;400;p60" descr="Google Shape;400;p60"/>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679" name="Google Shape;401;p60"/>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83" name="Google Shape;407;p61" descr="Google Shape;407;p61"/>
          <p:cNvPicPr>
            <a:picLocks noChangeAspect="1"/>
          </p:cNvPicPr>
          <p:nvPr/>
        </p:nvPicPr>
        <p:blipFill>
          <a:blip r:embed="rId2">
            <a:extLst/>
          </a:blip>
          <a:stretch>
            <a:fillRect/>
          </a:stretch>
        </p:blipFill>
        <p:spPr>
          <a:xfrm>
            <a:off x="0" y="0"/>
            <a:ext cx="5485680" cy="8228880"/>
          </a:xfrm>
          <a:prstGeom prst="rect">
            <a:avLst/>
          </a:prstGeom>
          <a:ln w="12700">
            <a:miter lim="400000"/>
          </a:ln>
        </p:spPr>
      </p:pic>
      <p:sp>
        <p:nvSpPr>
          <p:cNvPr id="684" name="Google Shape;408;p61"/>
          <p:cNvSpPr txBox="1"/>
          <p:nvPr/>
        </p:nvSpPr>
        <p:spPr>
          <a:xfrm>
            <a:off x="6280200" y="850679"/>
            <a:ext cx="5953320"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Service Mapping</a:t>
            </a:r>
          </a:p>
        </p:txBody>
      </p:sp>
      <p:pic>
        <p:nvPicPr>
          <p:cNvPr id="685" name="Google Shape;409;p61" descr="Google Shape;409;p61"/>
          <p:cNvPicPr>
            <a:picLocks noChangeAspect="1"/>
          </p:cNvPicPr>
          <p:nvPr/>
        </p:nvPicPr>
        <p:blipFill>
          <a:blip r:embed="rId3">
            <a:extLst/>
          </a:blip>
          <a:stretch>
            <a:fillRect/>
          </a:stretch>
        </p:blipFill>
        <p:spPr>
          <a:xfrm>
            <a:off x="6280199" y="1935359"/>
            <a:ext cx="1133281" cy="1813681"/>
          </a:xfrm>
          <a:prstGeom prst="rect">
            <a:avLst/>
          </a:prstGeom>
          <a:ln w="12700">
            <a:miter lim="400000"/>
          </a:ln>
        </p:spPr>
      </p:pic>
      <p:sp>
        <p:nvSpPr>
          <p:cNvPr id="686" name="Google Shape;410;p61"/>
          <p:cNvSpPr txBox="1"/>
          <p:nvPr/>
        </p:nvSpPr>
        <p:spPr>
          <a:xfrm>
            <a:off x="7754400" y="2162160"/>
            <a:ext cx="297648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Service Definition</a:t>
            </a:r>
          </a:p>
        </p:txBody>
      </p:sp>
      <p:sp>
        <p:nvSpPr>
          <p:cNvPr id="687" name="Google Shape;411;p61"/>
          <p:cNvSpPr txBox="1"/>
          <p:nvPr/>
        </p:nvSpPr>
        <p:spPr>
          <a:xfrm>
            <a:off x="7754400" y="2670119"/>
            <a:ext cx="6081481" cy="665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700">
                <a:solidFill>
                  <a:srgbClr val="272525"/>
                </a:solidFill>
                <a:latin typeface="Inter"/>
                <a:ea typeface="Inter"/>
                <a:cs typeface="Inter"/>
                <a:sym typeface="Inter"/>
              </a:defRPr>
            </a:lvl1pPr>
          </a:lstStyle>
          <a:p>
            <a:pPr/>
            <a:r>
              <a:t>Define the service within the context of Technical, Operational, or Business categories.</a:t>
            </a:r>
          </a:p>
        </p:txBody>
      </p:sp>
      <p:pic>
        <p:nvPicPr>
          <p:cNvPr id="688" name="Google Shape;412;p61" descr="Google Shape;412;p61"/>
          <p:cNvPicPr>
            <a:picLocks noChangeAspect="1"/>
          </p:cNvPicPr>
          <p:nvPr/>
        </p:nvPicPr>
        <p:blipFill>
          <a:blip r:embed="rId4">
            <a:extLst/>
          </a:blip>
          <a:stretch>
            <a:fillRect/>
          </a:stretch>
        </p:blipFill>
        <p:spPr>
          <a:xfrm>
            <a:off x="6280199" y="3749759"/>
            <a:ext cx="1133281" cy="1813681"/>
          </a:xfrm>
          <a:prstGeom prst="rect">
            <a:avLst/>
          </a:prstGeom>
          <a:ln w="12700">
            <a:miter lim="400000"/>
          </a:ln>
        </p:spPr>
      </p:pic>
      <p:sp>
        <p:nvSpPr>
          <p:cNvPr id="689" name="Google Shape;413;p61"/>
          <p:cNvSpPr txBox="1"/>
          <p:nvPr/>
        </p:nvSpPr>
        <p:spPr>
          <a:xfrm>
            <a:off x="7754400" y="3976559"/>
            <a:ext cx="297648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Project Mapping</a:t>
            </a:r>
          </a:p>
        </p:txBody>
      </p:sp>
      <p:sp>
        <p:nvSpPr>
          <p:cNvPr id="690" name="Google Shape;414;p61"/>
          <p:cNvSpPr txBox="1"/>
          <p:nvPr/>
        </p:nvSpPr>
        <p:spPr>
          <a:xfrm>
            <a:off x="7754400" y="4484880"/>
            <a:ext cx="6081481" cy="665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700">
                <a:solidFill>
                  <a:srgbClr val="272525"/>
                </a:solidFill>
                <a:latin typeface="Inter"/>
                <a:ea typeface="Inter"/>
                <a:cs typeface="Inter"/>
                <a:sym typeface="Inter"/>
              </a:defRPr>
            </a:lvl1pPr>
          </a:lstStyle>
          <a:p>
            <a:pPr/>
            <a:r>
              <a:t>Map the service to a project that is currently being built or developed.</a:t>
            </a:r>
          </a:p>
        </p:txBody>
      </p:sp>
      <p:pic>
        <p:nvPicPr>
          <p:cNvPr id="691" name="Google Shape;415;p61" descr="Google Shape;415;p61"/>
          <p:cNvPicPr>
            <a:picLocks noChangeAspect="1"/>
          </p:cNvPicPr>
          <p:nvPr/>
        </p:nvPicPr>
        <p:blipFill>
          <a:blip r:embed="rId5">
            <a:extLst/>
          </a:blip>
          <a:stretch>
            <a:fillRect/>
          </a:stretch>
        </p:blipFill>
        <p:spPr>
          <a:xfrm>
            <a:off x="6280199" y="5564159"/>
            <a:ext cx="1133281" cy="1813681"/>
          </a:xfrm>
          <a:prstGeom prst="rect">
            <a:avLst/>
          </a:prstGeom>
          <a:ln w="12700">
            <a:miter lim="400000"/>
          </a:ln>
        </p:spPr>
      </p:pic>
      <p:sp>
        <p:nvSpPr>
          <p:cNvPr id="692" name="Google Shape;416;p61"/>
          <p:cNvSpPr txBox="1"/>
          <p:nvPr/>
        </p:nvSpPr>
        <p:spPr>
          <a:xfrm>
            <a:off x="7754400" y="5790960"/>
            <a:ext cx="297648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Service Delivery</a:t>
            </a:r>
          </a:p>
        </p:txBody>
      </p:sp>
      <p:sp>
        <p:nvSpPr>
          <p:cNvPr id="693" name="Google Shape;417;p61"/>
          <p:cNvSpPr txBox="1"/>
          <p:nvPr/>
        </p:nvSpPr>
        <p:spPr>
          <a:xfrm>
            <a:off x="7754400" y="6299279"/>
            <a:ext cx="6081481" cy="665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700">
                <a:solidFill>
                  <a:srgbClr val="272525"/>
                </a:solidFill>
                <a:latin typeface="Inter"/>
                <a:ea typeface="Inter"/>
                <a:cs typeface="Inter"/>
                <a:sym typeface="Inter"/>
              </a:defRPr>
            </a:lvl1pPr>
          </a:lstStyle>
          <a:p>
            <a:pPr/>
            <a:r>
              <a:t>Map the service to an existing service that is being delivered to users or customers.</a:t>
            </a:r>
          </a:p>
        </p:txBody>
      </p:sp>
      <p:grpSp>
        <p:nvGrpSpPr>
          <p:cNvPr id="698" name="Google Shape;418;p61"/>
          <p:cNvGrpSpPr/>
          <p:nvPr/>
        </p:nvGrpSpPr>
        <p:grpSpPr>
          <a:xfrm>
            <a:off x="13783679" y="-1"/>
            <a:ext cx="846360" cy="1009205"/>
            <a:chOff x="0" y="0"/>
            <a:chExt cx="846359" cy="1009203"/>
          </a:xfrm>
        </p:grpSpPr>
        <p:sp>
          <p:nvSpPr>
            <p:cNvPr id="694" name="Google Shape;419;p61"/>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697" name="Google Shape;420;p61"/>
            <p:cNvGrpSpPr/>
            <p:nvPr/>
          </p:nvGrpSpPr>
          <p:grpSpPr>
            <a:xfrm>
              <a:off x="55079" y="-1"/>
              <a:ext cx="791281" cy="1009205"/>
              <a:chOff x="0" y="0"/>
              <a:chExt cx="791279" cy="1009203"/>
            </a:xfrm>
          </p:grpSpPr>
          <p:pic>
            <p:nvPicPr>
              <p:cNvPr id="695" name="Google Shape;421;p61" descr="Google Shape;421;p61"/>
              <p:cNvPicPr>
                <a:picLocks noChangeAspect="1"/>
              </p:cNvPicPr>
              <p:nvPr/>
            </p:nvPicPr>
            <p:blipFill>
              <a:blip r:embed="rId6">
                <a:extLst/>
              </a:blip>
              <a:srcRect l="20669" t="0" r="9844" b="0"/>
              <a:stretch>
                <a:fillRect/>
              </a:stretch>
            </p:blipFill>
            <p:spPr>
              <a:xfrm>
                <a:off x="0" y="0"/>
                <a:ext cx="756360" cy="756361"/>
              </a:xfrm>
              <a:prstGeom prst="rect">
                <a:avLst/>
              </a:prstGeom>
              <a:ln w="12700" cap="flat">
                <a:noFill/>
                <a:miter lim="400000"/>
              </a:ln>
              <a:effectLst/>
            </p:spPr>
          </p:pic>
          <p:sp>
            <p:nvSpPr>
              <p:cNvPr id="696" name="Google Shape;422;p61"/>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00" name="Google Shape;428;p62" descr="Google Shape;428;p62"/>
          <p:cNvPicPr>
            <a:picLocks noChangeAspect="1"/>
          </p:cNvPicPr>
          <p:nvPr/>
        </p:nvPicPr>
        <p:blipFill>
          <a:blip r:embed="rId2">
            <a:extLst/>
          </a:blip>
          <a:stretch>
            <a:fillRect/>
          </a:stretch>
        </p:blipFill>
        <p:spPr>
          <a:xfrm>
            <a:off x="10972800" y="0"/>
            <a:ext cx="3656880" cy="8228880"/>
          </a:xfrm>
          <a:prstGeom prst="rect">
            <a:avLst/>
          </a:prstGeom>
          <a:ln w="12700">
            <a:miter lim="400000"/>
          </a:ln>
        </p:spPr>
      </p:pic>
      <p:sp>
        <p:nvSpPr>
          <p:cNvPr id="701" name="Google Shape;429;p62"/>
          <p:cNvSpPr txBox="1"/>
          <p:nvPr/>
        </p:nvSpPr>
        <p:spPr>
          <a:xfrm>
            <a:off x="793800" y="1023120"/>
            <a:ext cx="9060575"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Search Context Integration</a:t>
            </a:r>
          </a:p>
        </p:txBody>
      </p:sp>
      <p:pic>
        <p:nvPicPr>
          <p:cNvPr id="702" name="Google Shape;430;p62" descr="Google Shape;430;p62"/>
          <p:cNvPicPr>
            <a:picLocks noChangeAspect="1"/>
          </p:cNvPicPr>
          <p:nvPr/>
        </p:nvPicPr>
        <p:blipFill>
          <a:blip r:embed="rId3">
            <a:extLst/>
          </a:blip>
          <a:stretch>
            <a:fillRect/>
          </a:stretch>
        </p:blipFill>
        <p:spPr>
          <a:xfrm>
            <a:off x="793799" y="2107439"/>
            <a:ext cx="566282" cy="566281"/>
          </a:xfrm>
          <a:prstGeom prst="rect">
            <a:avLst/>
          </a:prstGeom>
          <a:ln w="12700">
            <a:miter lim="400000"/>
          </a:ln>
        </p:spPr>
      </p:pic>
      <p:sp>
        <p:nvSpPr>
          <p:cNvPr id="703" name="Google Shape;431;p62"/>
          <p:cNvSpPr txBox="1"/>
          <p:nvPr/>
        </p:nvSpPr>
        <p:spPr>
          <a:xfrm>
            <a:off x="793799" y="2901239"/>
            <a:ext cx="2976482"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User Context</a:t>
            </a:r>
          </a:p>
        </p:txBody>
      </p:sp>
      <p:sp>
        <p:nvSpPr>
          <p:cNvPr id="704" name="Google Shape;432;p62"/>
          <p:cNvSpPr txBox="1"/>
          <p:nvPr/>
        </p:nvSpPr>
        <p:spPr>
          <a:xfrm>
            <a:off x="793800" y="3409560"/>
            <a:ext cx="4521600" cy="665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700">
                <a:solidFill>
                  <a:srgbClr val="272525"/>
                </a:solidFill>
                <a:latin typeface="Inter"/>
                <a:ea typeface="Inter"/>
                <a:cs typeface="Inter"/>
                <a:sym typeface="Inter"/>
              </a:defRPr>
            </a:lvl1pPr>
          </a:lstStyle>
          <a:p>
            <a:pPr/>
            <a:r>
              <a:t>Incorporates user-specific information such as preferences, history, and behavior.</a:t>
            </a:r>
          </a:p>
        </p:txBody>
      </p:sp>
      <p:pic>
        <p:nvPicPr>
          <p:cNvPr id="705" name="Google Shape;433;p62" descr="Google Shape;433;p62"/>
          <p:cNvPicPr>
            <a:picLocks noChangeAspect="1"/>
          </p:cNvPicPr>
          <p:nvPr/>
        </p:nvPicPr>
        <p:blipFill>
          <a:blip r:embed="rId4">
            <a:extLst/>
          </a:blip>
          <a:stretch>
            <a:fillRect/>
          </a:stretch>
        </p:blipFill>
        <p:spPr>
          <a:xfrm>
            <a:off x="5656319" y="2107439"/>
            <a:ext cx="566281" cy="566281"/>
          </a:xfrm>
          <a:prstGeom prst="rect">
            <a:avLst/>
          </a:prstGeom>
          <a:ln w="12700">
            <a:miter lim="400000"/>
          </a:ln>
        </p:spPr>
      </p:pic>
      <p:sp>
        <p:nvSpPr>
          <p:cNvPr id="706" name="Google Shape;434;p62"/>
          <p:cNvSpPr txBox="1"/>
          <p:nvPr/>
        </p:nvSpPr>
        <p:spPr>
          <a:xfrm>
            <a:off x="5656319" y="2901239"/>
            <a:ext cx="402812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Organizational Context</a:t>
            </a:r>
          </a:p>
        </p:txBody>
      </p:sp>
      <p:sp>
        <p:nvSpPr>
          <p:cNvPr id="707" name="Google Shape;435;p62"/>
          <p:cNvSpPr txBox="1"/>
          <p:nvPr/>
        </p:nvSpPr>
        <p:spPr>
          <a:xfrm>
            <a:off x="5656319" y="3409560"/>
            <a:ext cx="4521961" cy="665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700">
                <a:solidFill>
                  <a:srgbClr val="272525"/>
                </a:solidFill>
                <a:latin typeface="Inter"/>
                <a:ea typeface="Inter"/>
                <a:cs typeface="Inter"/>
                <a:sym typeface="Inter"/>
              </a:defRPr>
            </a:lvl1pPr>
          </a:lstStyle>
          <a:p>
            <a:pPr/>
            <a:r>
              <a:t>Considers the user's role within their organization and relevant business processes.</a:t>
            </a:r>
          </a:p>
        </p:txBody>
      </p:sp>
      <p:pic>
        <p:nvPicPr>
          <p:cNvPr id="708" name="Google Shape;436;p62" descr="Google Shape;436;p62"/>
          <p:cNvPicPr>
            <a:picLocks noChangeAspect="1"/>
          </p:cNvPicPr>
          <p:nvPr/>
        </p:nvPicPr>
        <p:blipFill>
          <a:blip r:embed="rId5">
            <a:extLst/>
          </a:blip>
          <a:stretch>
            <a:fillRect/>
          </a:stretch>
        </p:blipFill>
        <p:spPr>
          <a:xfrm>
            <a:off x="793799" y="5178600"/>
            <a:ext cx="566282" cy="566281"/>
          </a:xfrm>
          <a:prstGeom prst="rect">
            <a:avLst/>
          </a:prstGeom>
          <a:ln w="12700">
            <a:miter lim="400000"/>
          </a:ln>
        </p:spPr>
      </p:pic>
      <p:sp>
        <p:nvSpPr>
          <p:cNvPr id="709" name="Google Shape;437;p62"/>
          <p:cNvSpPr txBox="1"/>
          <p:nvPr/>
        </p:nvSpPr>
        <p:spPr>
          <a:xfrm>
            <a:off x="793800" y="5972400"/>
            <a:ext cx="3824765"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Goal-oriented Context</a:t>
            </a:r>
          </a:p>
        </p:txBody>
      </p:sp>
      <p:sp>
        <p:nvSpPr>
          <p:cNvPr id="710" name="Google Shape;438;p62"/>
          <p:cNvSpPr txBox="1"/>
          <p:nvPr/>
        </p:nvSpPr>
        <p:spPr>
          <a:xfrm>
            <a:off x="793800" y="6480719"/>
            <a:ext cx="4521600" cy="665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700">
                <a:solidFill>
                  <a:srgbClr val="272525"/>
                </a:solidFill>
                <a:latin typeface="Inter"/>
                <a:ea typeface="Inter"/>
                <a:cs typeface="Inter"/>
                <a:sym typeface="Inter"/>
              </a:defRPr>
            </a:lvl1pPr>
          </a:lstStyle>
          <a:p>
            <a:pPr/>
            <a:r>
              <a:t>Aligns search results with the user's specific goals and objectives.</a:t>
            </a:r>
          </a:p>
        </p:txBody>
      </p:sp>
      <p:pic>
        <p:nvPicPr>
          <p:cNvPr id="711" name="Google Shape;439;p62" descr="Google Shape;439;p62"/>
          <p:cNvPicPr>
            <a:picLocks noChangeAspect="1"/>
          </p:cNvPicPr>
          <p:nvPr/>
        </p:nvPicPr>
        <p:blipFill>
          <a:blip r:embed="rId6">
            <a:extLst/>
          </a:blip>
          <a:stretch>
            <a:fillRect/>
          </a:stretch>
        </p:blipFill>
        <p:spPr>
          <a:xfrm>
            <a:off x="5656319" y="5178600"/>
            <a:ext cx="566281" cy="566281"/>
          </a:xfrm>
          <a:prstGeom prst="rect">
            <a:avLst/>
          </a:prstGeom>
          <a:ln w="12700">
            <a:miter lim="400000"/>
          </a:ln>
        </p:spPr>
      </p:pic>
      <p:sp>
        <p:nvSpPr>
          <p:cNvPr id="712" name="Google Shape;440;p62"/>
          <p:cNvSpPr txBox="1"/>
          <p:nvPr/>
        </p:nvSpPr>
        <p:spPr>
          <a:xfrm>
            <a:off x="5656319" y="5972400"/>
            <a:ext cx="3824766"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300">
                <a:solidFill>
                  <a:srgbClr val="272525"/>
                </a:solidFill>
                <a:latin typeface="Petrona"/>
                <a:ea typeface="Petrona"/>
                <a:cs typeface="Petrona"/>
                <a:sym typeface="Petrona"/>
              </a:defRPr>
            </a:lvl1pPr>
          </a:lstStyle>
          <a:p>
            <a:pPr/>
            <a:r>
              <a:t>Environmental Context</a:t>
            </a:r>
          </a:p>
        </p:txBody>
      </p:sp>
      <p:sp>
        <p:nvSpPr>
          <p:cNvPr id="713" name="Google Shape;441;p62"/>
          <p:cNvSpPr txBox="1"/>
          <p:nvPr/>
        </p:nvSpPr>
        <p:spPr>
          <a:xfrm>
            <a:off x="5656319" y="6480719"/>
            <a:ext cx="4521961" cy="665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000"/>
              </a:lnSpc>
              <a:defRPr sz="1700">
                <a:solidFill>
                  <a:srgbClr val="272525"/>
                </a:solidFill>
                <a:latin typeface="Inter"/>
                <a:ea typeface="Inter"/>
                <a:cs typeface="Inter"/>
                <a:sym typeface="Inter"/>
              </a:defRPr>
            </a:lvl1pPr>
          </a:lstStyle>
          <a:p>
            <a:pPr/>
            <a:r>
              <a:t>Takes into account external factors such as location, time, and industry trends.</a:t>
            </a:r>
          </a:p>
        </p:txBody>
      </p:sp>
      <p:grpSp>
        <p:nvGrpSpPr>
          <p:cNvPr id="718" name="Google Shape;443;p62"/>
          <p:cNvGrpSpPr/>
          <p:nvPr/>
        </p:nvGrpSpPr>
        <p:grpSpPr>
          <a:xfrm>
            <a:off x="13783679" y="-1"/>
            <a:ext cx="846360" cy="1009205"/>
            <a:chOff x="0" y="0"/>
            <a:chExt cx="846359" cy="1009203"/>
          </a:xfrm>
        </p:grpSpPr>
        <p:sp>
          <p:nvSpPr>
            <p:cNvPr id="714" name="Google Shape;444;p62"/>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717" name="Google Shape;445;p62"/>
            <p:cNvGrpSpPr/>
            <p:nvPr/>
          </p:nvGrpSpPr>
          <p:grpSpPr>
            <a:xfrm>
              <a:off x="55079" y="-1"/>
              <a:ext cx="791281" cy="1009205"/>
              <a:chOff x="0" y="0"/>
              <a:chExt cx="791279" cy="1009203"/>
            </a:xfrm>
          </p:grpSpPr>
          <p:pic>
            <p:nvPicPr>
              <p:cNvPr id="715" name="Google Shape;446;p62" descr="Google Shape;446;p62"/>
              <p:cNvPicPr>
                <a:picLocks noChangeAspect="1"/>
              </p:cNvPicPr>
              <p:nvPr/>
            </p:nvPicPr>
            <p:blipFill>
              <a:blip r:embed="rId7">
                <a:extLst/>
              </a:blip>
              <a:srcRect l="20669" t="0" r="9844" b="0"/>
              <a:stretch>
                <a:fillRect/>
              </a:stretch>
            </p:blipFill>
            <p:spPr>
              <a:xfrm>
                <a:off x="0" y="0"/>
                <a:ext cx="756360" cy="756361"/>
              </a:xfrm>
              <a:prstGeom prst="rect">
                <a:avLst/>
              </a:prstGeom>
              <a:ln w="12700" cap="flat">
                <a:noFill/>
                <a:miter lim="400000"/>
              </a:ln>
              <a:effectLst/>
            </p:spPr>
          </p:pic>
          <p:sp>
            <p:nvSpPr>
              <p:cNvPr id="716" name="Google Shape;447;p62"/>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0" name="Google Shape;453;p63"/>
          <p:cNvSpPr txBox="1"/>
          <p:nvPr/>
        </p:nvSpPr>
        <p:spPr>
          <a:xfrm>
            <a:off x="758520" y="596159"/>
            <a:ext cx="8805344"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400">
                <a:latin typeface="Petrona"/>
                <a:ea typeface="Petrona"/>
                <a:cs typeface="Petrona"/>
                <a:sym typeface="Petrona"/>
              </a:defRPr>
            </a:lvl1pPr>
          </a:lstStyle>
          <a:p>
            <a:pPr/>
            <a:r>
              <a:t>System Architecture Overview</a:t>
            </a:r>
          </a:p>
        </p:txBody>
      </p:sp>
      <p:sp>
        <p:nvSpPr>
          <p:cNvPr id="721" name="Google Shape;454;p63"/>
          <p:cNvSpPr txBox="1"/>
          <p:nvPr/>
        </p:nvSpPr>
        <p:spPr>
          <a:xfrm>
            <a:off x="758519" y="5788800"/>
            <a:ext cx="284472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000"/>
              </a:lnSpc>
              <a:defRPr b="1" sz="2200">
                <a:solidFill>
                  <a:srgbClr val="272525"/>
                </a:solidFill>
                <a:latin typeface="Petrona"/>
                <a:ea typeface="Petrona"/>
                <a:cs typeface="Petrona"/>
                <a:sym typeface="Petrona"/>
              </a:defRPr>
            </a:lvl1pPr>
          </a:lstStyle>
          <a:p>
            <a:pPr/>
            <a:r>
              <a:t>Core Components</a:t>
            </a:r>
          </a:p>
        </p:txBody>
      </p:sp>
      <p:sp>
        <p:nvSpPr>
          <p:cNvPr id="722" name="Google Shape;455;p63"/>
          <p:cNvSpPr txBox="1"/>
          <p:nvPr/>
        </p:nvSpPr>
        <p:spPr>
          <a:xfrm>
            <a:off x="758519" y="6274439"/>
            <a:ext cx="6393241" cy="10566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8000"/>
              </a:lnSpc>
              <a:defRPr sz="1700">
                <a:solidFill>
                  <a:srgbClr val="272525"/>
                </a:solidFill>
                <a:latin typeface="Inter"/>
                <a:ea typeface="Inter"/>
                <a:cs typeface="Inter"/>
                <a:sym typeface="Inter"/>
              </a:defRPr>
            </a:lvl1pPr>
          </a:lstStyle>
          <a:p>
            <a:pPr/>
            <a:r>
              <a:t>The system architecture integrates various components including search engines, AI agents, knowledge graphs, and user interfaces to provide a comprehensive Search as a Service solution.</a:t>
            </a:r>
          </a:p>
        </p:txBody>
      </p:sp>
      <p:sp>
        <p:nvSpPr>
          <p:cNvPr id="723" name="Google Shape;456;p63"/>
          <p:cNvSpPr txBox="1"/>
          <p:nvPr/>
        </p:nvSpPr>
        <p:spPr>
          <a:xfrm>
            <a:off x="7477559" y="5788800"/>
            <a:ext cx="284472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000"/>
              </a:lnSpc>
              <a:defRPr b="1" sz="2200">
                <a:solidFill>
                  <a:srgbClr val="272525"/>
                </a:solidFill>
                <a:latin typeface="Petrona"/>
                <a:ea typeface="Petrona"/>
                <a:cs typeface="Petrona"/>
                <a:sym typeface="Petrona"/>
              </a:defRPr>
            </a:lvl1pPr>
          </a:lstStyle>
          <a:p>
            <a:pPr/>
            <a:r>
              <a:t>Data Flow</a:t>
            </a:r>
          </a:p>
        </p:txBody>
      </p:sp>
      <p:sp>
        <p:nvSpPr>
          <p:cNvPr id="724" name="Google Shape;457;p63"/>
          <p:cNvSpPr txBox="1"/>
          <p:nvPr/>
        </p:nvSpPr>
        <p:spPr>
          <a:xfrm>
            <a:off x="7477559" y="6274439"/>
            <a:ext cx="6393241" cy="10566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8000"/>
              </a:lnSpc>
              <a:defRPr sz="1700">
                <a:solidFill>
                  <a:srgbClr val="272525"/>
                </a:solidFill>
                <a:latin typeface="Inter"/>
                <a:ea typeface="Inter"/>
                <a:cs typeface="Inter"/>
                <a:sym typeface="Inter"/>
              </a:defRPr>
            </a:lvl1pPr>
          </a:lstStyle>
          <a:p>
            <a:pPr/>
            <a:r>
              <a:t>The architecture ensures efficient data flow from ingestion and processing to retrieval and presentation, enabling fast and accurate search results across all search scenarios.</a:t>
            </a:r>
          </a:p>
        </p:txBody>
      </p:sp>
      <p:grpSp>
        <p:nvGrpSpPr>
          <p:cNvPr id="727" name="Google Shape;458;p63"/>
          <p:cNvGrpSpPr/>
          <p:nvPr/>
        </p:nvGrpSpPr>
        <p:grpSpPr>
          <a:xfrm>
            <a:off x="6705000" y="2865240"/>
            <a:ext cx="1143001" cy="740521"/>
            <a:chOff x="0" y="0"/>
            <a:chExt cx="1143000" cy="740520"/>
          </a:xfrm>
        </p:grpSpPr>
        <p:sp>
          <p:nvSpPr>
            <p:cNvPr id="725" name="Rounded Rectangle"/>
            <p:cNvSpPr/>
            <p:nvPr/>
          </p:nvSpPr>
          <p:spPr>
            <a:xfrm>
              <a:off x="0" y="0"/>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26" name="Search Query"/>
            <p:cNvSpPr txBox="1"/>
            <p:nvPr/>
          </p:nvSpPr>
          <p:spPr>
            <a:xfrm>
              <a:off x="40911" y="78543"/>
              <a:ext cx="106117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Search Query</a:t>
              </a:r>
            </a:p>
          </p:txBody>
        </p:sp>
      </p:grpSp>
      <p:grpSp>
        <p:nvGrpSpPr>
          <p:cNvPr id="730" name="Google Shape;459;p63"/>
          <p:cNvGrpSpPr/>
          <p:nvPr/>
        </p:nvGrpSpPr>
        <p:grpSpPr>
          <a:xfrm>
            <a:off x="8187480" y="2842183"/>
            <a:ext cx="1143001" cy="786634"/>
            <a:chOff x="0" y="0"/>
            <a:chExt cx="1143000" cy="786633"/>
          </a:xfrm>
        </p:grpSpPr>
        <p:sp>
          <p:nvSpPr>
            <p:cNvPr id="728" name="Rounded Rectangle"/>
            <p:cNvSpPr/>
            <p:nvPr/>
          </p:nvSpPr>
          <p:spPr>
            <a:xfrm>
              <a:off x="0" y="23056"/>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29" name="Search Pre - Processor"/>
            <p:cNvSpPr txBox="1"/>
            <p:nvPr/>
          </p:nvSpPr>
          <p:spPr>
            <a:xfrm>
              <a:off x="40911" y="0"/>
              <a:ext cx="1061178" cy="7866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Search Pre - Processor</a:t>
              </a:r>
            </a:p>
          </p:txBody>
        </p:sp>
      </p:grpSp>
      <p:sp>
        <p:nvSpPr>
          <p:cNvPr id="731" name="Google Shape;460;p63"/>
          <p:cNvSpPr/>
          <p:nvPr/>
        </p:nvSpPr>
        <p:spPr>
          <a:xfrm>
            <a:off x="7848359" y="3229630"/>
            <a:ext cx="3387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2" y="0"/>
                  <a:pt x="10805" y="5400"/>
                  <a:pt x="10805" y="10800"/>
                </a:cubicBezTo>
                <a:cubicBezTo>
                  <a:pt x="10805" y="16200"/>
                  <a:pt x="16202" y="21600"/>
                  <a:pt x="21600" y="21600"/>
                </a:cubicBezTo>
              </a:path>
            </a:pathLst>
          </a:custGeom>
          <a:ln>
            <a:solidFill>
              <a:srgbClr val="1F497D"/>
            </a:solidFill>
          </a:ln>
        </p:spPr>
        <p:txBody>
          <a:bodyPr lIns="0" tIns="0" rIns="0" bIns="0"/>
          <a:lstStyle/>
          <a:p>
            <a:pPr/>
          </a:p>
        </p:txBody>
      </p:sp>
      <p:grpSp>
        <p:nvGrpSpPr>
          <p:cNvPr id="734" name="Google Shape;461;p63"/>
          <p:cNvGrpSpPr/>
          <p:nvPr/>
        </p:nvGrpSpPr>
        <p:grpSpPr>
          <a:xfrm>
            <a:off x="9954720" y="1600200"/>
            <a:ext cx="1239121" cy="740521"/>
            <a:chOff x="0" y="0"/>
            <a:chExt cx="1239120" cy="740520"/>
          </a:xfrm>
        </p:grpSpPr>
        <p:sp>
          <p:nvSpPr>
            <p:cNvPr id="732" name="Rounded Rectangle"/>
            <p:cNvSpPr/>
            <p:nvPr/>
          </p:nvSpPr>
          <p:spPr>
            <a:xfrm>
              <a:off x="0" y="0"/>
              <a:ext cx="123912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33" name="Taxonomies"/>
            <p:cNvSpPr txBox="1"/>
            <p:nvPr/>
          </p:nvSpPr>
          <p:spPr>
            <a:xfrm>
              <a:off x="40911" y="180143"/>
              <a:ext cx="1157298"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Taxonomies</a:t>
              </a:r>
            </a:p>
          </p:txBody>
        </p:sp>
      </p:grpSp>
      <p:sp>
        <p:nvSpPr>
          <p:cNvPr id="735" name="Google Shape;462;p63"/>
          <p:cNvSpPr/>
          <p:nvPr/>
        </p:nvSpPr>
        <p:spPr>
          <a:xfrm rot="16200000">
            <a:off x="9138519" y="2157117"/>
            <a:ext cx="1051879" cy="6693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a:solidFill>
              <a:srgbClr val="1F497D"/>
            </a:solidFill>
          </a:ln>
        </p:spPr>
        <p:txBody>
          <a:bodyPr lIns="0" tIns="0" rIns="0" bIns="0"/>
          <a:lstStyle/>
          <a:p>
            <a:pPr/>
          </a:p>
        </p:txBody>
      </p:sp>
      <p:grpSp>
        <p:nvGrpSpPr>
          <p:cNvPr id="738" name="Google Shape;463;p63"/>
          <p:cNvGrpSpPr/>
          <p:nvPr/>
        </p:nvGrpSpPr>
        <p:grpSpPr>
          <a:xfrm>
            <a:off x="10002959" y="2865240"/>
            <a:ext cx="1143001" cy="740521"/>
            <a:chOff x="0" y="0"/>
            <a:chExt cx="1143000" cy="740520"/>
          </a:xfrm>
        </p:grpSpPr>
        <p:sp>
          <p:nvSpPr>
            <p:cNvPr id="736" name="Rounded Rectangle"/>
            <p:cNvSpPr/>
            <p:nvPr/>
          </p:nvSpPr>
          <p:spPr>
            <a:xfrm>
              <a:off x="0" y="0"/>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37" name="Ontologies"/>
            <p:cNvSpPr txBox="1"/>
            <p:nvPr/>
          </p:nvSpPr>
          <p:spPr>
            <a:xfrm>
              <a:off x="40911" y="180143"/>
              <a:ext cx="1061178"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Ontologies</a:t>
              </a:r>
            </a:p>
          </p:txBody>
        </p:sp>
      </p:grpSp>
      <p:sp>
        <p:nvSpPr>
          <p:cNvPr id="739" name="Google Shape;464;p63"/>
          <p:cNvSpPr/>
          <p:nvPr/>
        </p:nvSpPr>
        <p:spPr>
          <a:xfrm>
            <a:off x="9330839" y="3229630"/>
            <a:ext cx="6720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a:solidFill>
              <a:srgbClr val="1F497D"/>
            </a:solidFill>
          </a:ln>
        </p:spPr>
        <p:txBody>
          <a:bodyPr lIns="0" tIns="0" rIns="0" bIns="0"/>
          <a:lstStyle/>
          <a:p>
            <a:pPr/>
          </a:p>
        </p:txBody>
      </p:sp>
      <p:grpSp>
        <p:nvGrpSpPr>
          <p:cNvPr id="742" name="Google Shape;465;p63"/>
          <p:cNvGrpSpPr/>
          <p:nvPr/>
        </p:nvGrpSpPr>
        <p:grpSpPr>
          <a:xfrm>
            <a:off x="10002959" y="4130280"/>
            <a:ext cx="1349282" cy="740521"/>
            <a:chOff x="0" y="0"/>
            <a:chExt cx="1349280" cy="740520"/>
          </a:xfrm>
        </p:grpSpPr>
        <p:sp>
          <p:nvSpPr>
            <p:cNvPr id="740" name="Rounded Rectangle"/>
            <p:cNvSpPr/>
            <p:nvPr/>
          </p:nvSpPr>
          <p:spPr>
            <a:xfrm>
              <a:off x="0" y="0"/>
              <a:ext cx="134928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41" name="Federated Graph Query"/>
            <p:cNvSpPr txBox="1"/>
            <p:nvPr/>
          </p:nvSpPr>
          <p:spPr>
            <a:xfrm>
              <a:off x="40911" y="78543"/>
              <a:ext cx="126745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Federated Graph Query</a:t>
              </a:r>
            </a:p>
          </p:txBody>
        </p:sp>
      </p:grpSp>
      <p:sp>
        <p:nvSpPr>
          <p:cNvPr id="743" name="Google Shape;466;p63"/>
          <p:cNvSpPr/>
          <p:nvPr/>
        </p:nvSpPr>
        <p:spPr>
          <a:xfrm flipH="1" rot="16200000">
            <a:off x="9034440" y="3532080"/>
            <a:ext cx="1264801" cy="672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a:solidFill>
              <a:srgbClr val="1F497D"/>
            </a:solidFill>
          </a:ln>
        </p:spPr>
        <p:txBody>
          <a:bodyPr lIns="0" tIns="0" rIns="0" bIns="0"/>
          <a:lstStyle/>
          <a:p>
            <a:pPr/>
          </a:p>
        </p:txBody>
      </p:sp>
      <p:grpSp>
        <p:nvGrpSpPr>
          <p:cNvPr id="746" name="Google Shape;467;p63"/>
          <p:cNvGrpSpPr/>
          <p:nvPr/>
        </p:nvGrpSpPr>
        <p:grpSpPr>
          <a:xfrm>
            <a:off x="11621159" y="2865240"/>
            <a:ext cx="1197721" cy="740521"/>
            <a:chOff x="0" y="0"/>
            <a:chExt cx="1197720" cy="740520"/>
          </a:xfrm>
        </p:grpSpPr>
        <p:sp>
          <p:nvSpPr>
            <p:cNvPr id="744" name="Rounded Rectangle"/>
            <p:cNvSpPr/>
            <p:nvPr/>
          </p:nvSpPr>
          <p:spPr>
            <a:xfrm>
              <a:off x="0" y="0"/>
              <a:ext cx="119772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45" name="Inferencing…"/>
            <p:cNvSpPr txBox="1"/>
            <p:nvPr/>
          </p:nvSpPr>
          <p:spPr>
            <a:xfrm>
              <a:off x="40911" y="78543"/>
              <a:ext cx="111589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Inferencing</a:t>
              </a:r>
            </a:p>
            <a:p>
              <a:pPr algn="ctr"/>
              <a:r>
                <a:t>(AI Agents)</a:t>
              </a:r>
            </a:p>
          </p:txBody>
        </p:sp>
      </p:grpSp>
      <p:sp>
        <p:nvSpPr>
          <p:cNvPr id="747" name="Google Shape;468;p63"/>
          <p:cNvSpPr/>
          <p:nvPr/>
        </p:nvSpPr>
        <p:spPr>
          <a:xfrm>
            <a:off x="11194199" y="1970639"/>
            <a:ext cx="1025701" cy="894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0800" y="0"/>
                  <a:pt x="21600" y="10800"/>
                  <a:pt x="21600" y="21600"/>
                </a:cubicBezTo>
              </a:path>
            </a:pathLst>
          </a:custGeom>
          <a:ln>
            <a:solidFill>
              <a:srgbClr val="1F497D"/>
            </a:solidFill>
          </a:ln>
        </p:spPr>
        <p:txBody>
          <a:bodyPr lIns="0" tIns="0" rIns="0" bIns="0"/>
          <a:lstStyle/>
          <a:p>
            <a:pPr/>
          </a:p>
        </p:txBody>
      </p:sp>
      <p:sp>
        <p:nvSpPr>
          <p:cNvPr id="748" name="Google Shape;469;p63"/>
          <p:cNvSpPr/>
          <p:nvPr/>
        </p:nvSpPr>
        <p:spPr>
          <a:xfrm rot="16200000">
            <a:off x="11325167" y="3637234"/>
            <a:ext cx="894300" cy="8415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0800" y="0"/>
                  <a:pt x="21600" y="10800"/>
                  <a:pt x="21600" y="21600"/>
                </a:cubicBezTo>
              </a:path>
            </a:pathLst>
          </a:custGeom>
          <a:ln>
            <a:solidFill>
              <a:srgbClr val="1F497D"/>
            </a:solidFill>
          </a:ln>
        </p:spPr>
        <p:txBody>
          <a:bodyPr lIns="0" tIns="0" rIns="0" bIns="0"/>
          <a:lstStyle/>
          <a:p>
            <a:pPr/>
          </a:p>
        </p:txBody>
      </p:sp>
      <p:sp>
        <p:nvSpPr>
          <p:cNvPr id="749" name="Google Shape;470;p63"/>
          <p:cNvSpPr/>
          <p:nvPr/>
        </p:nvSpPr>
        <p:spPr>
          <a:xfrm>
            <a:off x="11146319" y="3229630"/>
            <a:ext cx="4746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399" y="0"/>
                  <a:pt x="10797" y="5400"/>
                  <a:pt x="10797" y="10800"/>
                </a:cubicBezTo>
                <a:cubicBezTo>
                  <a:pt x="10797" y="16200"/>
                  <a:pt x="16199" y="21600"/>
                  <a:pt x="21600" y="21600"/>
                </a:cubicBezTo>
              </a:path>
            </a:pathLst>
          </a:custGeom>
          <a:ln>
            <a:solidFill>
              <a:srgbClr val="1F497D"/>
            </a:solidFill>
          </a:ln>
        </p:spPr>
        <p:txBody>
          <a:bodyPr lIns="0" tIns="0" rIns="0" bIns="0"/>
          <a:lstStyle/>
          <a:p>
            <a:pPr/>
          </a:p>
        </p:txBody>
      </p:sp>
      <p:grpSp>
        <p:nvGrpSpPr>
          <p:cNvPr id="752" name="Google Shape;471;p63"/>
          <p:cNvGrpSpPr/>
          <p:nvPr/>
        </p:nvGrpSpPr>
        <p:grpSpPr>
          <a:xfrm>
            <a:off x="13161599" y="2853844"/>
            <a:ext cx="1143001" cy="763312"/>
            <a:chOff x="0" y="0"/>
            <a:chExt cx="1143000" cy="763310"/>
          </a:xfrm>
        </p:grpSpPr>
        <p:sp>
          <p:nvSpPr>
            <p:cNvPr id="750" name="Rounded Rectangle"/>
            <p:cNvSpPr/>
            <p:nvPr/>
          </p:nvSpPr>
          <p:spPr>
            <a:xfrm>
              <a:off x="0" y="11395"/>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defRPr sz="900"/>
              </a:pPr>
            </a:p>
          </p:txBody>
        </p:sp>
        <p:sp>
          <p:nvSpPr>
            <p:cNvPr id="751" name="Results…"/>
            <p:cNvSpPr txBox="1"/>
            <p:nvPr/>
          </p:nvSpPr>
          <p:spPr>
            <a:xfrm>
              <a:off x="40911" y="0"/>
              <a:ext cx="1061178" cy="7633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Results</a:t>
              </a:r>
            </a:p>
            <a:p>
              <a:pPr marL="171359" indent="-171000" algn="ctr">
                <a:buClr>
                  <a:srgbClr val="000000"/>
                </a:buClr>
                <a:buSzPts val="900"/>
                <a:buFont typeface="Arial"/>
                <a:buChar char="●"/>
                <a:defRPr sz="900"/>
              </a:pPr>
              <a:r>
                <a:t>personalized</a:t>
              </a:r>
            </a:p>
            <a:p>
              <a:pPr marL="171359" indent="-171000" algn="ctr">
                <a:buClr>
                  <a:srgbClr val="000000"/>
                </a:buClr>
                <a:buSzPts val="900"/>
                <a:buFont typeface="Arial"/>
                <a:buChar char="●"/>
                <a:defRPr sz="900"/>
              </a:pPr>
              <a:r>
                <a:t>Relevant</a:t>
              </a:r>
            </a:p>
            <a:p>
              <a:pPr marL="171359" indent="-171000" algn="ctr">
                <a:buClr>
                  <a:srgbClr val="000000"/>
                </a:buClr>
                <a:buSzPts val="900"/>
                <a:buFont typeface="Arial"/>
                <a:buChar char="●"/>
                <a:defRPr sz="900"/>
              </a:pPr>
              <a:r>
                <a:t>Precise</a:t>
              </a:r>
            </a:p>
          </p:txBody>
        </p:sp>
      </p:grpSp>
      <p:sp>
        <p:nvSpPr>
          <p:cNvPr id="753" name="Google Shape;472;p63"/>
          <p:cNvSpPr/>
          <p:nvPr/>
        </p:nvSpPr>
        <p:spPr>
          <a:xfrm>
            <a:off x="12819240" y="3229630"/>
            <a:ext cx="3420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a:solidFill>
              <a:srgbClr val="1F497D"/>
            </a:solidFill>
          </a:ln>
        </p:spPr>
        <p:txBody>
          <a:bodyPr lIns="0" tIns="0" rIns="0" bIns="0"/>
          <a:lstStyle/>
          <a:p>
            <a:pPr/>
          </a:p>
        </p:txBody>
      </p:sp>
      <p:grpSp>
        <p:nvGrpSpPr>
          <p:cNvPr id="758" name="Google Shape;473;p63"/>
          <p:cNvGrpSpPr/>
          <p:nvPr/>
        </p:nvGrpSpPr>
        <p:grpSpPr>
          <a:xfrm>
            <a:off x="1292400" y="1600199"/>
            <a:ext cx="2945160" cy="740522"/>
            <a:chOff x="0" y="0"/>
            <a:chExt cx="2945159" cy="740520"/>
          </a:xfrm>
        </p:grpSpPr>
        <p:grpSp>
          <p:nvGrpSpPr>
            <p:cNvPr id="756" name="Group"/>
            <p:cNvGrpSpPr/>
            <p:nvPr/>
          </p:nvGrpSpPr>
          <p:grpSpPr>
            <a:xfrm>
              <a:off x="0" y="-1"/>
              <a:ext cx="2945161" cy="740522"/>
              <a:chOff x="0" y="0"/>
              <a:chExt cx="2945160" cy="740520"/>
            </a:xfrm>
          </p:grpSpPr>
          <p:sp>
            <p:nvSpPr>
              <p:cNvPr id="754" name="Rectangle"/>
              <p:cNvSpPr/>
              <p:nvPr/>
            </p:nvSpPr>
            <p:spPr>
              <a:xfrm>
                <a:off x="0" y="-1"/>
                <a:ext cx="2945160" cy="740522"/>
              </a:xfrm>
              <a:prstGeom prst="rect">
                <a:avLst/>
              </a:prstGeom>
              <a:solidFill>
                <a:srgbClr val="EEECE1"/>
              </a:solidFill>
              <a:ln w="12700" cap="flat">
                <a:noFill/>
                <a:miter lim="400000"/>
              </a:ln>
              <a:effectLst/>
            </p:spPr>
            <p:txBody>
              <a:bodyPr wrap="square" lIns="0" tIns="0" rIns="0" bIns="0" numCol="1" anchor="ctr">
                <a:noAutofit/>
              </a:bodyPr>
              <a:lstStyle/>
              <a:p>
                <a:pPr algn="ctr"/>
              </a:p>
            </p:txBody>
          </p:sp>
          <p:sp>
            <p:nvSpPr>
              <p:cNvPr id="755" name="Shape"/>
              <p:cNvSpPr/>
              <p:nvPr/>
            </p:nvSpPr>
            <p:spPr>
              <a:xfrm>
                <a:off x="0" y="-1"/>
                <a:ext cx="2945161" cy="7405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00" y="0"/>
                    </a:moveTo>
                    <a:lnTo>
                      <a:pt x="2700" y="21600"/>
                    </a:lnTo>
                    <a:moveTo>
                      <a:pt x="18900" y="0"/>
                    </a:moveTo>
                    <a:lnTo>
                      <a:pt x="18900" y="21600"/>
                    </a:lnTo>
                    <a:moveTo>
                      <a:pt x="0" y="0"/>
                    </a:moveTo>
                    <a:lnTo>
                      <a:pt x="21600" y="0"/>
                    </a:lnTo>
                    <a:lnTo>
                      <a:pt x="21600" y="21600"/>
                    </a:lnTo>
                    <a:lnTo>
                      <a:pt x="0" y="21600"/>
                    </a:lnTo>
                    <a:close/>
                  </a:path>
                </a:pathLst>
              </a:custGeom>
              <a:noFill/>
              <a:ln w="9525" cap="flat">
                <a:solidFill>
                  <a:srgbClr val="1F497D"/>
                </a:solidFill>
                <a:prstDash val="solid"/>
                <a:round/>
              </a:ln>
              <a:effectLst/>
            </p:spPr>
            <p:txBody>
              <a:bodyPr wrap="square" lIns="0" tIns="0" rIns="0" bIns="0" numCol="1" anchor="ctr">
                <a:noAutofit/>
              </a:bodyPr>
              <a:lstStyle/>
              <a:p>
                <a:pPr algn="ctr"/>
              </a:p>
            </p:txBody>
          </p:sp>
        </p:grpSp>
        <p:sp>
          <p:nvSpPr>
            <p:cNvPr id="757" name="Presentation Layer…"/>
            <p:cNvSpPr txBox="1"/>
            <p:nvPr/>
          </p:nvSpPr>
          <p:spPr>
            <a:xfrm>
              <a:off x="372907" y="78543"/>
              <a:ext cx="2199346"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Presentation Layer</a:t>
              </a:r>
            </a:p>
            <a:p>
              <a:pPr algn="ctr"/>
              <a:r>
                <a:t>UX (APIs)</a:t>
              </a:r>
            </a:p>
          </p:txBody>
        </p:sp>
      </p:grpSp>
      <p:grpSp>
        <p:nvGrpSpPr>
          <p:cNvPr id="763" name="Google Shape;474;p63"/>
          <p:cNvGrpSpPr/>
          <p:nvPr/>
        </p:nvGrpSpPr>
        <p:grpSpPr>
          <a:xfrm>
            <a:off x="2204280" y="2526103"/>
            <a:ext cx="3018240" cy="786634"/>
            <a:chOff x="0" y="0"/>
            <a:chExt cx="3018239" cy="786633"/>
          </a:xfrm>
        </p:grpSpPr>
        <p:grpSp>
          <p:nvGrpSpPr>
            <p:cNvPr id="761" name="Group"/>
            <p:cNvGrpSpPr/>
            <p:nvPr/>
          </p:nvGrpSpPr>
          <p:grpSpPr>
            <a:xfrm>
              <a:off x="0" y="23056"/>
              <a:ext cx="3018241" cy="740521"/>
              <a:chOff x="0" y="0"/>
              <a:chExt cx="3018240" cy="740520"/>
            </a:xfrm>
          </p:grpSpPr>
          <p:sp>
            <p:nvSpPr>
              <p:cNvPr id="759" name="Rectangle"/>
              <p:cNvSpPr/>
              <p:nvPr/>
            </p:nvSpPr>
            <p:spPr>
              <a:xfrm>
                <a:off x="0" y="-1"/>
                <a:ext cx="3018240" cy="740522"/>
              </a:xfrm>
              <a:prstGeom prst="rect">
                <a:avLst/>
              </a:prstGeom>
              <a:solidFill>
                <a:srgbClr val="EEECE1"/>
              </a:solidFill>
              <a:ln w="12700" cap="flat">
                <a:noFill/>
                <a:miter lim="400000"/>
              </a:ln>
              <a:effectLst/>
            </p:spPr>
            <p:txBody>
              <a:bodyPr wrap="square" lIns="0" tIns="0" rIns="0" bIns="0" numCol="1" anchor="ctr">
                <a:noAutofit/>
              </a:bodyPr>
              <a:lstStyle/>
              <a:p>
                <a:pPr algn="ctr"/>
              </a:p>
            </p:txBody>
          </p:sp>
          <p:sp>
            <p:nvSpPr>
              <p:cNvPr id="760" name="Shape"/>
              <p:cNvSpPr/>
              <p:nvPr/>
            </p:nvSpPr>
            <p:spPr>
              <a:xfrm>
                <a:off x="0" y="-1"/>
                <a:ext cx="3018241" cy="7405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00" y="0"/>
                    </a:moveTo>
                    <a:lnTo>
                      <a:pt x="2700" y="21600"/>
                    </a:lnTo>
                    <a:moveTo>
                      <a:pt x="18900" y="0"/>
                    </a:moveTo>
                    <a:lnTo>
                      <a:pt x="18900" y="21600"/>
                    </a:lnTo>
                    <a:moveTo>
                      <a:pt x="0" y="0"/>
                    </a:moveTo>
                    <a:lnTo>
                      <a:pt x="21600" y="0"/>
                    </a:lnTo>
                    <a:lnTo>
                      <a:pt x="21600" y="21600"/>
                    </a:lnTo>
                    <a:lnTo>
                      <a:pt x="0" y="21600"/>
                    </a:lnTo>
                    <a:close/>
                  </a:path>
                </a:pathLst>
              </a:custGeom>
              <a:noFill/>
              <a:ln w="9525" cap="flat">
                <a:solidFill>
                  <a:srgbClr val="1F497D"/>
                </a:solidFill>
                <a:prstDash val="solid"/>
                <a:round/>
              </a:ln>
              <a:effectLst/>
            </p:spPr>
            <p:txBody>
              <a:bodyPr wrap="square" lIns="0" tIns="0" rIns="0" bIns="0" numCol="1" anchor="ctr">
                <a:noAutofit/>
              </a:bodyPr>
              <a:lstStyle/>
              <a:p>
                <a:pPr algn="ctr"/>
              </a:p>
            </p:txBody>
          </p:sp>
        </p:grpSp>
        <p:sp>
          <p:nvSpPr>
            <p:cNvPr id="762" name="App / Logic Layer…"/>
            <p:cNvSpPr txBox="1"/>
            <p:nvPr/>
          </p:nvSpPr>
          <p:spPr>
            <a:xfrm>
              <a:off x="382042" y="0"/>
              <a:ext cx="2254156" cy="7866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App / Logic Layer</a:t>
              </a:r>
            </a:p>
            <a:p>
              <a:pPr algn="ctr"/>
              <a:r>
                <a:t>(Search Services, AI Agents, BI Agents)</a:t>
              </a:r>
            </a:p>
          </p:txBody>
        </p:sp>
      </p:grpSp>
      <p:grpSp>
        <p:nvGrpSpPr>
          <p:cNvPr id="768" name="Google Shape;475;p63"/>
          <p:cNvGrpSpPr/>
          <p:nvPr/>
        </p:nvGrpSpPr>
        <p:grpSpPr>
          <a:xfrm>
            <a:off x="295559" y="3474703"/>
            <a:ext cx="3264841" cy="786634"/>
            <a:chOff x="0" y="0"/>
            <a:chExt cx="3264839" cy="786633"/>
          </a:xfrm>
        </p:grpSpPr>
        <p:grpSp>
          <p:nvGrpSpPr>
            <p:cNvPr id="766" name="Group"/>
            <p:cNvGrpSpPr/>
            <p:nvPr/>
          </p:nvGrpSpPr>
          <p:grpSpPr>
            <a:xfrm>
              <a:off x="-1" y="23056"/>
              <a:ext cx="3264841" cy="740521"/>
              <a:chOff x="0" y="0"/>
              <a:chExt cx="3264839" cy="740520"/>
            </a:xfrm>
          </p:grpSpPr>
          <p:sp>
            <p:nvSpPr>
              <p:cNvPr id="764" name="Rectangle"/>
              <p:cNvSpPr/>
              <p:nvPr/>
            </p:nvSpPr>
            <p:spPr>
              <a:xfrm>
                <a:off x="-1" y="-1"/>
                <a:ext cx="3264841" cy="740522"/>
              </a:xfrm>
              <a:prstGeom prst="rect">
                <a:avLst/>
              </a:prstGeom>
              <a:solidFill>
                <a:srgbClr val="EEECE1"/>
              </a:solidFill>
              <a:ln w="12700" cap="flat">
                <a:noFill/>
                <a:miter lim="400000"/>
              </a:ln>
              <a:effectLst/>
            </p:spPr>
            <p:txBody>
              <a:bodyPr wrap="square" lIns="0" tIns="0" rIns="0" bIns="0" numCol="1" anchor="ctr">
                <a:noAutofit/>
              </a:bodyPr>
              <a:lstStyle/>
              <a:p>
                <a:pPr algn="ctr"/>
              </a:p>
            </p:txBody>
          </p:sp>
          <p:sp>
            <p:nvSpPr>
              <p:cNvPr id="765" name="Shape"/>
              <p:cNvSpPr/>
              <p:nvPr/>
            </p:nvSpPr>
            <p:spPr>
              <a:xfrm>
                <a:off x="-1" y="-1"/>
                <a:ext cx="3264841" cy="7405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00" y="0"/>
                    </a:moveTo>
                    <a:lnTo>
                      <a:pt x="2700" y="21600"/>
                    </a:lnTo>
                    <a:moveTo>
                      <a:pt x="18900" y="0"/>
                    </a:moveTo>
                    <a:lnTo>
                      <a:pt x="18900" y="21600"/>
                    </a:lnTo>
                    <a:moveTo>
                      <a:pt x="0" y="0"/>
                    </a:moveTo>
                    <a:lnTo>
                      <a:pt x="21600" y="0"/>
                    </a:lnTo>
                    <a:lnTo>
                      <a:pt x="21600" y="21600"/>
                    </a:lnTo>
                    <a:lnTo>
                      <a:pt x="0" y="21600"/>
                    </a:lnTo>
                    <a:close/>
                  </a:path>
                </a:pathLst>
              </a:custGeom>
              <a:noFill/>
              <a:ln w="9525" cap="flat">
                <a:solidFill>
                  <a:srgbClr val="1F497D"/>
                </a:solidFill>
                <a:prstDash val="solid"/>
                <a:round/>
              </a:ln>
              <a:effectLst/>
            </p:spPr>
            <p:txBody>
              <a:bodyPr wrap="square" lIns="0" tIns="0" rIns="0" bIns="0" numCol="1" anchor="ctr">
                <a:noAutofit/>
              </a:bodyPr>
              <a:lstStyle/>
              <a:p>
                <a:pPr algn="ctr"/>
              </a:p>
            </p:txBody>
          </p:sp>
        </p:grpSp>
        <p:sp>
          <p:nvSpPr>
            <p:cNvPr id="767" name="Semantic Knowledge Layer…"/>
            <p:cNvSpPr txBox="1"/>
            <p:nvPr/>
          </p:nvSpPr>
          <p:spPr>
            <a:xfrm>
              <a:off x="412867" y="0"/>
              <a:ext cx="2439105" cy="7866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Semantic Knowledge Layer</a:t>
              </a:r>
            </a:p>
            <a:p>
              <a:pPr algn="ctr"/>
              <a:r>
                <a:t>(Taxonomies, Ontologies, Graphs)</a:t>
              </a:r>
            </a:p>
          </p:txBody>
        </p:sp>
      </p:grpSp>
      <p:grpSp>
        <p:nvGrpSpPr>
          <p:cNvPr id="773" name="Google Shape;476;p63"/>
          <p:cNvGrpSpPr/>
          <p:nvPr/>
        </p:nvGrpSpPr>
        <p:grpSpPr>
          <a:xfrm>
            <a:off x="3760199" y="3977623"/>
            <a:ext cx="2601361" cy="786634"/>
            <a:chOff x="0" y="0"/>
            <a:chExt cx="2601360" cy="786633"/>
          </a:xfrm>
        </p:grpSpPr>
        <p:grpSp>
          <p:nvGrpSpPr>
            <p:cNvPr id="771" name="Group"/>
            <p:cNvGrpSpPr/>
            <p:nvPr/>
          </p:nvGrpSpPr>
          <p:grpSpPr>
            <a:xfrm>
              <a:off x="0" y="23056"/>
              <a:ext cx="2601361" cy="740521"/>
              <a:chOff x="0" y="0"/>
              <a:chExt cx="2601360" cy="740520"/>
            </a:xfrm>
          </p:grpSpPr>
          <p:sp>
            <p:nvSpPr>
              <p:cNvPr id="769" name="Rectangle"/>
              <p:cNvSpPr/>
              <p:nvPr/>
            </p:nvSpPr>
            <p:spPr>
              <a:xfrm>
                <a:off x="-1" y="-1"/>
                <a:ext cx="2601362" cy="740522"/>
              </a:xfrm>
              <a:prstGeom prst="rect">
                <a:avLst/>
              </a:prstGeom>
              <a:solidFill>
                <a:srgbClr val="EEECE1"/>
              </a:solidFill>
              <a:ln w="12700" cap="flat">
                <a:noFill/>
                <a:miter lim="400000"/>
              </a:ln>
              <a:effectLst/>
            </p:spPr>
            <p:txBody>
              <a:bodyPr wrap="square" lIns="0" tIns="0" rIns="0" bIns="0" numCol="1" anchor="ctr">
                <a:noAutofit/>
              </a:bodyPr>
              <a:lstStyle/>
              <a:p>
                <a:pPr algn="ctr"/>
              </a:p>
            </p:txBody>
          </p:sp>
          <p:sp>
            <p:nvSpPr>
              <p:cNvPr id="770" name="Shape"/>
              <p:cNvSpPr/>
              <p:nvPr/>
            </p:nvSpPr>
            <p:spPr>
              <a:xfrm>
                <a:off x="-1" y="-1"/>
                <a:ext cx="2601362" cy="7405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00" y="0"/>
                    </a:moveTo>
                    <a:lnTo>
                      <a:pt x="2700" y="21600"/>
                    </a:lnTo>
                    <a:moveTo>
                      <a:pt x="18900" y="0"/>
                    </a:moveTo>
                    <a:lnTo>
                      <a:pt x="18900" y="21600"/>
                    </a:lnTo>
                    <a:moveTo>
                      <a:pt x="0" y="0"/>
                    </a:moveTo>
                    <a:lnTo>
                      <a:pt x="21600" y="0"/>
                    </a:lnTo>
                    <a:lnTo>
                      <a:pt x="21600" y="21600"/>
                    </a:lnTo>
                    <a:lnTo>
                      <a:pt x="0" y="21600"/>
                    </a:lnTo>
                    <a:close/>
                  </a:path>
                </a:pathLst>
              </a:custGeom>
              <a:noFill/>
              <a:ln w="9525" cap="flat">
                <a:solidFill>
                  <a:srgbClr val="1F497D"/>
                </a:solidFill>
                <a:prstDash val="solid"/>
                <a:round/>
              </a:ln>
              <a:effectLst/>
            </p:spPr>
            <p:txBody>
              <a:bodyPr wrap="square" lIns="0" tIns="0" rIns="0" bIns="0" numCol="1" anchor="ctr">
                <a:noAutofit/>
              </a:bodyPr>
              <a:lstStyle/>
              <a:p>
                <a:pPr algn="ctr"/>
              </a:p>
            </p:txBody>
          </p:sp>
        </p:grpSp>
        <p:sp>
          <p:nvSpPr>
            <p:cNvPr id="772" name="Integration Layer…"/>
            <p:cNvSpPr txBox="1"/>
            <p:nvPr/>
          </p:nvSpPr>
          <p:spPr>
            <a:xfrm>
              <a:off x="329932" y="0"/>
              <a:ext cx="1941496" cy="7866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Integration Layer</a:t>
              </a:r>
            </a:p>
            <a:p>
              <a:pPr algn="ctr"/>
              <a:r>
                <a:t>(Data, BI, AI, Semantic Services)</a:t>
              </a:r>
            </a:p>
          </p:txBody>
        </p:sp>
      </p:grpSp>
      <p:grpSp>
        <p:nvGrpSpPr>
          <p:cNvPr id="778" name="Google Shape;477;p63"/>
          <p:cNvGrpSpPr/>
          <p:nvPr/>
        </p:nvGrpSpPr>
        <p:grpSpPr>
          <a:xfrm>
            <a:off x="874080" y="4797703"/>
            <a:ext cx="3307680" cy="786634"/>
            <a:chOff x="0" y="0"/>
            <a:chExt cx="3307679" cy="786633"/>
          </a:xfrm>
        </p:grpSpPr>
        <p:grpSp>
          <p:nvGrpSpPr>
            <p:cNvPr id="776" name="Group"/>
            <p:cNvGrpSpPr/>
            <p:nvPr/>
          </p:nvGrpSpPr>
          <p:grpSpPr>
            <a:xfrm>
              <a:off x="-1" y="23056"/>
              <a:ext cx="3307681" cy="740521"/>
              <a:chOff x="0" y="0"/>
              <a:chExt cx="3307679" cy="740520"/>
            </a:xfrm>
          </p:grpSpPr>
          <p:sp>
            <p:nvSpPr>
              <p:cNvPr id="774" name="Rectangle"/>
              <p:cNvSpPr/>
              <p:nvPr/>
            </p:nvSpPr>
            <p:spPr>
              <a:xfrm>
                <a:off x="0" y="-1"/>
                <a:ext cx="3307680" cy="740522"/>
              </a:xfrm>
              <a:prstGeom prst="rect">
                <a:avLst/>
              </a:prstGeom>
              <a:solidFill>
                <a:srgbClr val="EEECE1"/>
              </a:solidFill>
              <a:ln w="12700" cap="flat">
                <a:noFill/>
                <a:miter lim="400000"/>
              </a:ln>
              <a:effectLst/>
            </p:spPr>
            <p:txBody>
              <a:bodyPr wrap="square" lIns="0" tIns="0" rIns="0" bIns="0" numCol="1" anchor="ctr">
                <a:noAutofit/>
              </a:bodyPr>
              <a:lstStyle/>
              <a:p>
                <a:pPr algn="ctr"/>
              </a:p>
            </p:txBody>
          </p:sp>
          <p:sp>
            <p:nvSpPr>
              <p:cNvPr id="775" name="Shape"/>
              <p:cNvSpPr/>
              <p:nvPr/>
            </p:nvSpPr>
            <p:spPr>
              <a:xfrm>
                <a:off x="0" y="-1"/>
                <a:ext cx="3307680" cy="7405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00" y="0"/>
                    </a:moveTo>
                    <a:lnTo>
                      <a:pt x="2700" y="21600"/>
                    </a:lnTo>
                    <a:moveTo>
                      <a:pt x="18900" y="0"/>
                    </a:moveTo>
                    <a:lnTo>
                      <a:pt x="18900" y="21600"/>
                    </a:lnTo>
                    <a:moveTo>
                      <a:pt x="0" y="0"/>
                    </a:moveTo>
                    <a:lnTo>
                      <a:pt x="21600" y="0"/>
                    </a:lnTo>
                    <a:lnTo>
                      <a:pt x="21600" y="21600"/>
                    </a:lnTo>
                    <a:lnTo>
                      <a:pt x="0" y="21600"/>
                    </a:lnTo>
                    <a:close/>
                  </a:path>
                </a:pathLst>
              </a:custGeom>
              <a:noFill/>
              <a:ln w="9525" cap="flat">
                <a:solidFill>
                  <a:srgbClr val="1F497D"/>
                </a:solidFill>
                <a:prstDash val="solid"/>
                <a:round/>
              </a:ln>
              <a:effectLst/>
            </p:spPr>
            <p:txBody>
              <a:bodyPr wrap="square" lIns="0" tIns="0" rIns="0" bIns="0" numCol="1" anchor="ctr">
                <a:noAutofit/>
              </a:bodyPr>
              <a:lstStyle/>
              <a:p>
                <a:pPr algn="ctr"/>
              </a:p>
            </p:txBody>
          </p:sp>
        </p:grpSp>
        <p:sp>
          <p:nvSpPr>
            <p:cNvPr id="777" name="Persistence Layer…"/>
            <p:cNvSpPr txBox="1"/>
            <p:nvPr/>
          </p:nvSpPr>
          <p:spPr>
            <a:xfrm>
              <a:off x="418222" y="0"/>
              <a:ext cx="2471236" cy="7866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Persistence Layer</a:t>
              </a:r>
            </a:p>
            <a:p>
              <a:pPr algn="ctr"/>
              <a:r>
                <a:t>(GraphDB, Relational DBs, Non-Relational DBs)</a:t>
              </a:r>
            </a:p>
          </p:txBody>
        </p:sp>
      </p:grpSp>
      <p:grpSp>
        <p:nvGrpSpPr>
          <p:cNvPr id="783" name="Google Shape;478;p63"/>
          <p:cNvGrpSpPr/>
          <p:nvPr/>
        </p:nvGrpSpPr>
        <p:grpSpPr>
          <a:xfrm>
            <a:off x="13783679" y="-1"/>
            <a:ext cx="846360" cy="1009205"/>
            <a:chOff x="0" y="0"/>
            <a:chExt cx="846359" cy="1009203"/>
          </a:xfrm>
        </p:grpSpPr>
        <p:sp>
          <p:nvSpPr>
            <p:cNvPr id="779" name="Google Shape;479;p63"/>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782" name="Google Shape;480;p63"/>
            <p:cNvGrpSpPr/>
            <p:nvPr/>
          </p:nvGrpSpPr>
          <p:grpSpPr>
            <a:xfrm>
              <a:off x="55079" y="-1"/>
              <a:ext cx="791281" cy="1009205"/>
              <a:chOff x="0" y="0"/>
              <a:chExt cx="791279" cy="1009203"/>
            </a:xfrm>
          </p:grpSpPr>
          <p:pic>
            <p:nvPicPr>
              <p:cNvPr id="780" name="Google Shape;481;p63" descr="Google Shape;481;p63"/>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781" name="Google Shape;482;p63"/>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5" name="Google Shape;488;p64"/>
          <p:cNvSpPr txBox="1"/>
          <p:nvPr/>
        </p:nvSpPr>
        <p:spPr>
          <a:xfrm>
            <a:off x="758520" y="596159"/>
            <a:ext cx="7839720"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400">
                <a:latin typeface="Petrona"/>
                <a:ea typeface="Petrona"/>
                <a:cs typeface="Petrona"/>
                <a:sym typeface="Petrona"/>
              </a:defRPr>
            </a:lvl1pPr>
          </a:lstStyle>
          <a:p>
            <a:pPr/>
            <a:r>
              <a:t>System Design Components</a:t>
            </a:r>
          </a:p>
        </p:txBody>
      </p:sp>
      <p:sp>
        <p:nvSpPr>
          <p:cNvPr id="786" name="Google Shape;489;p64"/>
          <p:cNvSpPr txBox="1"/>
          <p:nvPr/>
        </p:nvSpPr>
        <p:spPr>
          <a:xfrm>
            <a:off x="342359" y="1970639"/>
            <a:ext cx="351432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000"/>
              </a:lnSpc>
              <a:defRPr b="1" sz="2200">
                <a:solidFill>
                  <a:srgbClr val="272525"/>
                </a:solidFill>
                <a:latin typeface="Petrona"/>
                <a:ea typeface="Petrona"/>
                <a:cs typeface="Petrona"/>
                <a:sym typeface="Petrona"/>
              </a:defRPr>
            </a:lvl1pPr>
          </a:lstStyle>
          <a:p>
            <a:pPr/>
            <a:r>
              <a:t>Search Pre-Processor</a:t>
            </a:r>
          </a:p>
        </p:txBody>
      </p:sp>
      <p:sp>
        <p:nvSpPr>
          <p:cNvPr id="787" name="Google Shape;490;p64"/>
          <p:cNvSpPr txBox="1"/>
          <p:nvPr/>
        </p:nvSpPr>
        <p:spPr>
          <a:xfrm>
            <a:off x="342359" y="2460600"/>
            <a:ext cx="6168242" cy="49240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Personalization - captured during login. used to frame the context around WHAT is relevant to the individual using a Unified Persona Model. The UPM is more than attributes and prior experiences. This is a rich fabric of graphs about a Job Executor, Jobs they perform, the Desired Outcomes they want to achieve with the processes / services / systems they interact with when they perform each job. </a:t>
            </a:r>
          </a:p>
          <a:p>
            <a:pPr marL="4572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Contextual Relevancy - captured from the prompt (input field and/or handoff from AI Prompt. This is preparatory towards conversational interaction. </a:t>
            </a:r>
          </a:p>
          <a:p>
            <a:pPr lvl="1" marL="9144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Reverse engineer the words &amp; phrases from the prompt and map to the services and/or process(es) within a given domain so we can identify relevant context for selection. </a:t>
            </a:r>
          </a:p>
          <a:p>
            <a:pPr lvl="1" marL="9144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Identify relevant data sources for downstream query via orchestration (TBD) to generate output for consumer.</a:t>
            </a:r>
          </a:p>
        </p:txBody>
      </p:sp>
      <p:grpSp>
        <p:nvGrpSpPr>
          <p:cNvPr id="790" name="Google Shape;491;p64"/>
          <p:cNvGrpSpPr/>
          <p:nvPr/>
        </p:nvGrpSpPr>
        <p:grpSpPr>
          <a:xfrm>
            <a:off x="6686280" y="2878200"/>
            <a:ext cx="1143001" cy="740521"/>
            <a:chOff x="0" y="0"/>
            <a:chExt cx="1143000" cy="740520"/>
          </a:xfrm>
        </p:grpSpPr>
        <p:sp>
          <p:nvSpPr>
            <p:cNvPr id="788" name="Rounded Rectangle"/>
            <p:cNvSpPr/>
            <p:nvPr/>
          </p:nvSpPr>
          <p:spPr>
            <a:xfrm>
              <a:off x="0" y="0"/>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89" name="Search Query"/>
            <p:cNvSpPr txBox="1"/>
            <p:nvPr/>
          </p:nvSpPr>
          <p:spPr>
            <a:xfrm>
              <a:off x="40911" y="78543"/>
              <a:ext cx="106117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Search Query</a:t>
              </a:r>
            </a:p>
          </p:txBody>
        </p:sp>
      </p:grpSp>
      <p:grpSp>
        <p:nvGrpSpPr>
          <p:cNvPr id="793" name="Google Shape;492;p64"/>
          <p:cNvGrpSpPr/>
          <p:nvPr/>
        </p:nvGrpSpPr>
        <p:grpSpPr>
          <a:xfrm>
            <a:off x="8187480" y="2842183"/>
            <a:ext cx="1143001" cy="786634"/>
            <a:chOff x="0" y="0"/>
            <a:chExt cx="1143000" cy="786633"/>
          </a:xfrm>
        </p:grpSpPr>
        <p:sp>
          <p:nvSpPr>
            <p:cNvPr id="791" name="Rounded Rectangle"/>
            <p:cNvSpPr/>
            <p:nvPr/>
          </p:nvSpPr>
          <p:spPr>
            <a:xfrm>
              <a:off x="0" y="23056"/>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92" name="Search Pre - Processor"/>
            <p:cNvSpPr txBox="1"/>
            <p:nvPr/>
          </p:nvSpPr>
          <p:spPr>
            <a:xfrm>
              <a:off x="40911" y="0"/>
              <a:ext cx="1061178" cy="7866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Search Pre - Processor</a:t>
              </a:r>
            </a:p>
          </p:txBody>
        </p:sp>
      </p:grpSp>
      <p:sp>
        <p:nvSpPr>
          <p:cNvPr id="794" name="Google Shape;493;p64"/>
          <p:cNvSpPr/>
          <p:nvPr/>
        </p:nvSpPr>
        <p:spPr>
          <a:xfrm flipH="1" rot="10800000">
            <a:off x="7828560" y="3248230"/>
            <a:ext cx="3576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399" y="0"/>
                  <a:pt x="10798" y="5400"/>
                  <a:pt x="10798" y="10800"/>
                </a:cubicBezTo>
                <a:cubicBezTo>
                  <a:pt x="10798" y="16200"/>
                  <a:pt x="16199" y="21600"/>
                  <a:pt x="21600" y="21600"/>
                </a:cubicBezTo>
              </a:path>
            </a:pathLst>
          </a:custGeom>
          <a:ln>
            <a:solidFill>
              <a:srgbClr val="1F497D"/>
            </a:solidFill>
          </a:ln>
        </p:spPr>
        <p:txBody>
          <a:bodyPr lIns="0" tIns="0" rIns="0" bIns="0"/>
          <a:lstStyle/>
          <a:p>
            <a:pPr/>
          </a:p>
        </p:txBody>
      </p:sp>
      <p:grpSp>
        <p:nvGrpSpPr>
          <p:cNvPr id="797" name="Google Shape;494;p64"/>
          <p:cNvGrpSpPr/>
          <p:nvPr/>
        </p:nvGrpSpPr>
        <p:grpSpPr>
          <a:xfrm>
            <a:off x="9954720" y="1600200"/>
            <a:ext cx="1239121" cy="740521"/>
            <a:chOff x="0" y="0"/>
            <a:chExt cx="1239120" cy="740520"/>
          </a:xfrm>
        </p:grpSpPr>
        <p:sp>
          <p:nvSpPr>
            <p:cNvPr id="795" name="Rounded Rectangle"/>
            <p:cNvSpPr/>
            <p:nvPr/>
          </p:nvSpPr>
          <p:spPr>
            <a:xfrm>
              <a:off x="0" y="0"/>
              <a:ext cx="123912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796" name="Taxonomies"/>
            <p:cNvSpPr txBox="1"/>
            <p:nvPr/>
          </p:nvSpPr>
          <p:spPr>
            <a:xfrm>
              <a:off x="40911" y="180143"/>
              <a:ext cx="1157298"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Taxonomies</a:t>
              </a:r>
            </a:p>
          </p:txBody>
        </p:sp>
      </p:grpSp>
      <p:sp>
        <p:nvSpPr>
          <p:cNvPr id="798" name="Google Shape;495;p64"/>
          <p:cNvSpPr/>
          <p:nvPr/>
        </p:nvSpPr>
        <p:spPr>
          <a:xfrm rot="16200000">
            <a:off x="9009360" y="3555960"/>
            <a:ext cx="1264801" cy="624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a:solidFill>
              <a:srgbClr val="1F497D"/>
            </a:solidFill>
          </a:ln>
        </p:spPr>
        <p:txBody>
          <a:bodyPr lIns="0" tIns="0" rIns="0" bIns="0"/>
          <a:lstStyle/>
          <a:p>
            <a:pPr/>
          </a:p>
        </p:txBody>
      </p:sp>
      <p:grpSp>
        <p:nvGrpSpPr>
          <p:cNvPr id="801" name="Google Shape;496;p64"/>
          <p:cNvGrpSpPr/>
          <p:nvPr/>
        </p:nvGrpSpPr>
        <p:grpSpPr>
          <a:xfrm>
            <a:off x="10002959" y="2865240"/>
            <a:ext cx="1143001" cy="740521"/>
            <a:chOff x="0" y="0"/>
            <a:chExt cx="1143000" cy="740520"/>
          </a:xfrm>
        </p:grpSpPr>
        <p:sp>
          <p:nvSpPr>
            <p:cNvPr id="799" name="Rounded Rectangle"/>
            <p:cNvSpPr/>
            <p:nvPr/>
          </p:nvSpPr>
          <p:spPr>
            <a:xfrm>
              <a:off x="0" y="0"/>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00" name="Ontologies"/>
            <p:cNvSpPr txBox="1"/>
            <p:nvPr/>
          </p:nvSpPr>
          <p:spPr>
            <a:xfrm>
              <a:off x="40911" y="180143"/>
              <a:ext cx="1061178"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Ontologies</a:t>
              </a:r>
            </a:p>
          </p:txBody>
        </p:sp>
      </p:grpSp>
      <p:sp>
        <p:nvSpPr>
          <p:cNvPr id="802" name="Google Shape;497;p64"/>
          <p:cNvSpPr/>
          <p:nvPr/>
        </p:nvSpPr>
        <p:spPr>
          <a:xfrm>
            <a:off x="9330839" y="3229630"/>
            <a:ext cx="6720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a:solidFill>
              <a:srgbClr val="1F497D"/>
            </a:solidFill>
          </a:ln>
        </p:spPr>
        <p:txBody>
          <a:bodyPr lIns="0" tIns="0" rIns="0" bIns="0"/>
          <a:lstStyle/>
          <a:p>
            <a:pPr/>
          </a:p>
        </p:txBody>
      </p:sp>
      <p:grpSp>
        <p:nvGrpSpPr>
          <p:cNvPr id="805" name="Google Shape;498;p64"/>
          <p:cNvGrpSpPr/>
          <p:nvPr/>
        </p:nvGrpSpPr>
        <p:grpSpPr>
          <a:xfrm>
            <a:off x="10002959" y="4130280"/>
            <a:ext cx="1335241" cy="740521"/>
            <a:chOff x="0" y="0"/>
            <a:chExt cx="1335240" cy="740520"/>
          </a:xfrm>
        </p:grpSpPr>
        <p:sp>
          <p:nvSpPr>
            <p:cNvPr id="803" name="Rounded Rectangle"/>
            <p:cNvSpPr/>
            <p:nvPr/>
          </p:nvSpPr>
          <p:spPr>
            <a:xfrm>
              <a:off x="0" y="0"/>
              <a:ext cx="133524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04" name="Federated Graph Query"/>
            <p:cNvSpPr txBox="1"/>
            <p:nvPr/>
          </p:nvSpPr>
          <p:spPr>
            <a:xfrm>
              <a:off x="40911" y="78543"/>
              <a:ext cx="125341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Federated Graph Query</a:t>
              </a:r>
            </a:p>
          </p:txBody>
        </p:sp>
      </p:grpSp>
      <p:sp>
        <p:nvSpPr>
          <p:cNvPr id="806" name="Google Shape;499;p64"/>
          <p:cNvSpPr/>
          <p:nvPr/>
        </p:nvSpPr>
        <p:spPr>
          <a:xfrm flipH="1" rot="16200000">
            <a:off x="9034440" y="3532080"/>
            <a:ext cx="1264801" cy="672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a:solidFill>
              <a:srgbClr val="1F497D"/>
            </a:solidFill>
          </a:ln>
        </p:spPr>
        <p:txBody>
          <a:bodyPr lIns="0" tIns="0" rIns="0" bIns="0"/>
          <a:lstStyle/>
          <a:p>
            <a:pPr/>
          </a:p>
        </p:txBody>
      </p:sp>
      <p:grpSp>
        <p:nvGrpSpPr>
          <p:cNvPr id="809" name="Google Shape;500;p64"/>
          <p:cNvGrpSpPr/>
          <p:nvPr/>
        </p:nvGrpSpPr>
        <p:grpSpPr>
          <a:xfrm>
            <a:off x="11628000" y="2877840"/>
            <a:ext cx="1190881" cy="740521"/>
            <a:chOff x="0" y="0"/>
            <a:chExt cx="1190880" cy="740520"/>
          </a:xfrm>
        </p:grpSpPr>
        <p:sp>
          <p:nvSpPr>
            <p:cNvPr id="807" name="Rounded Rectangle"/>
            <p:cNvSpPr/>
            <p:nvPr/>
          </p:nvSpPr>
          <p:spPr>
            <a:xfrm>
              <a:off x="0" y="0"/>
              <a:ext cx="119088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08" name="Inferencing…"/>
            <p:cNvSpPr txBox="1"/>
            <p:nvPr/>
          </p:nvSpPr>
          <p:spPr>
            <a:xfrm>
              <a:off x="40911" y="78543"/>
              <a:ext cx="110905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Inferencing</a:t>
              </a:r>
            </a:p>
            <a:p>
              <a:pPr algn="ctr"/>
              <a:r>
                <a:t>(AI Agents)</a:t>
              </a:r>
            </a:p>
          </p:txBody>
        </p:sp>
      </p:grpSp>
      <p:sp>
        <p:nvSpPr>
          <p:cNvPr id="810" name="Google Shape;501;p64"/>
          <p:cNvSpPr/>
          <p:nvPr/>
        </p:nvSpPr>
        <p:spPr>
          <a:xfrm>
            <a:off x="11194199" y="1970639"/>
            <a:ext cx="1029300" cy="9069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0800" y="0"/>
                  <a:pt x="21600" y="10800"/>
                  <a:pt x="21600" y="21600"/>
                </a:cubicBezTo>
              </a:path>
            </a:pathLst>
          </a:custGeom>
          <a:ln>
            <a:solidFill>
              <a:srgbClr val="1F497D"/>
            </a:solidFill>
          </a:ln>
        </p:spPr>
        <p:txBody>
          <a:bodyPr lIns="0" tIns="0" rIns="0" bIns="0"/>
          <a:lstStyle/>
          <a:p>
            <a:pPr/>
          </a:p>
        </p:txBody>
      </p:sp>
      <p:sp>
        <p:nvSpPr>
          <p:cNvPr id="811" name="Google Shape;502;p64"/>
          <p:cNvSpPr/>
          <p:nvPr/>
        </p:nvSpPr>
        <p:spPr>
          <a:xfrm flipH="1" rot="10800000">
            <a:off x="11338920" y="4500719"/>
            <a:ext cx="885000" cy="882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0800" y="0"/>
                  <a:pt x="21600" y="10800"/>
                  <a:pt x="21600" y="21600"/>
                </a:cubicBezTo>
              </a:path>
            </a:pathLst>
          </a:custGeom>
          <a:ln>
            <a:solidFill>
              <a:srgbClr val="1F497D"/>
            </a:solidFill>
          </a:ln>
        </p:spPr>
        <p:txBody>
          <a:bodyPr lIns="0" tIns="0" rIns="0" bIns="0"/>
          <a:lstStyle/>
          <a:p>
            <a:pPr/>
          </a:p>
        </p:txBody>
      </p:sp>
      <p:sp>
        <p:nvSpPr>
          <p:cNvPr id="812" name="Google Shape;503;p64"/>
          <p:cNvSpPr/>
          <p:nvPr/>
        </p:nvSpPr>
        <p:spPr>
          <a:xfrm>
            <a:off x="11146319" y="3235480"/>
            <a:ext cx="4812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2" y="0"/>
                  <a:pt x="10804" y="5400"/>
                  <a:pt x="10804" y="10800"/>
                </a:cubicBezTo>
                <a:cubicBezTo>
                  <a:pt x="10804" y="16200"/>
                  <a:pt x="16202" y="21600"/>
                  <a:pt x="21600" y="21600"/>
                </a:cubicBezTo>
              </a:path>
            </a:pathLst>
          </a:custGeom>
          <a:ln>
            <a:solidFill>
              <a:srgbClr val="1F497D"/>
            </a:solidFill>
          </a:ln>
        </p:spPr>
        <p:txBody>
          <a:bodyPr lIns="0" tIns="0" rIns="0" bIns="0"/>
          <a:lstStyle/>
          <a:p>
            <a:pPr/>
          </a:p>
        </p:txBody>
      </p:sp>
      <p:grpSp>
        <p:nvGrpSpPr>
          <p:cNvPr id="815" name="Google Shape;504;p64"/>
          <p:cNvGrpSpPr/>
          <p:nvPr/>
        </p:nvGrpSpPr>
        <p:grpSpPr>
          <a:xfrm>
            <a:off x="13161599" y="2866804"/>
            <a:ext cx="1143001" cy="763312"/>
            <a:chOff x="0" y="0"/>
            <a:chExt cx="1143000" cy="763310"/>
          </a:xfrm>
        </p:grpSpPr>
        <p:sp>
          <p:nvSpPr>
            <p:cNvPr id="813" name="Rounded Rectangle"/>
            <p:cNvSpPr/>
            <p:nvPr/>
          </p:nvSpPr>
          <p:spPr>
            <a:xfrm>
              <a:off x="0" y="11395"/>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defRPr sz="900"/>
              </a:pPr>
            </a:p>
          </p:txBody>
        </p:sp>
        <p:sp>
          <p:nvSpPr>
            <p:cNvPr id="814" name="Results…"/>
            <p:cNvSpPr txBox="1"/>
            <p:nvPr/>
          </p:nvSpPr>
          <p:spPr>
            <a:xfrm>
              <a:off x="40911" y="0"/>
              <a:ext cx="1061178" cy="7633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Results</a:t>
              </a:r>
            </a:p>
            <a:p>
              <a:pPr marL="171359" indent="-171000" algn="ctr">
                <a:buClr>
                  <a:srgbClr val="000000"/>
                </a:buClr>
                <a:buSzPts val="900"/>
                <a:buFont typeface="Arial"/>
                <a:buChar char="●"/>
                <a:defRPr sz="900"/>
              </a:pPr>
              <a:r>
                <a:t>personalized</a:t>
              </a:r>
            </a:p>
            <a:p>
              <a:pPr marL="171359" indent="-171000" algn="ctr">
                <a:buClr>
                  <a:srgbClr val="000000"/>
                </a:buClr>
                <a:buSzPts val="900"/>
                <a:buFont typeface="Arial"/>
                <a:buChar char="●"/>
                <a:defRPr sz="900"/>
              </a:pPr>
              <a:r>
                <a:t>Relevant</a:t>
              </a:r>
            </a:p>
            <a:p>
              <a:pPr marL="171359" indent="-171000" algn="ctr">
                <a:buClr>
                  <a:srgbClr val="000000"/>
                </a:buClr>
                <a:buSzPts val="900"/>
                <a:buFont typeface="Arial"/>
                <a:buChar char="●"/>
                <a:defRPr sz="900"/>
              </a:pPr>
              <a:r>
                <a:t>Precise</a:t>
              </a:r>
            </a:p>
          </p:txBody>
        </p:sp>
      </p:grpSp>
      <p:sp>
        <p:nvSpPr>
          <p:cNvPr id="816" name="Google Shape;505;p64"/>
          <p:cNvSpPr/>
          <p:nvPr/>
        </p:nvSpPr>
        <p:spPr>
          <a:xfrm>
            <a:off x="12819240" y="3242230"/>
            <a:ext cx="3420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398" y="0"/>
                  <a:pt x="10797" y="5400"/>
                  <a:pt x="10797" y="10800"/>
                </a:cubicBezTo>
                <a:cubicBezTo>
                  <a:pt x="10797" y="16200"/>
                  <a:pt x="16198" y="21600"/>
                  <a:pt x="21600" y="21600"/>
                </a:cubicBezTo>
              </a:path>
            </a:pathLst>
          </a:custGeom>
          <a:ln>
            <a:solidFill>
              <a:srgbClr val="1F497D"/>
            </a:solidFill>
          </a:ln>
        </p:spPr>
        <p:txBody>
          <a:bodyPr lIns="0" tIns="0" rIns="0" bIns="0"/>
          <a:lstStyle/>
          <a:p>
            <a:pPr/>
          </a:p>
        </p:txBody>
      </p:sp>
      <p:sp>
        <p:nvSpPr>
          <p:cNvPr id="817" name="Google Shape;506;p64"/>
          <p:cNvSpPr/>
          <p:nvPr/>
        </p:nvSpPr>
        <p:spPr>
          <a:xfrm>
            <a:off x="8004599" y="2409120"/>
            <a:ext cx="1433521" cy="1652760"/>
          </a:xfrm>
          <a:prstGeom prst="roundRect">
            <a:avLst>
              <a:gd name="adj" fmla="val 16667"/>
            </a:avLst>
          </a:prstGeom>
          <a:ln w="28425">
            <a:solidFill>
              <a:srgbClr val="FF0000"/>
            </a:solidFill>
          </a:ln>
        </p:spPr>
        <p:txBody>
          <a:bodyPr lIns="0" tIns="0" rIns="0" bIns="0" anchor="ctr"/>
          <a:lstStyle/>
          <a:p>
            <a:pPr/>
          </a:p>
        </p:txBody>
      </p:sp>
      <p:grpSp>
        <p:nvGrpSpPr>
          <p:cNvPr id="822" name="Google Shape;507;p64"/>
          <p:cNvGrpSpPr/>
          <p:nvPr/>
        </p:nvGrpSpPr>
        <p:grpSpPr>
          <a:xfrm>
            <a:off x="13783679" y="-1"/>
            <a:ext cx="846360" cy="1009205"/>
            <a:chOff x="0" y="0"/>
            <a:chExt cx="846359" cy="1009203"/>
          </a:xfrm>
        </p:grpSpPr>
        <p:sp>
          <p:nvSpPr>
            <p:cNvPr id="818" name="Google Shape;508;p64"/>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821" name="Google Shape;509;p64"/>
            <p:cNvGrpSpPr/>
            <p:nvPr/>
          </p:nvGrpSpPr>
          <p:grpSpPr>
            <a:xfrm>
              <a:off x="55079" y="-1"/>
              <a:ext cx="791281" cy="1009205"/>
              <a:chOff x="0" y="0"/>
              <a:chExt cx="791279" cy="1009203"/>
            </a:xfrm>
          </p:grpSpPr>
          <p:pic>
            <p:nvPicPr>
              <p:cNvPr id="819" name="Google Shape;510;p64" descr="Google Shape;510;p64"/>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820" name="Google Shape;511;p64"/>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4" name="Google Shape;517;p65"/>
          <p:cNvSpPr txBox="1"/>
          <p:nvPr/>
        </p:nvSpPr>
        <p:spPr>
          <a:xfrm>
            <a:off x="758520" y="596159"/>
            <a:ext cx="7839720"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400">
                <a:latin typeface="Petrona"/>
                <a:ea typeface="Petrona"/>
                <a:cs typeface="Petrona"/>
                <a:sym typeface="Petrona"/>
              </a:defRPr>
            </a:lvl1pPr>
          </a:lstStyle>
          <a:p>
            <a:pPr/>
            <a:r>
              <a:t>System Design Components</a:t>
            </a:r>
          </a:p>
        </p:txBody>
      </p:sp>
      <p:sp>
        <p:nvSpPr>
          <p:cNvPr id="825" name="Google Shape;518;p65"/>
          <p:cNvSpPr txBox="1"/>
          <p:nvPr/>
        </p:nvSpPr>
        <p:spPr>
          <a:xfrm>
            <a:off x="342359" y="1970639"/>
            <a:ext cx="351432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000"/>
              </a:lnSpc>
              <a:defRPr b="1" sz="2200">
                <a:solidFill>
                  <a:srgbClr val="272525"/>
                </a:solidFill>
                <a:latin typeface="Petrona"/>
                <a:ea typeface="Petrona"/>
                <a:cs typeface="Petrona"/>
                <a:sym typeface="Petrona"/>
              </a:defRPr>
            </a:lvl1pPr>
          </a:lstStyle>
          <a:p>
            <a:pPr/>
            <a:r>
              <a:t>Federated Graph Query</a:t>
            </a:r>
          </a:p>
        </p:txBody>
      </p:sp>
      <p:sp>
        <p:nvSpPr>
          <p:cNvPr id="826" name="Google Shape;519;p65"/>
          <p:cNvSpPr txBox="1"/>
          <p:nvPr/>
        </p:nvSpPr>
        <p:spPr>
          <a:xfrm>
            <a:off x="342359" y="2460600"/>
            <a:ext cx="6269402" cy="52852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Contextual Framing - Generate multiple SPARQL queries with SHACL (constraints) to navigate to the appropriate graphs (domain-specific graphs &gt;&gt; mapping graphs &gt;&gt; RDB graphs)</a:t>
            </a:r>
            <a:r>
              <a:rPr>
                <a:solidFill>
                  <a:schemeClr val="accent1"/>
                </a:solidFill>
              </a:rPr>
              <a:t>*</a:t>
            </a:r>
            <a:r>
              <a:t> to generate a list of nodes, relations, attributes, and Content sources (digital assets). </a:t>
            </a:r>
          </a:p>
          <a:p>
            <a:pPr lvl="1" marL="9144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Need the ability to map words &amp; phrases directly (match using primary labels and/or alternate labels in our taxonomies)</a:t>
            </a:r>
          </a:p>
          <a:p>
            <a:pPr lvl="1" marL="9144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Need the ability to traverse taxonomies and derive lineage to one or more ontologies and the relevant (filtered list) of mapping graphs down to the Content sources.</a:t>
            </a:r>
          </a:p>
          <a:p>
            <a:pPr lvl="1" marL="9144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Leverage Metaphactory to convert context inputs (from above) to generate SPARQL queries against the knowledge fabric (scaffold of graphs).</a:t>
            </a:r>
          </a:p>
          <a:p>
            <a:pPr lvl="1" marL="914400" indent="-323640">
              <a:lnSpc>
                <a:spcPct val="158000"/>
              </a:lnSpc>
              <a:buClr>
                <a:srgbClr val="272525"/>
              </a:buClr>
              <a:buSzPts val="1500"/>
              <a:buFont typeface="Helvetica"/>
              <a:buChar char="○"/>
              <a:defRPr sz="1500">
                <a:solidFill>
                  <a:srgbClr val="272525"/>
                </a:solidFill>
                <a:latin typeface="Inter"/>
                <a:ea typeface="Inter"/>
                <a:cs typeface="Inter"/>
                <a:sym typeface="Inter"/>
              </a:defRPr>
            </a:pPr>
            <a:r>
              <a:t>Generate list of entities, conditional logic, &amp; constraints for downstream consumption for querying sources.</a:t>
            </a:r>
          </a:p>
        </p:txBody>
      </p:sp>
      <p:grpSp>
        <p:nvGrpSpPr>
          <p:cNvPr id="829" name="Google Shape;520;p65"/>
          <p:cNvGrpSpPr/>
          <p:nvPr/>
        </p:nvGrpSpPr>
        <p:grpSpPr>
          <a:xfrm>
            <a:off x="6686280" y="2878200"/>
            <a:ext cx="1143001" cy="740521"/>
            <a:chOff x="0" y="0"/>
            <a:chExt cx="1143000" cy="740520"/>
          </a:xfrm>
        </p:grpSpPr>
        <p:sp>
          <p:nvSpPr>
            <p:cNvPr id="827" name="Rounded Rectangle"/>
            <p:cNvSpPr/>
            <p:nvPr/>
          </p:nvSpPr>
          <p:spPr>
            <a:xfrm>
              <a:off x="0" y="0"/>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28" name="Search Query"/>
            <p:cNvSpPr txBox="1"/>
            <p:nvPr/>
          </p:nvSpPr>
          <p:spPr>
            <a:xfrm>
              <a:off x="40911" y="78543"/>
              <a:ext cx="106117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Search Query</a:t>
              </a:r>
            </a:p>
          </p:txBody>
        </p:sp>
      </p:grpSp>
      <p:grpSp>
        <p:nvGrpSpPr>
          <p:cNvPr id="832" name="Google Shape;521;p65"/>
          <p:cNvGrpSpPr/>
          <p:nvPr/>
        </p:nvGrpSpPr>
        <p:grpSpPr>
          <a:xfrm>
            <a:off x="8187480" y="2842183"/>
            <a:ext cx="1143001" cy="786634"/>
            <a:chOff x="0" y="0"/>
            <a:chExt cx="1143000" cy="786633"/>
          </a:xfrm>
        </p:grpSpPr>
        <p:sp>
          <p:nvSpPr>
            <p:cNvPr id="830" name="Rounded Rectangle"/>
            <p:cNvSpPr/>
            <p:nvPr/>
          </p:nvSpPr>
          <p:spPr>
            <a:xfrm>
              <a:off x="0" y="23056"/>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31" name="Search Pre - Processor"/>
            <p:cNvSpPr txBox="1"/>
            <p:nvPr/>
          </p:nvSpPr>
          <p:spPr>
            <a:xfrm>
              <a:off x="40911" y="0"/>
              <a:ext cx="1061178" cy="7866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Search Pre - Processor</a:t>
              </a:r>
            </a:p>
          </p:txBody>
        </p:sp>
      </p:grpSp>
      <p:sp>
        <p:nvSpPr>
          <p:cNvPr id="833" name="Google Shape;522;p65"/>
          <p:cNvSpPr/>
          <p:nvPr/>
        </p:nvSpPr>
        <p:spPr>
          <a:xfrm flipH="1" rot="10800000">
            <a:off x="7828560" y="3248230"/>
            <a:ext cx="3576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399" y="0"/>
                  <a:pt x="10798" y="5400"/>
                  <a:pt x="10798" y="10800"/>
                </a:cubicBezTo>
                <a:cubicBezTo>
                  <a:pt x="10798" y="16200"/>
                  <a:pt x="16199" y="21600"/>
                  <a:pt x="21600" y="21600"/>
                </a:cubicBezTo>
              </a:path>
            </a:pathLst>
          </a:custGeom>
          <a:ln>
            <a:solidFill>
              <a:srgbClr val="1F497D"/>
            </a:solidFill>
          </a:ln>
        </p:spPr>
        <p:txBody>
          <a:bodyPr lIns="0" tIns="0" rIns="0" bIns="0"/>
          <a:lstStyle/>
          <a:p>
            <a:pPr/>
          </a:p>
        </p:txBody>
      </p:sp>
      <p:grpSp>
        <p:nvGrpSpPr>
          <p:cNvPr id="836" name="Google Shape;523;p65"/>
          <p:cNvGrpSpPr/>
          <p:nvPr/>
        </p:nvGrpSpPr>
        <p:grpSpPr>
          <a:xfrm>
            <a:off x="9954720" y="1600200"/>
            <a:ext cx="1239121" cy="740521"/>
            <a:chOff x="0" y="0"/>
            <a:chExt cx="1239120" cy="740520"/>
          </a:xfrm>
        </p:grpSpPr>
        <p:sp>
          <p:nvSpPr>
            <p:cNvPr id="834" name="Rounded Rectangle"/>
            <p:cNvSpPr/>
            <p:nvPr/>
          </p:nvSpPr>
          <p:spPr>
            <a:xfrm>
              <a:off x="0" y="0"/>
              <a:ext cx="123912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35" name="Taxonomies"/>
            <p:cNvSpPr txBox="1"/>
            <p:nvPr/>
          </p:nvSpPr>
          <p:spPr>
            <a:xfrm>
              <a:off x="40911" y="180143"/>
              <a:ext cx="1157298"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Taxonomies</a:t>
              </a:r>
            </a:p>
          </p:txBody>
        </p:sp>
      </p:grpSp>
      <p:sp>
        <p:nvSpPr>
          <p:cNvPr id="837" name="Google Shape;524;p65"/>
          <p:cNvSpPr/>
          <p:nvPr/>
        </p:nvSpPr>
        <p:spPr>
          <a:xfrm rot="16200000">
            <a:off x="9009360" y="3555960"/>
            <a:ext cx="1264801" cy="624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a:solidFill>
              <a:srgbClr val="1F497D"/>
            </a:solidFill>
          </a:ln>
        </p:spPr>
        <p:txBody>
          <a:bodyPr lIns="0" tIns="0" rIns="0" bIns="0"/>
          <a:lstStyle/>
          <a:p>
            <a:pPr/>
          </a:p>
        </p:txBody>
      </p:sp>
      <p:grpSp>
        <p:nvGrpSpPr>
          <p:cNvPr id="840" name="Google Shape;525;p65"/>
          <p:cNvGrpSpPr/>
          <p:nvPr/>
        </p:nvGrpSpPr>
        <p:grpSpPr>
          <a:xfrm>
            <a:off x="10002959" y="2865240"/>
            <a:ext cx="1143001" cy="740521"/>
            <a:chOff x="0" y="0"/>
            <a:chExt cx="1143000" cy="740520"/>
          </a:xfrm>
        </p:grpSpPr>
        <p:sp>
          <p:nvSpPr>
            <p:cNvPr id="838" name="Rounded Rectangle"/>
            <p:cNvSpPr/>
            <p:nvPr/>
          </p:nvSpPr>
          <p:spPr>
            <a:xfrm>
              <a:off x="0" y="0"/>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39" name="Ontologies"/>
            <p:cNvSpPr txBox="1"/>
            <p:nvPr/>
          </p:nvSpPr>
          <p:spPr>
            <a:xfrm>
              <a:off x="40911" y="180143"/>
              <a:ext cx="1061178"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Ontologies</a:t>
              </a:r>
            </a:p>
          </p:txBody>
        </p:sp>
      </p:grpSp>
      <p:sp>
        <p:nvSpPr>
          <p:cNvPr id="841" name="Google Shape;526;p65"/>
          <p:cNvSpPr/>
          <p:nvPr/>
        </p:nvSpPr>
        <p:spPr>
          <a:xfrm>
            <a:off x="9330839" y="3229630"/>
            <a:ext cx="6720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a:solidFill>
              <a:srgbClr val="1F497D"/>
            </a:solidFill>
          </a:ln>
        </p:spPr>
        <p:txBody>
          <a:bodyPr lIns="0" tIns="0" rIns="0" bIns="0"/>
          <a:lstStyle/>
          <a:p>
            <a:pPr/>
          </a:p>
        </p:txBody>
      </p:sp>
      <p:grpSp>
        <p:nvGrpSpPr>
          <p:cNvPr id="844" name="Google Shape;527;p65"/>
          <p:cNvGrpSpPr/>
          <p:nvPr/>
        </p:nvGrpSpPr>
        <p:grpSpPr>
          <a:xfrm>
            <a:off x="10002959" y="4130280"/>
            <a:ext cx="1335241" cy="740521"/>
            <a:chOff x="0" y="0"/>
            <a:chExt cx="1335240" cy="740520"/>
          </a:xfrm>
        </p:grpSpPr>
        <p:sp>
          <p:nvSpPr>
            <p:cNvPr id="842" name="Rounded Rectangle"/>
            <p:cNvSpPr/>
            <p:nvPr/>
          </p:nvSpPr>
          <p:spPr>
            <a:xfrm>
              <a:off x="0" y="0"/>
              <a:ext cx="133524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43" name="Federated Graph Query"/>
            <p:cNvSpPr txBox="1"/>
            <p:nvPr/>
          </p:nvSpPr>
          <p:spPr>
            <a:xfrm>
              <a:off x="40911" y="78543"/>
              <a:ext cx="125341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Federated Graph Query</a:t>
              </a:r>
            </a:p>
          </p:txBody>
        </p:sp>
      </p:grpSp>
      <p:sp>
        <p:nvSpPr>
          <p:cNvPr id="845" name="Google Shape;528;p65"/>
          <p:cNvSpPr/>
          <p:nvPr/>
        </p:nvSpPr>
        <p:spPr>
          <a:xfrm flipH="1" rot="16200000">
            <a:off x="9034440" y="3532080"/>
            <a:ext cx="1264801" cy="672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a:solidFill>
              <a:srgbClr val="1F497D"/>
            </a:solidFill>
          </a:ln>
        </p:spPr>
        <p:txBody>
          <a:bodyPr lIns="0" tIns="0" rIns="0" bIns="0"/>
          <a:lstStyle/>
          <a:p>
            <a:pPr/>
          </a:p>
        </p:txBody>
      </p:sp>
      <p:grpSp>
        <p:nvGrpSpPr>
          <p:cNvPr id="848" name="Google Shape;529;p65"/>
          <p:cNvGrpSpPr/>
          <p:nvPr/>
        </p:nvGrpSpPr>
        <p:grpSpPr>
          <a:xfrm>
            <a:off x="11579759" y="2877840"/>
            <a:ext cx="1239121" cy="740521"/>
            <a:chOff x="0" y="0"/>
            <a:chExt cx="1239120" cy="740520"/>
          </a:xfrm>
        </p:grpSpPr>
        <p:sp>
          <p:nvSpPr>
            <p:cNvPr id="846" name="Rounded Rectangle"/>
            <p:cNvSpPr/>
            <p:nvPr/>
          </p:nvSpPr>
          <p:spPr>
            <a:xfrm>
              <a:off x="0" y="0"/>
              <a:ext cx="123912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847" name="Inferencing…"/>
            <p:cNvSpPr txBox="1"/>
            <p:nvPr/>
          </p:nvSpPr>
          <p:spPr>
            <a:xfrm>
              <a:off x="40911" y="78543"/>
              <a:ext cx="115729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Inferencing</a:t>
              </a:r>
            </a:p>
            <a:p>
              <a:pPr algn="ctr"/>
              <a:r>
                <a:t>(AI Agents)</a:t>
              </a:r>
            </a:p>
          </p:txBody>
        </p:sp>
      </p:grpSp>
      <p:sp>
        <p:nvSpPr>
          <p:cNvPr id="849" name="Google Shape;530;p65"/>
          <p:cNvSpPr/>
          <p:nvPr/>
        </p:nvSpPr>
        <p:spPr>
          <a:xfrm>
            <a:off x="11194199" y="1970639"/>
            <a:ext cx="1005001" cy="9069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0800" y="0"/>
                  <a:pt x="21600" y="10800"/>
                  <a:pt x="21600" y="21600"/>
                </a:cubicBezTo>
              </a:path>
            </a:pathLst>
          </a:custGeom>
          <a:ln>
            <a:solidFill>
              <a:srgbClr val="1F497D"/>
            </a:solidFill>
          </a:ln>
        </p:spPr>
        <p:txBody>
          <a:bodyPr lIns="0" tIns="0" rIns="0" bIns="0"/>
          <a:lstStyle/>
          <a:p>
            <a:pPr/>
          </a:p>
        </p:txBody>
      </p:sp>
      <p:sp>
        <p:nvSpPr>
          <p:cNvPr id="850" name="Google Shape;531;p65"/>
          <p:cNvSpPr/>
          <p:nvPr/>
        </p:nvSpPr>
        <p:spPr>
          <a:xfrm rot="16200000">
            <a:off x="11326469" y="4511369"/>
            <a:ext cx="882001" cy="860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0800" y="0"/>
                  <a:pt x="21600" y="10800"/>
                  <a:pt x="21600" y="21600"/>
                </a:cubicBezTo>
              </a:path>
            </a:pathLst>
          </a:custGeom>
          <a:ln>
            <a:solidFill>
              <a:srgbClr val="1F497D"/>
            </a:solidFill>
          </a:ln>
        </p:spPr>
        <p:txBody>
          <a:bodyPr lIns="0" tIns="0" rIns="0" bIns="0"/>
          <a:lstStyle/>
          <a:p>
            <a:pPr/>
          </a:p>
        </p:txBody>
      </p:sp>
      <p:sp>
        <p:nvSpPr>
          <p:cNvPr id="851" name="Google Shape;532;p65"/>
          <p:cNvSpPr/>
          <p:nvPr/>
        </p:nvSpPr>
        <p:spPr>
          <a:xfrm>
            <a:off x="11146319" y="3235480"/>
            <a:ext cx="4335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398" y="0"/>
                  <a:pt x="10797" y="5400"/>
                  <a:pt x="10797" y="10800"/>
                </a:cubicBezTo>
                <a:cubicBezTo>
                  <a:pt x="10797" y="16200"/>
                  <a:pt x="16198" y="21600"/>
                  <a:pt x="21600" y="21600"/>
                </a:cubicBezTo>
              </a:path>
            </a:pathLst>
          </a:custGeom>
          <a:ln>
            <a:solidFill>
              <a:srgbClr val="1F497D"/>
            </a:solidFill>
          </a:ln>
        </p:spPr>
        <p:txBody>
          <a:bodyPr lIns="0" tIns="0" rIns="0" bIns="0"/>
          <a:lstStyle/>
          <a:p>
            <a:pPr/>
          </a:p>
        </p:txBody>
      </p:sp>
      <p:grpSp>
        <p:nvGrpSpPr>
          <p:cNvPr id="854" name="Google Shape;533;p65"/>
          <p:cNvGrpSpPr/>
          <p:nvPr/>
        </p:nvGrpSpPr>
        <p:grpSpPr>
          <a:xfrm>
            <a:off x="13161599" y="2866804"/>
            <a:ext cx="1143001" cy="763312"/>
            <a:chOff x="0" y="0"/>
            <a:chExt cx="1143000" cy="763310"/>
          </a:xfrm>
        </p:grpSpPr>
        <p:sp>
          <p:nvSpPr>
            <p:cNvPr id="852" name="Rounded Rectangle"/>
            <p:cNvSpPr/>
            <p:nvPr/>
          </p:nvSpPr>
          <p:spPr>
            <a:xfrm>
              <a:off x="0" y="11395"/>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defRPr sz="900"/>
              </a:pPr>
            </a:p>
          </p:txBody>
        </p:sp>
        <p:sp>
          <p:nvSpPr>
            <p:cNvPr id="853" name="Results…"/>
            <p:cNvSpPr txBox="1"/>
            <p:nvPr/>
          </p:nvSpPr>
          <p:spPr>
            <a:xfrm>
              <a:off x="40911" y="0"/>
              <a:ext cx="1061178" cy="7633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Results</a:t>
              </a:r>
            </a:p>
            <a:p>
              <a:pPr marL="171359" indent="-171000" algn="ctr">
                <a:buClr>
                  <a:srgbClr val="000000"/>
                </a:buClr>
                <a:buSzPts val="900"/>
                <a:buFont typeface="Arial"/>
                <a:buChar char="●"/>
                <a:defRPr sz="900"/>
              </a:pPr>
              <a:r>
                <a:t>personalized</a:t>
              </a:r>
            </a:p>
            <a:p>
              <a:pPr marL="171359" indent="-171000" algn="ctr">
                <a:buClr>
                  <a:srgbClr val="000000"/>
                </a:buClr>
                <a:buSzPts val="900"/>
                <a:buFont typeface="Arial"/>
                <a:buChar char="●"/>
                <a:defRPr sz="900"/>
              </a:pPr>
              <a:r>
                <a:t>Relevant</a:t>
              </a:r>
            </a:p>
            <a:p>
              <a:pPr marL="171359" indent="-171000" algn="ctr">
                <a:buClr>
                  <a:srgbClr val="000000"/>
                </a:buClr>
                <a:buSzPts val="900"/>
                <a:buFont typeface="Arial"/>
                <a:buChar char="●"/>
                <a:defRPr sz="900"/>
              </a:pPr>
              <a:r>
                <a:t>Precise</a:t>
              </a:r>
            </a:p>
          </p:txBody>
        </p:sp>
      </p:grpSp>
      <p:sp>
        <p:nvSpPr>
          <p:cNvPr id="855" name="Google Shape;534;p65"/>
          <p:cNvSpPr/>
          <p:nvPr/>
        </p:nvSpPr>
        <p:spPr>
          <a:xfrm>
            <a:off x="12819240" y="3242230"/>
            <a:ext cx="3420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1" y="5400"/>
                  <a:pt x="10801" y="10800"/>
                </a:cubicBezTo>
                <a:cubicBezTo>
                  <a:pt x="10801" y="16200"/>
                  <a:pt x="16200" y="21600"/>
                  <a:pt x="21600" y="21600"/>
                </a:cubicBezTo>
              </a:path>
            </a:pathLst>
          </a:custGeom>
          <a:ln>
            <a:solidFill>
              <a:srgbClr val="1F497D"/>
            </a:solidFill>
          </a:ln>
        </p:spPr>
        <p:txBody>
          <a:bodyPr lIns="0" tIns="0" rIns="0" bIns="0"/>
          <a:lstStyle/>
          <a:p>
            <a:pPr/>
          </a:p>
        </p:txBody>
      </p:sp>
      <p:sp>
        <p:nvSpPr>
          <p:cNvPr id="856" name="Google Shape;535;p65"/>
          <p:cNvSpPr/>
          <p:nvPr/>
        </p:nvSpPr>
        <p:spPr>
          <a:xfrm>
            <a:off x="9777239" y="3826080"/>
            <a:ext cx="1857601" cy="1348921"/>
          </a:xfrm>
          <a:prstGeom prst="roundRect">
            <a:avLst>
              <a:gd name="adj" fmla="val 16667"/>
            </a:avLst>
          </a:prstGeom>
          <a:ln w="28425">
            <a:solidFill>
              <a:srgbClr val="FF0000"/>
            </a:solidFill>
          </a:ln>
        </p:spPr>
        <p:txBody>
          <a:bodyPr lIns="0" tIns="0" rIns="0" bIns="0" anchor="ctr"/>
          <a:lstStyle/>
          <a:p>
            <a:pPr/>
          </a:p>
        </p:txBody>
      </p:sp>
      <p:grpSp>
        <p:nvGrpSpPr>
          <p:cNvPr id="859" name="Google Shape;536;p65"/>
          <p:cNvGrpSpPr/>
          <p:nvPr/>
        </p:nvGrpSpPr>
        <p:grpSpPr>
          <a:xfrm>
            <a:off x="9527040" y="6015959"/>
            <a:ext cx="2999521" cy="903241"/>
            <a:chOff x="0" y="0"/>
            <a:chExt cx="2999520" cy="903240"/>
          </a:xfrm>
        </p:grpSpPr>
        <p:sp>
          <p:nvSpPr>
            <p:cNvPr id="857" name="Rectangle"/>
            <p:cNvSpPr/>
            <p:nvPr/>
          </p:nvSpPr>
          <p:spPr>
            <a:xfrm>
              <a:off x="-1" y="-1"/>
              <a:ext cx="2999522" cy="903242"/>
            </a:xfrm>
            <a:prstGeom prst="rect">
              <a:avLst/>
            </a:prstGeom>
            <a:noFill/>
            <a:ln w="19075" cap="flat">
              <a:solidFill>
                <a:schemeClr val="accent1"/>
              </a:solidFill>
              <a:prstDash val="solid"/>
              <a:round/>
            </a:ln>
            <a:effectLst/>
          </p:spPr>
          <p:txBody>
            <a:bodyPr wrap="square" lIns="0" tIns="0" rIns="0" bIns="0" numCol="1" anchor="t">
              <a:noAutofit/>
            </a:bodyPr>
            <a:lstStyle/>
            <a:p>
              <a:pPr>
                <a:lnSpc>
                  <a:spcPct val="158000"/>
                </a:lnSpc>
                <a:defRPr sz="1500"/>
              </a:pPr>
            </a:p>
          </p:txBody>
        </p:sp>
        <p:sp>
          <p:nvSpPr>
            <p:cNvPr id="858" name="* See next slide for overview of Knowledge Fabric design"/>
            <p:cNvSpPr txBox="1"/>
            <p:nvPr/>
          </p:nvSpPr>
          <p:spPr>
            <a:xfrm>
              <a:off x="9537" y="9537"/>
              <a:ext cx="2980446" cy="7726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lnSpc>
                  <a:spcPct val="158000"/>
                </a:lnSpc>
                <a:defRPr sz="1500">
                  <a:solidFill>
                    <a:schemeClr val="accent1"/>
                  </a:solidFill>
                  <a:latin typeface="Inter"/>
                  <a:ea typeface="Inter"/>
                  <a:cs typeface="Inter"/>
                  <a:sym typeface="Inter"/>
                </a:defRPr>
              </a:lvl1pPr>
            </a:lstStyle>
            <a:p>
              <a:pPr/>
              <a:r>
                <a:t>* See next slide for overview of Knowledge Fabric design</a:t>
              </a:r>
            </a:p>
          </p:txBody>
        </p:sp>
      </p:grpSp>
      <p:grpSp>
        <p:nvGrpSpPr>
          <p:cNvPr id="864" name="Google Shape;537;p65"/>
          <p:cNvGrpSpPr/>
          <p:nvPr/>
        </p:nvGrpSpPr>
        <p:grpSpPr>
          <a:xfrm>
            <a:off x="13783679" y="-1"/>
            <a:ext cx="846360" cy="1009205"/>
            <a:chOff x="0" y="0"/>
            <a:chExt cx="846359" cy="1009203"/>
          </a:xfrm>
        </p:grpSpPr>
        <p:sp>
          <p:nvSpPr>
            <p:cNvPr id="860" name="Google Shape;538;p65"/>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863" name="Google Shape;539;p65"/>
            <p:cNvGrpSpPr/>
            <p:nvPr/>
          </p:nvGrpSpPr>
          <p:grpSpPr>
            <a:xfrm>
              <a:off x="55079" y="-1"/>
              <a:ext cx="791281" cy="1009205"/>
              <a:chOff x="0" y="0"/>
              <a:chExt cx="791279" cy="1009203"/>
            </a:xfrm>
          </p:grpSpPr>
          <p:pic>
            <p:nvPicPr>
              <p:cNvPr id="861" name="Google Shape;540;p65" descr="Google Shape;540;p65"/>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862" name="Google Shape;541;p65"/>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6" name="Google Shape;546;p66"/>
          <p:cNvSpPr/>
          <p:nvPr/>
        </p:nvSpPr>
        <p:spPr>
          <a:xfrm>
            <a:off x="625319" y="996839"/>
            <a:ext cx="13246922" cy="4178522"/>
          </a:xfrm>
          <a:prstGeom prst="rect">
            <a:avLst/>
          </a:prstGeom>
          <a:ln w="19075">
            <a:solidFill>
              <a:srgbClr val="777777"/>
            </a:solidFill>
            <a:prstDash val="dashDot"/>
          </a:ln>
        </p:spPr>
        <p:txBody>
          <a:bodyPr lIns="0" tIns="0" rIns="0" bIns="0" anchor="ctr"/>
          <a:lstStyle/>
          <a:p>
            <a:pPr/>
          </a:p>
        </p:txBody>
      </p:sp>
      <p:grpSp>
        <p:nvGrpSpPr>
          <p:cNvPr id="872" name="Google Shape;547;p66"/>
          <p:cNvGrpSpPr/>
          <p:nvPr/>
        </p:nvGrpSpPr>
        <p:grpSpPr>
          <a:xfrm>
            <a:off x="7847640" y="5778000"/>
            <a:ext cx="1487161" cy="1089721"/>
            <a:chOff x="0" y="0"/>
            <a:chExt cx="1487160" cy="1089720"/>
          </a:xfrm>
        </p:grpSpPr>
        <p:grpSp>
          <p:nvGrpSpPr>
            <p:cNvPr id="870" name="Group"/>
            <p:cNvGrpSpPr/>
            <p:nvPr/>
          </p:nvGrpSpPr>
          <p:grpSpPr>
            <a:xfrm>
              <a:off x="0" y="-1"/>
              <a:ext cx="1487161" cy="1089722"/>
              <a:chOff x="0" y="0"/>
              <a:chExt cx="1487160" cy="1089720"/>
            </a:xfrm>
          </p:grpSpPr>
          <p:sp>
            <p:nvSpPr>
              <p:cNvPr id="867" name="Shape"/>
              <p:cNvSpPr/>
              <p:nvPr/>
            </p:nvSpPr>
            <p:spPr>
              <a:xfrm>
                <a:off x="-1" y="-1"/>
                <a:ext cx="1487162" cy="10897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700"/>
                    </a:moveTo>
                    <a:cubicBezTo>
                      <a:pt x="0" y="1209"/>
                      <a:pt x="4835" y="0"/>
                      <a:pt x="10800" y="0"/>
                    </a:cubicBezTo>
                    <a:cubicBezTo>
                      <a:pt x="16765" y="0"/>
                      <a:pt x="21600" y="1209"/>
                      <a:pt x="21600" y="2700"/>
                    </a:cubicBezTo>
                    <a:lnTo>
                      <a:pt x="21600" y="18900"/>
                    </a:lnTo>
                    <a:cubicBezTo>
                      <a:pt x="21600" y="20391"/>
                      <a:pt x="16765" y="21600"/>
                      <a:pt x="10800" y="21600"/>
                    </a:cubicBezTo>
                    <a:cubicBezTo>
                      <a:pt x="4835" y="21600"/>
                      <a:pt x="0" y="20391"/>
                      <a:pt x="0" y="18900"/>
                    </a:cubicBezTo>
                    <a:close/>
                  </a:path>
                </a:pathLst>
              </a:custGeom>
              <a:solidFill>
                <a:srgbClr val="E6B8AF"/>
              </a:solidFill>
              <a:ln w="12700" cap="flat">
                <a:noFill/>
                <a:miter lim="400000"/>
              </a:ln>
              <a:effectLst/>
            </p:spPr>
            <p:txBody>
              <a:bodyPr wrap="square" lIns="0" tIns="0" rIns="0" bIns="0" numCol="1" anchor="ctr">
                <a:noAutofit/>
              </a:bodyPr>
              <a:lstStyle/>
              <a:p>
                <a:pPr algn="ctr">
                  <a:defRPr sz="1800"/>
                </a:pPr>
              </a:p>
            </p:txBody>
          </p:sp>
          <p:sp>
            <p:nvSpPr>
              <p:cNvPr id="868" name="Oval"/>
              <p:cNvSpPr/>
              <p:nvPr/>
            </p:nvSpPr>
            <p:spPr>
              <a:xfrm>
                <a:off x="-1" y="-1"/>
                <a:ext cx="1487162" cy="272431"/>
              </a:xfrm>
              <a:prstGeom prst="ellipse">
                <a:avLst/>
              </a:prstGeom>
              <a:solidFill>
                <a:srgbClr val="FFFFFF">
                  <a:alpha val="40000"/>
                </a:srgbClr>
              </a:solidFill>
              <a:ln w="12700" cap="flat">
                <a:noFill/>
                <a:miter lim="400000"/>
              </a:ln>
              <a:effectLst/>
            </p:spPr>
            <p:txBody>
              <a:bodyPr wrap="square" lIns="0" tIns="0" rIns="0" bIns="0" numCol="1" anchor="ctr">
                <a:noAutofit/>
              </a:bodyPr>
              <a:lstStyle/>
              <a:p>
                <a:pPr algn="ctr">
                  <a:defRPr sz="1800"/>
                </a:pPr>
              </a:p>
            </p:txBody>
          </p:sp>
          <p:sp>
            <p:nvSpPr>
              <p:cNvPr id="869" name="Line"/>
              <p:cNvSpPr/>
              <p:nvPr/>
            </p:nvSpPr>
            <p:spPr>
              <a:xfrm>
                <a:off x="-1" y="-1"/>
                <a:ext cx="1487162" cy="10897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700"/>
                    </a:moveTo>
                    <a:cubicBezTo>
                      <a:pt x="21600" y="4191"/>
                      <a:pt x="16765" y="5400"/>
                      <a:pt x="10800" y="5400"/>
                    </a:cubicBezTo>
                    <a:cubicBezTo>
                      <a:pt x="4835" y="5400"/>
                      <a:pt x="0" y="4191"/>
                      <a:pt x="0" y="2700"/>
                    </a:cubicBezTo>
                    <a:cubicBezTo>
                      <a:pt x="0" y="1209"/>
                      <a:pt x="4835" y="0"/>
                      <a:pt x="10800" y="0"/>
                    </a:cubicBezTo>
                    <a:cubicBezTo>
                      <a:pt x="16765" y="0"/>
                      <a:pt x="21600" y="1209"/>
                      <a:pt x="21600" y="2700"/>
                    </a:cubicBezTo>
                    <a:lnTo>
                      <a:pt x="21600" y="18900"/>
                    </a:lnTo>
                    <a:cubicBezTo>
                      <a:pt x="21600" y="20391"/>
                      <a:pt x="16765" y="21600"/>
                      <a:pt x="10800" y="21600"/>
                    </a:cubicBezTo>
                    <a:cubicBezTo>
                      <a:pt x="4835" y="21600"/>
                      <a:pt x="0" y="20391"/>
                      <a:pt x="0" y="18900"/>
                    </a:cubicBezTo>
                    <a:lnTo>
                      <a:pt x="0" y="2700"/>
                    </a:lnTo>
                  </a:path>
                </a:pathLst>
              </a:custGeom>
              <a:noFill/>
              <a:ln w="9525" cap="flat">
                <a:solidFill>
                  <a:srgbClr val="F50A23"/>
                </a:solidFill>
                <a:prstDash val="solid"/>
                <a:round/>
              </a:ln>
              <a:effectLst/>
            </p:spPr>
            <p:txBody>
              <a:bodyPr wrap="square" lIns="0" tIns="0" rIns="0" bIns="0" numCol="1" anchor="ctr">
                <a:noAutofit/>
              </a:bodyPr>
              <a:lstStyle/>
              <a:p>
                <a:pPr algn="ctr">
                  <a:defRPr sz="1800"/>
                </a:pPr>
              </a:p>
            </p:txBody>
          </p:sp>
        </p:grpSp>
        <p:sp>
          <p:nvSpPr>
            <p:cNvPr id="871" name="Postgres…"/>
            <p:cNvSpPr txBox="1"/>
            <p:nvPr/>
          </p:nvSpPr>
          <p:spPr>
            <a:xfrm>
              <a:off x="4762" y="203856"/>
              <a:ext cx="1477636" cy="8182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p>
              <a:pPr algn="ctr">
                <a:defRPr b="1" sz="1800"/>
              </a:pPr>
              <a:r>
                <a:t>Postgres</a:t>
              </a:r>
            </a:p>
            <a:p>
              <a:pPr algn="ctr">
                <a:defRPr sz="1800"/>
              </a:pPr>
              <a:r>
                <a:t>(Data)</a:t>
              </a:r>
            </a:p>
          </p:txBody>
        </p:sp>
      </p:grpSp>
      <p:sp>
        <p:nvSpPr>
          <p:cNvPr id="873" name="Google Shape;548;p66"/>
          <p:cNvSpPr/>
          <p:nvPr/>
        </p:nvSpPr>
        <p:spPr>
          <a:xfrm>
            <a:off x="7070039" y="1340280"/>
            <a:ext cx="2842921" cy="3548520"/>
          </a:xfrm>
          <a:prstGeom prst="roundRect">
            <a:avLst>
              <a:gd name="adj" fmla="val 16667"/>
            </a:avLst>
          </a:prstGeom>
          <a:ln w="38150">
            <a:solidFill>
              <a:srgbClr val="7F7F7F"/>
            </a:solidFill>
          </a:ln>
        </p:spPr>
        <p:txBody>
          <a:bodyPr lIns="0" tIns="0" rIns="0" bIns="0" anchor="ctr"/>
          <a:lstStyle/>
          <a:p>
            <a:pPr/>
          </a:p>
        </p:txBody>
      </p:sp>
      <p:sp>
        <p:nvSpPr>
          <p:cNvPr id="874" name="Google Shape;549;p66"/>
          <p:cNvSpPr/>
          <p:nvPr/>
        </p:nvSpPr>
        <p:spPr>
          <a:xfrm>
            <a:off x="10548000" y="1380600"/>
            <a:ext cx="2929321" cy="3548520"/>
          </a:xfrm>
          <a:prstGeom prst="roundRect">
            <a:avLst>
              <a:gd name="adj" fmla="val 16667"/>
            </a:avLst>
          </a:prstGeom>
          <a:ln w="38150">
            <a:solidFill>
              <a:srgbClr val="7F7F7F"/>
            </a:solidFill>
          </a:ln>
        </p:spPr>
        <p:txBody>
          <a:bodyPr lIns="0" tIns="0" rIns="0" bIns="0" anchor="ctr"/>
          <a:lstStyle/>
          <a:p>
            <a:pPr/>
          </a:p>
        </p:txBody>
      </p:sp>
      <p:sp>
        <p:nvSpPr>
          <p:cNvPr id="875" name="Google Shape;550;p66"/>
          <p:cNvSpPr/>
          <p:nvPr/>
        </p:nvSpPr>
        <p:spPr>
          <a:xfrm>
            <a:off x="3842279" y="1380600"/>
            <a:ext cx="2574001" cy="3548520"/>
          </a:xfrm>
          <a:prstGeom prst="roundRect">
            <a:avLst>
              <a:gd name="adj" fmla="val 16667"/>
            </a:avLst>
          </a:prstGeom>
          <a:ln w="38150">
            <a:solidFill>
              <a:srgbClr val="7F7F7F"/>
            </a:solidFill>
          </a:ln>
        </p:spPr>
        <p:txBody>
          <a:bodyPr lIns="0" tIns="0" rIns="0" bIns="0" anchor="ctr"/>
          <a:lstStyle/>
          <a:p>
            <a:pPr/>
          </a:p>
        </p:txBody>
      </p:sp>
      <p:sp>
        <p:nvSpPr>
          <p:cNvPr id="876" name="Google Shape;551;p66"/>
          <p:cNvSpPr/>
          <p:nvPr/>
        </p:nvSpPr>
        <p:spPr>
          <a:xfrm>
            <a:off x="1145520" y="1380600"/>
            <a:ext cx="2428561" cy="3548520"/>
          </a:xfrm>
          <a:prstGeom prst="roundRect">
            <a:avLst>
              <a:gd name="adj" fmla="val 16667"/>
            </a:avLst>
          </a:prstGeom>
          <a:ln w="38150">
            <a:solidFill>
              <a:srgbClr val="7F7F7F"/>
            </a:solidFill>
          </a:ln>
        </p:spPr>
        <p:txBody>
          <a:bodyPr lIns="0" tIns="0" rIns="0" bIns="0" anchor="ctr"/>
          <a:lstStyle/>
          <a:p>
            <a:pPr/>
          </a:p>
        </p:txBody>
      </p:sp>
      <p:grpSp>
        <p:nvGrpSpPr>
          <p:cNvPr id="879" name="Google Shape;552;p66"/>
          <p:cNvGrpSpPr/>
          <p:nvPr/>
        </p:nvGrpSpPr>
        <p:grpSpPr>
          <a:xfrm>
            <a:off x="1480320" y="1587599"/>
            <a:ext cx="1841401" cy="878042"/>
            <a:chOff x="0" y="0"/>
            <a:chExt cx="1841400" cy="878040"/>
          </a:xfrm>
        </p:grpSpPr>
        <p:sp>
          <p:nvSpPr>
            <p:cNvPr id="877" name="Rounded Rectangle"/>
            <p:cNvSpPr/>
            <p:nvPr/>
          </p:nvSpPr>
          <p:spPr>
            <a:xfrm>
              <a:off x="0" y="0"/>
              <a:ext cx="1841401" cy="878041"/>
            </a:xfrm>
            <a:prstGeom prst="roundRect">
              <a:avLst>
                <a:gd name="adj" fmla="val 16667"/>
              </a:avLst>
            </a:prstGeom>
            <a:solidFill>
              <a:srgbClr val="FFFFFF"/>
            </a:solidFill>
            <a:ln w="28425" cap="flat">
              <a:solidFill>
                <a:srgbClr val="0089EC"/>
              </a:solidFill>
              <a:prstDash val="solid"/>
              <a:round/>
            </a:ln>
            <a:effectLst/>
          </p:spPr>
          <p:txBody>
            <a:bodyPr wrap="square" lIns="0" tIns="0" rIns="0" bIns="0" numCol="1" anchor="ctr">
              <a:noAutofit/>
            </a:bodyPr>
            <a:lstStyle/>
            <a:p>
              <a:pPr algn="ctr"/>
            </a:p>
          </p:txBody>
        </p:sp>
        <p:sp>
          <p:nvSpPr>
            <p:cNvPr id="878" name="Ontology…"/>
            <p:cNvSpPr txBox="1"/>
            <p:nvPr/>
          </p:nvSpPr>
          <p:spPr>
            <a:xfrm>
              <a:off x="57074" y="92578"/>
              <a:ext cx="1727252" cy="6928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p>
              <a:pPr algn="ctr">
                <a:defRPr b="1"/>
              </a:pPr>
              <a:r>
                <a:t>Ontology</a:t>
              </a:r>
            </a:p>
            <a:p>
              <a:pPr algn="ctr"/>
              <a:r>
                <a:t>Network Domain</a:t>
              </a:r>
            </a:p>
          </p:txBody>
        </p:sp>
      </p:grpSp>
      <p:sp>
        <p:nvSpPr>
          <p:cNvPr id="880" name="Google Shape;553;p66"/>
          <p:cNvSpPr/>
          <p:nvPr/>
        </p:nvSpPr>
        <p:spPr>
          <a:xfrm flipV="1">
            <a:off x="3320999" y="3566519"/>
            <a:ext cx="757081" cy="18001"/>
          </a:xfrm>
          <a:prstGeom prst="line">
            <a:avLst/>
          </a:prstGeom>
          <a:ln>
            <a:solidFill>
              <a:srgbClr val="0089EC"/>
            </a:solidFill>
            <a:tailEnd type="triangle"/>
          </a:ln>
        </p:spPr>
        <p:txBody>
          <a:bodyPr lIns="0" tIns="0" rIns="0" bIns="0"/>
          <a:lstStyle/>
          <a:p>
            <a:pPr/>
          </a:p>
        </p:txBody>
      </p:sp>
      <p:sp>
        <p:nvSpPr>
          <p:cNvPr id="881" name="Google Shape;554;p66"/>
          <p:cNvSpPr/>
          <p:nvPr/>
        </p:nvSpPr>
        <p:spPr>
          <a:xfrm flipH="1" flipV="1">
            <a:off x="8591039" y="4078799"/>
            <a:ext cx="361" cy="1699201"/>
          </a:xfrm>
          <a:prstGeom prst="line">
            <a:avLst/>
          </a:prstGeom>
          <a:ln>
            <a:solidFill>
              <a:srgbClr val="0089EC"/>
            </a:solidFill>
            <a:tailEnd type="triangle"/>
          </a:ln>
        </p:spPr>
        <p:txBody>
          <a:bodyPr lIns="0" tIns="0" rIns="0" bIns="0"/>
          <a:lstStyle/>
          <a:p>
            <a:pPr/>
          </a:p>
        </p:txBody>
      </p:sp>
      <p:sp>
        <p:nvSpPr>
          <p:cNvPr id="882" name="Google Shape;555;p66"/>
          <p:cNvSpPr txBox="1"/>
          <p:nvPr/>
        </p:nvSpPr>
        <p:spPr>
          <a:xfrm>
            <a:off x="130680" y="148998"/>
            <a:ext cx="2057040" cy="489684"/>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lvl1pPr algn="ctr">
              <a:defRPr b="1">
                <a:solidFill>
                  <a:srgbClr val="777777"/>
                </a:solidFill>
              </a:defRPr>
            </a:lvl1pPr>
          </a:lstStyle>
          <a:p>
            <a:pPr/>
            <a:r>
              <a:t>Knowledge Fabric</a:t>
            </a:r>
          </a:p>
        </p:txBody>
      </p:sp>
      <p:grpSp>
        <p:nvGrpSpPr>
          <p:cNvPr id="885" name="Google Shape;556;p66"/>
          <p:cNvGrpSpPr/>
          <p:nvPr/>
        </p:nvGrpSpPr>
        <p:grpSpPr>
          <a:xfrm>
            <a:off x="1145519" y="5379839"/>
            <a:ext cx="4462202" cy="1824480"/>
            <a:chOff x="0" y="0"/>
            <a:chExt cx="4462200" cy="1824478"/>
          </a:xfrm>
        </p:grpSpPr>
        <p:sp>
          <p:nvSpPr>
            <p:cNvPr id="883" name="Rectangle"/>
            <p:cNvSpPr/>
            <p:nvPr/>
          </p:nvSpPr>
          <p:spPr>
            <a:xfrm>
              <a:off x="-1" y="0"/>
              <a:ext cx="4462202" cy="1824479"/>
            </a:xfrm>
            <a:prstGeom prst="rect">
              <a:avLst/>
            </a:prstGeom>
            <a:noFill/>
            <a:ln w="28425" cap="flat">
              <a:solidFill>
                <a:srgbClr val="F3EDE0"/>
              </a:solidFill>
              <a:prstDash val="solid"/>
              <a:round/>
            </a:ln>
            <a:effectLst/>
          </p:spPr>
          <p:txBody>
            <a:bodyPr wrap="square" lIns="0" tIns="0" rIns="0" bIns="0" numCol="1" anchor="t">
              <a:noAutofit/>
            </a:bodyPr>
            <a:lstStyle/>
            <a:p>
              <a:pPr/>
            </a:p>
          </p:txBody>
        </p:sp>
        <p:sp>
          <p:nvSpPr>
            <p:cNvPr id="884" name="Incremental Build Plan for Knowledge Fabric:…"/>
            <p:cNvSpPr txBox="1"/>
            <p:nvPr/>
          </p:nvSpPr>
          <p:spPr>
            <a:xfrm>
              <a:off x="14212" y="14212"/>
              <a:ext cx="4433776" cy="17088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t">
              <a:spAutoFit/>
            </a:bodyPr>
            <a:lstStyle/>
            <a:p>
              <a:pPr>
                <a:defRPr b="1"/>
              </a:pPr>
              <a:r>
                <a:t>Incremental Build Plan for Knowledge Fabric:</a:t>
              </a:r>
            </a:p>
            <a:p>
              <a:pPr/>
            </a:p>
            <a:p>
              <a:pPr marL="736559" indent="-456839">
                <a:buClr>
                  <a:srgbClr val="000000"/>
                </a:buClr>
                <a:buSzPts val="1400"/>
                <a:buAutoNum type="arabicPeriod" startAt="1"/>
              </a:pPr>
              <a:r>
                <a:t>Create RDF Structure RAN RDB </a:t>
              </a:r>
            </a:p>
            <a:p>
              <a:pPr marL="736559" indent="-456839">
                <a:buClr>
                  <a:srgbClr val="000000"/>
                </a:buClr>
                <a:buSzPts val="1400"/>
                <a:buAutoNum type="arabicPeriod" startAt="1"/>
              </a:pPr>
              <a:r>
                <a:t>Map RDF to RDB structure (visual)</a:t>
              </a:r>
            </a:p>
            <a:p>
              <a:pPr marL="736559" indent="-456839">
                <a:buClr>
                  <a:srgbClr val="000000"/>
                </a:buClr>
                <a:buSzPts val="1400"/>
                <a:buAutoNum type="arabicPeriod" startAt="1"/>
              </a:pPr>
              <a:r>
                <a:t>Generate R2RML script (manual)</a:t>
              </a:r>
            </a:p>
            <a:p>
              <a:pPr marL="736559" indent="-456839">
                <a:buClr>
                  <a:srgbClr val="000000"/>
                </a:buClr>
                <a:buSzPts val="1400"/>
                <a:buAutoNum type="arabicPeriod" startAt="1"/>
              </a:pPr>
              <a:r>
                <a:t>Build KG using Mappings &amp; Sample Data </a:t>
              </a:r>
            </a:p>
            <a:p>
              <a:pPr marL="736559" indent="-456839">
                <a:buClr>
                  <a:srgbClr val="000000"/>
                </a:buClr>
                <a:buSzPts val="1400"/>
                <a:buAutoNum type="arabicPeriod" startAt="1"/>
              </a:pPr>
              <a:r>
                <a:t>Build Search App </a:t>
              </a:r>
            </a:p>
          </p:txBody>
        </p:sp>
      </p:grpSp>
      <p:grpSp>
        <p:nvGrpSpPr>
          <p:cNvPr id="888" name="Google Shape;557;p66"/>
          <p:cNvGrpSpPr/>
          <p:nvPr/>
        </p:nvGrpSpPr>
        <p:grpSpPr>
          <a:xfrm>
            <a:off x="1480320" y="3017879"/>
            <a:ext cx="1841401" cy="1096921"/>
            <a:chOff x="0" y="0"/>
            <a:chExt cx="1841400" cy="1096919"/>
          </a:xfrm>
        </p:grpSpPr>
        <p:sp>
          <p:nvSpPr>
            <p:cNvPr id="886" name="Rounded Rectangle"/>
            <p:cNvSpPr/>
            <p:nvPr/>
          </p:nvSpPr>
          <p:spPr>
            <a:xfrm>
              <a:off x="0" y="0"/>
              <a:ext cx="1841401" cy="1096920"/>
            </a:xfrm>
            <a:prstGeom prst="roundRect">
              <a:avLst>
                <a:gd name="adj" fmla="val 16667"/>
              </a:avLst>
            </a:prstGeom>
            <a:solidFill>
              <a:srgbClr val="FFFFFF"/>
            </a:solidFill>
            <a:ln w="28425" cap="flat">
              <a:solidFill>
                <a:srgbClr val="0089EC"/>
              </a:solidFill>
              <a:prstDash val="solid"/>
              <a:round/>
            </a:ln>
            <a:effectLst/>
          </p:spPr>
          <p:txBody>
            <a:bodyPr wrap="square" lIns="0" tIns="0" rIns="0" bIns="0" numCol="1" anchor="ctr">
              <a:noAutofit/>
            </a:bodyPr>
            <a:lstStyle/>
            <a:p>
              <a:pPr algn="ctr"/>
            </a:p>
          </p:txBody>
        </p:sp>
        <p:sp>
          <p:nvSpPr>
            <p:cNvPr id="887" name="Ontology…"/>
            <p:cNvSpPr txBox="1"/>
            <p:nvPr/>
          </p:nvSpPr>
          <p:spPr>
            <a:xfrm>
              <a:off x="67759" y="100418"/>
              <a:ext cx="1705882" cy="8960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p>
              <a:pPr algn="ctr">
                <a:defRPr b="1"/>
              </a:pPr>
              <a:r>
                <a:t>Ontology</a:t>
              </a:r>
            </a:p>
            <a:p>
              <a:pPr algn="ctr"/>
              <a:r>
                <a:t>Network Domain</a:t>
              </a:r>
            </a:p>
            <a:p>
              <a:pPr algn="ctr"/>
              <a:r>
                <a:t>Wireless</a:t>
              </a:r>
            </a:p>
          </p:txBody>
        </p:sp>
      </p:grpSp>
      <p:sp>
        <p:nvSpPr>
          <p:cNvPr id="889" name="Google Shape;558;p66"/>
          <p:cNvSpPr/>
          <p:nvPr/>
        </p:nvSpPr>
        <p:spPr>
          <a:xfrm>
            <a:off x="2401199" y="2466000"/>
            <a:ext cx="361" cy="551521"/>
          </a:xfrm>
          <a:prstGeom prst="line">
            <a:avLst/>
          </a:prstGeom>
          <a:ln>
            <a:solidFill>
              <a:srgbClr val="0089EC"/>
            </a:solidFill>
            <a:tailEnd type="triangle"/>
          </a:ln>
        </p:spPr>
        <p:txBody>
          <a:bodyPr lIns="0" tIns="0" rIns="0" bIns="0"/>
          <a:lstStyle/>
          <a:p>
            <a:pPr/>
          </a:p>
        </p:txBody>
      </p:sp>
      <p:grpSp>
        <p:nvGrpSpPr>
          <p:cNvPr id="892" name="Google Shape;559;p66"/>
          <p:cNvGrpSpPr/>
          <p:nvPr/>
        </p:nvGrpSpPr>
        <p:grpSpPr>
          <a:xfrm>
            <a:off x="4079159" y="2998518"/>
            <a:ext cx="2119681" cy="1099284"/>
            <a:chOff x="0" y="0"/>
            <a:chExt cx="2119679" cy="1099283"/>
          </a:xfrm>
        </p:grpSpPr>
        <p:sp>
          <p:nvSpPr>
            <p:cNvPr id="890" name="Rounded Rectangle"/>
            <p:cNvSpPr/>
            <p:nvPr/>
          </p:nvSpPr>
          <p:spPr>
            <a:xfrm>
              <a:off x="0" y="19361"/>
              <a:ext cx="2119680" cy="1060561"/>
            </a:xfrm>
            <a:prstGeom prst="roundRect">
              <a:avLst>
                <a:gd name="adj" fmla="val 16667"/>
              </a:avLst>
            </a:prstGeom>
            <a:solidFill>
              <a:srgbClr val="FFFFFF"/>
            </a:solidFill>
            <a:ln w="28425" cap="flat">
              <a:solidFill>
                <a:srgbClr val="0089EC"/>
              </a:solidFill>
              <a:prstDash val="solid"/>
              <a:round/>
            </a:ln>
            <a:effectLst/>
          </p:spPr>
          <p:txBody>
            <a:bodyPr wrap="square" lIns="0" tIns="0" rIns="0" bIns="0" numCol="1" anchor="ctr">
              <a:noAutofit/>
            </a:bodyPr>
            <a:lstStyle/>
            <a:p>
              <a:pPr algn="ctr"/>
            </a:p>
          </p:txBody>
        </p:sp>
        <p:sp>
          <p:nvSpPr>
            <p:cNvPr id="891" name="R2R Mapping…"/>
            <p:cNvSpPr txBox="1"/>
            <p:nvPr/>
          </p:nvSpPr>
          <p:spPr>
            <a:xfrm>
              <a:off x="65984" y="0"/>
              <a:ext cx="1987712" cy="1099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p>
              <a:pPr algn="ctr">
                <a:defRPr b="1"/>
              </a:pPr>
              <a:r>
                <a:t>R2R Mapping</a:t>
              </a:r>
            </a:p>
            <a:p>
              <a:pPr algn="ctr"/>
              <a:r>
                <a:t>Ontology Classes </a:t>
              </a:r>
            </a:p>
            <a:p>
              <a:pPr algn="ctr"/>
              <a:r>
                <a:t>2 </a:t>
              </a:r>
            </a:p>
            <a:p>
              <a:pPr algn="ctr"/>
              <a:r>
                <a:t>RDF Structure</a:t>
              </a:r>
            </a:p>
          </p:txBody>
        </p:sp>
      </p:grpSp>
      <p:grpSp>
        <p:nvGrpSpPr>
          <p:cNvPr id="895" name="Google Shape;560;p66"/>
          <p:cNvGrpSpPr/>
          <p:nvPr/>
        </p:nvGrpSpPr>
        <p:grpSpPr>
          <a:xfrm>
            <a:off x="10841759" y="2702519"/>
            <a:ext cx="2475002" cy="1707121"/>
            <a:chOff x="0" y="0"/>
            <a:chExt cx="2475000" cy="1707120"/>
          </a:xfrm>
        </p:grpSpPr>
        <p:sp>
          <p:nvSpPr>
            <p:cNvPr id="893" name="Rounded Rectangle"/>
            <p:cNvSpPr/>
            <p:nvPr/>
          </p:nvSpPr>
          <p:spPr>
            <a:xfrm>
              <a:off x="0" y="0"/>
              <a:ext cx="2475001" cy="1707121"/>
            </a:xfrm>
            <a:prstGeom prst="roundRect">
              <a:avLst>
                <a:gd name="adj" fmla="val 16667"/>
              </a:avLst>
            </a:prstGeom>
            <a:solidFill>
              <a:srgbClr val="FFFFFF"/>
            </a:solidFill>
            <a:ln w="28425" cap="flat">
              <a:solidFill>
                <a:srgbClr val="F50A23"/>
              </a:solidFill>
              <a:prstDash val="solid"/>
              <a:round/>
            </a:ln>
            <a:effectLst/>
          </p:spPr>
          <p:txBody>
            <a:bodyPr wrap="square" lIns="0" tIns="0" rIns="0" bIns="0" numCol="1" anchor="ctr">
              <a:noAutofit/>
            </a:bodyPr>
            <a:lstStyle/>
            <a:p>
              <a:pPr algn="ctr"/>
            </a:p>
          </p:txBody>
        </p:sp>
        <p:sp>
          <p:nvSpPr>
            <p:cNvPr id="894" name="KG…"/>
            <p:cNvSpPr txBox="1"/>
            <p:nvPr/>
          </p:nvSpPr>
          <p:spPr>
            <a:xfrm>
              <a:off x="97547" y="100718"/>
              <a:ext cx="2279906" cy="15056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p>
              <a:pPr algn="ctr">
                <a:defRPr b="1"/>
              </a:pPr>
              <a:r>
                <a:t>KG </a:t>
              </a:r>
            </a:p>
            <a:p>
              <a:pPr algn="ctr">
                <a:defRPr b="1"/>
              </a:pPr>
              <a:r>
                <a:t>(Context + Content)</a:t>
              </a:r>
            </a:p>
            <a:p>
              <a:pPr algn="ctr"/>
              <a:r>
                <a:t>RAN (RDB Snapshot) 1:1</a:t>
              </a:r>
            </a:p>
            <a:p>
              <a:pPr algn="ctr"/>
              <a:r>
                <a:t>RAN (Schema + Data)</a:t>
              </a:r>
            </a:p>
            <a:p>
              <a:pPr algn="ctr"/>
              <a:r>
                <a:t>(Transient)</a:t>
              </a:r>
            </a:p>
          </p:txBody>
        </p:sp>
      </p:grpSp>
      <p:sp>
        <p:nvSpPr>
          <p:cNvPr id="896" name="Google Shape;561;p66"/>
          <p:cNvSpPr txBox="1"/>
          <p:nvPr/>
        </p:nvSpPr>
        <p:spPr>
          <a:xfrm>
            <a:off x="2909520" y="1479539"/>
            <a:ext cx="366841" cy="584401"/>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lvl1pPr algn="ctr"/>
          </a:lstStyle>
          <a:p>
            <a:pPr/>
            <a:r>
              <a:t>✅</a:t>
            </a:r>
          </a:p>
        </p:txBody>
      </p:sp>
      <p:sp>
        <p:nvSpPr>
          <p:cNvPr id="897" name="Google Shape;562;p66"/>
          <p:cNvSpPr txBox="1"/>
          <p:nvPr/>
        </p:nvSpPr>
        <p:spPr>
          <a:xfrm>
            <a:off x="2909520" y="3064259"/>
            <a:ext cx="366841" cy="584401"/>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lvl1pPr algn="ctr"/>
          </a:lstStyle>
          <a:p>
            <a:pPr/>
            <a:r>
              <a:t>✅</a:t>
            </a:r>
          </a:p>
        </p:txBody>
      </p:sp>
      <p:sp>
        <p:nvSpPr>
          <p:cNvPr id="898" name="Google Shape;563;p66"/>
          <p:cNvSpPr txBox="1"/>
          <p:nvPr/>
        </p:nvSpPr>
        <p:spPr>
          <a:xfrm>
            <a:off x="8407799" y="5618460"/>
            <a:ext cx="366841" cy="584401"/>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lvl1pPr algn="ctr"/>
          </a:lstStyle>
          <a:p>
            <a:pPr/>
            <a:r>
              <a:t>✅</a:t>
            </a:r>
          </a:p>
        </p:txBody>
      </p:sp>
      <p:sp>
        <p:nvSpPr>
          <p:cNvPr id="899" name="Google Shape;564;p66"/>
          <p:cNvSpPr txBox="1"/>
          <p:nvPr/>
        </p:nvSpPr>
        <p:spPr>
          <a:xfrm>
            <a:off x="1703879" y="1017997"/>
            <a:ext cx="1450081" cy="427846"/>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lvl1pPr algn="ctr">
              <a:defRPr b="1" sz="1000">
                <a:solidFill>
                  <a:srgbClr val="777777"/>
                </a:solidFill>
              </a:defRPr>
            </a:lvl1pPr>
          </a:lstStyle>
          <a:p>
            <a:pPr/>
            <a:r>
              <a:t>Named Graphs</a:t>
            </a:r>
          </a:p>
        </p:txBody>
      </p:sp>
      <p:grpSp>
        <p:nvGrpSpPr>
          <p:cNvPr id="902" name="Google Shape;565;p66"/>
          <p:cNvGrpSpPr/>
          <p:nvPr/>
        </p:nvGrpSpPr>
        <p:grpSpPr>
          <a:xfrm>
            <a:off x="11230199" y="1486080"/>
            <a:ext cx="1666081" cy="709921"/>
            <a:chOff x="0" y="0"/>
            <a:chExt cx="1666080" cy="709919"/>
          </a:xfrm>
        </p:grpSpPr>
        <p:sp>
          <p:nvSpPr>
            <p:cNvPr id="900" name="Rectangle"/>
            <p:cNvSpPr/>
            <p:nvPr/>
          </p:nvSpPr>
          <p:spPr>
            <a:xfrm>
              <a:off x="-1" y="0"/>
              <a:ext cx="1666082" cy="709920"/>
            </a:xfrm>
            <a:prstGeom prst="rect">
              <a:avLst/>
            </a:prstGeom>
            <a:solidFill>
              <a:srgbClr val="F3EDE0"/>
            </a:solidFill>
            <a:ln w="12700" cap="flat">
              <a:noFill/>
              <a:miter lim="400000"/>
            </a:ln>
            <a:effectLst/>
          </p:spPr>
          <p:txBody>
            <a:bodyPr wrap="square" lIns="0" tIns="0" rIns="0" bIns="0" numCol="1" anchor="t">
              <a:noAutofit/>
            </a:bodyPr>
            <a:lstStyle/>
            <a:p>
              <a:pPr algn="ctr"/>
            </a:p>
          </p:txBody>
        </p:sp>
        <p:sp>
          <p:nvSpPr>
            <p:cNvPr id="901" name="Build KG with Sample Data"/>
            <p:cNvSpPr txBox="1"/>
            <p:nvPr/>
          </p:nvSpPr>
          <p:spPr>
            <a:xfrm>
              <a:off x="-1" y="0"/>
              <a:ext cx="1666082" cy="6928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t">
              <a:spAutoFit/>
            </a:bodyPr>
            <a:lstStyle>
              <a:lvl1pPr algn="ctr"/>
            </a:lstStyle>
            <a:p>
              <a:pPr/>
              <a:r>
                <a:t>Build KG with Sample Data</a:t>
              </a:r>
            </a:p>
          </p:txBody>
        </p:sp>
      </p:grpSp>
      <p:sp>
        <p:nvSpPr>
          <p:cNvPr id="903" name="Google Shape;566;p66"/>
          <p:cNvSpPr txBox="1"/>
          <p:nvPr/>
        </p:nvSpPr>
        <p:spPr>
          <a:xfrm>
            <a:off x="11966760" y="5293867"/>
            <a:ext cx="2153161" cy="846946"/>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p>
            <a:pPr algn="ctr">
              <a:defRPr sz="1000"/>
            </a:pPr>
            <a:r>
              <a:t>IRI Mappings </a:t>
            </a:r>
          </a:p>
          <a:p>
            <a:pPr algn="ctr">
              <a:defRPr sz="1000"/>
            </a:pPr>
            <a:r>
              <a:t>RAN DB Classes to: </a:t>
            </a:r>
          </a:p>
          <a:p>
            <a:pPr algn="ctr">
              <a:defRPr sz="1000"/>
            </a:pPr>
            <a:r>
              <a:t>(1) Schema Instances</a:t>
            </a:r>
          </a:p>
          <a:p>
            <a:pPr algn="ctr">
              <a:defRPr sz="1000"/>
            </a:pPr>
            <a:r>
              <a:t>(2) Data Instances</a:t>
            </a:r>
          </a:p>
        </p:txBody>
      </p:sp>
      <p:sp>
        <p:nvSpPr>
          <p:cNvPr id="904" name="Google Shape;567;p66"/>
          <p:cNvSpPr txBox="1"/>
          <p:nvPr/>
        </p:nvSpPr>
        <p:spPr>
          <a:xfrm>
            <a:off x="4427639" y="1017997"/>
            <a:ext cx="1274761" cy="427846"/>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lvl1pPr algn="ctr">
              <a:defRPr b="1" sz="1000">
                <a:solidFill>
                  <a:srgbClr val="777777"/>
                </a:solidFill>
              </a:defRPr>
            </a:lvl1pPr>
          </a:lstStyle>
          <a:p>
            <a:pPr/>
            <a:r>
              <a:t>Named Graphs</a:t>
            </a:r>
          </a:p>
        </p:txBody>
      </p:sp>
      <p:sp>
        <p:nvSpPr>
          <p:cNvPr id="905" name="Google Shape;568;p66"/>
          <p:cNvSpPr txBox="1"/>
          <p:nvPr/>
        </p:nvSpPr>
        <p:spPr>
          <a:xfrm>
            <a:off x="7909920" y="960757"/>
            <a:ext cx="1362241" cy="427846"/>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lvl1pPr algn="ctr">
              <a:defRPr b="1" sz="1000">
                <a:solidFill>
                  <a:srgbClr val="777777"/>
                </a:solidFill>
              </a:defRPr>
            </a:lvl1pPr>
          </a:lstStyle>
          <a:p>
            <a:pPr/>
            <a:r>
              <a:t>Named Graphs</a:t>
            </a:r>
          </a:p>
        </p:txBody>
      </p:sp>
      <p:sp>
        <p:nvSpPr>
          <p:cNvPr id="906" name="Google Shape;569;p66"/>
          <p:cNvSpPr txBox="1"/>
          <p:nvPr/>
        </p:nvSpPr>
        <p:spPr>
          <a:xfrm>
            <a:off x="11457720" y="1017997"/>
            <a:ext cx="1450081" cy="427846"/>
          </a:xfrm>
          <a:prstGeom prst="rect">
            <a:avLst/>
          </a:prstGeom>
          <a:ln w="12700">
            <a:miter lim="400000"/>
          </a:ln>
          <a:extLst>
            <a:ext uri="{C572A759-6A51-4108-AA02-DFA0A04FC94B}">
              <ma14:wrappingTextBoxFlag xmlns:ma14="http://schemas.microsoft.com/office/mac/drawingml/2011/main" val="1"/>
            </a:ext>
          </a:extLst>
        </p:spPr>
        <p:txBody>
          <a:bodyPr lIns="146150" tIns="146150" rIns="146150" bIns="146150" anchor="ctr">
            <a:spAutoFit/>
          </a:bodyPr>
          <a:lstStyle>
            <a:lvl1pPr algn="ctr">
              <a:defRPr b="1" sz="1000">
                <a:solidFill>
                  <a:srgbClr val="777777"/>
                </a:solidFill>
              </a:defRPr>
            </a:lvl1pPr>
          </a:lstStyle>
          <a:p>
            <a:pPr/>
            <a:r>
              <a:t>Named Graphs</a:t>
            </a:r>
          </a:p>
        </p:txBody>
      </p:sp>
      <p:grpSp>
        <p:nvGrpSpPr>
          <p:cNvPr id="909" name="Google Shape;570;p66"/>
          <p:cNvGrpSpPr/>
          <p:nvPr/>
        </p:nvGrpSpPr>
        <p:grpSpPr>
          <a:xfrm>
            <a:off x="302760" y="884680"/>
            <a:ext cx="1197360" cy="477400"/>
            <a:chOff x="0" y="0"/>
            <a:chExt cx="1197359" cy="477398"/>
          </a:xfrm>
        </p:grpSpPr>
        <p:sp>
          <p:nvSpPr>
            <p:cNvPr id="907" name="Rectangle"/>
            <p:cNvSpPr/>
            <p:nvPr/>
          </p:nvSpPr>
          <p:spPr>
            <a:xfrm>
              <a:off x="0" y="68959"/>
              <a:ext cx="1197360" cy="339481"/>
            </a:xfrm>
            <a:prstGeom prst="rect">
              <a:avLst/>
            </a:prstGeom>
            <a:solidFill>
              <a:srgbClr val="FFFFFF"/>
            </a:solidFill>
            <a:ln w="12700" cap="flat">
              <a:noFill/>
              <a:miter lim="400000"/>
            </a:ln>
            <a:effectLst/>
          </p:spPr>
          <p:txBody>
            <a:bodyPr wrap="square" lIns="0" tIns="0" rIns="0" bIns="0" numCol="1" anchor="ctr">
              <a:noAutofit/>
            </a:bodyPr>
            <a:lstStyle/>
            <a:p>
              <a:pPr algn="ctr">
                <a:defRPr sz="1300"/>
              </a:pPr>
            </a:p>
          </p:txBody>
        </p:sp>
        <p:sp>
          <p:nvSpPr>
            <p:cNvPr id="908" name="GraphDB"/>
            <p:cNvSpPr txBox="1"/>
            <p:nvPr/>
          </p:nvSpPr>
          <p:spPr>
            <a:xfrm>
              <a:off x="0" y="0"/>
              <a:ext cx="1197360" cy="4773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lvl1pPr algn="ctr">
                <a:defRPr b="1" sz="1300">
                  <a:solidFill>
                    <a:srgbClr val="777777"/>
                  </a:solidFill>
                </a:defRPr>
              </a:lvl1pPr>
            </a:lstStyle>
            <a:p>
              <a:pPr/>
              <a:r>
                <a:t>GraphDB</a:t>
              </a:r>
            </a:p>
          </p:txBody>
        </p:sp>
      </p:grpSp>
      <p:grpSp>
        <p:nvGrpSpPr>
          <p:cNvPr id="912" name="Google Shape;571;p66"/>
          <p:cNvGrpSpPr/>
          <p:nvPr/>
        </p:nvGrpSpPr>
        <p:grpSpPr>
          <a:xfrm>
            <a:off x="9650159" y="6449198"/>
            <a:ext cx="2428561" cy="896084"/>
            <a:chOff x="0" y="0"/>
            <a:chExt cx="2428560" cy="896083"/>
          </a:xfrm>
        </p:grpSpPr>
        <p:sp>
          <p:nvSpPr>
            <p:cNvPr id="910" name="Rectangle"/>
            <p:cNvSpPr/>
            <p:nvPr/>
          </p:nvSpPr>
          <p:spPr>
            <a:xfrm>
              <a:off x="0" y="93081"/>
              <a:ext cx="2428561" cy="709921"/>
            </a:xfrm>
            <a:prstGeom prst="rect">
              <a:avLst/>
            </a:prstGeom>
            <a:solidFill>
              <a:srgbClr val="F3EDE0"/>
            </a:solidFill>
            <a:ln w="12700" cap="flat">
              <a:noFill/>
              <a:miter lim="400000"/>
            </a:ln>
            <a:effectLst/>
          </p:spPr>
          <p:txBody>
            <a:bodyPr wrap="square" lIns="0" tIns="0" rIns="0" bIns="0" numCol="1" anchor="ctr">
              <a:noAutofit/>
            </a:bodyPr>
            <a:lstStyle/>
            <a:p>
              <a:pPr algn="ctr"/>
            </a:p>
          </p:txBody>
        </p:sp>
        <p:sp>
          <p:nvSpPr>
            <p:cNvPr id="911" name="Build KG with Sample Data for validating each Knowledge Extension"/>
            <p:cNvSpPr txBox="1"/>
            <p:nvPr/>
          </p:nvSpPr>
          <p:spPr>
            <a:xfrm>
              <a:off x="0" y="0"/>
              <a:ext cx="2428561" cy="8960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lvl1pPr algn="ctr"/>
            </a:lstStyle>
            <a:p>
              <a:pPr/>
              <a:r>
                <a:t>Build KG with Sample Data for validating each Knowledge Extension</a:t>
              </a:r>
            </a:p>
          </p:txBody>
        </p:sp>
      </p:grpSp>
      <p:sp>
        <p:nvSpPr>
          <p:cNvPr id="913" name="Google Shape;572;p66"/>
          <p:cNvSpPr/>
          <p:nvPr/>
        </p:nvSpPr>
        <p:spPr>
          <a:xfrm flipH="1" rot="10800000">
            <a:off x="9335520" y="6322980"/>
            <a:ext cx="2743801" cy="1913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path>
            </a:pathLst>
          </a:custGeom>
          <a:ln w="28425">
            <a:solidFill>
              <a:srgbClr val="F50A23"/>
            </a:solidFill>
            <a:prstDash val="dashDot"/>
            <a:tailEnd type="triangle"/>
          </a:ln>
        </p:spPr>
        <p:txBody>
          <a:bodyPr lIns="0" tIns="0" rIns="0" bIns="0"/>
          <a:lstStyle/>
          <a:p>
            <a:pPr/>
          </a:p>
        </p:txBody>
      </p:sp>
      <p:grpSp>
        <p:nvGrpSpPr>
          <p:cNvPr id="916" name="Google Shape;573;p66"/>
          <p:cNvGrpSpPr/>
          <p:nvPr/>
        </p:nvGrpSpPr>
        <p:grpSpPr>
          <a:xfrm>
            <a:off x="7562880" y="2998518"/>
            <a:ext cx="2057041" cy="1099284"/>
            <a:chOff x="0" y="0"/>
            <a:chExt cx="2057039" cy="1099283"/>
          </a:xfrm>
        </p:grpSpPr>
        <p:sp>
          <p:nvSpPr>
            <p:cNvPr id="914" name="Rounded Rectangle"/>
            <p:cNvSpPr/>
            <p:nvPr/>
          </p:nvSpPr>
          <p:spPr>
            <a:xfrm>
              <a:off x="0" y="19361"/>
              <a:ext cx="2057040" cy="1060561"/>
            </a:xfrm>
            <a:prstGeom prst="roundRect">
              <a:avLst>
                <a:gd name="adj" fmla="val 16667"/>
              </a:avLst>
            </a:prstGeom>
            <a:solidFill>
              <a:srgbClr val="FFFFFF"/>
            </a:solidFill>
            <a:ln w="28425" cap="flat">
              <a:solidFill>
                <a:srgbClr val="0089EC"/>
              </a:solidFill>
              <a:prstDash val="solid"/>
              <a:round/>
            </a:ln>
            <a:effectLst/>
          </p:spPr>
          <p:txBody>
            <a:bodyPr wrap="square" lIns="0" tIns="0" rIns="0" bIns="0" numCol="1" anchor="ctr">
              <a:noAutofit/>
            </a:bodyPr>
            <a:lstStyle/>
            <a:p>
              <a:pPr algn="ctr"/>
            </a:p>
          </p:txBody>
        </p:sp>
        <p:sp>
          <p:nvSpPr>
            <p:cNvPr id="915" name="RDF Structure…"/>
            <p:cNvSpPr txBox="1"/>
            <p:nvPr/>
          </p:nvSpPr>
          <p:spPr>
            <a:xfrm>
              <a:off x="65984" y="0"/>
              <a:ext cx="1925072" cy="10992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p>
              <a:pPr algn="ctr">
                <a:defRPr b="1"/>
              </a:pPr>
              <a:r>
                <a:t>RDF Structure</a:t>
              </a:r>
            </a:p>
            <a:p>
              <a:pPr algn="ctr"/>
              <a:r>
                <a:t>Ontology for</a:t>
              </a:r>
            </a:p>
            <a:p>
              <a:pPr algn="ctr"/>
              <a:r>
                <a:t>RDB Snapshot</a:t>
              </a:r>
            </a:p>
            <a:p>
              <a:pPr algn="ctr"/>
              <a:r>
                <a:t>(Autogenerated)</a:t>
              </a:r>
            </a:p>
          </p:txBody>
        </p:sp>
      </p:grpSp>
      <p:grpSp>
        <p:nvGrpSpPr>
          <p:cNvPr id="919" name="Google Shape;574;p66"/>
          <p:cNvGrpSpPr/>
          <p:nvPr/>
        </p:nvGrpSpPr>
        <p:grpSpPr>
          <a:xfrm>
            <a:off x="7611840" y="5169940"/>
            <a:ext cx="548281" cy="477400"/>
            <a:chOff x="0" y="0"/>
            <a:chExt cx="548280" cy="477398"/>
          </a:xfrm>
        </p:grpSpPr>
        <p:sp>
          <p:nvSpPr>
            <p:cNvPr id="917" name="Rectangle"/>
            <p:cNvSpPr/>
            <p:nvPr/>
          </p:nvSpPr>
          <p:spPr>
            <a:xfrm>
              <a:off x="0" y="136819"/>
              <a:ext cx="548281" cy="203761"/>
            </a:xfrm>
            <a:prstGeom prst="rect">
              <a:avLst/>
            </a:prstGeom>
            <a:solidFill>
              <a:srgbClr val="FFFFFF"/>
            </a:solidFill>
            <a:ln w="12700" cap="flat">
              <a:noFill/>
              <a:miter lim="400000"/>
            </a:ln>
            <a:effectLst/>
          </p:spPr>
          <p:txBody>
            <a:bodyPr wrap="square" lIns="0" tIns="0" rIns="0" bIns="0" numCol="1" anchor="ctr">
              <a:noAutofit/>
            </a:bodyPr>
            <a:lstStyle/>
            <a:p>
              <a:pPr algn="ctr">
                <a:defRPr sz="1300"/>
              </a:pPr>
            </a:p>
          </p:txBody>
        </p:sp>
        <p:sp>
          <p:nvSpPr>
            <p:cNvPr id="918" name="1:1"/>
            <p:cNvSpPr txBox="1"/>
            <p:nvPr/>
          </p:nvSpPr>
          <p:spPr>
            <a:xfrm>
              <a:off x="0" y="0"/>
              <a:ext cx="548281" cy="4773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lvl1pPr algn="ctr">
                <a:defRPr b="1" sz="1300">
                  <a:solidFill>
                    <a:srgbClr val="777777"/>
                  </a:solidFill>
                </a:defRPr>
              </a:lvl1pPr>
            </a:lstStyle>
            <a:p>
              <a:pPr/>
              <a:r>
                <a:t>1:1</a:t>
              </a:r>
            </a:p>
          </p:txBody>
        </p:sp>
      </p:grpSp>
      <p:sp>
        <p:nvSpPr>
          <p:cNvPr id="920" name="Google Shape;575;p66"/>
          <p:cNvSpPr/>
          <p:nvPr/>
        </p:nvSpPr>
        <p:spPr>
          <a:xfrm>
            <a:off x="6199559" y="3542110"/>
            <a:ext cx="13629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1" y="0"/>
                </a:lnTo>
                <a:lnTo>
                  <a:pt x="10801" y="21600"/>
                </a:lnTo>
                <a:lnTo>
                  <a:pt x="21600" y="21600"/>
                </a:lnTo>
              </a:path>
            </a:pathLst>
          </a:custGeom>
          <a:ln>
            <a:solidFill>
              <a:srgbClr val="0089EC"/>
            </a:solidFill>
            <a:tailEnd type="triangle"/>
          </a:ln>
        </p:spPr>
        <p:txBody>
          <a:bodyPr lIns="0" tIns="0" rIns="0" bIns="0"/>
          <a:lstStyle/>
          <a:p>
            <a:pPr/>
          </a:p>
        </p:txBody>
      </p:sp>
      <p:grpSp>
        <p:nvGrpSpPr>
          <p:cNvPr id="923" name="Google Shape;576;p66"/>
          <p:cNvGrpSpPr/>
          <p:nvPr/>
        </p:nvGrpSpPr>
        <p:grpSpPr>
          <a:xfrm>
            <a:off x="6469200" y="3148720"/>
            <a:ext cx="548281" cy="477400"/>
            <a:chOff x="0" y="0"/>
            <a:chExt cx="548280" cy="477398"/>
          </a:xfrm>
        </p:grpSpPr>
        <p:sp>
          <p:nvSpPr>
            <p:cNvPr id="921" name="Rectangle"/>
            <p:cNvSpPr/>
            <p:nvPr/>
          </p:nvSpPr>
          <p:spPr>
            <a:xfrm>
              <a:off x="0" y="106039"/>
              <a:ext cx="548281" cy="265321"/>
            </a:xfrm>
            <a:prstGeom prst="rect">
              <a:avLst/>
            </a:prstGeom>
            <a:solidFill>
              <a:srgbClr val="FFFFFF"/>
            </a:solidFill>
            <a:ln w="12700" cap="flat">
              <a:noFill/>
              <a:miter lim="400000"/>
            </a:ln>
            <a:effectLst/>
          </p:spPr>
          <p:txBody>
            <a:bodyPr wrap="square" lIns="0" tIns="0" rIns="0" bIns="0" numCol="1" anchor="ctr">
              <a:noAutofit/>
            </a:bodyPr>
            <a:lstStyle/>
            <a:p>
              <a:pPr algn="ctr">
                <a:defRPr sz="1300"/>
              </a:pPr>
            </a:p>
          </p:txBody>
        </p:sp>
        <p:sp>
          <p:nvSpPr>
            <p:cNvPr id="922" name="1:1"/>
            <p:cNvSpPr txBox="1"/>
            <p:nvPr/>
          </p:nvSpPr>
          <p:spPr>
            <a:xfrm>
              <a:off x="0" y="0"/>
              <a:ext cx="548281" cy="4773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lvl1pPr algn="ctr">
                <a:defRPr b="1" sz="1300">
                  <a:solidFill>
                    <a:srgbClr val="777777"/>
                  </a:solidFill>
                </a:defRPr>
              </a:lvl1pPr>
            </a:lstStyle>
            <a:p>
              <a:pPr/>
              <a:r>
                <a:t>1:1 </a:t>
              </a:r>
            </a:p>
          </p:txBody>
        </p:sp>
      </p:grpSp>
      <p:sp>
        <p:nvSpPr>
          <p:cNvPr id="924" name="Google Shape;577;p66"/>
          <p:cNvSpPr/>
          <p:nvPr/>
        </p:nvSpPr>
        <p:spPr>
          <a:xfrm>
            <a:off x="9620280" y="3548160"/>
            <a:ext cx="1221121" cy="7921"/>
          </a:xfrm>
          <a:prstGeom prst="line">
            <a:avLst/>
          </a:prstGeom>
          <a:ln>
            <a:solidFill>
              <a:srgbClr val="0089EC"/>
            </a:solidFill>
            <a:tailEnd type="triangle"/>
          </a:ln>
        </p:spPr>
        <p:txBody>
          <a:bodyPr lIns="0" tIns="0" rIns="0" bIns="0"/>
          <a:lstStyle/>
          <a:p>
            <a:pPr/>
          </a:p>
        </p:txBody>
      </p:sp>
      <p:grpSp>
        <p:nvGrpSpPr>
          <p:cNvPr id="927" name="Google Shape;578;p66"/>
          <p:cNvGrpSpPr/>
          <p:nvPr/>
        </p:nvGrpSpPr>
        <p:grpSpPr>
          <a:xfrm>
            <a:off x="9956520" y="3148900"/>
            <a:ext cx="548281" cy="477400"/>
            <a:chOff x="0" y="0"/>
            <a:chExt cx="548280" cy="477398"/>
          </a:xfrm>
        </p:grpSpPr>
        <p:sp>
          <p:nvSpPr>
            <p:cNvPr id="925" name="Rectangle"/>
            <p:cNvSpPr/>
            <p:nvPr/>
          </p:nvSpPr>
          <p:spPr>
            <a:xfrm>
              <a:off x="0" y="136819"/>
              <a:ext cx="548281" cy="203761"/>
            </a:xfrm>
            <a:prstGeom prst="rect">
              <a:avLst/>
            </a:prstGeom>
            <a:solidFill>
              <a:srgbClr val="FFFFFF"/>
            </a:solidFill>
            <a:ln w="12700" cap="flat">
              <a:noFill/>
              <a:miter lim="400000"/>
            </a:ln>
            <a:effectLst/>
          </p:spPr>
          <p:txBody>
            <a:bodyPr wrap="square" lIns="0" tIns="0" rIns="0" bIns="0" numCol="1" anchor="ctr">
              <a:noAutofit/>
            </a:bodyPr>
            <a:lstStyle/>
            <a:p>
              <a:pPr algn="ctr">
                <a:defRPr sz="1300"/>
              </a:pPr>
            </a:p>
          </p:txBody>
        </p:sp>
        <p:sp>
          <p:nvSpPr>
            <p:cNvPr id="926" name="1:1"/>
            <p:cNvSpPr txBox="1"/>
            <p:nvPr/>
          </p:nvSpPr>
          <p:spPr>
            <a:xfrm>
              <a:off x="0" y="0"/>
              <a:ext cx="548281" cy="4773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lvl1pPr algn="ctr">
                <a:defRPr b="1" sz="1300">
                  <a:solidFill>
                    <a:srgbClr val="777777"/>
                  </a:solidFill>
                </a:defRPr>
              </a:lvl1pPr>
            </a:lstStyle>
            <a:p>
              <a:pPr/>
              <a:r>
                <a:t>1:1</a:t>
              </a:r>
            </a:p>
          </p:txBody>
        </p:sp>
      </p:grpSp>
      <p:sp>
        <p:nvSpPr>
          <p:cNvPr id="928" name="Google Shape;579;p66"/>
          <p:cNvSpPr/>
          <p:nvPr/>
        </p:nvSpPr>
        <p:spPr>
          <a:xfrm flipH="1" rot="10800000">
            <a:off x="2401199" y="2703240"/>
            <a:ext cx="9678002" cy="315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w="28425">
            <a:solidFill>
              <a:srgbClr val="00B845"/>
            </a:solidFill>
            <a:prstDash val="dashDot"/>
            <a:tailEnd type="triangle"/>
          </a:ln>
        </p:spPr>
        <p:txBody>
          <a:bodyPr lIns="0" tIns="0" rIns="0" bIns="0"/>
          <a:lstStyle/>
          <a:p>
            <a:pPr/>
          </a:p>
        </p:txBody>
      </p:sp>
      <p:grpSp>
        <p:nvGrpSpPr>
          <p:cNvPr id="931" name="Google Shape;580;p66"/>
          <p:cNvGrpSpPr/>
          <p:nvPr/>
        </p:nvGrpSpPr>
        <p:grpSpPr>
          <a:xfrm>
            <a:off x="7611840" y="1717627"/>
            <a:ext cx="1541521" cy="618346"/>
            <a:chOff x="0" y="0"/>
            <a:chExt cx="1541520" cy="618345"/>
          </a:xfrm>
        </p:grpSpPr>
        <p:sp>
          <p:nvSpPr>
            <p:cNvPr id="929" name="Rectangle"/>
            <p:cNvSpPr/>
            <p:nvPr/>
          </p:nvSpPr>
          <p:spPr>
            <a:xfrm>
              <a:off x="0" y="69772"/>
              <a:ext cx="1541521" cy="478801"/>
            </a:xfrm>
            <a:prstGeom prst="rect">
              <a:avLst/>
            </a:prstGeom>
            <a:solidFill>
              <a:srgbClr val="FFFFFF"/>
            </a:solidFill>
            <a:ln w="12700" cap="flat">
              <a:noFill/>
              <a:miter lim="400000"/>
            </a:ln>
            <a:effectLst/>
          </p:spPr>
          <p:txBody>
            <a:bodyPr wrap="square" lIns="0" tIns="0" rIns="0" bIns="0" numCol="1" anchor="ctr">
              <a:noAutofit/>
            </a:bodyPr>
            <a:lstStyle/>
            <a:p>
              <a:pPr algn="ctr">
                <a:defRPr sz="1000"/>
              </a:pPr>
            </a:p>
          </p:txBody>
        </p:sp>
        <p:sp>
          <p:nvSpPr>
            <p:cNvPr id="930" name="Demo…"/>
            <p:cNvSpPr txBox="1"/>
            <p:nvPr/>
          </p:nvSpPr>
          <p:spPr>
            <a:xfrm>
              <a:off x="0" y="0"/>
              <a:ext cx="1541521" cy="6183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p>
              <a:pPr algn="ctr">
                <a:defRPr b="1" sz="1300">
                  <a:solidFill>
                    <a:srgbClr val="00B845"/>
                  </a:solidFill>
                </a:defRPr>
              </a:pPr>
              <a:r>
                <a:t>Demo </a:t>
              </a:r>
            </a:p>
            <a:p>
              <a:pPr algn="ctr">
                <a:defRPr b="1" sz="1000">
                  <a:solidFill>
                    <a:srgbClr val="00B845"/>
                  </a:solidFill>
                </a:defRPr>
              </a:pPr>
              <a:r>
                <a:t>(Visual + SPARQL)</a:t>
              </a:r>
            </a:p>
          </p:txBody>
        </p:sp>
      </p:grpSp>
      <p:grpSp>
        <p:nvGrpSpPr>
          <p:cNvPr id="934" name="Google Shape;581;p66"/>
          <p:cNvGrpSpPr/>
          <p:nvPr/>
        </p:nvGrpSpPr>
        <p:grpSpPr>
          <a:xfrm>
            <a:off x="4466160" y="172996"/>
            <a:ext cx="1197360" cy="678765"/>
            <a:chOff x="0" y="0"/>
            <a:chExt cx="1197359" cy="678763"/>
          </a:xfrm>
        </p:grpSpPr>
        <p:sp>
          <p:nvSpPr>
            <p:cNvPr id="932" name="Shape"/>
            <p:cNvSpPr/>
            <p:nvPr/>
          </p:nvSpPr>
          <p:spPr>
            <a:xfrm>
              <a:off x="0" y="56683"/>
              <a:ext cx="1197360" cy="6220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4035"/>
                  </a:lnTo>
                  <a:lnTo>
                    <a:pt x="12203" y="14035"/>
                  </a:lnTo>
                  <a:lnTo>
                    <a:pt x="12203" y="16200"/>
                  </a:lnTo>
                  <a:lnTo>
                    <a:pt x="13606" y="16200"/>
                  </a:lnTo>
                  <a:lnTo>
                    <a:pt x="10800" y="21600"/>
                  </a:lnTo>
                  <a:lnTo>
                    <a:pt x="7994" y="16200"/>
                  </a:lnTo>
                  <a:lnTo>
                    <a:pt x="9397" y="16200"/>
                  </a:lnTo>
                  <a:lnTo>
                    <a:pt x="9397" y="14035"/>
                  </a:lnTo>
                  <a:lnTo>
                    <a:pt x="0" y="14035"/>
                  </a:lnTo>
                  <a:close/>
                </a:path>
              </a:pathLst>
            </a:custGeom>
            <a:solidFill>
              <a:srgbClr val="FF7F7F"/>
            </a:solidFill>
            <a:ln w="19075" cap="flat">
              <a:solidFill>
                <a:srgbClr val="FF7F7F"/>
              </a:solidFill>
              <a:prstDash val="solid"/>
              <a:round/>
            </a:ln>
            <a:effectLst/>
          </p:spPr>
          <p:txBody>
            <a:bodyPr wrap="square" lIns="0" tIns="0" rIns="0" bIns="0" numCol="1" anchor="ctr">
              <a:noAutofit/>
            </a:bodyPr>
            <a:lstStyle/>
            <a:p>
              <a:pPr algn="ctr">
                <a:defRPr sz="800"/>
              </a:pPr>
            </a:p>
          </p:txBody>
        </p:sp>
        <p:sp>
          <p:nvSpPr>
            <p:cNvPr id="933" name="Inference Engine (Graph LLM)"/>
            <p:cNvSpPr txBox="1"/>
            <p:nvPr/>
          </p:nvSpPr>
          <p:spPr>
            <a:xfrm>
              <a:off x="9537" y="0"/>
              <a:ext cx="1178286" cy="517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46150" tIns="146150" rIns="146150" bIns="146150" numCol="1" anchor="ctr">
              <a:spAutoFit/>
            </a:bodyPr>
            <a:lstStyle>
              <a:lvl1pPr algn="ctr">
                <a:defRPr b="1" sz="800">
                  <a:solidFill>
                    <a:srgbClr val="FFFFFF"/>
                  </a:solidFill>
                </a:defRPr>
              </a:lvl1pPr>
            </a:lstStyle>
            <a:p>
              <a:pPr/>
              <a:r>
                <a:t>Inference Engine (Graph LLM)</a:t>
              </a:r>
            </a:p>
          </p:txBody>
        </p:sp>
      </p:grpSp>
      <p:grpSp>
        <p:nvGrpSpPr>
          <p:cNvPr id="939" name="Google Shape;582;p66"/>
          <p:cNvGrpSpPr/>
          <p:nvPr/>
        </p:nvGrpSpPr>
        <p:grpSpPr>
          <a:xfrm>
            <a:off x="13783679" y="-1"/>
            <a:ext cx="846360" cy="1009205"/>
            <a:chOff x="0" y="0"/>
            <a:chExt cx="846359" cy="1009203"/>
          </a:xfrm>
        </p:grpSpPr>
        <p:sp>
          <p:nvSpPr>
            <p:cNvPr id="935" name="Google Shape;583;p66"/>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938" name="Google Shape;584;p66"/>
            <p:cNvGrpSpPr/>
            <p:nvPr/>
          </p:nvGrpSpPr>
          <p:grpSpPr>
            <a:xfrm>
              <a:off x="55079" y="-1"/>
              <a:ext cx="791281" cy="1009205"/>
              <a:chOff x="0" y="0"/>
              <a:chExt cx="791279" cy="1009203"/>
            </a:xfrm>
          </p:grpSpPr>
          <p:pic>
            <p:nvPicPr>
              <p:cNvPr id="936" name="Google Shape;585;p66" descr="Google Shape;585;p66"/>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937" name="Google Shape;586;p66"/>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1" name="Google Shape;592;p67"/>
          <p:cNvSpPr txBox="1"/>
          <p:nvPr/>
        </p:nvSpPr>
        <p:spPr>
          <a:xfrm>
            <a:off x="758520" y="596159"/>
            <a:ext cx="7839720"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400">
                <a:latin typeface="Petrona"/>
                <a:ea typeface="Petrona"/>
                <a:cs typeface="Petrona"/>
                <a:sym typeface="Petrona"/>
              </a:defRPr>
            </a:lvl1pPr>
          </a:lstStyle>
          <a:p>
            <a:pPr/>
            <a:r>
              <a:t>System Design Components</a:t>
            </a:r>
          </a:p>
        </p:txBody>
      </p:sp>
      <p:sp>
        <p:nvSpPr>
          <p:cNvPr id="942" name="Google Shape;593;p67"/>
          <p:cNvSpPr txBox="1"/>
          <p:nvPr/>
        </p:nvSpPr>
        <p:spPr>
          <a:xfrm>
            <a:off x="342359" y="1970639"/>
            <a:ext cx="351432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000"/>
              </a:lnSpc>
              <a:defRPr b="1" sz="2200">
                <a:solidFill>
                  <a:srgbClr val="272525"/>
                </a:solidFill>
                <a:latin typeface="Petrona"/>
                <a:ea typeface="Petrona"/>
                <a:cs typeface="Petrona"/>
                <a:sym typeface="Petrona"/>
              </a:defRPr>
            </a:lvl1pPr>
          </a:lstStyle>
          <a:p>
            <a:pPr/>
            <a:r>
              <a:t>Inferencing (AI Agents)</a:t>
            </a:r>
          </a:p>
        </p:txBody>
      </p:sp>
      <p:sp>
        <p:nvSpPr>
          <p:cNvPr id="943" name="Google Shape;594;p67"/>
          <p:cNvSpPr txBox="1"/>
          <p:nvPr/>
        </p:nvSpPr>
        <p:spPr>
          <a:xfrm>
            <a:off x="342359" y="2460600"/>
            <a:ext cx="6269402" cy="46504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Precision Results - Introducing SLMs (small language models) that are domain specific aligns with the component model used to build out the Knowledge Fabric (taxonomies, ontologies, mapping graphs, and RDB graphs)*. </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The SLMs are part of a larger agentic design pattern that supports parallel inferencing across graphs to arrive at an optimize result. </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These agents will need to collaborate on the separate domain-specific queries using the prompt input for Search to harmonize and consolidate the outputs into a concise set of results that can be presented for downstream orchestration (extract, transform, analyze, and perhaps visualize) to meet the desired outcomes of the Search customer.  </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Initial rollout will be using a single AI agent built using a graph LLM to generate the result sets for querying GCP.</a:t>
            </a:r>
          </a:p>
        </p:txBody>
      </p:sp>
      <p:grpSp>
        <p:nvGrpSpPr>
          <p:cNvPr id="946" name="Google Shape;595;p67"/>
          <p:cNvGrpSpPr/>
          <p:nvPr/>
        </p:nvGrpSpPr>
        <p:grpSpPr>
          <a:xfrm>
            <a:off x="6686280" y="2878200"/>
            <a:ext cx="1143001" cy="740521"/>
            <a:chOff x="0" y="0"/>
            <a:chExt cx="1143000" cy="740520"/>
          </a:xfrm>
        </p:grpSpPr>
        <p:sp>
          <p:nvSpPr>
            <p:cNvPr id="944" name="Rounded Rectangle"/>
            <p:cNvSpPr/>
            <p:nvPr/>
          </p:nvSpPr>
          <p:spPr>
            <a:xfrm>
              <a:off x="0" y="0"/>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945" name="Search Query"/>
            <p:cNvSpPr txBox="1"/>
            <p:nvPr/>
          </p:nvSpPr>
          <p:spPr>
            <a:xfrm>
              <a:off x="40911" y="78543"/>
              <a:ext cx="106117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Search Query</a:t>
              </a:r>
            </a:p>
          </p:txBody>
        </p:sp>
      </p:grpSp>
      <p:grpSp>
        <p:nvGrpSpPr>
          <p:cNvPr id="949" name="Google Shape;596;p67"/>
          <p:cNvGrpSpPr/>
          <p:nvPr/>
        </p:nvGrpSpPr>
        <p:grpSpPr>
          <a:xfrm>
            <a:off x="8187480" y="2842183"/>
            <a:ext cx="1143001" cy="786634"/>
            <a:chOff x="0" y="0"/>
            <a:chExt cx="1143000" cy="786633"/>
          </a:xfrm>
        </p:grpSpPr>
        <p:sp>
          <p:nvSpPr>
            <p:cNvPr id="947" name="Rounded Rectangle"/>
            <p:cNvSpPr/>
            <p:nvPr/>
          </p:nvSpPr>
          <p:spPr>
            <a:xfrm>
              <a:off x="0" y="23056"/>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948" name="Search Pre - Processor"/>
            <p:cNvSpPr txBox="1"/>
            <p:nvPr/>
          </p:nvSpPr>
          <p:spPr>
            <a:xfrm>
              <a:off x="40911" y="0"/>
              <a:ext cx="1061178" cy="7866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Search Pre - Processor</a:t>
              </a:r>
            </a:p>
          </p:txBody>
        </p:sp>
      </p:grpSp>
      <p:sp>
        <p:nvSpPr>
          <p:cNvPr id="950" name="Google Shape;597;p67"/>
          <p:cNvSpPr/>
          <p:nvPr/>
        </p:nvSpPr>
        <p:spPr>
          <a:xfrm flipH="1" rot="10800000">
            <a:off x="7828560" y="3248230"/>
            <a:ext cx="3576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399" y="0"/>
                  <a:pt x="10798" y="5400"/>
                  <a:pt x="10798" y="10800"/>
                </a:cubicBezTo>
                <a:cubicBezTo>
                  <a:pt x="10798" y="16200"/>
                  <a:pt x="16199" y="21600"/>
                  <a:pt x="21600" y="21600"/>
                </a:cubicBezTo>
              </a:path>
            </a:pathLst>
          </a:custGeom>
          <a:ln>
            <a:solidFill>
              <a:srgbClr val="1F497D"/>
            </a:solidFill>
          </a:ln>
        </p:spPr>
        <p:txBody>
          <a:bodyPr lIns="0" tIns="0" rIns="0" bIns="0"/>
          <a:lstStyle/>
          <a:p>
            <a:pPr/>
          </a:p>
        </p:txBody>
      </p:sp>
      <p:grpSp>
        <p:nvGrpSpPr>
          <p:cNvPr id="953" name="Google Shape;598;p67"/>
          <p:cNvGrpSpPr/>
          <p:nvPr/>
        </p:nvGrpSpPr>
        <p:grpSpPr>
          <a:xfrm>
            <a:off x="9954720" y="1600200"/>
            <a:ext cx="1239121" cy="740521"/>
            <a:chOff x="0" y="0"/>
            <a:chExt cx="1239120" cy="740520"/>
          </a:xfrm>
        </p:grpSpPr>
        <p:sp>
          <p:nvSpPr>
            <p:cNvPr id="951" name="Rounded Rectangle"/>
            <p:cNvSpPr/>
            <p:nvPr/>
          </p:nvSpPr>
          <p:spPr>
            <a:xfrm>
              <a:off x="0" y="0"/>
              <a:ext cx="123912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952" name="Taxonomies"/>
            <p:cNvSpPr txBox="1"/>
            <p:nvPr/>
          </p:nvSpPr>
          <p:spPr>
            <a:xfrm>
              <a:off x="40911" y="180143"/>
              <a:ext cx="1157298"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Taxonomies</a:t>
              </a:r>
            </a:p>
          </p:txBody>
        </p:sp>
      </p:grpSp>
      <p:sp>
        <p:nvSpPr>
          <p:cNvPr id="954" name="Google Shape;599;p67"/>
          <p:cNvSpPr/>
          <p:nvPr/>
        </p:nvSpPr>
        <p:spPr>
          <a:xfrm rot="16200000">
            <a:off x="9009360" y="3555960"/>
            <a:ext cx="1264801" cy="624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a:solidFill>
              <a:srgbClr val="1F497D"/>
            </a:solidFill>
          </a:ln>
        </p:spPr>
        <p:txBody>
          <a:bodyPr lIns="0" tIns="0" rIns="0" bIns="0"/>
          <a:lstStyle/>
          <a:p>
            <a:pPr/>
          </a:p>
        </p:txBody>
      </p:sp>
      <p:grpSp>
        <p:nvGrpSpPr>
          <p:cNvPr id="957" name="Google Shape;600;p67"/>
          <p:cNvGrpSpPr/>
          <p:nvPr/>
        </p:nvGrpSpPr>
        <p:grpSpPr>
          <a:xfrm>
            <a:off x="10002959" y="2865240"/>
            <a:ext cx="1143001" cy="740521"/>
            <a:chOff x="0" y="0"/>
            <a:chExt cx="1143000" cy="740520"/>
          </a:xfrm>
        </p:grpSpPr>
        <p:sp>
          <p:nvSpPr>
            <p:cNvPr id="955" name="Rounded Rectangle"/>
            <p:cNvSpPr/>
            <p:nvPr/>
          </p:nvSpPr>
          <p:spPr>
            <a:xfrm>
              <a:off x="0" y="0"/>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956" name="Ontologies"/>
            <p:cNvSpPr txBox="1"/>
            <p:nvPr/>
          </p:nvSpPr>
          <p:spPr>
            <a:xfrm>
              <a:off x="40911" y="180143"/>
              <a:ext cx="1061178"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Ontologies</a:t>
              </a:r>
            </a:p>
          </p:txBody>
        </p:sp>
      </p:grpSp>
      <p:sp>
        <p:nvSpPr>
          <p:cNvPr id="958" name="Google Shape;601;p67"/>
          <p:cNvSpPr/>
          <p:nvPr/>
        </p:nvSpPr>
        <p:spPr>
          <a:xfrm>
            <a:off x="9330839" y="3229630"/>
            <a:ext cx="6720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a:solidFill>
              <a:srgbClr val="1F497D"/>
            </a:solidFill>
          </a:ln>
        </p:spPr>
        <p:txBody>
          <a:bodyPr lIns="0" tIns="0" rIns="0" bIns="0"/>
          <a:lstStyle/>
          <a:p>
            <a:pPr/>
          </a:p>
        </p:txBody>
      </p:sp>
      <p:grpSp>
        <p:nvGrpSpPr>
          <p:cNvPr id="961" name="Google Shape;602;p67"/>
          <p:cNvGrpSpPr/>
          <p:nvPr/>
        </p:nvGrpSpPr>
        <p:grpSpPr>
          <a:xfrm>
            <a:off x="10002959" y="4130280"/>
            <a:ext cx="1335241" cy="740521"/>
            <a:chOff x="0" y="0"/>
            <a:chExt cx="1335240" cy="740520"/>
          </a:xfrm>
        </p:grpSpPr>
        <p:sp>
          <p:nvSpPr>
            <p:cNvPr id="959" name="Rounded Rectangle"/>
            <p:cNvSpPr/>
            <p:nvPr/>
          </p:nvSpPr>
          <p:spPr>
            <a:xfrm>
              <a:off x="0" y="0"/>
              <a:ext cx="133524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960" name="Federated Graph Query"/>
            <p:cNvSpPr txBox="1"/>
            <p:nvPr/>
          </p:nvSpPr>
          <p:spPr>
            <a:xfrm>
              <a:off x="40911" y="78543"/>
              <a:ext cx="125341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lstStyle>
            <a:p>
              <a:pPr/>
              <a:r>
                <a:t>Federated Graph Query</a:t>
              </a:r>
            </a:p>
          </p:txBody>
        </p:sp>
      </p:grpSp>
      <p:sp>
        <p:nvSpPr>
          <p:cNvPr id="962" name="Google Shape;603;p67"/>
          <p:cNvSpPr/>
          <p:nvPr/>
        </p:nvSpPr>
        <p:spPr>
          <a:xfrm flipH="1" rot="16200000">
            <a:off x="9034440" y="3532080"/>
            <a:ext cx="1264801" cy="672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0"/>
                  <a:pt x="0" y="5400"/>
                  <a:pt x="0" y="10800"/>
                </a:cubicBezTo>
                <a:cubicBezTo>
                  <a:pt x="0" y="16200"/>
                  <a:pt x="10800" y="21600"/>
                  <a:pt x="21600" y="21600"/>
                </a:cubicBezTo>
              </a:path>
            </a:pathLst>
          </a:custGeom>
          <a:ln>
            <a:solidFill>
              <a:srgbClr val="1F497D"/>
            </a:solidFill>
          </a:ln>
        </p:spPr>
        <p:txBody>
          <a:bodyPr lIns="0" tIns="0" rIns="0" bIns="0"/>
          <a:lstStyle/>
          <a:p>
            <a:pPr/>
          </a:p>
        </p:txBody>
      </p:sp>
      <p:grpSp>
        <p:nvGrpSpPr>
          <p:cNvPr id="965" name="Google Shape;604;p67"/>
          <p:cNvGrpSpPr/>
          <p:nvPr/>
        </p:nvGrpSpPr>
        <p:grpSpPr>
          <a:xfrm>
            <a:off x="11579759" y="2877840"/>
            <a:ext cx="1239121" cy="740521"/>
            <a:chOff x="0" y="0"/>
            <a:chExt cx="1239120" cy="740520"/>
          </a:xfrm>
        </p:grpSpPr>
        <p:sp>
          <p:nvSpPr>
            <p:cNvPr id="963" name="Rounded Rectangle"/>
            <p:cNvSpPr/>
            <p:nvPr/>
          </p:nvSpPr>
          <p:spPr>
            <a:xfrm>
              <a:off x="0" y="0"/>
              <a:ext cx="1239121"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p>
          </p:txBody>
        </p:sp>
        <p:sp>
          <p:nvSpPr>
            <p:cNvPr id="964" name="Inferencing…"/>
            <p:cNvSpPr txBox="1"/>
            <p:nvPr/>
          </p:nvSpPr>
          <p:spPr>
            <a:xfrm>
              <a:off x="40911" y="78543"/>
              <a:ext cx="1157298" cy="583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Inferencing</a:t>
              </a:r>
            </a:p>
            <a:p>
              <a:pPr algn="ctr"/>
              <a:r>
                <a:t>(AI Agents)</a:t>
              </a:r>
            </a:p>
          </p:txBody>
        </p:sp>
      </p:grpSp>
      <p:sp>
        <p:nvSpPr>
          <p:cNvPr id="966" name="Google Shape;605;p67"/>
          <p:cNvSpPr/>
          <p:nvPr/>
        </p:nvSpPr>
        <p:spPr>
          <a:xfrm>
            <a:off x="11194199" y="1970639"/>
            <a:ext cx="1005001" cy="9069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0800" y="0"/>
                  <a:pt x="21600" y="10800"/>
                  <a:pt x="21600" y="21600"/>
                </a:cubicBezTo>
              </a:path>
            </a:pathLst>
          </a:custGeom>
          <a:ln>
            <a:solidFill>
              <a:srgbClr val="1F497D"/>
            </a:solidFill>
          </a:ln>
        </p:spPr>
        <p:txBody>
          <a:bodyPr lIns="0" tIns="0" rIns="0" bIns="0"/>
          <a:lstStyle/>
          <a:p>
            <a:pPr/>
          </a:p>
        </p:txBody>
      </p:sp>
      <p:sp>
        <p:nvSpPr>
          <p:cNvPr id="967" name="Google Shape;606;p67"/>
          <p:cNvSpPr/>
          <p:nvPr/>
        </p:nvSpPr>
        <p:spPr>
          <a:xfrm rot="16200000">
            <a:off x="11326469" y="4511369"/>
            <a:ext cx="882001" cy="860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0800" y="0"/>
                  <a:pt x="21600" y="10800"/>
                  <a:pt x="21600" y="21600"/>
                </a:cubicBezTo>
              </a:path>
            </a:pathLst>
          </a:custGeom>
          <a:ln>
            <a:solidFill>
              <a:srgbClr val="1F497D"/>
            </a:solidFill>
          </a:ln>
        </p:spPr>
        <p:txBody>
          <a:bodyPr lIns="0" tIns="0" rIns="0" bIns="0"/>
          <a:lstStyle/>
          <a:p>
            <a:pPr/>
          </a:p>
        </p:txBody>
      </p:sp>
      <p:sp>
        <p:nvSpPr>
          <p:cNvPr id="968" name="Google Shape;607;p67"/>
          <p:cNvSpPr/>
          <p:nvPr/>
        </p:nvSpPr>
        <p:spPr>
          <a:xfrm>
            <a:off x="11146319" y="3235480"/>
            <a:ext cx="4335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398" y="0"/>
                  <a:pt x="10797" y="5400"/>
                  <a:pt x="10797" y="10800"/>
                </a:cubicBezTo>
                <a:cubicBezTo>
                  <a:pt x="10797" y="16200"/>
                  <a:pt x="16198" y="21600"/>
                  <a:pt x="21600" y="21600"/>
                </a:cubicBezTo>
              </a:path>
            </a:pathLst>
          </a:custGeom>
          <a:ln>
            <a:solidFill>
              <a:srgbClr val="1F497D"/>
            </a:solidFill>
          </a:ln>
        </p:spPr>
        <p:txBody>
          <a:bodyPr lIns="0" tIns="0" rIns="0" bIns="0"/>
          <a:lstStyle/>
          <a:p>
            <a:pPr/>
          </a:p>
        </p:txBody>
      </p:sp>
      <p:grpSp>
        <p:nvGrpSpPr>
          <p:cNvPr id="971" name="Google Shape;608;p67"/>
          <p:cNvGrpSpPr/>
          <p:nvPr/>
        </p:nvGrpSpPr>
        <p:grpSpPr>
          <a:xfrm>
            <a:off x="13161599" y="2866804"/>
            <a:ext cx="1143001" cy="763312"/>
            <a:chOff x="0" y="0"/>
            <a:chExt cx="1143000" cy="763310"/>
          </a:xfrm>
        </p:grpSpPr>
        <p:sp>
          <p:nvSpPr>
            <p:cNvPr id="969" name="Rounded Rectangle"/>
            <p:cNvSpPr/>
            <p:nvPr/>
          </p:nvSpPr>
          <p:spPr>
            <a:xfrm>
              <a:off x="0" y="11395"/>
              <a:ext cx="1143000" cy="740521"/>
            </a:xfrm>
            <a:prstGeom prst="roundRect">
              <a:avLst>
                <a:gd name="adj" fmla="val 16667"/>
              </a:avLst>
            </a:prstGeom>
            <a:solidFill>
              <a:srgbClr val="EEECE1"/>
            </a:solidFill>
            <a:ln w="9525" cap="flat">
              <a:solidFill>
                <a:srgbClr val="1F497D"/>
              </a:solidFill>
              <a:prstDash val="solid"/>
              <a:round/>
            </a:ln>
            <a:effectLst/>
          </p:spPr>
          <p:txBody>
            <a:bodyPr wrap="square" lIns="0" tIns="0" rIns="0" bIns="0" numCol="1" anchor="ctr">
              <a:noAutofit/>
            </a:bodyPr>
            <a:lstStyle/>
            <a:p>
              <a:pPr algn="ctr">
                <a:defRPr sz="900"/>
              </a:pPr>
            </a:p>
          </p:txBody>
        </p:sp>
        <p:sp>
          <p:nvSpPr>
            <p:cNvPr id="970" name="Results…"/>
            <p:cNvSpPr txBox="1"/>
            <p:nvPr/>
          </p:nvSpPr>
          <p:spPr>
            <a:xfrm>
              <a:off x="40911" y="0"/>
              <a:ext cx="1061178" cy="7633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r>
                <a:t>Results</a:t>
              </a:r>
            </a:p>
            <a:p>
              <a:pPr marL="171359" indent="-171000" algn="ctr">
                <a:buClr>
                  <a:srgbClr val="000000"/>
                </a:buClr>
                <a:buSzPts val="900"/>
                <a:buFont typeface="Arial"/>
                <a:buChar char="●"/>
                <a:defRPr sz="900"/>
              </a:pPr>
              <a:r>
                <a:t>personalized</a:t>
              </a:r>
            </a:p>
            <a:p>
              <a:pPr marL="171359" indent="-171000" algn="ctr">
                <a:buClr>
                  <a:srgbClr val="000000"/>
                </a:buClr>
                <a:buSzPts val="900"/>
                <a:buFont typeface="Arial"/>
                <a:buChar char="●"/>
                <a:defRPr sz="900"/>
              </a:pPr>
              <a:r>
                <a:t>Relevant</a:t>
              </a:r>
            </a:p>
            <a:p>
              <a:pPr marL="171359" indent="-171000" algn="ctr">
                <a:buClr>
                  <a:srgbClr val="000000"/>
                </a:buClr>
                <a:buSzPts val="900"/>
                <a:buFont typeface="Arial"/>
                <a:buChar char="●"/>
                <a:defRPr sz="900"/>
              </a:pPr>
              <a:r>
                <a:t>Precise</a:t>
              </a:r>
            </a:p>
          </p:txBody>
        </p:sp>
      </p:grpSp>
      <p:sp>
        <p:nvSpPr>
          <p:cNvPr id="972" name="Google Shape;609;p67"/>
          <p:cNvSpPr/>
          <p:nvPr/>
        </p:nvSpPr>
        <p:spPr>
          <a:xfrm>
            <a:off x="12786120" y="3235389"/>
            <a:ext cx="3420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a:solidFill>
              <a:srgbClr val="1F497D"/>
            </a:solidFill>
          </a:ln>
        </p:spPr>
        <p:txBody>
          <a:bodyPr lIns="0" tIns="0" rIns="0" bIns="0"/>
          <a:lstStyle/>
          <a:p>
            <a:pPr/>
          </a:p>
        </p:txBody>
      </p:sp>
      <p:grpSp>
        <p:nvGrpSpPr>
          <p:cNvPr id="975" name="Google Shape;610;p67"/>
          <p:cNvGrpSpPr/>
          <p:nvPr/>
        </p:nvGrpSpPr>
        <p:grpSpPr>
          <a:xfrm>
            <a:off x="9527040" y="6015959"/>
            <a:ext cx="2999521" cy="903241"/>
            <a:chOff x="0" y="0"/>
            <a:chExt cx="2999520" cy="903240"/>
          </a:xfrm>
        </p:grpSpPr>
        <p:sp>
          <p:nvSpPr>
            <p:cNvPr id="973" name="Rectangle"/>
            <p:cNvSpPr/>
            <p:nvPr/>
          </p:nvSpPr>
          <p:spPr>
            <a:xfrm>
              <a:off x="-1" y="-1"/>
              <a:ext cx="2999522" cy="903242"/>
            </a:xfrm>
            <a:prstGeom prst="rect">
              <a:avLst/>
            </a:prstGeom>
            <a:noFill/>
            <a:ln w="19075" cap="flat">
              <a:solidFill>
                <a:schemeClr val="accent1"/>
              </a:solidFill>
              <a:prstDash val="solid"/>
              <a:round/>
            </a:ln>
            <a:effectLst/>
          </p:spPr>
          <p:txBody>
            <a:bodyPr wrap="square" lIns="0" tIns="0" rIns="0" bIns="0" numCol="1" anchor="t">
              <a:noAutofit/>
            </a:bodyPr>
            <a:lstStyle/>
            <a:p>
              <a:pPr>
                <a:lnSpc>
                  <a:spcPct val="158000"/>
                </a:lnSpc>
                <a:defRPr sz="1500"/>
              </a:pPr>
            </a:p>
          </p:txBody>
        </p:sp>
        <p:sp>
          <p:nvSpPr>
            <p:cNvPr id="974" name="* See prior slide for overview of Knowledge Fabric design"/>
            <p:cNvSpPr txBox="1"/>
            <p:nvPr/>
          </p:nvSpPr>
          <p:spPr>
            <a:xfrm>
              <a:off x="9537" y="9537"/>
              <a:ext cx="2980446" cy="7726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lnSpc>
                  <a:spcPct val="158000"/>
                </a:lnSpc>
                <a:defRPr sz="1500">
                  <a:solidFill>
                    <a:schemeClr val="accent1"/>
                  </a:solidFill>
                  <a:latin typeface="Inter"/>
                  <a:ea typeface="Inter"/>
                  <a:cs typeface="Inter"/>
                  <a:sym typeface="Inter"/>
                </a:defRPr>
              </a:lvl1pPr>
            </a:lstStyle>
            <a:p>
              <a:pPr/>
              <a:r>
                <a:t>* See prior slide for overview of Knowledge Fabric design</a:t>
              </a:r>
            </a:p>
          </p:txBody>
        </p:sp>
      </p:grpSp>
      <p:sp>
        <p:nvSpPr>
          <p:cNvPr id="976" name="Google Shape;611;p67"/>
          <p:cNvSpPr/>
          <p:nvPr/>
        </p:nvSpPr>
        <p:spPr>
          <a:xfrm>
            <a:off x="11418840" y="2584080"/>
            <a:ext cx="1543681" cy="1264681"/>
          </a:xfrm>
          <a:prstGeom prst="roundRect">
            <a:avLst>
              <a:gd name="adj" fmla="val 16667"/>
            </a:avLst>
          </a:prstGeom>
          <a:ln w="28425">
            <a:solidFill>
              <a:srgbClr val="FF0000"/>
            </a:solidFill>
          </a:ln>
        </p:spPr>
        <p:txBody>
          <a:bodyPr lIns="0" tIns="0" rIns="0" bIns="0" anchor="ctr"/>
          <a:lstStyle/>
          <a:p>
            <a:pPr/>
          </a:p>
        </p:txBody>
      </p:sp>
      <p:grpSp>
        <p:nvGrpSpPr>
          <p:cNvPr id="981" name="Google Shape;612;p67"/>
          <p:cNvGrpSpPr/>
          <p:nvPr/>
        </p:nvGrpSpPr>
        <p:grpSpPr>
          <a:xfrm>
            <a:off x="13783679" y="-1"/>
            <a:ext cx="846360" cy="1009205"/>
            <a:chOff x="0" y="0"/>
            <a:chExt cx="846359" cy="1009203"/>
          </a:xfrm>
        </p:grpSpPr>
        <p:sp>
          <p:nvSpPr>
            <p:cNvPr id="977" name="Google Shape;613;p67"/>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980" name="Google Shape;614;p67"/>
            <p:cNvGrpSpPr/>
            <p:nvPr/>
          </p:nvGrpSpPr>
          <p:grpSpPr>
            <a:xfrm>
              <a:off x="55079" y="-1"/>
              <a:ext cx="791281" cy="1009205"/>
              <a:chOff x="0" y="0"/>
              <a:chExt cx="791279" cy="1009203"/>
            </a:xfrm>
          </p:grpSpPr>
          <p:pic>
            <p:nvPicPr>
              <p:cNvPr id="978" name="Google Shape;615;p67" descr="Google Shape;615;p67"/>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979" name="Google Shape;616;p67"/>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3" name="Google Shape;622;p68"/>
          <p:cNvSpPr txBox="1"/>
          <p:nvPr/>
        </p:nvSpPr>
        <p:spPr>
          <a:xfrm>
            <a:off x="758520" y="596159"/>
            <a:ext cx="7839720"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400">
                <a:latin typeface="Petrona"/>
                <a:ea typeface="Petrona"/>
                <a:cs typeface="Petrona"/>
                <a:sym typeface="Petrona"/>
              </a:defRPr>
            </a:lvl1pPr>
          </a:lstStyle>
          <a:p>
            <a:pPr/>
            <a:r>
              <a:t>Solution Design</a:t>
            </a:r>
          </a:p>
        </p:txBody>
      </p:sp>
      <p:sp>
        <p:nvSpPr>
          <p:cNvPr id="984" name="Google Shape;623;p68"/>
          <p:cNvSpPr txBox="1"/>
          <p:nvPr/>
        </p:nvSpPr>
        <p:spPr>
          <a:xfrm>
            <a:off x="342359" y="1970639"/>
            <a:ext cx="351432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000"/>
              </a:lnSpc>
              <a:defRPr b="1" sz="2200">
                <a:solidFill>
                  <a:srgbClr val="272525"/>
                </a:solidFill>
                <a:latin typeface="Petrona"/>
                <a:ea typeface="Petrona"/>
                <a:cs typeface="Petrona"/>
                <a:sym typeface="Petrona"/>
              </a:defRPr>
            </a:lvl1pPr>
          </a:lstStyle>
          <a:p>
            <a:pPr/>
            <a:r>
              <a:t>Inferencing (AI Agents)</a:t>
            </a:r>
          </a:p>
        </p:txBody>
      </p:sp>
      <p:sp>
        <p:nvSpPr>
          <p:cNvPr id="985" name="Google Shape;624;p68"/>
          <p:cNvSpPr txBox="1"/>
          <p:nvPr/>
        </p:nvSpPr>
        <p:spPr>
          <a:xfrm>
            <a:off x="342359" y="5103359"/>
            <a:ext cx="12437282" cy="26037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The above diagram is a simplified End-2-End Flow showing where the Semantic Services will be deployed. The flow shows two sets of semantic services:</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Search &amp; Discover </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Knowledge Expansion</a:t>
            </a:r>
          </a:p>
          <a:p>
            <a:pPr marL="4572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The flow touches on some of the downstream orchestration</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Data services (extract, transform, load, map, merge)</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BI services (aggregation, metrics, trending, analysis, insights, visualization) </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AI services (inferencing, summarizing, projection, generate, explain)</a:t>
            </a:r>
          </a:p>
        </p:txBody>
      </p:sp>
      <p:pic>
        <p:nvPicPr>
          <p:cNvPr id="986" name="Google Shape;625;p68" descr="Google Shape;625;p68"/>
          <p:cNvPicPr>
            <a:picLocks noChangeAspect="1"/>
          </p:cNvPicPr>
          <p:nvPr/>
        </p:nvPicPr>
        <p:blipFill>
          <a:blip r:embed="rId2">
            <a:extLst/>
          </a:blip>
          <a:stretch>
            <a:fillRect/>
          </a:stretch>
        </p:blipFill>
        <p:spPr>
          <a:xfrm>
            <a:off x="0" y="1459439"/>
            <a:ext cx="14477760" cy="3562562"/>
          </a:xfrm>
          <a:prstGeom prst="rect">
            <a:avLst/>
          </a:prstGeom>
          <a:ln w="12700">
            <a:miter lim="400000"/>
          </a:ln>
        </p:spPr>
      </p:pic>
      <p:grpSp>
        <p:nvGrpSpPr>
          <p:cNvPr id="991" name="Google Shape;626;p68"/>
          <p:cNvGrpSpPr/>
          <p:nvPr/>
        </p:nvGrpSpPr>
        <p:grpSpPr>
          <a:xfrm>
            <a:off x="13783679" y="-1"/>
            <a:ext cx="846360" cy="1009205"/>
            <a:chOff x="0" y="0"/>
            <a:chExt cx="846359" cy="1009203"/>
          </a:xfrm>
        </p:grpSpPr>
        <p:sp>
          <p:nvSpPr>
            <p:cNvPr id="987" name="Google Shape;627;p68"/>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990" name="Google Shape;628;p68"/>
            <p:cNvGrpSpPr/>
            <p:nvPr/>
          </p:nvGrpSpPr>
          <p:grpSpPr>
            <a:xfrm>
              <a:off x="55079" y="-1"/>
              <a:ext cx="791281" cy="1009205"/>
              <a:chOff x="0" y="0"/>
              <a:chExt cx="791279" cy="1009203"/>
            </a:xfrm>
          </p:grpSpPr>
          <p:pic>
            <p:nvPicPr>
              <p:cNvPr id="988" name="Google Shape;629;p68" descr="Google Shape;629;p68"/>
              <p:cNvPicPr>
                <a:picLocks noChangeAspect="1"/>
              </p:cNvPicPr>
              <p:nvPr/>
            </p:nvPicPr>
            <p:blipFill>
              <a:blip r:embed="rId3">
                <a:extLst/>
              </a:blip>
              <a:srcRect l="20669" t="0" r="9844" b="0"/>
              <a:stretch>
                <a:fillRect/>
              </a:stretch>
            </p:blipFill>
            <p:spPr>
              <a:xfrm>
                <a:off x="0" y="0"/>
                <a:ext cx="756360" cy="756361"/>
              </a:xfrm>
              <a:prstGeom prst="rect">
                <a:avLst/>
              </a:prstGeom>
              <a:ln w="12700" cap="flat">
                <a:noFill/>
                <a:miter lim="400000"/>
              </a:ln>
              <a:effectLst/>
            </p:spPr>
          </p:pic>
          <p:sp>
            <p:nvSpPr>
              <p:cNvPr id="989" name="Google Shape;630;p68"/>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3" name="Google Shape;636;p69"/>
          <p:cNvSpPr txBox="1"/>
          <p:nvPr/>
        </p:nvSpPr>
        <p:spPr>
          <a:xfrm>
            <a:off x="758520" y="596159"/>
            <a:ext cx="7839720"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400">
                <a:latin typeface="Petrona"/>
                <a:ea typeface="Petrona"/>
                <a:cs typeface="Petrona"/>
                <a:sym typeface="Petrona"/>
              </a:defRPr>
            </a:lvl1pPr>
          </a:lstStyle>
          <a:p>
            <a:pPr/>
            <a:r>
              <a:t>Solution Design</a:t>
            </a:r>
          </a:p>
        </p:txBody>
      </p:sp>
      <p:sp>
        <p:nvSpPr>
          <p:cNvPr id="994" name="Google Shape;637;p69"/>
          <p:cNvSpPr txBox="1"/>
          <p:nvPr/>
        </p:nvSpPr>
        <p:spPr>
          <a:xfrm>
            <a:off x="342359" y="1970639"/>
            <a:ext cx="351432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000"/>
              </a:lnSpc>
              <a:defRPr b="1" sz="2200">
                <a:solidFill>
                  <a:srgbClr val="272525"/>
                </a:solidFill>
                <a:latin typeface="Petrona"/>
                <a:ea typeface="Petrona"/>
                <a:cs typeface="Petrona"/>
                <a:sym typeface="Petrona"/>
              </a:defRPr>
            </a:lvl1pPr>
          </a:lstStyle>
          <a:p>
            <a:pPr/>
            <a:r>
              <a:t>Key Components</a:t>
            </a:r>
          </a:p>
        </p:txBody>
      </p:sp>
      <p:sp>
        <p:nvSpPr>
          <p:cNvPr id="995" name="Google Shape;638;p69"/>
          <p:cNvSpPr txBox="1"/>
          <p:nvPr/>
        </p:nvSpPr>
        <p:spPr>
          <a:xfrm>
            <a:off x="342359" y="2460600"/>
            <a:ext cx="6269402" cy="499160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Prompt Engineering -</a:t>
            </a:r>
            <a:r>
              <a:rPr b="0"/>
              <a:t> Captures user inputs (words, phrases, and questions) and translates them into structured queries.</a:t>
            </a:r>
            <a:endParaRPr b="0"/>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Semantic Knowledge -</a:t>
            </a:r>
            <a:r>
              <a:rPr b="0"/>
              <a:t> Utilizes consumer persona models and inputs to generate SPARQL and SHACL queries for knowledge graph access.</a:t>
            </a:r>
            <a:endParaRPr b="0"/>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Semantic Services -</a:t>
            </a:r>
            <a:r>
              <a:rPr b="0"/>
              <a:t> A set of microservices that interact with Metaphactory APIs to query RDF stores and generate outputs for downstream processing.</a:t>
            </a:r>
            <a:endParaRPr b="0"/>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Orchestration -</a:t>
            </a:r>
            <a:r>
              <a:rPr b="0"/>
              <a:t> Applies conditional logic and constraints to guide downstream microservices, BI agents, and AI agents.</a:t>
            </a:r>
            <a:endParaRPr b="0"/>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Analytics and Visualization - </a:t>
            </a:r>
            <a:r>
              <a:rPr b="0"/>
              <a:t>Extracts, transforms, and applies analytics and visualizations to the data.</a:t>
            </a:r>
            <a:endParaRPr b="0"/>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Explanation Generation - </a:t>
            </a:r>
            <a:r>
              <a:rPr b="0"/>
              <a:t>Generates contextual explanations for the results.</a:t>
            </a:r>
            <a:endParaRPr b="0"/>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Dynamic Semantic Expansion - </a:t>
            </a:r>
            <a:r>
              <a:rPr b="0"/>
              <a:t>Expands the semantic knowledge layer with enterprise and domain-specific contexts.</a:t>
            </a:r>
          </a:p>
        </p:txBody>
      </p:sp>
      <p:pic>
        <p:nvPicPr>
          <p:cNvPr id="996" name="Google Shape;639;p69" descr="Google Shape;639;p69"/>
          <p:cNvPicPr>
            <a:picLocks noChangeAspect="1"/>
          </p:cNvPicPr>
          <p:nvPr/>
        </p:nvPicPr>
        <p:blipFill>
          <a:blip r:embed="rId2">
            <a:extLst/>
          </a:blip>
          <a:stretch>
            <a:fillRect/>
          </a:stretch>
        </p:blipFill>
        <p:spPr>
          <a:xfrm>
            <a:off x="7795800" y="2293920"/>
            <a:ext cx="6149161" cy="1513081"/>
          </a:xfrm>
          <a:prstGeom prst="rect">
            <a:avLst/>
          </a:prstGeom>
          <a:ln w="12700">
            <a:miter lim="400000"/>
          </a:ln>
        </p:spPr>
      </p:pic>
      <p:grpSp>
        <p:nvGrpSpPr>
          <p:cNvPr id="1001" name="Google Shape;640;p69"/>
          <p:cNvGrpSpPr/>
          <p:nvPr/>
        </p:nvGrpSpPr>
        <p:grpSpPr>
          <a:xfrm>
            <a:off x="13783679" y="-1"/>
            <a:ext cx="846360" cy="1009205"/>
            <a:chOff x="0" y="0"/>
            <a:chExt cx="846359" cy="1009203"/>
          </a:xfrm>
        </p:grpSpPr>
        <p:sp>
          <p:nvSpPr>
            <p:cNvPr id="997" name="Google Shape;641;p69"/>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000" name="Google Shape;642;p69"/>
            <p:cNvGrpSpPr/>
            <p:nvPr/>
          </p:nvGrpSpPr>
          <p:grpSpPr>
            <a:xfrm>
              <a:off x="55079" y="-1"/>
              <a:ext cx="791281" cy="1009205"/>
              <a:chOff x="0" y="0"/>
              <a:chExt cx="791279" cy="1009203"/>
            </a:xfrm>
          </p:grpSpPr>
          <p:pic>
            <p:nvPicPr>
              <p:cNvPr id="998" name="Google Shape;643;p69" descr="Google Shape;643;p69"/>
              <p:cNvPicPr>
                <a:picLocks noChangeAspect="1"/>
              </p:cNvPicPr>
              <p:nvPr/>
            </p:nvPicPr>
            <p:blipFill>
              <a:blip r:embed="rId3">
                <a:extLst/>
              </a:blip>
              <a:srcRect l="20669" t="0" r="9844" b="0"/>
              <a:stretch>
                <a:fillRect/>
              </a:stretch>
            </p:blipFill>
            <p:spPr>
              <a:xfrm>
                <a:off x="0" y="0"/>
                <a:ext cx="756360" cy="756361"/>
              </a:xfrm>
              <a:prstGeom prst="rect">
                <a:avLst/>
              </a:prstGeom>
              <a:ln w="12700" cap="flat">
                <a:noFill/>
                <a:miter lim="400000"/>
              </a:ln>
              <a:effectLst/>
            </p:spPr>
          </p:pic>
          <p:sp>
            <p:nvSpPr>
              <p:cNvPr id="999" name="Google Shape;644;p69"/>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3" name="Google Shape;650;p70"/>
          <p:cNvSpPr txBox="1"/>
          <p:nvPr/>
        </p:nvSpPr>
        <p:spPr>
          <a:xfrm>
            <a:off x="758520" y="596159"/>
            <a:ext cx="7839720"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400">
                <a:latin typeface="Petrona"/>
                <a:ea typeface="Petrona"/>
                <a:cs typeface="Petrona"/>
                <a:sym typeface="Petrona"/>
              </a:defRPr>
            </a:lvl1pPr>
          </a:lstStyle>
          <a:p>
            <a:pPr/>
            <a:r>
              <a:t>Solution Design</a:t>
            </a:r>
          </a:p>
        </p:txBody>
      </p:sp>
      <p:sp>
        <p:nvSpPr>
          <p:cNvPr id="1004" name="Google Shape;651;p70"/>
          <p:cNvSpPr txBox="1"/>
          <p:nvPr/>
        </p:nvSpPr>
        <p:spPr>
          <a:xfrm>
            <a:off x="342359" y="1970639"/>
            <a:ext cx="556272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7000"/>
              </a:lnSpc>
              <a:defRPr b="1" sz="2200">
                <a:solidFill>
                  <a:srgbClr val="272525"/>
                </a:solidFill>
                <a:latin typeface="Petrona"/>
                <a:ea typeface="Petrona"/>
                <a:cs typeface="Petrona"/>
                <a:sym typeface="Petrona"/>
              </a:defRPr>
            </a:lvl1pPr>
          </a:lstStyle>
          <a:p>
            <a:pPr/>
            <a:r>
              <a:t>Key Components (Functional Breakdown)</a:t>
            </a:r>
          </a:p>
        </p:txBody>
      </p:sp>
      <p:sp>
        <p:nvSpPr>
          <p:cNvPr id="1005" name="Google Shape;652;p70"/>
          <p:cNvSpPr txBox="1"/>
          <p:nvPr/>
        </p:nvSpPr>
        <p:spPr>
          <a:xfrm>
            <a:off x="342359" y="2460599"/>
            <a:ext cx="6269402" cy="47282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Prompt Engineering</a:t>
            </a:r>
          </a:p>
          <a:p>
            <a:pPr lvl="1" marL="914400" indent="-317160">
              <a:buClr>
                <a:srgbClr val="272525"/>
              </a:buClr>
              <a:buSzPts val="1400"/>
              <a:buFont typeface="Helvetica"/>
              <a:buChar char="○"/>
              <a:defRPr>
                <a:solidFill>
                  <a:srgbClr val="272525"/>
                </a:solidFill>
                <a:latin typeface="Inter"/>
                <a:ea typeface="Inter"/>
                <a:cs typeface="Inter"/>
                <a:sym typeface="Inter"/>
              </a:defRPr>
            </a:pPr>
            <a:r>
              <a:t>Capture user inputs (words, phrases, and questions) via a natural language interface.</a:t>
            </a:r>
          </a:p>
          <a:p>
            <a:pPr lvl="2" marL="1371600" indent="-317160">
              <a:buClr>
                <a:srgbClr val="272525"/>
              </a:buClr>
              <a:buSzPts val="1400"/>
              <a:buFont typeface="Helvetica"/>
              <a:buChar char="■"/>
              <a:defRPr>
                <a:solidFill>
                  <a:srgbClr val="272525"/>
                </a:solidFill>
                <a:latin typeface="Inter"/>
                <a:ea typeface="Inter"/>
                <a:cs typeface="Inter"/>
                <a:sym typeface="Inter"/>
              </a:defRPr>
            </a:pPr>
            <a:r>
              <a:t>Parse and normalize inputs to generate structured queries.</a:t>
            </a:r>
          </a:p>
          <a:p>
            <a:pPr lvl="2" marL="1371600" indent="-317160">
              <a:buClr>
                <a:srgbClr val="272525"/>
              </a:buClr>
              <a:buSzPts val="1400"/>
              <a:buFont typeface="Helvetica"/>
              <a:buChar char="■"/>
              <a:defRPr>
                <a:solidFill>
                  <a:srgbClr val="272525"/>
                </a:solidFill>
                <a:latin typeface="Inter"/>
                <a:ea typeface="Inter"/>
                <a:cs typeface="Inter"/>
                <a:sym typeface="Inter"/>
              </a:defRPr>
            </a:pPr>
            <a:r>
              <a:t>Map user inputs to consumer persona models for contextual relevance.</a:t>
            </a:r>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Semantic Knowledge</a:t>
            </a:r>
          </a:p>
          <a:p>
            <a:pPr lvl="1" marL="914400" indent="-317160">
              <a:buClr>
                <a:srgbClr val="272525"/>
              </a:buClr>
              <a:buSzPts val="1400"/>
              <a:buFont typeface="Helvetica"/>
              <a:buChar char="○"/>
              <a:defRPr>
                <a:solidFill>
                  <a:srgbClr val="272525"/>
                </a:solidFill>
                <a:latin typeface="Inter"/>
                <a:ea typeface="Inter"/>
                <a:cs typeface="Inter"/>
                <a:sym typeface="Inter"/>
              </a:defRPr>
            </a:pPr>
            <a:r>
              <a:t>Use consumer persona models to contextualize queries.</a:t>
            </a:r>
          </a:p>
          <a:p>
            <a:pPr lvl="1" marL="914400" indent="-317160">
              <a:buClr>
                <a:srgbClr val="272525"/>
              </a:buClr>
              <a:buSzPts val="1400"/>
              <a:buFont typeface="Helvetica"/>
              <a:buChar char="○"/>
              <a:defRPr>
                <a:solidFill>
                  <a:srgbClr val="272525"/>
                </a:solidFill>
                <a:latin typeface="Inter"/>
                <a:ea typeface="Inter"/>
                <a:cs typeface="Inter"/>
                <a:sym typeface="Inter"/>
              </a:defRPr>
            </a:pPr>
            <a:r>
              <a:t>Generate SPARQL queries to retrieve data from RDF stores.</a:t>
            </a:r>
          </a:p>
          <a:p>
            <a:pPr lvl="1" marL="914400" indent="-317160">
              <a:buClr>
                <a:srgbClr val="272525"/>
              </a:buClr>
              <a:buSzPts val="1400"/>
              <a:buFont typeface="Helvetica"/>
              <a:buChar char="○"/>
              <a:defRPr>
                <a:solidFill>
                  <a:srgbClr val="272525"/>
                </a:solidFill>
                <a:latin typeface="Inter"/>
                <a:ea typeface="Inter"/>
                <a:cs typeface="Inter"/>
                <a:sym typeface="Inter"/>
              </a:defRPr>
            </a:pPr>
            <a:r>
              <a:t>Use SHACL to validate and constrain query results based on business rules.</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Integrate with Metaphactory APIs to access knowledge graphs.</a:t>
            </a:r>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Semantic Services</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Provide microservices to:</a:t>
            </a:r>
          </a:p>
          <a:p>
            <a:pPr lvl="2" marL="1371600" indent="-317160">
              <a:buClr>
                <a:srgbClr val="272525"/>
              </a:buClr>
              <a:buSzPts val="1400"/>
              <a:buFont typeface="Helvetica"/>
              <a:buChar char="■"/>
              <a:defRPr>
                <a:solidFill>
                  <a:srgbClr val="272525"/>
                </a:solidFill>
                <a:latin typeface="Inter"/>
                <a:ea typeface="Inter"/>
                <a:cs typeface="Inter"/>
                <a:sym typeface="Inter"/>
              </a:defRPr>
            </a:pPr>
            <a:r>
              <a:t>Query RDF stores using SPARQL.</a:t>
            </a:r>
          </a:p>
          <a:p>
            <a:pPr lvl="2" marL="1371600" indent="-317160">
              <a:buClr>
                <a:srgbClr val="272525"/>
              </a:buClr>
              <a:buSzPts val="1400"/>
              <a:buFont typeface="Helvetica"/>
              <a:buChar char="■"/>
              <a:defRPr>
                <a:solidFill>
                  <a:srgbClr val="272525"/>
                </a:solidFill>
                <a:latin typeface="Inter"/>
                <a:ea typeface="Inter"/>
                <a:cs typeface="Inter"/>
                <a:sym typeface="Inter"/>
              </a:defRPr>
            </a:pPr>
            <a:r>
              <a:t>Validate and constrain results using SHACL.</a:t>
            </a:r>
          </a:p>
          <a:p>
            <a:pPr lvl="2" marL="1371600" indent="-317160">
              <a:buClr>
                <a:srgbClr val="272525"/>
              </a:buClr>
              <a:buSzPts val="1400"/>
              <a:buFont typeface="Helvetica"/>
              <a:buChar char="■"/>
              <a:defRPr>
                <a:solidFill>
                  <a:srgbClr val="272525"/>
                </a:solidFill>
                <a:latin typeface="Inter"/>
                <a:ea typeface="Inter"/>
                <a:cs typeface="Inter"/>
                <a:sym typeface="Inter"/>
              </a:defRPr>
            </a:pPr>
            <a:r>
              <a:t>Dynamically expand the semantic knowledge layer with enterprise and domain-specific contexts.</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Expose APIs for downstream services to consume query results.</a:t>
            </a:r>
          </a:p>
        </p:txBody>
      </p:sp>
      <p:pic>
        <p:nvPicPr>
          <p:cNvPr id="1006" name="Google Shape;653;p70" descr="Google Shape;653;p70"/>
          <p:cNvPicPr>
            <a:picLocks noChangeAspect="1"/>
          </p:cNvPicPr>
          <p:nvPr/>
        </p:nvPicPr>
        <p:blipFill>
          <a:blip r:embed="rId2">
            <a:extLst/>
          </a:blip>
          <a:stretch>
            <a:fillRect/>
          </a:stretch>
        </p:blipFill>
        <p:spPr>
          <a:xfrm>
            <a:off x="7782120" y="416520"/>
            <a:ext cx="6149161" cy="1513081"/>
          </a:xfrm>
          <a:prstGeom prst="rect">
            <a:avLst/>
          </a:prstGeom>
          <a:ln w="12700">
            <a:miter lim="400000"/>
          </a:ln>
        </p:spPr>
      </p:pic>
      <p:sp>
        <p:nvSpPr>
          <p:cNvPr id="1007" name="Google Shape;654;p70"/>
          <p:cNvSpPr txBox="1"/>
          <p:nvPr/>
        </p:nvSpPr>
        <p:spPr>
          <a:xfrm>
            <a:off x="7553879" y="2460599"/>
            <a:ext cx="6269402" cy="5196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Orchestration</a:t>
            </a:r>
          </a:p>
          <a:p>
            <a:pPr lvl="1" marL="914400" indent="-317160">
              <a:buClr>
                <a:srgbClr val="272525"/>
              </a:buClr>
              <a:buSzPts val="1400"/>
              <a:buFont typeface="Helvetica"/>
              <a:buChar char="○"/>
              <a:defRPr>
                <a:solidFill>
                  <a:srgbClr val="272525"/>
                </a:solidFill>
                <a:latin typeface="Inter"/>
                <a:ea typeface="Inter"/>
                <a:cs typeface="Inter"/>
                <a:sym typeface="Inter"/>
              </a:defRPr>
            </a:pPr>
            <a:r>
              <a:t>Apply conditional logic and constraints to guide downstream microservices, BI agents, and AI agents.</a:t>
            </a:r>
          </a:p>
          <a:p>
            <a:pPr lvl="1" marL="914400" indent="-317160">
              <a:buClr>
                <a:srgbClr val="272525"/>
              </a:buClr>
              <a:buSzPts val="1400"/>
              <a:buFont typeface="Helvetica"/>
              <a:buChar char="○"/>
              <a:defRPr>
                <a:solidFill>
                  <a:srgbClr val="272525"/>
                </a:solidFill>
                <a:latin typeface="Inter"/>
                <a:ea typeface="Inter"/>
                <a:cs typeface="Inter"/>
                <a:sym typeface="Inter"/>
              </a:defRPr>
            </a:pPr>
            <a:r>
              <a:t>Ensure seamless integration between semantic services and downstream processing.</a:t>
            </a:r>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Analytics and Visualization</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Extract and transform data from query results.</a:t>
            </a:r>
          </a:p>
          <a:p>
            <a:pPr lvl="2" marL="1371600" indent="-317160">
              <a:buClr>
                <a:srgbClr val="272525"/>
              </a:buClr>
              <a:buSzPts val="1400"/>
              <a:buFont typeface="Helvetica"/>
              <a:buChar char="■"/>
              <a:defRPr>
                <a:solidFill>
                  <a:srgbClr val="272525"/>
                </a:solidFill>
                <a:latin typeface="Inter"/>
                <a:ea typeface="Inter"/>
                <a:cs typeface="Inter"/>
                <a:sym typeface="Inter"/>
              </a:defRPr>
            </a:pPr>
            <a:r>
              <a:t>Apply analytics to generate insights.</a:t>
            </a:r>
          </a:p>
          <a:p>
            <a:pPr lvl="2" marL="1371600" indent="-317160">
              <a:buClr>
                <a:srgbClr val="272525"/>
              </a:buClr>
              <a:buSzPts val="1400"/>
              <a:buFont typeface="Helvetica"/>
              <a:buChar char="■"/>
              <a:defRPr>
                <a:solidFill>
                  <a:srgbClr val="272525"/>
                </a:solidFill>
                <a:latin typeface="Inter"/>
                <a:ea typeface="Inter"/>
                <a:cs typeface="Inter"/>
                <a:sym typeface="Inter"/>
              </a:defRPr>
            </a:pPr>
            <a:r>
              <a:t>Create visualizations (e.g., charts, graphs, dashboards) for presentation.</a:t>
            </a:r>
          </a:p>
          <a:p>
            <a:pPr marL="457200" indent="-317160">
              <a:lnSpc>
                <a:spcPct val="158000"/>
              </a:lnSpc>
              <a:spcBef>
                <a:spcPts val="1000"/>
              </a:spcBef>
              <a:buClr>
                <a:srgbClr val="272525"/>
              </a:buClr>
              <a:buSzPts val="1400"/>
              <a:buFont typeface="Helvetica"/>
              <a:buChar char="●"/>
              <a:defRPr b="1">
                <a:solidFill>
                  <a:srgbClr val="272525"/>
                </a:solidFill>
                <a:latin typeface="Inter"/>
                <a:ea typeface="Inter"/>
                <a:cs typeface="Inter"/>
                <a:sym typeface="Inter"/>
              </a:defRPr>
            </a:pPr>
            <a:r>
              <a:t>Explanation Generation</a:t>
            </a:r>
          </a:p>
          <a:p>
            <a:pPr lvl="1" marL="914400" indent="-317160">
              <a:buClr>
                <a:srgbClr val="272525"/>
              </a:buClr>
              <a:buSzPts val="1400"/>
              <a:buFont typeface="Helvetica"/>
              <a:buChar char="○"/>
              <a:defRPr>
                <a:solidFill>
                  <a:srgbClr val="272525"/>
                </a:solidFill>
                <a:latin typeface="Inter"/>
                <a:ea typeface="Inter"/>
                <a:cs typeface="Inter"/>
                <a:sym typeface="Inter"/>
              </a:defRPr>
            </a:pPr>
            <a:r>
              <a:t>Generate natural language explanations for query results.</a:t>
            </a:r>
          </a:p>
          <a:p>
            <a:pPr lvl="1" marL="914400" indent="-317160">
              <a:lnSpc>
                <a:spcPct val="158000"/>
              </a:lnSpc>
              <a:buClr>
                <a:srgbClr val="272525"/>
              </a:buClr>
              <a:buSzPts val="1400"/>
              <a:buFont typeface="Helvetica"/>
              <a:buChar char="○"/>
              <a:defRPr>
                <a:solidFill>
                  <a:srgbClr val="272525"/>
                </a:solidFill>
                <a:latin typeface="Inter"/>
                <a:ea typeface="Inter"/>
                <a:cs typeface="Inter"/>
                <a:sym typeface="Inter"/>
              </a:defRPr>
            </a:pPr>
            <a:r>
              <a:t>Provide contextual insights based on consumer persona models.</a:t>
            </a:r>
          </a:p>
          <a:p>
            <a:pPr marL="457200" indent="-317160">
              <a:lnSpc>
                <a:spcPct val="158000"/>
              </a:lnSpc>
              <a:buClr>
                <a:srgbClr val="272525"/>
              </a:buClr>
              <a:buSzPts val="1400"/>
              <a:buFont typeface="Helvetica"/>
              <a:buChar char="●"/>
              <a:defRPr b="1">
                <a:solidFill>
                  <a:srgbClr val="272525"/>
                </a:solidFill>
                <a:latin typeface="Inter"/>
                <a:ea typeface="Inter"/>
                <a:cs typeface="Inter"/>
                <a:sym typeface="Inter"/>
              </a:defRPr>
            </a:pPr>
            <a:r>
              <a:t>Dynamic Semantic Expansion</a:t>
            </a:r>
          </a:p>
          <a:p>
            <a:pPr lvl="1" marL="914400" indent="-317160">
              <a:buClr>
                <a:srgbClr val="272525"/>
              </a:buClr>
              <a:buSzPts val="1400"/>
              <a:buFont typeface="Helvetica"/>
              <a:buChar char="○"/>
              <a:defRPr>
                <a:solidFill>
                  <a:srgbClr val="272525"/>
                </a:solidFill>
                <a:latin typeface="Inter"/>
                <a:ea typeface="Inter"/>
                <a:cs typeface="Inter"/>
                <a:sym typeface="Inter"/>
              </a:defRPr>
            </a:pPr>
            <a:r>
              <a:t>Dynamically expand the semantic knowledge layer with:</a:t>
            </a:r>
          </a:p>
          <a:p>
            <a:pPr lvl="1" marL="914400" indent="-317160">
              <a:buClr>
                <a:srgbClr val="272525"/>
              </a:buClr>
              <a:buSzPts val="1400"/>
              <a:buFont typeface="Helvetica"/>
              <a:buChar char="○"/>
              <a:defRPr>
                <a:solidFill>
                  <a:srgbClr val="272525"/>
                </a:solidFill>
                <a:latin typeface="Inter"/>
                <a:ea typeface="Inter"/>
                <a:cs typeface="Inter"/>
                <a:sym typeface="Inter"/>
              </a:defRPr>
            </a:pPr>
            <a:r>
              <a:t>Enterprise context (vocabularies, taxonomies, and ontologies).</a:t>
            </a:r>
          </a:p>
          <a:p>
            <a:pPr lvl="1" marL="914400" indent="-317160">
              <a:buClr>
                <a:srgbClr val="272525"/>
              </a:buClr>
              <a:buSzPts val="1400"/>
              <a:buFont typeface="Helvetica"/>
              <a:buChar char="○"/>
              <a:defRPr>
                <a:solidFill>
                  <a:srgbClr val="272525"/>
                </a:solidFill>
                <a:latin typeface="Inter"/>
                <a:ea typeface="Inter"/>
                <a:cs typeface="Inter"/>
                <a:sym typeface="Inter"/>
              </a:defRPr>
            </a:pPr>
            <a:r>
              <a:t>Domain-specific context (vocabularies, taxonomies, and ontologies).</a:t>
            </a:r>
          </a:p>
          <a:p>
            <a:pPr lvl="1" marL="914400" indent="-317160">
              <a:buClr>
                <a:srgbClr val="272525"/>
              </a:buClr>
              <a:buSzPts val="1400"/>
              <a:buFont typeface="Helvetica"/>
              <a:buChar char="○"/>
              <a:defRPr>
                <a:solidFill>
                  <a:srgbClr val="272525"/>
                </a:solidFill>
                <a:latin typeface="Inter"/>
                <a:ea typeface="Inter"/>
                <a:cs typeface="Inter"/>
                <a:sym typeface="Inter"/>
              </a:defRPr>
            </a:pPr>
            <a:r>
              <a:t>Ensure the system adapts to evolving business and domain requirements.</a:t>
            </a:r>
          </a:p>
        </p:txBody>
      </p:sp>
      <p:grpSp>
        <p:nvGrpSpPr>
          <p:cNvPr id="1012" name="Google Shape;655;p70"/>
          <p:cNvGrpSpPr/>
          <p:nvPr/>
        </p:nvGrpSpPr>
        <p:grpSpPr>
          <a:xfrm>
            <a:off x="13783679" y="-1"/>
            <a:ext cx="846360" cy="1009205"/>
            <a:chOff x="0" y="0"/>
            <a:chExt cx="846359" cy="1009203"/>
          </a:xfrm>
        </p:grpSpPr>
        <p:sp>
          <p:nvSpPr>
            <p:cNvPr id="1008" name="Google Shape;656;p70"/>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011" name="Google Shape;657;p70"/>
            <p:cNvGrpSpPr/>
            <p:nvPr/>
          </p:nvGrpSpPr>
          <p:grpSpPr>
            <a:xfrm>
              <a:off x="55079" y="-1"/>
              <a:ext cx="791281" cy="1009205"/>
              <a:chOff x="0" y="0"/>
              <a:chExt cx="791279" cy="1009203"/>
            </a:xfrm>
          </p:grpSpPr>
          <p:pic>
            <p:nvPicPr>
              <p:cNvPr id="1009" name="Google Shape;658;p70" descr="Google Shape;658;p70"/>
              <p:cNvPicPr>
                <a:picLocks noChangeAspect="1"/>
              </p:cNvPicPr>
              <p:nvPr/>
            </p:nvPicPr>
            <p:blipFill>
              <a:blip r:embed="rId3">
                <a:extLst/>
              </a:blip>
              <a:srcRect l="20669" t="0" r="9844" b="0"/>
              <a:stretch>
                <a:fillRect/>
              </a:stretch>
            </p:blipFill>
            <p:spPr>
              <a:xfrm>
                <a:off x="0" y="0"/>
                <a:ext cx="756360" cy="756361"/>
              </a:xfrm>
              <a:prstGeom prst="rect">
                <a:avLst/>
              </a:prstGeom>
              <a:ln w="12700" cap="flat">
                <a:noFill/>
                <a:miter lim="400000"/>
              </a:ln>
              <a:effectLst/>
            </p:spPr>
          </p:pic>
          <p:sp>
            <p:nvSpPr>
              <p:cNvPr id="1010" name="Google Shape;659;p70"/>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4" name="Google Shape;665;p71"/>
          <p:cNvSpPr txBox="1"/>
          <p:nvPr/>
        </p:nvSpPr>
        <p:spPr>
          <a:xfrm>
            <a:off x="793800" y="1023119"/>
            <a:ext cx="9592200"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Pilot (Goals)</a:t>
            </a:r>
          </a:p>
        </p:txBody>
      </p:sp>
      <p:sp>
        <p:nvSpPr>
          <p:cNvPr id="1015" name="Google Shape;666;p71"/>
          <p:cNvSpPr txBox="1"/>
          <p:nvPr/>
        </p:nvSpPr>
        <p:spPr>
          <a:xfrm>
            <a:off x="793800" y="2028599"/>
            <a:ext cx="13135321" cy="385795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900"/>
            </a:pPr>
            <a:r>
              <a:t>Goals for enabling phase 1 Semantic Search</a:t>
            </a:r>
          </a:p>
          <a:p>
            <a:pPr/>
            <a:endParaRPr sz="1900"/>
          </a:p>
          <a:p>
            <a:pPr marL="457200" indent="-348839">
              <a:buClr>
                <a:srgbClr val="000000"/>
              </a:buClr>
              <a:buSzPts val="1900"/>
              <a:buFont typeface="Arial"/>
              <a:buChar char="●"/>
              <a:defRPr sz="1900"/>
            </a:pPr>
            <a:r>
              <a:t>Define, Design, and Deliver initial set of Semantic Services (microservices to wrapper API calls to Metaphactory)</a:t>
            </a:r>
          </a:p>
          <a:p>
            <a:pPr lvl="1" marL="914400" indent="-348839">
              <a:spcBef>
                <a:spcPts val="1000"/>
              </a:spcBef>
              <a:buClr>
                <a:srgbClr val="000000"/>
              </a:buClr>
              <a:buSzPts val="1900"/>
              <a:buFont typeface="Arial"/>
              <a:buChar char="○"/>
              <a:defRPr sz="1900"/>
            </a:pPr>
            <a:r>
              <a:t>leverage their federated graph query APIs as an accelerator</a:t>
            </a:r>
          </a:p>
          <a:p>
            <a:pPr marL="457200" indent="-348839">
              <a:spcBef>
                <a:spcPts val="1000"/>
              </a:spcBef>
              <a:buClr>
                <a:srgbClr val="000000"/>
              </a:buClr>
              <a:buSzPts val="1900"/>
              <a:buFont typeface="Arial"/>
              <a:buChar char="●"/>
              <a:defRPr sz="1900"/>
            </a:pPr>
            <a:r>
              <a:t>Showcase Unified Persona Model to refine and optimize Search Relevancy </a:t>
            </a:r>
          </a:p>
          <a:p>
            <a:pPr marL="457200" indent="-348839">
              <a:spcBef>
                <a:spcPts val="1000"/>
              </a:spcBef>
              <a:buClr>
                <a:srgbClr val="000000"/>
              </a:buClr>
              <a:buSzPts val="1900"/>
              <a:buFont typeface="Arial"/>
              <a:buChar char="●"/>
              <a:defRPr sz="1900"/>
            </a:pPr>
            <a:r>
              <a:t>Demonstrate simplified UX by implementing a backplane of Semantic Services</a:t>
            </a:r>
          </a:p>
          <a:p>
            <a:pPr marL="457200" indent="-348839">
              <a:spcBef>
                <a:spcPts val="1000"/>
              </a:spcBef>
              <a:buClr>
                <a:srgbClr val="000000"/>
              </a:buClr>
              <a:buSzPts val="1900"/>
              <a:buFont typeface="Arial"/>
              <a:buChar char="●"/>
              <a:defRPr sz="1900"/>
            </a:pPr>
            <a:r>
              <a:t>Generate a set of federated queries for digital assets</a:t>
            </a:r>
          </a:p>
          <a:p>
            <a:pPr lvl="1" marL="914400" indent="-348839">
              <a:spcBef>
                <a:spcPts val="1000"/>
              </a:spcBef>
              <a:buClr>
                <a:srgbClr val="000000"/>
              </a:buClr>
              <a:buSzPts val="1900"/>
              <a:buFont typeface="Arial"/>
              <a:buChar char="○"/>
              <a:defRPr sz="1900"/>
            </a:pPr>
            <a:r>
              <a:t>assume these assets will be stored in GCP</a:t>
            </a:r>
          </a:p>
          <a:p>
            <a:pPr lvl="1" marL="914400" indent="-348839">
              <a:spcBef>
                <a:spcPts val="1000"/>
              </a:spcBef>
              <a:buClr>
                <a:srgbClr val="000000"/>
              </a:buClr>
              <a:buSzPts val="1900"/>
              <a:buFont typeface="Arial"/>
              <a:buChar char="○"/>
              <a:defRPr sz="1900"/>
            </a:pPr>
            <a:r>
              <a:t>assume Semantic Services will deliver a set of queries to Orchestration Engine</a:t>
            </a:r>
          </a:p>
          <a:p>
            <a:pPr lvl="1" marL="914400" indent="-348839">
              <a:spcBef>
                <a:spcPts val="1000"/>
              </a:spcBef>
              <a:buClr>
                <a:srgbClr val="000000"/>
              </a:buClr>
              <a:buSzPts val="1900"/>
              <a:buFont typeface="Arial"/>
              <a:buChar char="○"/>
              <a:defRPr sz="1900"/>
            </a:pPr>
            <a:r>
              <a:t>Note: EA has defined a direction for an Orchestration Engine (TBD)</a:t>
            </a:r>
          </a:p>
        </p:txBody>
      </p:sp>
      <p:grpSp>
        <p:nvGrpSpPr>
          <p:cNvPr id="1020" name="Google Shape;667;p71"/>
          <p:cNvGrpSpPr/>
          <p:nvPr/>
        </p:nvGrpSpPr>
        <p:grpSpPr>
          <a:xfrm>
            <a:off x="13783679" y="-1"/>
            <a:ext cx="846360" cy="1009205"/>
            <a:chOff x="0" y="0"/>
            <a:chExt cx="846359" cy="1009203"/>
          </a:xfrm>
        </p:grpSpPr>
        <p:sp>
          <p:nvSpPr>
            <p:cNvPr id="1016" name="Google Shape;668;p71"/>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019" name="Google Shape;669;p71"/>
            <p:cNvGrpSpPr/>
            <p:nvPr/>
          </p:nvGrpSpPr>
          <p:grpSpPr>
            <a:xfrm>
              <a:off x="55079" y="-1"/>
              <a:ext cx="791281" cy="1009205"/>
              <a:chOff x="0" y="0"/>
              <a:chExt cx="791279" cy="1009203"/>
            </a:xfrm>
          </p:grpSpPr>
          <p:pic>
            <p:nvPicPr>
              <p:cNvPr id="1017" name="Google Shape;670;p71" descr="Google Shape;670;p71"/>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018" name="Google Shape;671;p71"/>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2" name="Google Shape;677;p72"/>
          <p:cNvSpPr txBox="1"/>
          <p:nvPr/>
        </p:nvSpPr>
        <p:spPr>
          <a:xfrm>
            <a:off x="793800" y="1023119"/>
            <a:ext cx="9592200"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Pilot (Scope)</a:t>
            </a:r>
          </a:p>
        </p:txBody>
      </p:sp>
      <p:sp>
        <p:nvSpPr>
          <p:cNvPr id="1023" name="Google Shape;678;p72"/>
          <p:cNvSpPr txBox="1"/>
          <p:nvPr/>
        </p:nvSpPr>
        <p:spPr>
          <a:xfrm>
            <a:off x="793800" y="2028599"/>
            <a:ext cx="13135321" cy="490060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600"/>
            </a:pPr>
            <a:r>
              <a:t>Scope for initial pilot:</a:t>
            </a:r>
          </a:p>
          <a:p>
            <a:pPr marL="457200" indent="-329760">
              <a:spcBef>
                <a:spcPts val="1000"/>
              </a:spcBef>
              <a:buClr>
                <a:srgbClr val="000000"/>
              </a:buClr>
              <a:buSzPts val="1600"/>
              <a:buFont typeface="Arial"/>
              <a:buChar char="●"/>
              <a:defRPr sz="1600"/>
            </a:pPr>
            <a:r>
              <a:t>Leverage Semantic Pilot work </a:t>
            </a:r>
          </a:p>
          <a:p>
            <a:pPr lvl="1" marL="914400" indent="-329760">
              <a:spcBef>
                <a:spcPts val="1000"/>
              </a:spcBef>
              <a:buClr>
                <a:srgbClr val="000000"/>
              </a:buClr>
              <a:buSzPts val="1600"/>
              <a:buFont typeface="Arial"/>
              <a:buChar char="○"/>
              <a:defRPr sz="1600"/>
            </a:pPr>
            <a:r>
              <a:t>Search will focus on one Data Product (TBD), which we have setup for basic search of concepts in Metaphactory</a:t>
            </a:r>
          </a:p>
          <a:p>
            <a:pPr lvl="2" marL="1371600" indent="-329760">
              <a:spcBef>
                <a:spcPts val="1000"/>
              </a:spcBef>
              <a:buClr>
                <a:srgbClr val="000000"/>
              </a:buClr>
              <a:buSzPts val="1600"/>
              <a:buFont typeface="Arial"/>
              <a:buChar char="■"/>
              <a:defRPr sz="1600"/>
            </a:pPr>
            <a:r>
              <a:t>Note: We may want to focus on some new Data Products which have significant visibility </a:t>
            </a:r>
          </a:p>
          <a:p>
            <a:pPr lvl="2" marL="1371600" indent="-329760">
              <a:spcBef>
                <a:spcPts val="1000"/>
              </a:spcBef>
              <a:buClr>
                <a:srgbClr val="000000"/>
              </a:buClr>
              <a:buSzPts val="1600"/>
              <a:buFont typeface="Arial"/>
              <a:buChar char="■"/>
              <a:defRPr sz="1600"/>
            </a:pPr>
            <a:r>
              <a:t>If we introduce new Data Products, then the Knowledge Engineering team may need to build / extend Domain Ontologies</a:t>
            </a:r>
          </a:p>
          <a:p>
            <a:pPr lvl="1" marL="914400" indent="-329760">
              <a:spcBef>
                <a:spcPts val="1000"/>
              </a:spcBef>
              <a:buClr>
                <a:srgbClr val="000000"/>
              </a:buClr>
              <a:buSzPts val="1600"/>
              <a:buFont typeface="Arial"/>
              <a:buChar char="○"/>
              <a:defRPr sz="1600"/>
            </a:pPr>
            <a:r>
              <a:t>Currently, we do not have a centralized location for Persona data. We may want to bootstrap a </a:t>
            </a:r>
            <a:r>
              <a:rPr u="sng">
                <a:solidFill>
                  <a:srgbClr val="0000FF"/>
                </a:solidFill>
                <a:uFill>
                  <a:solidFill>
                    <a:srgbClr val="0000FF"/>
                  </a:solidFill>
                </a:uFill>
                <a:hlinkClick r:id="rId2" invalidUrl="" action="" tgtFrame="" tooltip="" history="1" highlightClick="0" endSnd="0"/>
              </a:rPr>
              <a:t>simple schema</a:t>
            </a:r>
            <a:r>
              <a:t> in Postgres (in our DEV environment for Metaphactory)</a:t>
            </a:r>
          </a:p>
          <a:p>
            <a:pPr lvl="2" marL="1371600" indent="-329760">
              <a:spcBef>
                <a:spcPts val="1000"/>
              </a:spcBef>
              <a:buClr>
                <a:srgbClr val="000000"/>
              </a:buClr>
              <a:buSzPts val="1600"/>
              <a:buFont typeface="Arial"/>
              <a:buChar char="■"/>
              <a:defRPr sz="1600"/>
            </a:pPr>
            <a:r>
              <a:t>We will need to source Persona data from existing systems and available materials (docs, etc.)</a:t>
            </a:r>
          </a:p>
          <a:p>
            <a:pPr lvl="2" marL="1371600" indent="-329760">
              <a:spcBef>
                <a:spcPts val="1000"/>
              </a:spcBef>
              <a:buClr>
                <a:srgbClr val="000000"/>
              </a:buClr>
              <a:buSzPts val="1600"/>
              <a:buFont typeface="Arial"/>
              <a:buChar char="■"/>
              <a:defRPr sz="1600"/>
            </a:pPr>
            <a:r>
              <a:t>We will need a design to support scale for capturing and warehousing Persona data in advance of launch</a:t>
            </a:r>
          </a:p>
          <a:p>
            <a:pPr lvl="1" marL="914400" indent="-329760">
              <a:spcBef>
                <a:spcPts val="1000"/>
              </a:spcBef>
              <a:buClr>
                <a:srgbClr val="000000"/>
              </a:buClr>
              <a:buSzPts val="1600"/>
              <a:buFont typeface="Arial"/>
              <a:buChar char="○"/>
              <a:defRPr sz="1600"/>
            </a:pPr>
            <a:r>
              <a:t>Basic Search will consist of a few scenarios:</a:t>
            </a:r>
          </a:p>
          <a:p>
            <a:pPr lvl="2" marL="1371600" indent="-329760">
              <a:spcBef>
                <a:spcPts val="1000"/>
              </a:spcBef>
              <a:buClr>
                <a:srgbClr val="000000"/>
              </a:buClr>
              <a:buSzPts val="1600"/>
              <a:buFont typeface="Arial"/>
              <a:buChar char="■"/>
              <a:defRPr sz="1600"/>
            </a:pPr>
            <a:r>
              <a:t>Token Based Search (select list of data elements) - may or may not match business terms in the Catalog or GCP Columns</a:t>
            </a:r>
          </a:p>
          <a:p>
            <a:pPr lvl="2" marL="1371600" indent="-329760">
              <a:spcBef>
                <a:spcPts val="1000"/>
              </a:spcBef>
              <a:buClr>
                <a:srgbClr val="000000"/>
              </a:buClr>
              <a:buSzPts val="1600"/>
              <a:buFont typeface="Arial"/>
              <a:buChar char="■"/>
              <a:defRPr sz="1600"/>
            </a:pPr>
            <a:r>
              <a:t>Marketplace Search using InfoVision (natural language) </a:t>
            </a:r>
          </a:p>
          <a:p>
            <a:pPr lvl="1" marL="914400" indent="-329760">
              <a:spcBef>
                <a:spcPts val="1000"/>
              </a:spcBef>
              <a:buClr>
                <a:srgbClr val="000000"/>
              </a:buClr>
              <a:buSzPts val="1600"/>
              <a:buFont typeface="Arial"/>
              <a:buChar char="○"/>
              <a:defRPr sz="1600"/>
            </a:pPr>
            <a:r>
              <a:t>Both scenarios will facilitate handoffs to Semantic Services through Marketplace and VDIL</a:t>
            </a:r>
          </a:p>
          <a:p>
            <a:pPr marL="457200" indent="-329760">
              <a:spcBef>
                <a:spcPts val="1000"/>
              </a:spcBef>
              <a:buClr>
                <a:srgbClr val="000000"/>
              </a:buClr>
              <a:buSzPts val="1600"/>
              <a:buFont typeface="Arial"/>
              <a:buChar char="●"/>
              <a:defRPr sz="1600"/>
            </a:pPr>
            <a:r>
              <a:t>Downstream orchestration can be introduced in Phase 2</a:t>
            </a:r>
          </a:p>
        </p:txBody>
      </p:sp>
      <p:grpSp>
        <p:nvGrpSpPr>
          <p:cNvPr id="1028" name="Google Shape;679;p72"/>
          <p:cNvGrpSpPr/>
          <p:nvPr/>
        </p:nvGrpSpPr>
        <p:grpSpPr>
          <a:xfrm>
            <a:off x="13783679" y="-1"/>
            <a:ext cx="846360" cy="1009205"/>
            <a:chOff x="0" y="0"/>
            <a:chExt cx="846359" cy="1009203"/>
          </a:xfrm>
        </p:grpSpPr>
        <p:sp>
          <p:nvSpPr>
            <p:cNvPr id="1024" name="Google Shape;680;p72"/>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027" name="Google Shape;681;p72"/>
            <p:cNvGrpSpPr/>
            <p:nvPr/>
          </p:nvGrpSpPr>
          <p:grpSpPr>
            <a:xfrm>
              <a:off x="55079" y="-1"/>
              <a:ext cx="791281" cy="1009205"/>
              <a:chOff x="0" y="0"/>
              <a:chExt cx="791279" cy="1009203"/>
            </a:xfrm>
          </p:grpSpPr>
          <p:pic>
            <p:nvPicPr>
              <p:cNvPr id="1025" name="Google Shape;682;p72" descr="Google Shape;682;p72"/>
              <p:cNvPicPr>
                <a:picLocks noChangeAspect="1"/>
              </p:cNvPicPr>
              <p:nvPr/>
            </p:nvPicPr>
            <p:blipFill>
              <a:blip r:embed="rId3">
                <a:extLst/>
              </a:blip>
              <a:srcRect l="20669" t="0" r="9844" b="0"/>
              <a:stretch>
                <a:fillRect/>
              </a:stretch>
            </p:blipFill>
            <p:spPr>
              <a:xfrm>
                <a:off x="0" y="0"/>
                <a:ext cx="756360" cy="756361"/>
              </a:xfrm>
              <a:prstGeom prst="rect">
                <a:avLst/>
              </a:prstGeom>
              <a:ln w="12700" cap="flat">
                <a:noFill/>
                <a:miter lim="400000"/>
              </a:ln>
              <a:effectLst/>
            </p:spPr>
          </p:pic>
          <p:sp>
            <p:nvSpPr>
              <p:cNvPr id="1026" name="Google Shape;683;p72"/>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0" name="Google Shape;688;p73"/>
          <p:cNvSpPr/>
          <p:nvPr/>
        </p:nvSpPr>
        <p:spPr>
          <a:xfrm>
            <a:off x="4007519" y="2202479"/>
            <a:ext cx="8114042" cy="4623121"/>
          </a:xfrm>
          <a:prstGeom prst="rect">
            <a:avLst/>
          </a:prstGeom>
          <a:solidFill>
            <a:srgbClr val="98AED2"/>
          </a:solidFill>
          <a:ln w="12700">
            <a:miter lim="400000"/>
          </a:ln>
        </p:spPr>
        <p:txBody>
          <a:bodyPr lIns="0" tIns="0" rIns="0" bIns="0" anchor="ctr"/>
          <a:lstStyle/>
          <a:p>
            <a:pPr/>
          </a:p>
        </p:txBody>
      </p:sp>
      <p:sp>
        <p:nvSpPr>
          <p:cNvPr id="1031" name="Google Shape;689;p73"/>
          <p:cNvSpPr/>
          <p:nvPr/>
        </p:nvSpPr>
        <p:spPr>
          <a:xfrm>
            <a:off x="3053519" y="2175840"/>
            <a:ext cx="953642" cy="4649761"/>
          </a:xfrm>
          <a:prstGeom prst="rect">
            <a:avLst/>
          </a:prstGeom>
          <a:solidFill>
            <a:srgbClr val="A5A5A5"/>
          </a:solidFill>
          <a:ln w="12700">
            <a:miter lim="400000"/>
          </a:ln>
        </p:spPr>
        <p:txBody>
          <a:bodyPr lIns="0" tIns="0" rIns="0" bIns="0" anchor="ctr"/>
          <a:lstStyle/>
          <a:p>
            <a:pPr/>
          </a:p>
        </p:txBody>
      </p:sp>
      <p:sp>
        <p:nvSpPr>
          <p:cNvPr id="1032" name="Google Shape;690;p73"/>
          <p:cNvSpPr/>
          <p:nvPr/>
        </p:nvSpPr>
        <p:spPr>
          <a:xfrm>
            <a:off x="3002759" y="3421439"/>
            <a:ext cx="9112681" cy="361"/>
          </a:xfrm>
          <a:prstGeom prst="line">
            <a:avLst/>
          </a:prstGeom>
          <a:ln w="38150">
            <a:solidFill>
              <a:srgbClr val="FFFFFF"/>
            </a:solidFill>
            <a:miter lim="8000"/>
          </a:ln>
        </p:spPr>
        <p:txBody>
          <a:bodyPr lIns="0" tIns="0" rIns="0" bIns="0"/>
          <a:lstStyle/>
          <a:p>
            <a:pPr/>
          </a:p>
        </p:txBody>
      </p:sp>
      <p:sp>
        <p:nvSpPr>
          <p:cNvPr id="1033" name="Google Shape;691;p73"/>
          <p:cNvSpPr/>
          <p:nvPr/>
        </p:nvSpPr>
        <p:spPr>
          <a:xfrm>
            <a:off x="3002759" y="4838760"/>
            <a:ext cx="9112681" cy="361"/>
          </a:xfrm>
          <a:prstGeom prst="line">
            <a:avLst/>
          </a:prstGeom>
          <a:ln w="38150">
            <a:solidFill>
              <a:srgbClr val="FFFFFF"/>
            </a:solidFill>
            <a:miter lim="8000"/>
          </a:ln>
        </p:spPr>
        <p:txBody>
          <a:bodyPr lIns="0" tIns="0" rIns="0" bIns="0"/>
          <a:lstStyle/>
          <a:p>
            <a:pPr/>
          </a:p>
        </p:txBody>
      </p:sp>
      <p:sp>
        <p:nvSpPr>
          <p:cNvPr id="1034" name="Google Shape;692;p73"/>
          <p:cNvSpPr txBox="1"/>
          <p:nvPr/>
        </p:nvSpPr>
        <p:spPr>
          <a:xfrm>
            <a:off x="3341880" y="2747160"/>
            <a:ext cx="3060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latin typeface="Calibri"/>
                <a:ea typeface="Calibri"/>
                <a:cs typeface="Calibri"/>
                <a:sym typeface="Calibri"/>
              </a:defRPr>
            </a:lvl1pPr>
          </a:lstStyle>
          <a:p>
            <a:pPr/>
            <a:r>
              <a:t>Plan</a:t>
            </a:r>
          </a:p>
        </p:txBody>
      </p:sp>
      <p:sp>
        <p:nvSpPr>
          <p:cNvPr id="1035" name="Google Shape;693;p73"/>
          <p:cNvSpPr txBox="1"/>
          <p:nvPr/>
        </p:nvSpPr>
        <p:spPr>
          <a:xfrm>
            <a:off x="3203639" y="4023719"/>
            <a:ext cx="56988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latin typeface="Calibri"/>
                <a:ea typeface="Calibri"/>
                <a:cs typeface="Calibri"/>
                <a:sym typeface="Calibri"/>
              </a:defRPr>
            </a:lvl1pPr>
          </a:lstStyle>
          <a:p>
            <a:pPr/>
            <a:r>
              <a:t>Manage</a:t>
            </a:r>
          </a:p>
        </p:txBody>
      </p:sp>
      <p:sp>
        <p:nvSpPr>
          <p:cNvPr id="1036" name="Google Shape;694;p73"/>
          <p:cNvSpPr txBox="1"/>
          <p:nvPr/>
        </p:nvSpPr>
        <p:spPr>
          <a:xfrm>
            <a:off x="3193559" y="5599079"/>
            <a:ext cx="54972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latin typeface="Calibri"/>
                <a:ea typeface="Calibri"/>
                <a:cs typeface="Calibri"/>
                <a:sym typeface="Calibri"/>
              </a:defRPr>
            </a:lvl1pPr>
          </a:lstStyle>
          <a:p>
            <a:pPr/>
            <a:r>
              <a:t>Execute</a:t>
            </a:r>
          </a:p>
        </p:txBody>
      </p:sp>
      <p:sp>
        <p:nvSpPr>
          <p:cNvPr id="1037" name="Google Shape;695;p73"/>
          <p:cNvSpPr/>
          <p:nvPr/>
        </p:nvSpPr>
        <p:spPr>
          <a:xfrm>
            <a:off x="4052160" y="1686239"/>
            <a:ext cx="8069399" cy="515881"/>
          </a:xfrm>
          <a:prstGeom prst="rect">
            <a:avLst/>
          </a:prstGeom>
          <a:solidFill>
            <a:srgbClr val="AEABAB"/>
          </a:solidFill>
          <a:ln w="12700">
            <a:miter lim="400000"/>
          </a:ln>
        </p:spPr>
        <p:txBody>
          <a:bodyPr lIns="0" tIns="0" rIns="0" bIns="0" anchor="ctr"/>
          <a:lstStyle/>
          <a:p>
            <a:pPr/>
          </a:p>
        </p:txBody>
      </p:sp>
      <p:sp>
        <p:nvSpPr>
          <p:cNvPr id="1038" name="Google Shape;696;p73"/>
          <p:cNvSpPr txBox="1"/>
          <p:nvPr/>
        </p:nvSpPr>
        <p:spPr>
          <a:xfrm>
            <a:off x="4342319" y="1754639"/>
            <a:ext cx="979921" cy="3532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90000"/>
              </a:lnSpc>
              <a:defRPr b="1" sz="1300">
                <a:latin typeface="Calibri"/>
                <a:ea typeface="Calibri"/>
                <a:cs typeface="Calibri"/>
                <a:sym typeface="Calibri"/>
              </a:defRPr>
            </a:pPr>
            <a:r>
              <a:t>Product </a:t>
            </a:r>
          </a:p>
          <a:p>
            <a:pPr>
              <a:lnSpc>
                <a:spcPct val="90000"/>
              </a:lnSpc>
              <a:defRPr b="1" sz="1300">
                <a:latin typeface="Calibri"/>
                <a:ea typeface="Calibri"/>
                <a:cs typeface="Calibri"/>
                <a:sym typeface="Calibri"/>
              </a:defRPr>
            </a:pPr>
            <a:r>
              <a:t>Management</a:t>
            </a:r>
            <a:r>
              <a:rPr b="0"/>
              <a:t> </a:t>
            </a:r>
          </a:p>
        </p:txBody>
      </p:sp>
      <p:sp>
        <p:nvSpPr>
          <p:cNvPr id="1039" name="Google Shape;697;p73"/>
          <p:cNvSpPr txBox="1"/>
          <p:nvPr/>
        </p:nvSpPr>
        <p:spPr>
          <a:xfrm>
            <a:off x="5911200" y="1754639"/>
            <a:ext cx="878400" cy="3532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90000"/>
              </a:lnSpc>
              <a:defRPr b="1" sz="1300">
                <a:latin typeface="Calibri"/>
                <a:ea typeface="Calibri"/>
                <a:cs typeface="Calibri"/>
                <a:sym typeface="Calibri"/>
              </a:defRPr>
            </a:pPr>
            <a:r>
              <a:t>Customer</a:t>
            </a:r>
          </a:p>
          <a:p>
            <a:pPr>
              <a:lnSpc>
                <a:spcPct val="90000"/>
              </a:lnSpc>
              <a:defRPr b="1" sz="1300">
                <a:latin typeface="Calibri"/>
                <a:ea typeface="Calibri"/>
                <a:cs typeface="Calibri"/>
                <a:sym typeface="Calibri"/>
              </a:defRPr>
            </a:pPr>
            <a:r>
              <a:t>Relationship</a:t>
            </a:r>
          </a:p>
        </p:txBody>
      </p:sp>
      <p:sp>
        <p:nvSpPr>
          <p:cNvPr id="1040" name="Google Shape;698;p73"/>
          <p:cNvSpPr txBox="1"/>
          <p:nvPr/>
        </p:nvSpPr>
        <p:spPr>
          <a:xfrm>
            <a:off x="7468199" y="1743119"/>
            <a:ext cx="1191601" cy="3532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0000"/>
              </a:lnSpc>
              <a:defRPr b="1" sz="1300">
                <a:latin typeface="Calibri"/>
                <a:ea typeface="Calibri"/>
                <a:cs typeface="Calibri"/>
                <a:sym typeface="Calibri"/>
              </a:defRPr>
            </a:lvl1pPr>
          </a:lstStyle>
          <a:p>
            <a:pPr/>
            <a:r>
              <a:t>Network Operations</a:t>
            </a:r>
          </a:p>
        </p:txBody>
      </p:sp>
      <p:sp>
        <p:nvSpPr>
          <p:cNvPr id="1041" name="Google Shape;699;p73"/>
          <p:cNvSpPr txBox="1"/>
          <p:nvPr/>
        </p:nvSpPr>
        <p:spPr>
          <a:xfrm>
            <a:off x="9055079" y="1754639"/>
            <a:ext cx="1067401" cy="3532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90000"/>
              </a:lnSpc>
              <a:defRPr b="1" sz="1300">
                <a:latin typeface="Calibri"/>
                <a:ea typeface="Calibri"/>
                <a:cs typeface="Calibri"/>
                <a:sym typeface="Calibri"/>
              </a:defRPr>
            </a:pPr>
            <a:r>
              <a:t>Supply Chain &amp;</a:t>
            </a:r>
          </a:p>
          <a:p>
            <a:pPr>
              <a:lnSpc>
                <a:spcPct val="90000"/>
              </a:lnSpc>
              <a:defRPr b="1" sz="1300">
                <a:latin typeface="Calibri"/>
                <a:ea typeface="Calibri"/>
                <a:cs typeface="Calibri"/>
                <a:sym typeface="Calibri"/>
              </a:defRPr>
            </a:pPr>
            <a:r>
              <a:t>Distribution</a:t>
            </a:r>
          </a:p>
        </p:txBody>
      </p:sp>
      <p:sp>
        <p:nvSpPr>
          <p:cNvPr id="1042" name="Google Shape;700;p73"/>
          <p:cNvSpPr txBox="1"/>
          <p:nvPr/>
        </p:nvSpPr>
        <p:spPr>
          <a:xfrm>
            <a:off x="10699199" y="1754639"/>
            <a:ext cx="1056961" cy="3532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90000"/>
              </a:lnSpc>
              <a:defRPr b="1" sz="1300">
                <a:latin typeface="Calibri"/>
                <a:ea typeface="Calibri"/>
                <a:cs typeface="Calibri"/>
                <a:sym typeface="Calibri"/>
              </a:defRPr>
            </a:pPr>
            <a:r>
              <a:t>Business</a:t>
            </a:r>
          </a:p>
          <a:p>
            <a:pPr>
              <a:lnSpc>
                <a:spcPct val="90000"/>
              </a:lnSpc>
              <a:defRPr b="1" sz="1300">
                <a:latin typeface="Calibri"/>
                <a:ea typeface="Calibri"/>
                <a:cs typeface="Calibri"/>
                <a:sym typeface="Calibri"/>
              </a:defRPr>
            </a:pPr>
            <a:r>
              <a:t>Administration</a:t>
            </a:r>
          </a:p>
        </p:txBody>
      </p:sp>
      <p:sp>
        <p:nvSpPr>
          <p:cNvPr id="1043" name="Google Shape;701;p73"/>
          <p:cNvSpPr/>
          <p:nvPr/>
        </p:nvSpPr>
        <p:spPr>
          <a:xfrm flipH="1" flipV="1">
            <a:off x="5636879" y="1680840"/>
            <a:ext cx="361" cy="5145121"/>
          </a:xfrm>
          <a:prstGeom prst="line">
            <a:avLst/>
          </a:prstGeom>
          <a:ln w="38150">
            <a:solidFill>
              <a:srgbClr val="FFFFFF"/>
            </a:solidFill>
            <a:miter lim="8000"/>
          </a:ln>
        </p:spPr>
        <p:txBody>
          <a:bodyPr lIns="0" tIns="0" rIns="0" bIns="0"/>
          <a:lstStyle/>
          <a:p>
            <a:pPr/>
          </a:p>
        </p:txBody>
      </p:sp>
      <p:sp>
        <p:nvSpPr>
          <p:cNvPr id="1044" name="Google Shape;702;p73"/>
          <p:cNvSpPr/>
          <p:nvPr/>
        </p:nvSpPr>
        <p:spPr>
          <a:xfrm flipH="1" flipV="1">
            <a:off x="7258680" y="1677240"/>
            <a:ext cx="361" cy="5148720"/>
          </a:xfrm>
          <a:prstGeom prst="line">
            <a:avLst/>
          </a:prstGeom>
          <a:ln w="38150">
            <a:solidFill>
              <a:srgbClr val="FFFFFF"/>
            </a:solidFill>
            <a:miter lim="8000"/>
          </a:ln>
        </p:spPr>
        <p:txBody>
          <a:bodyPr lIns="0" tIns="0" rIns="0" bIns="0"/>
          <a:lstStyle/>
          <a:p>
            <a:pPr/>
          </a:p>
        </p:txBody>
      </p:sp>
      <p:sp>
        <p:nvSpPr>
          <p:cNvPr id="1045" name="Google Shape;703;p73"/>
          <p:cNvSpPr/>
          <p:nvPr/>
        </p:nvSpPr>
        <p:spPr>
          <a:xfrm flipH="1" flipV="1">
            <a:off x="8890559" y="1679040"/>
            <a:ext cx="361" cy="5146920"/>
          </a:xfrm>
          <a:prstGeom prst="line">
            <a:avLst/>
          </a:prstGeom>
          <a:ln w="38150">
            <a:solidFill>
              <a:srgbClr val="FFFFFF"/>
            </a:solidFill>
            <a:miter lim="8000"/>
          </a:ln>
        </p:spPr>
        <p:txBody>
          <a:bodyPr lIns="0" tIns="0" rIns="0" bIns="0"/>
          <a:lstStyle/>
          <a:p>
            <a:pPr/>
          </a:p>
        </p:txBody>
      </p:sp>
      <p:sp>
        <p:nvSpPr>
          <p:cNvPr id="1046" name="Google Shape;704;p73"/>
          <p:cNvSpPr/>
          <p:nvPr/>
        </p:nvSpPr>
        <p:spPr>
          <a:xfrm flipH="1" flipV="1">
            <a:off x="10501920" y="1680840"/>
            <a:ext cx="361" cy="5145121"/>
          </a:xfrm>
          <a:prstGeom prst="line">
            <a:avLst/>
          </a:prstGeom>
          <a:ln w="38150">
            <a:solidFill>
              <a:srgbClr val="FFFFFF"/>
            </a:solidFill>
            <a:miter lim="8000"/>
          </a:ln>
        </p:spPr>
        <p:txBody>
          <a:bodyPr lIns="0" tIns="0" rIns="0" bIns="0"/>
          <a:lstStyle/>
          <a:p>
            <a:pPr/>
          </a:p>
        </p:txBody>
      </p:sp>
      <p:sp>
        <p:nvSpPr>
          <p:cNvPr id="1047" name="Google Shape;705;p73"/>
          <p:cNvSpPr/>
          <p:nvPr/>
        </p:nvSpPr>
        <p:spPr>
          <a:xfrm>
            <a:off x="3041279" y="2179440"/>
            <a:ext cx="9112682" cy="361"/>
          </a:xfrm>
          <a:prstGeom prst="line">
            <a:avLst/>
          </a:prstGeom>
          <a:ln w="38150">
            <a:solidFill>
              <a:srgbClr val="FFFFFF"/>
            </a:solidFill>
            <a:miter lim="8000"/>
          </a:ln>
        </p:spPr>
        <p:txBody>
          <a:bodyPr lIns="0" tIns="0" rIns="0" bIns="0"/>
          <a:lstStyle/>
          <a:p>
            <a:pPr/>
          </a:p>
        </p:txBody>
      </p:sp>
      <p:sp>
        <p:nvSpPr>
          <p:cNvPr id="1048" name="Google Shape;706;p73"/>
          <p:cNvSpPr/>
          <p:nvPr/>
        </p:nvSpPr>
        <p:spPr>
          <a:xfrm flipH="1" flipV="1">
            <a:off x="4008239" y="1676880"/>
            <a:ext cx="13681" cy="5211721"/>
          </a:xfrm>
          <a:prstGeom prst="line">
            <a:avLst/>
          </a:prstGeom>
          <a:ln w="38150">
            <a:solidFill>
              <a:srgbClr val="FFFFFF"/>
            </a:solidFill>
            <a:miter lim="8000"/>
          </a:ln>
        </p:spPr>
        <p:txBody>
          <a:bodyPr lIns="0" tIns="0" rIns="0" bIns="0"/>
          <a:lstStyle/>
          <a:p>
            <a:pPr/>
          </a:p>
        </p:txBody>
      </p:sp>
      <p:grpSp>
        <p:nvGrpSpPr>
          <p:cNvPr id="1051" name="Google Shape;707;p73"/>
          <p:cNvGrpSpPr/>
          <p:nvPr/>
        </p:nvGrpSpPr>
        <p:grpSpPr>
          <a:xfrm>
            <a:off x="4094639" y="2273039"/>
            <a:ext cx="1479242" cy="538921"/>
            <a:chOff x="0" y="0"/>
            <a:chExt cx="1479240" cy="538920"/>
          </a:xfrm>
        </p:grpSpPr>
        <p:sp>
          <p:nvSpPr>
            <p:cNvPr id="1049" name="Rectangle"/>
            <p:cNvSpPr/>
            <p:nvPr/>
          </p:nvSpPr>
          <p:spPr>
            <a:xfrm>
              <a:off x="-1" y="-1"/>
              <a:ext cx="1479242" cy="53892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50" name="Category/Brand  Strategy"/>
            <p:cNvSpPr txBox="1"/>
            <p:nvPr/>
          </p:nvSpPr>
          <p:spPr>
            <a:xfrm>
              <a:off x="6299" y="125228"/>
              <a:ext cx="146664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lnSpc>
                  <a:spcPct val="90000"/>
                </a:lnSpc>
                <a:defRPr sz="1000">
                  <a:latin typeface="Calibri"/>
                  <a:ea typeface="Calibri"/>
                  <a:cs typeface="Calibri"/>
                  <a:sym typeface="Calibri"/>
                </a:defRPr>
              </a:pPr>
              <a:r>
                <a:t>Category/Brand </a:t>
              </a:r>
              <a:br/>
              <a:r>
                <a:t>Strategy</a:t>
              </a:r>
            </a:p>
          </p:txBody>
        </p:sp>
      </p:grpSp>
      <p:grpSp>
        <p:nvGrpSpPr>
          <p:cNvPr id="1054" name="Google Shape;708;p73"/>
          <p:cNvGrpSpPr/>
          <p:nvPr/>
        </p:nvGrpSpPr>
        <p:grpSpPr>
          <a:xfrm>
            <a:off x="4094639" y="3461760"/>
            <a:ext cx="1479242" cy="371161"/>
            <a:chOff x="0" y="0"/>
            <a:chExt cx="1479240" cy="371159"/>
          </a:xfrm>
        </p:grpSpPr>
        <p:sp>
          <p:nvSpPr>
            <p:cNvPr id="1052" name="Rectangle"/>
            <p:cNvSpPr/>
            <p:nvPr/>
          </p:nvSpPr>
          <p:spPr>
            <a:xfrm>
              <a:off x="-1" y="0"/>
              <a:ext cx="1479242" cy="37116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53" name="Brand P&amp;L…"/>
            <p:cNvSpPr txBox="1"/>
            <p:nvPr/>
          </p:nvSpPr>
          <p:spPr>
            <a:xfrm>
              <a:off x="5574" y="4134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lnSpc>
                  <a:spcPct val="90000"/>
                </a:lnSpc>
                <a:defRPr sz="1000">
                  <a:latin typeface="Calibri"/>
                  <a:ea typeface="Calibri"/>
                  <a:cs typeface="Calibri"/>
                  <a:sym typeface="Calibri"/>
                </a:defRPr>
              </a:pPr>
              <a:r>
                <a:t>Brand P&amp;L </a:t>
              </a:r>
            </a:p>
            <a:p>
              <a:pPr algn="ctr">
                <a:lnSpc>
                  <a:spcPct val="90000"/>
                </a:lnSpc>
                <a:defRPr sz="1000">
                  <a:latin typeface="Calibri"/>
                  <a:ea typeface="Calibri"/>
                  <a:cs typeface="Calibri"/>
                  <a:sym typeface="Calibri"/>
                </a:defRPr>
              </a:pPr>
              <a:r>
                <a:t>Management</a:t>
              </a:r>
            </a:p>
          </p:txBody>
        </p:sp>
      </p:grpSp>
      <p:grpSp>
        <p:nvGrpSpPr>
          <p:cNvPr id="1057" name="Google Shape;709;p73"/>
          <p:cNvGrpSpPr/>
          <p:nvPr/>
        </p:nvGrpSpPr>
        <p:grpSpPr>
          <a:xfrm>
            <a:off x="4094639" y="3852000"/>
            <a:ext cx="1479242" cy="369361"/>
            <a:chOff x="0" y="0"/>
            <a:chExt cx="1479240" cy="369360"/>
          </a:xfrm>
        </p:grpSpPr>
        <p:sp>
          <p:nvSpPr>
            <p:cNvPr id="1055" name="Rectangle"/>
            <p:cNvSpPr/>
            <p:nvPr/>
          </p:nvSpPr>
          <p:spPr>
            <a:xfrm>
              <a:off x="-1" y="-1"/>
              <a:ext cx="1479242" cy="36936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56" name="Matching Supply  and Demand"/>
            <p:cNvSpPr txBox="1"/>
            <p:nvPr/>
          </p:nvSpPr>
          <p:spPr>
            <a:xfrm>
              <a:off x="6299" y="40448"/>
              <a:ext cx="146664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lnSpc>
                  <a:spcPct val="90000"/>
                </a:lnSpc>
                <a:defRPr sz="1000">
                  <a:latin typeface="Calibri"/>
                  <a:ea typeface="Calibri"/>
                  <a:cs typeface="Calibri"/>
                  <a:sym typeface="Calibri"/>
                </a:defRPr>
              </a:pPr>
              <a:r>
                <a:t>Matching Supply </a:t>
              </a:r>
              <a:br/>
              <a:r>
                <a:t>and Demand</a:t>
              </a:r>
            </a:p>
          </p:txBody>
        </p:sp>
      </p:grpSp>
      <p:grpSp>
        <p:nvGrpSpPr>
          <p:cNvPr id="1060" name="Google Shape;710;p73"/>
          <p:cNvGrpSpPr/>
          <p:nvPr/>
        </p:nvGrpSpPr>
        <p:grpSpPr>
          <a:xfrm>
            <a:off x="4094639" y="4240800"/>
            <a:ext cx="1479242" cy="371161"/>
            <a:chOff x="0" y="0"/>
            <a:chExt cx="1479240" cy="371159"/>
          </a:xfrm>
        </p:grpSpPr>
        <p:sp>
          <p:nvSpPr>
            <p:cNvPr id="1058" name="Rectangle"/>
            <p:cNvSpPr/>
            <p:nvPr/>
          </p:nvSpPr>
          <p:spPr>
            <a:xfrm>
              <a:off x="-1" y="0"/>
              <a:ext cx="1479242" cy="371160"/>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59" name="Marketing Development &amp; Effectiveness"/>
            <p:cNvSpPr txBox="1"/>
            <p:nvPr/>
          </p:nvSpPr>
          <p:spPr>
            <a:xfrm>
              <a:off x="6299" y="41348"/>
              <a:ext cx="146664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Marketing Development &amp; Effectiveness</a:t>
              </a:r>
            </a:p>
          </p:txBody>
        </p:sp>
      </p:grpSp>
      <p:grpSp>
        <p:nvGrpSpPr>
          <p:cNvPr id="1063" name="Google Shape;711;p73"/>
          <p:cNvGrpSpPr/>
          <p:nvPr/>
        </p:nvGrpSpPr>
        <p:grpSpPr>
          <a:xfrm>
            <a:off x="4094639" y="4631399"/>
            <a:ext cx="1479242" cy="372961"/>
            <a:chOff x="0" y="0"/>
            <a:chExt cx="1479240" cy="372960"/>
          </a:xfrm>
        </p:grpSpPr>
        <p:sp>
          <p:nvSpPr>
            <p:cNvPr id="1061" name="Rectangle"/>
            <p:cNvSpPr/>
            <p:nvPr/>
          </p:nvSpPr>
          <p:spPr>
            <a:xfrm>
              <a:off x="-1" y="-1"/>
              <a:ext cx="1479242" cy="37296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62" name="Product Ideation"/>
            <p:cNvSpPr txBox="1"/>
            <p:nvPr/>
          </p:nvSpPr>
          <p:spPr>
            <a:xfrm>
              <a:off x="6299" y="11794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Product Ideation</a:t>
              </a:r>
            </a:p>
          </p:txBody>
        </p:sp>
      </p:grpSp>
      <p:grpSp>
        <p:nvGrpSpPr>
          <p:cNvPr id="1066" name="Google Shape;712;p73"/>
          <p:cNvGrpSpPr/>
          <p:nvPr/>
        </p:nvGrpSpPr>
        <p:grpSpPr>
          <a:xfrm>
            <a:off x="4094639" y="5900039"/>
            <a:ext cx="1479242" cy="272161"/>
            <a:chOff x="0" y="0"/>
            <a:chExt cx="1479240" cy="272160"/>
          </a:xfrm>
        </p:grpSpPr>
        <p:sp>
          <p:nvSpPr>
            <p:cNvPr id="1064" name="Rectangle"/>
            <p:cNvSpPr/>
            <p:nvPr/>
          </p:nvSpPr>
          <p:spPr>
            <a:xfrm>
              <a:off x="-1" y="-1"/>
              <a:ext cx="1479242" cy="27216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65" name="Marketing Execution"/>
            <p:cNvSpPr txBox="1"/>
            <p:nvPr/>
          </p:nvSpPr>
          <p:spPr>
            <a:xfrm>
              <a:off x="5574" y="6754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Marketing Execution</a:t>
              </a:r>
            </a:p>
          </p:txBody>
        </p:sp>
      </p:grpSp>
      <p:grpSp>
        <p:nvGrpSpPr>
          <p:cNvPr id="1069" name="Google Shape;713;p73"/>
          <p:cNvGrpSpPr/>
          <p:nvPr/>
        </p:nvGrpSpPr>
        <p:grpSpPr>
          <a:xfrm>
            <a:off x="4094639" y="6484680"/>
            <a:ext cx="1479242" cy="272161"/>
            <a:chOff x="0" y="0"/>
            <a:chExt cx="1479240" cy="272160"/>
          </a:xfrm>
        </p:grpSpPr>
        <p:sp>
          <p:nvSpPr>
            <p:cNvPr id="1067" name="Rectangle"/>
            <p:cNvSpPr/>
            <p:nvPr/>
          </p:nvSpPr>
          <p:spPr>
            <a:xfrm>
              <a:off x="-1" y="-1"/>
              <a:ext cx="1479242" cy="27216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68" name="Product Directory"/>
            <p:cNvSpPr txBox="1"/>
            <p:nvPr/>
          </p:nvSpPr>
          <p:spPr>
            <a:xfrm>
              <a:off x="5574" y="6754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Product Directory</a:t>
              </a:r>
            </a:p>
          </p:txBody>
        </p:sp>
      </p:grpSp>
      <p:grpSp>
        <p:nvGrpSpPr>
          <p:cNvPr id="1072" name="Google Shape;714;p73"/>
          <p:cNvGrpSpPr/>
          <p:nvPr/>
        </p:nvGrpSpPr>
        <p:grpSpPr>
          <a:xfrm>
            <a:off x="4094639" y="2840400"/>
            <a:ext cx="1479242" cy="540721"/>
            <a:chOff x="0" y="0"/>
            <a:chExt cx="1479240" cy="540719"/>
          </a:xfrm>
        </p:grpSpPr>
        <p:sp>
          <p:nvSpPr>
            <p:cNvPr id="1070" name="Rectangle"/>
            <p:cNvSpPr/>
            <p:nvPr/>
          </p:nvSpPr>
          <p:spPr>
            <a:xfrm>
              <a:off x="-1" y="0"/>
              <a:ext cx="1479242" cy="540720"/>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71" name="Category/Brand…"/>
            <p:cNvSpPr txBox="1"/>
            <p:nvPr/>
          </p:nvSpPr>
          <p:spPr>
            <a:xfrm>
              <a:off x="6299" y="126128"/>
              <a:ext cx="146664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lnSpc>
                  <a:spcPct val="90000"/>
                </a:lnSpc>
                <a:defRPr sz="1000">
                  <a:latin typeface="Calibri"/>
                  <a:ea typeface="Calibri"/>
                  <a:cs typeface="Calibri"/>
                  <a:sym typeface="Calibri"/>
                </a:defRPr>
              </a:pPr>
              <a:r>
                <a:t>Category/Brand </a:t>
              </a:r>
            </a:p>
            <a:p>
              <a:pPr algn="ctr">
                <a:lnSpc>
                  <a:spcPct val="90000"/>
                </a:lnSpc>
                <a:defRPr sz="1000">
                  <a:latin typeface="Calibri"/>
                  <a:ea typeface="Calibri"/>
                  <a:cs typeface="Calibri"/>
                  <a:sym typeface="Calibri"/>
                </a:defRPr>
              </a:pPr>
              <a:r>
                <a:t>Planning</a:t>
              </a:r>
            </a:p>
          </p:txBody>
        </p:sp>
      </p:grpSp>
      <p:grpSp>
        <p:nvGrpSpPr>
          <p:cNvPr id="1075" name="Google Shape;715;p73"/>
          <p:cNvGrpSpPr/>
          <p:nvPr/>
        </p:nvGrpSpPr>
        <p:grpSpPr>
          <a:xfrm>
            <a:off x="5712479" y="3461760"/>
            <a:ext cx="1479242" cy="390241"/>
            <a:chOff x="0" y="0"/>
            <a:chExt cx="1479240" cy="390240"/>
          </a:xfrm>
        </p:grpSpPr>
        <p:sp>
          <p:nvSpPr>
            <p:cNvPr id="1073" name="Rectangle"/>
            <p:cNvSpPr/>
            <p:nvPr/>
          </p:nvSpPr>
          <p:spPr>
            <a:xfrm>
              <a:off x="-1" y="-1"/>
              <a:ext cx="1479242" cy="39024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74" name="Assessing Customer Satisfaction"/>
            <p:cNvSpPr txBox="1"/>
            <p:nvPr/>
          </p:nvSpPr>
          <p:spPr>
            <a:xfrm>
              <a:off x="6299" y="50888"/>
              <a:ext cx="146664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Assessing Customer Satisfaction</a:t>
              </a:r>
            </a:p>
          </p:txBody>
        </p:sp>
      </p:grpSp>
      <p:grpSp>
        <p:nvGrpSpPr>
          <p:cNvPr id="1078" name="Google Shape;716;p73"/>
          <p:cNvGrpSpPr/>
          <p:nvPr/>
        </p:nvGrpSpPr>
        <p:grpSpPr>
          <a:xfrm>
            <a:off x="5712479" y="3878639"/>
            <a:ext cx="1479242" cy="388441"/>
            <a:chOff x="0" y="0"/>
            <a:chExt cx="1479240" cy="388440"/>
          </a:xfrm>
        </p:grpSpPr>
        <p:sp>
          <p:nvSpPr>
            <p:cNvPr id="1076" name="Rectangle"/>
            <p:cNvSpPr/>
            <p:nvPr/>
          </p:nvSpPr>
          <p:spPr>
            <a:xfrm>
              <a:off x="-1" y="-1"/>
              <a:ext cx="1479242" cy="388442"/>
            </a:xfrm>
            <a:prstGeom prst="rect">
              <a:avLst/>
            </a:prstGeom>
            <a:solidFill>
              <a:srgbClr val="EA9999"/>
            </a:solidFill>
            <a:ln w="9525" cap="flat">
              <a:solidFill>
                <a:srgbClr val="ED7D31"/>
              </a:solidFill>
              <a:prstDash val="solid"/>
              <a:miter lim="8000"/>
            </a:ln>
            <a:effectLst/>
          </p:spPr>
          <p:txBody>
            <a:bodyPr wrap="square" lIns="0" tIns="0" rIns="0" bIns="0" numCol="1" anchor="ctr">
              <a:noAutofit/>
            </a:bodyPr>
            <a:lstStyle/>
            <a:p>
              <a:pPr algn="ctr">
                <a:lnSpc>
                  <a:spcPct val="90000"/>
                </a:lnSpc>
                <a:defRPr sz="1000"/>
              </a:pPr>
            </a:p>
          </p:txBody>
        </p:sp>
        <p:sp>
          <p:nvSpPr>
            <p:cNvPr id="1077" name="Customer Insights"/>
            <p:cNvSpPr txBox="1"/>
            <p:nvPr/>
          </p:nvSpPr>
          <p:spPr>
            <a:xfrm>
              <a:off x="4762" y="125684"/>
              <a:ext cx="1469716"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Customer Insights</a:t>
              </a:r>
            </a:p>
          </p:txBody>
        </p:sp>
      </p:grpSp>
      <p:grpSp>
        <p:nvGrpSpPr>
          <p:cNvPr id="1081" name="Google Shape;717;p73"/>
          <p:cNvGrpSpPr/>
          <p:nvPr/>
        </p:nvGrpSpPr>
        <p:grpSpPr>
          <a:xfrm>
            <a:off x="5712479" y="4295880"/>
            <a:ext cx="1479242" cy="713881"/>
            <a:chOff x="0" y="0"/>
            <a:chExt cx="1479240" cy="713880"/>
          </a:xfrm>
        </p:grpSpPr>
        <p:sp>
          <p:nvSpPr>
            <p:cNvPr id="1079" name="Rectangle"/>
            <p:cNvSpPr/>
            <p:nvPr/>
          </p:nvSpPr>
          <p:spPr>
            <a:xfrm>
              <a:off x="-1" y="-1"/>
              <a:ext cx="1479242" cy="71388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80" name="Account Management"/>
            <p:cNvSpPr txBox="1"/>
            <p:nvPr/>
          </p:nvSpPr>
          <p:spPr>
            <a:xfrm>
              <a:off x="6299" y="28840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Account Management</a:t>
              </a:r>
            </a:p>
          </p:txBody>
        </p:sp>
      </p:grpSp>
      <p:grpSp>
        <p:nvGrpSpPr>
          <p:cNvPr id="1084" name="Google Shape;718;p73"/>
          <p:cNvGrpSpPr/>
          <p:nvPr/>
        </p:nvGrpSpPr>
        <p:grpSpPr>
          <a:xfrm>
            <a:off x="5712479" y="5056199"/>
            <a:ext cx="1479242" cy="312121"/>
            <a:chOff x="0" y="0"/>
            <a:chExt cx="1479240" cy="312119"/>
          </a:xfrm>
        </p:grpSpPr>
        <p:sp>
          <p:nvSpPr>
            <p:cNvPr id="1082" name="Rectangle"/>
            <p:cNvSpPr/>
            <p:nvPr/>
          </p:nvSpPr>
          <p:spPr>
            <a:xfrm>
              <a:off x="-1" y="0"/>
              <a:ext cx="1479242" cy="312120"/>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83" name="Value-Added Services"/>
            <p:cNvSpPr txBox="1"/>
            <p:nvPr/>
          </p:nvSpPr>
          <p:spPr>
            <a:xfrm>
              <a:off x="6299" y="8752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Value-Added Services</a:t>
              </a:r>
            </a:p>
          </p:txBody>
        </p:sp>
      </p:grpSp>
      <p:grpSp>
        <p:nvGrpSpPr>
          <p:cNvPr id="1087" name="Google Shape;719;p73"/>
          <p:cNvGrpSpPr/>
          <p:nvPr/>
        </p:nvGrpSpPr>
        <p:grpSpPr>
          <a:xfrm>
            <a:off x="5712479" y="5402879"/>
            <a:ext cx="1479242" cy="312121"/>
            <a:chOff x="0" y="0"/>
            <a:chExt cx="1479240" cy="312119"/>
          </a:xfrm>
        </p:grpSpPr>
        <p:sp>
          <p:nvSpPr>
            <p:cNvPr id="1085" name="Rectangle"/>
            <p:cNvSpPr/>
            <p:nvPr/>
          </p:nvSpPr>
          <p:spPr>
            <a:xfrm>
              <a:off x="-1" y="0"/>
              <a:ext cx="1479242" cy="312120"/>
            </a:xfrm>
            <a:prstGeom prst="rect">
              <a:avLst/>
            </a:prstGeom>
            <a:solidFill>
              <a:srgbClr val="EA9999"/>
            </a:solidFill>
            <a:ln w="9525" cap="flat">
              <a:solidFill>
                <a:srgbClr val="44546A"/>
              </a:solidFill>
              <a:prstDash val="solid"/>
              <a:miter lim="8000"/>
            </a:ln>
            <a:effectLst/>
          </p:spPr>
          <p:txBody>
            <a:bodyPr wrap="square" lIns="0" tIns="0" rIns="0" bIns="0" numCol="1" anchor="ctr">
              <a:noAutofit/>
            </a:bodyPr>
            <a:lstStyle/>
            <a:p>
              <a:pPr algn="ctr">
                <a:lnSpc>
                  <a:spcPct val="90000"/>
                </a:lnSpc>
                <a:defRPr sz="1000"/>
              </a:pPr>
            </a:p>
          </p:txBody>
        </p:sp>
        <p:sp>
          <p:nvSpPr>
            <p:cNvPr id="1086" name="Customer Account Servicing"/>
            <p:cNvSpPr txBox="1"/>
            <p:nvPr/>
          </p:nvSpPr>
          <p:spPr>
            <a:xfrm>
              <a:off x="4762" y="87524"/>
              <a:ext cx="1469716"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Customer Account Servicing</a:t>
              </a:r>
            </a:p>
          </p:txBody>
        </p:sp>
      </p:grpSp>
      <p:grpSp>
        <p:nvGrpSpPr>
          <p:cNvPr id="1090" name="Google Shape;720;p73"/>
          <p:cNvGrpSpPr/>
          <p:nvPr/>
        </p:nvGrpSpPr>
        <p:grpSpPr>
          <a:xfrm>
            <a:off x="5712479" y="5751360"/>
            <a:ext cx="1479242" cy="310321"/>
            <a:chOff x="0" y="0"/>
            <a:chExt cx="1479240" cy="310320"/>
          </a:xfrm>
        </p:grpSpPr>
        <p:sp>
          <p:nvSpPr>
            <p:cNvPr id="1088" name="Rectangle"/>
            <p:cNvSpPr/>
            <p:nvPr/>
          </p:nvSpPr>
          <p:spPr>
            <a:xfrm>
              <a:off x="-1" y="-1"/>
              <a:ext cx="1479242" cy="31032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89" name="Retail Marketing Execution"/>
            <p:cNvSpPr txBox="1"/>
            <p:nvPr/>
          </p:nvSpPr>
          <p:spPr>
            <a:xfrm>
              <a:off x="6299" y="8662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Retail Marketing Execution</a:t>
              </a:r>
            </a:p>
          </p:txBody>
        </p:sp>
      </p:grpSp>
      <p:grpSp>
        <p:nvGrpSpPr>
          <p:cNvPr id="1093" name="Google Shape;721;p73"/>
          <p:cNvGrpSpPr/>
          <p:nvPr/>
        </p:nvGrpSpPr>
        <p:grpSpPr>
          <a:xfrm>
            <a:off x="5712479" y="6444720"/>
            <a:ext cx="1479242" cy="312121"/>
            <a:chOff x="0" y="0"/>
            <a:chExt cx="1479240" cy="312119"/>
          </a:xfrm>
        </p:grpSpPr>
        <p:sp>
          <p:nvSpPr>
            <p:cNvPr id="1091" name="Rectangle"/>
            <p:cNvSpPr/>
            <p:nvPr/>
          </p:nvSpPr>
          <p:spPr>
            <a:xfrm>
              <a:off x="-1" y="0"/>
              <a:ext cx="1479242" cy="31212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92" name="Customer Directory"/>
            <p:cNvSpPr txBox="1"/>
            <p:nvPr/>
          </p:nvSpPr>
          <p:spPr>
            <a:xfrm>
              <a:off x="5574" y="8752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Customer Directory</a:t>
              </a:r>
            </a:p>
          </p:txBody>
        </p:sp>
      </p:grpSp>
      <p:grpSp>
        <p:nvGrpSpPr>
          <p:cNvPr id="1096" name="Google Shape;722;p73"/>
          <p:cNvGrpSpPr/>
          <p:nvPr/>
        </p:nvGrpSpPr>
        <p:grpSpPr>
          <a:xfrm>
            <a:off x="7338239" y="2270879"/>
            <a:ext cx="1479241" cy="350281"/>
            <a:chOff x="0" y="0"/>
            <a:chExt cx="1479240" cy="350280"/>
          </a:xfrm>
        </p:grpSpPr>
        <p:sp>
          <p:nvSpPr>
            <p:cNvPr id="1094" name="Rectangle"/>
            <p:cNvSpPr/>
            <p:nvPr/>
          </p:nvSpPr>
          <p:spPr>
            <a:xfrm>
              <a:off x="-1" y="-1"/>
              <a:ext cx="1479242" cy="35028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95" name="Network Architecture"/>
            <p:cNvSpPr txBox="1"/>
            <p:nvPr/>
          </p:nvSpPr>
          <p:spPr>
            <a:xfrm>
              <a:off x="6299" y="10660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Network Architecture</a:t>
              </a:r>
            </a:p>
          </p:txBody>
        </p:sp>
      </p:grpSp>
      <p:grpSp>
        <p:nvGrpSpPr>
          <p:cNvPr id="1099" name="Google Shape;723;p73"/>
          <p:cNvGrpSpPr/>
          <p:nvPr/>
        </p:nvGrpSpPr>
        <p:grpSpPr>
          <a:xfrm>
            <a:off x="7338239" y="2659679"/>
            <a:ext cx="1479241" cy="479521"/>
            <a:chOff x="0" y="0"/>
            <a:chExt cx="1479240" cy="479520"/>
          </a:xfrm>
        </p:grpSpPr>
        <p:sp>
          <p:nvSpPr>
            <p:cNvPr id="1097" name="Rectangle"/>
            <p:cNvSpPr/>
            <p:nvPr/>
          </p:nvSpPr>
          <p:spPr>
            <a:xfrm>
              <a:off x="-1" y="-1"/>
              <a:ext cx="1479242" cy="47952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098" name="Capacity Planning"/>
            <p:cNvSpPr txBox="1"/>
            <p:nvPr/>
          </p:nvSpPr>
          <p:spPr>
            <a:xfrm>
              <a:off x="6299" y="17122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Capacity Planning</a:t>
              </a:r>
            </a:p>
          </p:txBody>
        </p:sp>
      </p:grpSp>
      <p:grpSp>
        <p:nvGrpSpPr>
          <p:cNvPr id="1102" name="Google Shape;724;p73"/>
          <p:cNvGrpSpPr/>
          <p:nvPr/>
        </p:nvGrpSpPr>
        <p:grpSpPr>
          <a:xfrm>
            <a:off x="7338239" y="3177719"/>
            <a:ext cx="1479241" cy="584641"/>
            <a:chOff x="0" y="0"/>
            <a:chExt cx="1479240" cy="584639"/>
          </a:xfrm>
        </p:grpSpPr>
        <p:sp>
          <p:nvSpPr>
            <p:cNvPr id="1100" name="Rectangle"/>
            <p:cNvSpPr/>
            <p:nvPr/>
          </p:nvSpPr>
          <p:spPr>
            <a:xfrm>
              <a:off x="-1" y="0"/>
              <a:ext cx="1479242" cy="58464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01" name="Project Planning &amp;…"/>
            <p:cNvSpPr txBox="1"/>
            <p:nvPr/>
          </p:nvSpPr>
          <p:spPr>
            <a:xfrm>
              <a:off x="5574" y="14808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lnSpc>
                  <a:spcPct val="90000"/>
                </a:lnSpc>
                <a:defRPr sz="1000">
                  <a:latin typeface="Calibri"/>
                  <a:ea typeface="Calibri"/>
                  <a:cs typeface="Calibri"/>
                  <a:sym typeface="Calibri"/>
                </a:defRPr>
              </a:pPr>
              <a:r>
                <a:t>Project Planning &amp; </a:t>
              </a:r>
            </a:p>
            <a:p>
              <a:pPr algn="ctr">
                <a:lnSpc>
                  <a:spcPct val="90000"/>
                </a:lnSpc>
                <a:defRPr sz="1000">
                  <a:latin typeface="Calibri"/>
                  <a:ea typeface="Calibri"/>
                  <a:cs typeface="Calibri"/>
                  <a:sym typeface="Calibri"/>
                </a:defRPr>
              </a:pPr>
              <a:r>
                <a:t>Field Services</a:t>
              </a:r>
            </a:p>
          </p:txBody>
        </p:sp>
      </p:grpSp>
      <p:grpSp>
        <p:nvGrpSpPr>
          <p:cNvPr id="1105" name="Google Shape;725;p73"/>
          <p:cNvGrpSpPr/>
          <p:nvPr/>
        </p:nvGrpSpPr>
        <p:grpSpPr>
          <a:xfrm>
            <a:off x="7338239" y="3802679"/>
            <a:ext cx="1479241" cy="613081"/>
            <a:chOff x="0" y="0"/>
            <a:chExt cx="1479240" cy="613080"/>
          </a:xfrm>
        </p:grpSpPr>
        <p:sp>
          <p:nvSpPr>
            <p:cNvPr id="1103" name="Rectangle"/>
            <p:cNvSpPr/>
            <p:nvPr/>
          </p:nvSpPr>
          <p:spPr>
            <a:xfrm>
              <a:off x="-1" y="-1"/>
              <a:ext cx="1479242" cy="613082"/>
            </a:xfrm>
            <a:prstGeom prst="rect">
              <a:avLst/>
            </a:prstGeom>
            <a:solidFill>
              <a:srgbClr val="EA9999"/>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04" name="Wireless Service Delivery…"/>
            <p:cNvSpPr txBox="1"/>
            <p:nvPr/>
          </p:nvSpPr>
          <p:spPr>
            <a:xfrm>
              <a:off x="6299" y="162308"/>
              <a:ext cx="146664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lnSpc>
                  <a:spcPct val="90000"/>
                </a:lnSpc>
                <a:defRPr sz="1000">
                  <a:latin typeface="Calibri"/>
                  <a:ea typeface="Calibri"/>
                  <a:cs typeface="Calibri"/>
                  <a:sym typeface="Calibri"/>
                </a:defRPr>
              </a:pPr>
              <a:r>
                <a:t>Wireless Service Delivery</a:t>
              </a:r>
            </a:p>
            <a:p>
              <a:pPr algn="ctr">
                <a:lnSpc>
                  <a:spcPct val="90000"/>
                </a:lnSpc>
                <a:defRPr sz="1000">
                  <a:latin typeface="Calibri"/>
                  <a:ea typeface="Calibri"/>
                  <a:cs typeface="Calibri"/>
                  <a:sym typeface="Calibri"/>
                </a:defRPr>
              </a:pPr>
              <a:r>
                <a:t>(Includes FWA)</a:t>
              </a:r>
            </a:p>
          </p:txBody>
        </p:sp>
      </p:grpSp>
      <p:grpSp>
        <p:nvGrpSpPr>
          <p:cNvPr id="1108" name="Google Shape;726;p73"/>
          <p:cNvGrpSpPr/>
          <p:nvPr/>
        </p:nvGrpSpPr>
        <p:grpSpPr>
          <a:xfrm>
            <a:off x="7338239" y="4454280"/>
            <a:ext cx="1479241" cy="350281"/>
            <a:chOff x="0" y="0"/>
            <a:chExt cx="1479240" cy="350280"/>
          </a:xfrm>
        </p:grpSpPr>
        <p:sp>
          <p:nvSpPr>
            <p:cNvPr id="1106" name="Rectangle"/>
            <p:cNvSpPr/>
            <p:nvPr/>
          </p:nvSpPr>
          <p:spPr>
            <a:xfrm>
              <a:off x="-1" y="-1"/>
              <a:ext cx="1479242" cy="35028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07" name="Supplier Control"/>
            <p:cNvSpPr txBox="1"/>
            <p:nvPr/>
          </p:nvSpPr>
          <p:spPr>
            <a:xfrm>
              <a:off x="6299" y="10660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Supplier Control</a:t>
              </a:r>
            </a:p>
          </p:txBody>
        </p:sp>
      </p:grpSp>
      <p:grpSp>
        <p:nvGrpSpPr>
          <p:cNvPr id="1111" name="Google Shape;727;p73"/>
          <p:cNvGrpSpPr/>
          <p:nvPr/>
        </p:nvGrpSpPr>
        <p:grpSpPr>
          <a:xfrm>
            <a:off x="7338239" y="4876920"/>
            <a:ext cx="1479241" cy="331201"/>
            <a:chOff x="0" y="0"/>
            <a:chExt cx="1479240" cy="331200"/>
          </a:xfrm>
        </p:grpSpPr>
        <p:sp>
          <p:nvSpPr>
            <p:cNvPr id="1109" name="Rectangle"/>
            <p:cNvSpPr/>
            <p:nvPr/>
          </p:nvSpPr>
          <p:spPr>
            <a:xfrm>
              <a:off x="-1" y="-1"/>
              <a:ext cx="1479242" cy="33120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10" name="Wireline Service Delivery"/>
            <p:cNvSpPr txBox="1"/>
            <p:nvPr/>
          </p:nvSpPr>
          <p:spPr>
            <a:xfrm>
              <a:off x="6299" y="9706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Wireline Service Delivery</a:t>
              </a:r>
            </a:p>
          </p:txBody>
        </p:sp>
      </p:grpSp>
      <p:grpSp>
        <p:nvGrpSpPr>
          <p:cNvPr id="1114" name="Google Shape;728;p73"/>
          <p:cNvGrpSpPr/>
          <p:nvPr/>
        </p:nvGrpSpPr>
        <p:grpSpPr>
          <a:xfrm>
            <a:off x="7338239" y="5688719"/>
            <a:ext cx="1479241" cy="424440"/>
            <a:chOff x="0" y="0"/>
            <a:chExt cx="1479240" cy="424439"/>
          </a:xfrm>
        </p:grpSpPr>
        <p:sp>
          <p:nvSpPr>
            <p:cNvPr id="1112" name="Rectangle"/>
            <p:cNvSpPr/>
            <p:nvPr/>
          </p:nvSpPr>
          <p:spPr>
            <a:xfrm>
              <a:off x="-1" y="-1"/>
              <a:ext cx="1479242" cy="424441"/>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13" name="Inventory Management"/>
            <p:cNvSpPr txBox="1"/>
            <p:nvPr/>
          </p:nvSpPr>
          <p:spPr>
            <a:xfrm>
              <a:off x="6299" y="143684"/>
              <a:ext cx="1466642" cy="1370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Inventory Management</a:t>
              </a:r>
            </a:p>
          </p:txBody>
        </p:sp>
      </p:grpSp>
      <p:grpSp>
        <p:nvGrpSpPr>
          <p:cNvPr id="1117" name="Google Shape;729;p73"/>
          <p:cNvGrpSpPr/>
          <p:nvPr/>
        </p:nvGrpSpPr>
        <p:grpSpPr>
          <a:xfrm>
            <a:off x="7338239" y="6151319"/>
            <a:ext cx="1479241" cy="605521"/>
            <a:chOff x="0" y="0"/>
            <a:chExt cx="1479240" cy="605520"/>
          </a:xfrm>
        </p:grpSpPr>
        <p:sp>
          <p:nvSpPr>
            <p:cNvPr id="1115" name="Rectangle"/>
            <p:cNvSpPr/>
            <p:nvPr/>
          </p:nvSpPr>
          <p:spPr>
            <a:xfrm>
              <a:off x="-1" y="-1"/>
              <a:ext cx="1479242" cy="60552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16" name="Procurement"/>
            <p:cNvSpPr txBox="1"/>
            <p:nvPr/>
          </p:nvSpPr>
          <p:spPr>
            <a:xfrm>
              <a:off x="5574" y="23422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Procurement</a:t>
              </a:r>
            </a:p>
          </p:txBody>
        </p:sp>
      </p:grpSp>
      <p:grpSp>
        <p:nvGrpSpPr>
          <p:cNvPr id="1120" name="Google Shape;730;p73"/>
          <p:cNvGrpSpPr/>
          <p:nvPr/>
        </p:nvGrpSpPr>
        <p:grpSpPr>
          <a:xfrm>
            <a:off x="7338239" y="5246639"/>
            <a:ext cx="1479241" cy="401761"/>
            <a:chOff x="0" y="0"/>
            <a:chExt cx="1479240" cy="401759"/>
          </a:xfrm>
        </p:grpSpPr>
        <p:sp>
          <p:nvSpPr>
            <p:cNvPr id="1118" name="Rectangle"/>
            <p:cNvSpPr/>
            <p:nvPr/>
          </p:nvSpPr>
          <p:spPr>
            <a:xfrm>
              <a:off x="-1" y="0"/>
              <a:ext cx="1479242" cy="401760"/>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19" name="Customer Support"/>
            <p:cNvSpPr txBox="1"/>
            <p:nvPr/>
          </p:nvSpPr>
          <p:spPr>
            <a:xfrm>
              <a:off x="6299" y="13234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Customer Support</a:t>
              </a:r>
            </a:p>
          </p:txBody>
        </p:sp>
      </p:grpSp>
      <p:grpSp>
        <p:nvGrpSpPr>
          <p:cNvPr id="1123" name="Google Shape;731;p73"/>
          <p:cNvGrpSpPr/>
          <p:nvPr/>
        </p:nvGrpSpPr>
        <p:grpSpPr>
          <a:xfrm>
            <a:off x="8953920" y="3463559"/>
            <a:ext cx="1479241" cy="479521"/>
            <a:chOff x="0" y="0"/>
            <a:chExt cx="1479240" cy="479520"/>
          </a:xfrm>
        </p:grpSpPr>
        <p:sp>
          <p:nvSpPr>
            <p:cNvPr id="1121" name="Rectangle"/>
            <p:cNvSpPr/>
            <p:nvPr/>
          </p:nvSpPr>
          <p:spPr>
            <a:xfrm>
              <a:off x="-1" y="-1"/>
              <a:ext cx="1479242" cy="47952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22" name="Distribution Oversight"/>
            <p:cNvSpPr txBox="1"/>
            <p:nvPr/>
          </p:nvSpPr>
          <p:spPr>
            <a:xfrm>
              <a:off x="5574" y="17122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Distribution Oversight</a:t>
              </a:r>
            </a:p>
          </p:txBody>
        </p:sp>
      </p:grpSp>
      <p:grpSp>
        <p:nvGrpSpPr>
          <p:cNvPr id="1126" name="Google Shape;732;p73"/>
          <p:cNvGrpSpPr/>
          <p:nvPr/>
        </p:nvGrpSpPr>
        <p:grpSpPr>
          <a:xfrm>
            <a:off x="8953920" y="5145480"/>
            <a:ext cx="1479241" cy="620641"/>
            <a:chOff x="0" y="0"/>
            <a:chExt cx="1479240" cy="620640"/>
          </a:xfrm>
        </p:grpSpPr>
        <p:sp>
          <p:nvSpPr>
            <p:cNvPr id="1124" name="Rectangle"/>
            <p:cNvSpPr/>
            <p:nvPr/>
          </p:nvSpPr>
          <p:spPr>
            <a:xfrm>
              <a:off x="-1" y="-1"/>
              <a:ext cx="1479242" cy="62064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25" name="Distribution Center Operations"/>
            <p:cNvSpPr txBox="1"/>
            <p:nvPr/>
          </p:nvSpPr>
          <p:spPr>
            <a:xfrm>
              <a:off x="5574" y="16608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Distribution Center Operations</a:t>
              </a:r>
            </a:p>
          </p:txBody>
        </p:sp>
      </p:grpSp>
      <p:grpSp>
        <p:nvGrpSpPr>
          <p:cNvPr id="1129" name="Google Shape;733;p73"/>
          <p:cNvGrpSpPr/>
          <p:nvPr/>
        </p:nvGrpSpPr>
        <p:grpSpPr>
          <a:xfrm>
            <a:off x="8953920" y="5795279"/>
            <a:ext cx="1479241" cy="458640"/>
            <a:chOff x="0" y="0"/>
            <a:chExt cx="1479240" cy="458639"/>
          </a:xfrm>
        </p:grpSpPr>
        <p:sp>
          <p:nvSpPr>
            <p:cNvPr id="1127" name="Rectangle"/>
            <p:cNvSpPr/>
            <p:nvPr/>
          </p:nvSpPr>
          <p:spPr>
            <a:xfrm>
              <a:off x="-1" y="-1"/>
              <a:ext cx="1479242" cy="458641"/>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28" name="Transportation Resources"/>
            <p:cNvSpPr txBox="1"/>
            <p:nvPr/>
          </p:nvSpPr>
          <p:spPr>
            <a:xfrm>
              <a:off x="5574" y="160784"/>
              <a:ext cx="1468092" cy="1370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Transportation Resources</a:t>
              </a:r>
            </a:p>
          </p:txBody>
        </p:sp>
      </p:grpSp>
      <p:grpSp>
        <p:nvGrpSpPr>
          <p:cNvPr id="1132" name="Google Shape;734;p73"/>
          <p:cNvGrpSpPr/>
          <p:nvPr/>
        </p:nvGrpSpPr>
        <p:grpSpPr>
          <a:xfrm>
            <a:off x="8953920" y="6284879"/>
            <a:ext cx="1479241" cy="458640"/>
            <a:chOff x="0" y="0"/>
            <a:chExt cx="1479240" cy="458639"/>
          </a:xfrm>
        </p:grpSpPr>
        <p:sp>
          <p:nvSpPr>
            <p:cNvPr id="1130" name="Rectangle"/>
            <p:cNvSpPr/>
            <p:nvPr/>
          </p:nvSpPr>
          <p:spPr>
            <a:xfrm>
              <a:off x="-1" y="-1"/>
              <a:ext cx="1479242" cy="458641"/>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31" name="En route Inventory  Management"/>
            <p:cNvSpPr txBox="1"/>
            <p:nvPr/>
          </p:nvSpPr>
          <p:spPr>
            <a:xfrm>
              <a:off x="5574" y="85087"/>
              <a:ext cx="1468092" cy="2884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En route Inventory  Management</a:t>
              </a:r>
            </a:p>
          </p:txBody>
        </p:sp>
      </p:grpSp>
      <p:grpSp>
        <p:nvGrpSpPr>
          <p:cNvPr id="1135" name="Google Shape;735;p73"/>
          <p:cNvGrpSpPr/>
          <p:nvPr/>
        </p:nvGrpSpPr>
        <p:grpSpPr>
          <a:xfrm>
            <a:off x="8953920" y="3974039"/>
            <a:ext cx="728281" cy="1144442"/>
            <a:chOff x="0" y="0"/>
            <a:chExt cx="728280" cy="1144440"/>
          </a:xfrm>
        </p:grpSpPr>
        <p:sp>
          <p:nvSpPr>
            <p:cNvPr id="1133" name="Rectangle"/>
            <p:cNvSpPr/>
            <p:nvPr/>
          </p:nvSpPr>
          <p:spPr>
            <a:xfrm>
              <a:off x="-1" y="-1"/>
              <a:ext cx="728282" cy="114444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34" name="In-bound Logistics"/>
            <p:cNvSpPr txBox="1"/>
            <p:nvPr/>
          </p:nvSpPr>
          <p:spPr>
            <a:xfrm>
              <a:off x="5574" y="427988"/>
              <a:ext cx="71713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In-bound Logistics</a:t>
              </a:r>
            </a:p>
          </p:txBody>
        </p:sp>
      </p:grpSp>
      <p:grpSp>
        <p:nvGrpSpPr>
          <p:cNvPr id="1138" name="Google Shape;736;p73"/>
          <p:cNvGrpSpPr/>
          <p:nvPr/>
        </p:nvGrpSpPr>
        <p:grpSpPr>
          <a:xfrm>
            <a:off x="10581479" y="2265120"/>
            <a:ext cx="1479241" cy="262441"/>
            <a:chOff x="0" y="0"/>
            <a:chExt cx="1479240" cy="262439"/>
          </a:xfrm>
        </p:grpSpPr>
        <p:sp>
          <p:nvSpPr>
            <p:cNvPr id="1136" name="Rectangle"/>
            <p:cNvSpPr/>
            <p:nvPr/>
          </p:nvSpPr>
          <p:spPr>
            <a:xfrm>
              <a:off x="-1" y="0"/>
              <a:ext cx="1479242" cy="26244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37" name="Corporate Strategy"/>
            <p:cNvSpPr txBox="1"/>
            <p:nvPr/>
          </p:nvSpPr>
          <p:spPr>
            <a:xfrm>
              <a:off x="5574" y="6268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Corporate Strategy</a:t>
              </a:r>
            </a:p>
          </p:txBody>
        </p:sp>
      </p:grpSp>
      <p:grpSp>
        <p:nvGrpSpPr>
          <p:cNvPr id="1141" name="Google Shape;737;p73"/>
          <p:cNvGrpSpPr/>
          <p:nvPr/>
        </p:nvGrpSpPr>
        <p:grpSpPr>
          <a:xfrm>
            <a:off x="10581479" y="2821680"/>
            <a:ext cx="1479241" cy="262441"/>
            <a:chOff x="0" y="0"/>
            <a:chExt cx="1479240" cy="262439"/>
          </a:xfrm>
        </p:grpSpPr>
        <p:sp>
          <p:nvSpPr>
            <p:cNvPr id="1139" name="Rectangle"/>
            <p:cNvSpPr/>
            <p:nvPr/>
          </p:nvSpPr>
          <p:spPr>
            <a:xfrm>
              <a:off x="-1" y="0"/>
              <a:ext cx="1479242" cy="26244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40" name="Alliance Management"/>
            <p:cNvSpPr txBox="1"/>
            <p:nvPr/>
          </p:nvSpPr>
          <p:spPr>
            <a:xfrm>
              <a:off x="5574" y="6268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Alliance Management</a:t>
              </a:r>
            </a:p>
          </p:txBody>
        </p:sp>
      </p:grpSp>
      <p:grpSp>
        <p:nvGrpSpPr>
          <p:cNvPr id="1144" name="Google Shape;738;p73"/>
          <p:cNvGrpSpPr/>
          <p:nvPr/>
        </p:nvGrpSpPr>
        <p:grpSpPr>
          <a:xfrm>
            <a:off x="10581479" y="3101400"/>
            <a:ext cx="1479241" cy="260641"/>
            <a:chOff x="0" y="0"/>
            <a:chExt cx="1479240" cy="260640"/>
          </a:xfrm>
        </p:grpSpPr>
        <p:sp>
          <p:nvSpPr>
            <p:cNvPr id="1142" name="Rectangle"/>
            <p:cNvSpPr/>
            <p:nvPr/>
          </p:nvSpPr>
          <p:spPr>
            <a:xfrm>
              <a:off x="-1" y="-1"/>
              <a:ext cx="1479242" cy="26064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43" name="Line of Business Planning"/>
            <p:cNvSpPr txBox="1"/>
            <p:nvPr/>
          </p:nvSpPr>
          <p:spPr>
            <a:xfrm>
              <a:off x="5574" y="6178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Line of Business Planning</a:t>
              </a:r>
            </a:p>
          </p:txBody>
        </p:sp>
      </p:grpSp>
      <p:grpSp>
        <p:nvGrpSpPr>
          <p:cNvPr id="1147" name="Google Shape;739;p73"/>
          <p:cNvGrpSpPr/>
          <p:nvPr/>
        </p:nvGrpSpPr>
        <p:grpSpPr>
          <a:xfrm>
            <a:off x="10581479" y="3455999"/>
            <a:ext cx="1479241" cy="312121"/>
            <a:chOff x="0" y="0"/>
            <a:chExt cx="1479240" cy="312119"/>
          </a:xfrm>
        </p:grpSpPr>
        <p:sp>
          <p:nvSpPr>
            <p:cNvPr id="1145" name="Rectangle"/>
            <p:cNvSpPr/>
            <p:nvPr/>
          </p:nvSpPr>
          <p:spPr>
            <a:xfrm>
              <a:off x="-1" y="0"/>
              <a:ext cx="1479242" cy="31212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46" name="Business Performance Management"/>
            <p:cNvSpPr txBox="1"/>
            <p:nvPr/>
          </p:nvSpPr>
          <p:spPr>
            <a:xfrm>
              <a:off x="5574" y="1182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Business Performance Management</a:t>
              </a:r>
            </a:p>
          </p:txBody>
        </p:sp>
      </p:grpSp>
      <p:grpSp>
        <p:nvGrpSpPr>
          <p:cNvPr id="1150" name="Google Shape;740;p73"/>
          <p:cNvGrpSpPr/>
          <p:nvPr/>
        </p:nvGrpSpPr>
        <p:grpSpPr>
          <a:xfrm>
            <a:off x="10581479" y="3798720"/>
            <a:ext cx="1479241" cy="312121"/>
            <a:chOff x="0" y="0"/>
            <a:chExt cx="1479240" cy="312119"/>
          </a:xfrm>
        </p:grpSpPr>
        <p:sp>
          <p:nvSpPr>
            <p:cNvPr id="1148" name="Rectangle"/>
            <p:cNvSpPr/>
            <p:nvPr/>
          </p:nvSpPr>
          <p:spPr>
            <a:xfrm>
              <a:off x="-1" y="0"/>
              <a:ext cx="1479242" cy="31212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49" name="External Market  Analysis"/>
            <p:cNvSpPr txBox="1"/>
            <p:nvPr/>
          </p:nvSpPr>
          <p:spPr>
            <a:xfrm>
              <a:off x="5574" y="1182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lnSpc>
                  <a:spcPct val="90000"/>
                </a:lnSpc>
                <a:defRPr sz="1000">
                  <a:latin typeface="Calibri"/>
                  <a:ea typeface="Calibri"/>
                  <a:cs typeface="Calibri"/>
                  <a:sym typeface="Calibri"/>
                </a:defRPr>
              </a:pPr>
              <a:r>
                <a:t>External Market </a:t>
              </a:r>
              <a:br/>
              <a:r>
                <a:t>Analysis</a:t>
              </a:r>
            </a:p>
          </p:txBody>
        </p:sp>
      </p:grpSp>
      <p:grpSp>
        <p:nvGrpSpPr>
          <p:cNvPr id="1153" name="Google Shape;741;p73"/>
          <p:cNvGrpSpPr/>
          <p:nvPr/>
        </p:nvGrpSpPr>
        <p:grpSpPr>
          <a:xfrm>
            <a:off x="10581479" y="4143600"/>
            <a:ext cx="1479241" cy="310321"/>
            <a:chOff x="0" y="0"/>
            <a:chExt cx="1479240" cy="310320"/>
          </a:xfrm>
        </p:grpSpPr>
        <p:sp>
          <p:nvSpPr>
            <p:cNvPr id="1151" name="Rectangle"/>
            <p:cNvSpPr/>
            <p:nvPr/>
          </p:nvSpPr>
          <p:spPr>
            <a:xfrm>
              <a:off x="-1" y="-1"/>
              <a:ext cx="1479242" cy="31032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52" name="Organization and Process Design"/>
            <p:cNvSpPr txBox="1"/>
            <p:nvPr/>
          </p:nvSpPr>
          <p:spPr>
            <a:xfrm>
              <a:off x="5574" y="1092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Organization and Process Design</a:t>
              </a:r>
            </a:p>
          </p:txBody>
        </p:sp>
      </p:grpSp>
      <p:grpSp>
        <p:nvGrpSpPr>
          <p:cNvPr id="1156" name="Google Shape;742;p73"/>
          <p:cNvGrpSpPr/>
          <p:nvPr/>
        </p:nvGrpSpPr>
        <p:grpSpPr>
          <a:xfrm>
            <a:off x="10581479" y="4486319"/>
            <a:ext cx="1479241" cy="312121"/>
            <a:chOff x="0" y="0"/>
            <a:chExt cx="1479240" cy="312119"/>
          </a:xfrm>
        </p:grpSpPr>
        <p:sp>
          <p:nvSpPr>
            <p:cNvPr id="1154" name="Rectangle"/>
            <p:cNvSpPr/>
            <p:nvPr/>
          </p:nvSpPr>
          <p:spPr>
            <a:xfrm>
              <a:off x="-1" y="0"/>
              <a:ext cx="1479242" cy="31212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55" name="Legal and Regulatory Compliance"/>
            <p:cNvSpPr txBox="1"/>
            <p:nvPr/>
          </p:nvSpPr>
          <p:spPr>
            <a:xfrm>
              <a:off x="5574" y="1182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Legal and Regulatory Compliance</a:t>
              </a:r>
            </a:p>
          </p:txBody>
        </p:sp>
      </p:grpSp>
      <p:grpSp>
        <p:nvGrpSpPr>
          <p:cNvPr id="1159" name="Google Shape;743;p73"/>
          <p:cNvGrpSpPr/>
          <p:nvPr/>
        </p:nvGrpSpPr>
        <p:grpSpPr>
          <a:xfrm>
            <a:off x="10581479" y="4894200"/>
            <a:ext cx="1479241" cy="291241"/>
            <a:chOff x="0" y="0"/>
            <a:chExt cx="1479240" cy="291239"/>
          </a:xfrm>
        </p:grpSpPr>
        <p:sp>
          <p:nvSpPr>
            <p:cNvPr id="1157" name="Rectangle"/>
            <p:cNvSpPr/>
            <p:nvPr/>
          </p:nvSpPr>
          <p:spPr>
            <a:xfrm>
              <a:off x="-1" y="0"/>
              <a:ext cx="1479242" cy="29124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58" name="Treasury and Risk Management"/>
            <p:cNvSpPr txBox="1"/>
            <p:nvPr/>
          </p:nvSpPr>
          <p:spPr>
            <a:xfrm>
              <a:off x="5574" y="138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Treasury and Risk Management</a:t>
              </a:r>
            </a:p>
          </p:txBody>
        </p:sp>
      </p:grpSp>
      <p:grpSp>
        <p:nvGrpSpPr>
          <p:cNvPr id="1162" name="Google Shape;744;p73"/>
          <p:cNvGrpSpPr/>
          <p:nvPr/>
        </p:nvGrpSpPr>
        <p:grpSpPr>
          <a:xfrm>
            <a:off x="10581479" y="5821919"/>
            <a:ext cx="1479241" cy="293041"/>
            <a:chOff x="0" y="0"/>
            <a:chExt cx="1479240" cy="293040"/>
          </a:xfrm>
        </p:grpSpPr>
        <p:sp>
          <p:nvSpPr>
            <p:cNvPr id="1160" name="Rectangle"/>
            <p:cNvSpPr/>
            <p:nvPr/>
          </p:nvSpPr>
          <p:spPr>
            <a:xfrm>
              <a:off x="-1" y="-1"/>
              <a:ext cx="1479242" cy="29304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61" name="Facilities and Equipment Management"/>
            <p:cNvSpPr txBox="1"/>
            <p:nvPr/>
          </p:nvSpPr>
          <p:spPr>
            <a:xfrm>
              <a:off x="5574" y="2288"/>
              <a:ext cx="14680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Facilities and Equipment Management</a:t>
              </a:r>
            </a:p>
          </p:txBody>
        </p:sp>
      </p:grpSp>
      <p:grpSp>
        <p:nvGrpSpPr>
          <p:cNvPr id="1165" name="Google Shape;745;p73"/>
          <p:cNvGrpSpPr/>
          <p:nvPr/>
        </p:nvGrpSpPr>
        <p:grpSpPr>
          <a:xfrm>
            <a:off x="10581479" y="6442919"/>
            <a:ext cx="1479241" cy="291241"/>
            <a:chOff x="0" y="0"/>
            <a:chExt cx="1479240" cy="291239"/>
          </a:xfrm>
        </p:grpSpPr>
        <p:sp>
          <p:nvSpPr>
            <p:cNvPr id="1163" name="Rectangle"/>
            <p:cNvSpPr/>
            <p:nvPr/>
          </p:nvSpPr>
          <p:spPr>
            <a:xfrm>
              <a:off x="-1" y="0"/>
              <a:ext cx="1479242" cy="29124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64" name="IT Systems and Operations"/>
            <p:cNvSpPr txBox="1"/>
            <p:nvPr/>
          </p:nvSpPr>
          <p:spPr>
            <a:xfrm>
              <a:off x="5574" y="7708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IT Systems and Operations</a:t>
              </a:r>
            </a:p>
          </p:txBody>
        </p:sp>
      </p:grpSp>
      <p:grpSp>
        <p:nvGrpSpPr>
          <p:cNvPr id="1168" name="Google Shape;746;p73"/>
          <p:cNvGrpSpPr/>
          <p:nvPr/>
        </p:nvGrpSpPr>
        <p:grpSpPr>
          <a:xfrm>
            <a:off x="10581479" y="6132240"/>
            <a:ext cx="1479241" cy="293041"/>
            <a:chOff x="0" y="0"/>
            <a:chExt cx="1479240" cy="293040"/>
          </a:xfrm>
        </p:grpSpPr>
        <p:sp>
          <p:nvSpPr>
            <p:cNvPr id="1166" name="Rectangle"/>
            <p:cNvSpPr/>
            <p:nvPr/>
          </p:nvSpPr>
          <p:spPr>
            <a:xfrm>
              <a:off x="-1" y="-1"/>
              <a:ext cx="1479242" cy="29304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67" name="HR Administration"/>
            <p:cNvSpPr txBox="1"/>
            <p:nvPr/>
          </p:nvSpPr>
          <p:spPr>
            <a:xfrm>
              <a:off x="5574" y="7798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HR Administration</a:t>
              </a:r>
            </a:p>
          </p:txBody>
        </p:sp>
      </p:grpSp>
      <p:grpSp>
        <p:nvGrpSpPr>
          <p:cNvPr id="1171" name="Google Shape;747;p73"/>
          <p:cNvGrpSpPr/>
          <p:nvPr/>
        </p:nvGrpSpPr>
        <p:grpSpPr>
          <a:xfrm>
            <a:off x="5712479" y="2270879"/>
            <a:ext cx="1479242" cy="538921"/>
            <a:chOff x="0" y="0"/>
            <a:chExt cx="1479240" cy="538920"/>
          </a:xfrm>
        </p:grpSpPr>
        <p:sp>
          <p:nvSpPr>
            <p:cNvPr id="1169" name="Rectangle"/>
            <p:cNvSpPr/>
            <p:nvPr/>
          </p:nvSpPr>
          <p:spPr>
            <a:xfrm>
              <a:off x="-1" y="-1"/>
              <a:ext cx="1479242" cy="53892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70" name="Customer Relationship Strategy"/>
            <p:cNvSpPr txBox="1"/>
            <p:nvPr/>
          </p:nvSpPr>
          <p:spPr>
            <a:xfrm>
              <a:off x="6299" y="125228"/>
              <a:ext cx="146664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Customer Relationship Strategy</a:t>
              </a:r>
            </a:p>
          </p:txBody>
        </p:sp>
      </p:grpSp>
      <p:grpSp>
        <p:nvGrpSpPr>
          <p:cNvPr id="1174" name="Google Shape;748;p73"/>
          <p:cNvGrpSpPr/>
          <p:nvPr/>
        </p:nvGrpSpPr>
        <p:grpSpPr>
          <a:xfrm>
            <a:off x="5712479" y="2840400"/>
            <a:ext cx="1479242" cy="538921"/>
            <a:chOff x="0" y="0"/>
            <a:chExt cx="1479240" cy="538920"/>
          </a:xfrm>
        </p:grpSpPr>
        <p:sp>
          <p:nvSpPr>
            <p:cNvPr id="1172" name="Rectangle"/>
            <p:cNvSpPr/>
            <p:nvPr/>
          </p:nvSpPr>
          <p:spPr>
            <a:xfrm>
              <a:off x="-1" y="-1"/>
              <a:ext cx="1479242" cy="53892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73" name="Customer Relationship Planning"/>
            <p:cNvSpPr txBox="1"/>
            <p:nvPr/>
          </p:nvSpPr>
          <p:spPr>
            <a:xfrm>
              <a:off x="6299" y="125228"/>
              <a:ext cx="146664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Customer Relationship Planning</a:t>
              </a:r>
            </a:p>
          </p:txBody>
        </p:sp>
      </p:grpSp>
      <p:grpSp>
        <p:nvGrpSpPr>
          <p:cNvPr id="1177" name="Google Shape;749;p73"/>
          <p:cNvGrpSpPr/>
          <p:nvPr/>
        </p:nvGrpSpPr>
        <p:grpSpPr>
          <a:xfrm>
            <a:off x="8953920" y="2265120"/>
            <a:ext cx="1479241" cy="540721"/>
            <a:chOff x="0" y="0"/>
            <a:chExt cx="1479240" cy="540719"/>
          </a:xfrm>
        </p:grpSpPr>
        <p:sp>
          <p:nvSpPr>
            <p:cNvPr id="1175" name="Rectangle"/>
            <p:cNvSpPr/>
            <p:nvPr/>
          </p:nvSpPr>
          <p:spPr>
            <a:xfrm>
              <a:off x="-1" y="0"/>
              <a:ext cx="1479242" cy="54072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76" name="Supply Chain Strategy"/>
            <p:cNvSpPr txBox="1"/>
            <p:nvPr/>
          </p:nvSpPr>
          <p:spPr>
            <a:xfrm>
              <a:off x="5574" y="20182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Supply Chain Strategy</a:t>
              </a:r>
            </a:p>
          </p:txBody>
        </p:sp>
      </p:grpSp>
      <p:grpSp>
        <p:nvGrpSpPr>
          <p:cNvPr id="1180" name="Google Shape;750;p73"/>
          <p:cNvGrpSpPr/>
          <p:nvPr/>
        </p:nvGrpSpPr>
        <p:grpSpPr>
          <a:xfrm>
            <a:off x="8953920" y="2835000"/>
            <a:ext cx="1479241" cy="540721"/>
            <a:chOff x="0" y="0"/>
            <a:chExt cx="1479240" cy="540719"/>
          </a:xfrm>
        </p:grpSpPr>
        <p:sp>
          <p:nvSpPr>
            <p:cNvPr id="1178" name="Rectangle"/>
            <p:cNvSpPr/>
            <p:nvPr/>
          </p:nvSpPr>
          <p:spPr>
            <a:xfrm>
              <a:off x="-1" y="0"/>
              <a:ext cx="1479242" cy="54072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79" name="Supply Chain Planning"/>
            <p:cNvSpPr txBox="1"/>
            <p:nvPr/>
          </p:nvSpPr>
          <p:spPr>
            <a:xfrm>
              <a:off x="5574" y="20182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Supply Chain Planning</a:t>
              </a:r>
            </a:p>
          </p:txBody>
        </p:sp>
      </p:grpSp>
      <p:grpSp>
        <p:nvGrpSpPr>
          <p:cNvPr id="1183" name="Google Shape;751;p73"/>
          <p:cNvGrpSpPr/>
          <p:nvPr/>
        </p:nvGrpSpPr>
        <p:grpSpPr>
          <a:xfrm>
            <a:off x="9702720" y="3974040"/>
            <a:ext cx="730441" cy="1146600"/>
            <a:chOff x="0" y="0"/>
            <a:chExt cx="730440" cy="1146599"/>
          </a:xfrm>
        </p:grpSpPr>
        <p:sp>
          <p:nvSpPr>
            <p:cNvPr id="1181" name="Rectangle"/>
            <p:cNvSpPr/>
            <p:nvPr/>
          </p:nvSpPr>
          <p:spPr>
            <a:xfrm>
              <a:off x="-1" y="0"/>
              <a:ext cx="730442" cy="114660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82" name="Out-bound Logistics"/>
            <p:cNvSpPr txBox="1"/>
            <p:nvPr/>
          </p:nvSpPr>
          <p:spPr>
            <a:xfrm>
              <a:off x="5574" y="429068"/>
              <a:ext cx="719292" cy="2884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Out-bound Logistics</a:t>
              </a:r>
            </a:p>
          </p:txBody>
        </p:sp>
      </p:grpSp>
      <p:grpSp>
        <p:nvGrpSpPr>
          <p:cNvPr id="1186" name="Google Shape;752;p73"/>
          <p:cNvGrpSpPr/>
          <p:nvPr/>
        </p:nvGrpSpPr>
        <p:grpSpPr>
          <a:xfrm>
            <a:off x="10581479" y="5200920"/>
            <a:ext cx="1479241" cy="293041"/>
            <a:chOff x="0" y="0"/>
            <a:chExt cx="1479240" cy="293040"/>
          </a:xfrm>
        </p:grpSpPr>
        <p:sp>
          <p:nvSpPr>
            <p:cNvPr id="1184" name="Rectangle"/>
            <p:cNvSpPr/>
            <p:nvPr/>
          </p:nvSpPr>
          <p:spPr>
            <a:xfrm>
              <a:off x="-1" y="-1"/>
              <a:ext cx="1479242" cy="29304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85" name="Accounting and GL"/>
            <p:cNvSpPr txBox="1"/>
            <p:nvPr/>
          </p:nvSpPr>
          <p:spPr>
            <a:xfrm>
              <a:off x="5574" y="7798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Accounting and GL</a:t>
              </a:r>
            </a:p>
          </p:txBody>
        </p:sp>
      </p:grpSp>
      <p:grpSp>
        <p:nvGrpSpPr>
          <p:cNvPr id="1189" name="Google Shape;753;p73"/>
          <p:cNvGrpSpPr/>
          <p:nvPr/>
        </p:nvGrpSpPr>
        <p:grpSpPr>
          <a:xfrm>
            <a:off x="10581479" y="5511239"/>
            <a:ext cx="1479241" cy="293041"/>
            <a:chOff x="0" y="0"/>
            <a:chExt cx="1479240" cy="293040"/>
          </a:xfrm>
        </p:grpSpPr>
        <p:sp>
          <p:nvSpPr>
            <p:cNvPr id="1187" name="Rectangle"/>
            <p:cNvSpPr/>
            <p:nvPr/>
          </p:nvSpPr>
          <p:spPr>
            <a:xfrm>
              <a:off x="-1" y="-1"/>
              <a:ext cx="1479242" cy="29304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88" name="Indirect  Procurement"/>
            <p:cNvSpPr txBox="1"/>
            <p:nvPr/>
          </p:nvSpPr>
          <p:spPr>
            <a:xfrm>
              <a:off x="5574" y="7798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Indirect  Procurement</a:t>
              </a:r>
            </a:p>
          </p:txBody>
        </p:sp>
      </p:grpSp>
      <p:grpSp>
        <p:nvGrpSpPr>
          <p:cNvPr id="1192" name="Google Shape;754;p73"/>
          <p:cNvGrpSpPr/>
          <p:nvPr/>
        </p:nvGrpSpPr>
        <p:grpSpPr>
          <a:xfrm>
            <a:off x="10581479" y="2543399"/>
            <a:ext cx="1479241" cy="262441"/>
            <a:chOff x="0" y="0"/>
            <a:chExt cx="1479240" cy="262439"/>
          </a:xfrm>
        </p:grpSpPr>
        <p:sp>
          <p:nvSpPr>
            <p:cNvPr id="1190" name="Rectangle"/>
            <p:cNvSpPr/>
            <p:nvPr/>
          </p:nvSpPr>
          <p:spPr>
            <a:xfrm>
              <a:off x="-1" y="0"/>
              <a:ext cx="1479242" cy="26244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91" name="Corporate Planning"/>
            <p:cNvSpPr txBox="1"/>
            <p:nvPr/>
          </p:nvSpPr>
          <p:spPr>
            <a:xfrm>
              <a:off x="5574" y="6268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Corporate Planning</a:t>
              </a:r>
            </a:p>
          </p:txBody>
        </p:sp>
      </p:grpSp>
      <p:grpSp>
        <p:nvGrpSpPr>
          <p:cNvPr id="1195" name="Google Shape;755;p73"/>
          <p:cNvGrpSpPr/>
          <p:nvPr/>
        </p:nvGrpSpPr>
        <p:grpSpPr>
          <a:xfrm>
            <a:off x="4094639" y="5023799"/>
            <a:ext cx="1479242" cy="272161"/>
            <a:chOff x="0" y="0"/>
            <a:chExt cx="1479240" cy="272160"/>
          </a:xfrm>
        </p:grpSpPr>
        <p:sp>
          <p:nvSpPr>
            <p:cNvPr id="1193" name="Rectangle"/>
            <p:cNvSpPr/>
            <p:nvPr/>
          </p:nvSpPr>
          <p:spPr>
            <a:xfrm>
              <a:off x="-1" y="-1"/>
              <a:ext cx="1479242" cy="27216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94" name="Concept/Product Testing"/>
            <p:cNvSpPr txBox="1"/>
            <p:nvPr/>
          </p:nvSpPr>
          <p:spPr>
            <a:xfrm>
              <a:off x="5574" y="6754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Concept/Product Testing</a:t>
              </a:r>
            </a:p>
          </p:txBody>
        </p:sp>
      </p:grpSp>
      <p:grpSp>
        <p:nvGrpSpPr>
          <p:cNvPr id="1198" name="Google Shape;756;p73"/>
          <p:cNvGrpSpPr/>
          <p:nvPr/>
        </p:nvGrpSpPr>
        <p:grpSpPr>
          <a:xfrm>
            <a:off x="4094639" y="5317199"/>
            <a:ext cx="1479242" cy="272161"/>
            <a:chOff x="0" y="0"/>
            <a:chExt cx="1479240" cy="272160"/>
          </a:xfrm>
        </p:grpSpPr>
        <p:sp>
          <p:nvSpPr>
            <p:cNvPr id="1196" name="Rectangle"/>
            <p:cNvSpPr/>
            <p:nvPr/>
          </p:nvSpPr>
          <p:spPr>
            <a:xfrm>
              <a:off x="-1" y="-1"/>
              <a:ext cx="1479242" cy="272162"/>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197" name="Product Development"/>
            <p:cNvSpPr txBox="1"/>
            <p:nvPr/>
          </p:nvSpPr>
          <p:spPr>
            <a:xfrm>
              <a:off x="5574" y="6754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Product Development</a:t>
              </a:r>
            </a:p>
          </p:txBody>
        </p:sp>
      </p:grpSp>
      <p:grpSp>
        <p:nvGrpSpPr>
          <p:cNvPr id="1201" name="Google Shape;757;p73"/>
          <p:cNvGrpSpPr/>
          <p:nvPr/>
        </p:nvGrpSpPr>
        <p:grpSpPr>
          <a:xfrm>
            <a:off x="4094639" y="5608439"/>
            <a:ext cx="1479242" cy="272161"/>
            <a:chOff x="0" y="0"/>
            <a:chExt cx="1479240" cy="272160"/>
          </a:xfrm>
        </p:grpSpPr>
        <p:sp>
          <p:nvSpPr>
            <p:cNvPr id="1199" name="Rectangle"/>
            <p:cNvSpPr/>
            <p:nvPr/>
          </p:nvSpPr>
          <p:spPr>
            <a:xfrm>
              <a:off x="-1" y="-1"/>
              <a:ext cx="1479242" cy="272162"/>
            </a:xfrm>
            <a:prstGeom prst="rect">
              <a:avLst/>
            </a:prstGeom>
            <a:solidFill>
              <a:srgbClr val="E7E6E6"/>
            </a:solidFill>
            <a:ln w="1260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200" name="Product Management"/>
            <p:cNvSpPr txBox="1"/>
            <p:nvPr/>
          </p:nvSpPr>
          <p:spPr>
            <a:xfrm>
              <a:off x="6299" y="67544"/>
              <a:ext cx="146664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Product Management</a:t>
              </a:r>
            </a:p>
          </p:txBody>
        </p:sp>
      </p:grpSp>
      <p:grpSp>
        <p:nvGrpSpPr>
          <p:cNvPr id="1204" name="Google Shape;758;p73"/>
          <p:cNvGrpSpPr/>
          <p:nvPr/>
        </p:nvGrpSpPr>
        <p:grpSpPr>
          <a:xfrm>
            <a:off x="4094639" y="6191639"/>
            <a:ext cx="1479242" cy="272161"/>
            <a:chOff x="0" y="0"/>
            <a:chExt cx="1479240" cy="272160"/>
          </a:xfrm>
        </p:grpSpPr>
        <p:sp>
          <p:nvSpPr>
            <p:cNvPr id="1202" name="Rectangle"/>
            <p:cNvSpPr/>
            <p:nvPr/>
          </p:nvSpPr>
          <p:spPr>
            <a:xfrm>
              <a:off x="-1" y="-1"/>
              <a:ext cx="1479242" cy="272162"/>
            </a:xfrm>
            <a:prstGeom prst="rect">
              <a:avLst/>
            </a:prstGeom>
            <a:solidFill>
              <a:srgbClr val="E7E6E6"/>
            </a:solidFill>
            <a:ln w="9525" cap="flat">
              <a:solidFill>
                <a:srgbClr val="44546A"/>
              </a:solidFill>
              <a:prstDash val="solid"/>
              <a:miter lim="8000"/>
            </a:ln>
            <a:effectLst/>
          </p:spPr>
          <p:txBody>
            <a:bodyPr wrap="square" lIns="0" tIns="0" rIns="0" bIns="0" numCol="1" anchor="ctr">
              <a:noAutofit/>
            </a:bodyPr>
            <a:lstStyle/>
            <a:p>
              <a:pPr algn="ctr">
                <a:lnSpc>
                  <a:spcPct val="90000"/>
                </a:lnSpc>
                <a:defRPr sz="1000"/>
              </a:pPr>
            </a:p>
          </p:txBody>
        </p:sp>
        <p:sp>
          <p:nvSpPr>
            <p:cNvPr id="1203" name="Consumer Service"/>
            <p:cNvSpPr txBox="1"/>
            <p:nvPr/>
          </p:nvSpPr>
          <p:spPr>
            <a:xfrm>
              <a:off x="4762" y="67544"/>
              <a:ext cx="1469716"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Consumer Service</a:t>
              </a:r>
            </a:p>
          </p:txBody>
        </p:sp>
      </p:grpSp>
      <p:grpSp>
        <p:nvGrpSpPr>
          <p:cNvPr id="1207" name="Google Shape;759;p73"/>
          <p:cNvGrpSpPr/>
          <p:nvPr/>
        </p:nvGrpSpPr>
        <p:grpSpPr>
          <a:xfrm>
            <a:off x="5712479" y="6098040"/>
            <a:ext cx="1479242" cy="312121"/>
            <a:chOff x="0" y="0"/>
            <a:chExt cx="1479240" cy="312119"/>
          </a:xfrm>
        </p:grpSpPr>
        <p:sp>
          <p:nvSpPr>
            <p:cNvPr id="1205" name="Rectangle"/>
            <p:cNvSpPr/>
            <p:nvPr/>
          </p:nvSpPr>
          <p:spPr>
            <a:xfrm>
              <a:off x="-1" y="0"/>
              <a:ext cx="1479242" cy="312120"/>
            </a:xfrm>
            <a:prstGeom prst="rect">
              <a:avLst/>
            </a:prstGeom>
            <a:solidFill>
              <a:srgbClr val="E7E6E6"/>
            </a:solidFill>
            <a:ln w="11150" cap="flat">
              <a:solidFill>
                <a:srgbClr val="000000"/>
              </a:solidFill>
              <a:prstDash val="solid"/>
              <a:miter lim="8000"/>
            </a:ln>
            <a:effectLst/>
          </p:spPr>
          <p:txBody>
            <a:bodyPr wrap="square" lIns="0" tIns="0" rIns="0" bIns="0" numCol="1" anchor="ctr">
              <a:noAutofit/>
            </a:bodyPr>
            <a:lstStyle/>
            <a:p>
              <a:pPr algn="ctr">
                <a:lnSpc>
                  <a:spcPct val="90000"/>
                </a:lnSpc>
                <a:defRPr sz="1000"/>
              </a:pPr>
            </a:p>
          </p:txBody>
        </p:sp>
        <p:sp>
          <p:nvSpPr>
            <p:cNvPr id="1206" name="Device Management"/>
            <p:cNvSpPr txBox="1"/>
            <p:nvPr/>
          </p:nvSpPr>
          <p:spPr>
            <a:xfrm>
              <a:off x="5574" y="87524"/>
              <a:ext cx="1468092"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ct val="90000"/>
                </a:lnSpc>
                <a:defRPr sz="1000">
                  <a:latin typeface="Calibri"/>
                  <a:ea typeface="Calibri"/>
                  <a:cs typeface="Calibri"/>
                  <a:sym typeface="Calibri"/>
                </a:defRPr>
              </a:lvl1pPr>
            </a:lstStyle>
            <a:p>
              <a:pPr/>
              <a:r>
                <a:t>Device Management</a:t>
              </a:r>
            </a:p>
          </p:txBody>
        </p:sp>
      </p:grpSp>
      <p:grpSp>
        <p:nvGrpSpPr>
          <p:cNvPr id="1210" name="Google Shape;760;p73"/>
          <p:cNvGrpSpPr/>
          <p:nvPr/>
        </p:nvGrpSpPr>
        <p:grpSpPr>
          <a:xfrm>
            <a:off x="4052160" y="1296391"/>
            <a:ext cx="8069399" cy="356338"/>
            <a:chOff x="0" y="0"/>
            <a:chExt cx="8069398" cy="356336"/>
          </a:xfrm>
        </p:grpSpPr>
        <p:sp>
          <p:nvSpPr>
            <p:cNvPr id="1208" name="Rectangle"/>
            <p:cNvSpPr/>
            <p:nvPr/>
          </p:nvSpPr>
          <p:spPr>
            <a:xfrm>
              <a:off x="0" y="18328"/>
              <a:ext cx="8069399" cy="319681"/>
            </a:xfrm>
            <a:prstGeom prst="rect">
              <a:avLst/>
            </a:prstGeom>
            <a:solidFill>
              <a:srgbClr val="AEABAB"/>
            </a:solidFill>
            <a:ln w="12700" cap="flat">
              <a:noFill/>
              <a:miter lim="400000"/>
            </a:ln>
            <a:effectLst/>
          </p:spPr>
          <p:txBody>
            <a:bodyPr wrap="square" lIns="0" tIns="0" rIns="0" bIns="0" numCol="1" anchor="ctr">
              <a:noAutofit/>
            </a:bodyPr>
            <a:lstStyle/>
            <a:p>
              <a:pPr algn="ctr">
                <a:defRPr sz="1700"/>
              </a:pPr>
            </a:p>
          </p:txBody>
        </p:sp>
        <p:sp>
          <p:nvSpPr>
            <p:cNvPr id="1209" name="Functional Areas"/>
            <p:cNvSpPr txBox="1"/>
            <p:nvPr/>
          </p:nvSpPr>
          <p:spPr>
            <a:xfrm>
              <a:off x="55099" y="0"/>
              <a:ext cx="7959200" cy="356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4699" tIns="54699" rIns="54699" bIns="54699" numCol="1" anchor="ctr">
              <a:spAutoFit/>
            </a:bodyPr>
            <a:lstStyle>
              <a:lvl1pPr algn="ctr">
                <a:defRPr b="1" sz="1700"/>
              </a:lvl1pPr>
            </a:lstStyle>
            <a:p>
              <a:pPr/>
              <a:r>
                <a:t>Functional Areas</a:t>
              </a:r>
            </a:p>
          </p:txBody>
        </p:sp>
      </p:grpSp>
      <p:grpSp>
        <p:nvGrpSpPr>
          <p:cNvPr id="1213" name="Google Shape;761;p73"/>
          <p:cNvGrpSpPr/>
          <p:nvPr/>
        </p:nvGrpSpPr>
        <p:grpSpPr>
          <a:xfrm>
            <a:off x="2496419" y="2176020"/>
            <a:ext cx="489242" cy="4649761"/>
            <a:chOff x="0" y="0"/>
            <a:chExt cx="489240" cy="4649759"/>
          </a:xfrm>
        </p:grpSpPr>
        <p:sp>
          <p:nvSpPr>
            <p:cNvPr id="1211" name="Rectangle"/>
            <p:cNvSpPr/>
            <p:nvPr/>
          </p:nvSpPr>
          <p:spPr>
            <a:xfrm rot="16200000">
              <a:off x="-2080260" y="2080259"/>
              <a:ext cx="4649760" cy="489241"/>
            </a:xfrm>
            <a:prstGeom prst="rect">
              <a:avLst/>
            </a:prstGeom>
            <a:solidFill>
              <a:srgbClr val="A5A5A5"/>
            </a:solidFill>
            <a:ln w="12700" cap="flat">
              <a:noFill/>
              <a:miter lim="400000"/>
            </a:ln>
            <a:effectLst/>
          </p:spPr>
          <p:txBody>
            <a:bodyPr wrap="square" lIns="0" tIns="0" rIns="0" bIns="0" numCol="1" anchor="ctr">
              <a:noAutofit/>
            </a:bodyPr>
            <a:lstStyle/>
            <a:p>
              <a:pPr algn="ctr">
                <a:defRPr sz="1600"/>
              </a:pPr>
            </a:p>
          </p:txBody>
        </p:sp>
        <p:sp>
          <p:nvSpPr>
            <p:cNvPr id="1212" name="Component Service Categories"/>
            <p:cNvSpPr txBox="1"/>
            <p:nvPr/>
          </p:nvSpPr>
          <p:spPr>
            <a:xfrm rot="16200000">
              <a:off x="-2025160" y="2159203"/>
              <a:ext cx="4539561" cy="3313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4699" tIns="54699" rIns="54699" bIns="54699" numCol="1" anchor="ctr">
              <a:spAutoFit/>
            </a:bodyPr>
            <a:lstStyle>
              <a:lvl1pPr algn="ctr">
                <a:defRPr sz="1600"/>
              </a:lvl1pPr>
            </a:lstStyle>
            <a:p>
              <a:pPr/>
              <a:r>
                <a:t>Component Service Categories</a:t>
              </a:r>
            </a:p>
          </p:txBody>
        </p:sp>
      </p:grpSp>
      <p:grpSp>
        <p:nvGrpSpPr>
          <p:cNvPr id="1226" name="Google Shape;762;p73"/>
          <p:cNvGrpSpPr/>
          <p:nvPr/>
        </p:nvGrpSpPr>
        <p:grpSpPr>
          <a:xfrm>
            <a:off x="5048639" y="7122959"/>
            <a:ext cx="6076441" cy="292321"/>
            <a:chOff x="0" y="0"/>
            <a:chExt cx="6076440" cy="292319"/>
          </a:xfrm>
        </p:grpSpPr>
        <p:grpSp>
          <p:nvGrpSpPr>
            <p:cNvPr id="1216" name="Google Shape;763;p73"/>
            <p:cNvGrpSpPr/>
            <p:nvPr/>
          </p:nvGrpSpPr>
          <p:grpSpPr>
            <a:xfrm>
              <a:off x="-1" y="0"/>
              <a:ext cx="1518841" cy="292320"/>
              <a:chOff x="0" y="0"/>
              <a:chExt cx="1518840" cy="292319"/>
            </a:xfrm>
          </p:grpSpPr>
          <p:sp>
            <p:nvSpPr>
              <p:cNvPr id="1214" name="Rectangle"/>
              <p:cNvSpPr/>
              <p:nvPr/>
            </p:nvSpPr>
            <p:spPr>
              <a:xfrm>
                <a:off x="-1" y="0"/>
                <a:ext cx="1518842" cy="292320"/>
              </a:xfrm>
              <a:prstGeom prst="rect">
                <a:avLst/>
              </a:prstGeom>
              <a:solidFill>
                <a:srgbClr val="D8D8D8"/>
              </a:solidFill>
              <a:ln w="12600" cap="flat">
                <a:solidFill>
                  <a:srgbClr val="000000"/>
                </a:solidFill>
                <a:prstDash val="solid"/>
                <a:miter lim="8000"/>
              </a:ln>
              <a:effectLst/>
            </p:spPr>
            <p:txBody>
              <a:bodyPr wrap="square" lIns="0" tIns="0" rIns="0" bIns="0" numCol="1" anchor="t">
                <a:noAutofit/>
              </a:bodyPr>
              <a:lstStyle/>
              <a:p>
                <a:pPr>
                  <a:defRPr sz="1200"/>
                </a:pPr>
              </a:p>
            </p:txBody>
          </p:sp>
          <p:sp>
            <p:nvSpPr>
              <p:cNvPr id="1215" name="No Priority"/>
              <p:cNvSpPr txBox="1"/>
              <p:nvPr/>
            </p:nvSpPr>
            <p:spPr>
              <a:xfrm>
                <a:off x="61399" y="6300"/>
                <a:ext cx="1396042" cy="2662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4699" tIns="54699" rIns="54699" bIns="54699" numCol="1" anchor="t">
                <a:spAutoFit/>
              </a:bodyPr>
              <a:lstStyle>
                <a:lvl1pPr>
                  <a:defRPr sz="1200">
                    <a:latin typeface="Calibri"/>
                    <a:ea typeface="Calibri"/>
                    <a:cs typeface="Calibri"/>
                    <a:sym typeface="Calibri"/>
                  </a:defRPr>
                </a:lvl1pPr>
              </a:lstStyle>
              <a:p>
                <a:pPr/>
                <a:r>
                  <a:t>No Priority</a:t>
                </a:r>
              </a:p>
            </p:txBody>
          </p:sp>
        </p:grpSp>
        <p:grpSp>
          <p:nvGrpSpPr>
            <p:cNvPr id="1219" name="Google Shape;764;p73"/>
            <p:cNvGrpSpPr/>
            <p:nvPr/>
          </p:nvGrpSpPr>
          <p:grpSpPr>
            <a:xfrm>
              <a:off x="1519199" y="0"/>
              <a:ext cx="1518841" cy="292320"/>
              <a:chOff x="0" y="0"/>
              <a:chExt cx="1518840" cy="292319"/>
            </a:xfrm>
          </p:grpSpPr>
          <p:sp>
            <p:nvSpPr>
              <p:cNvPr id="1217" name="Rectangle"/>
              <p:cNvSpPr/>
              <p:nvPr/>
            </p:nvSpPr>
            <p:spPr>
              <a:xfrm>
                <a:off x="-1" y="0"/>
                <a:ext cx="1518842" cy="292320"/>
              </a:xfrm>
              <a:prstGeom prst="rect">
                <a:avLst/>
              </a:prstGeom>
              <a:solidFill>
                <a:srgbClr val="EA9999"/>
              </a:solidFill>
              <a:ln w="12600" cap="flat">
                <a:solidFill>
                  <a:srgbClr val="000000"/>
                </a:solidFill>
                <a:prstDash val="solid"/>
                <a:miter lim="8000"/>
              </a:ln>
              <a:effectLst/>
            </p:spPr>
            <p:txBody>
              <a:bodyPr wrap="square" lIns="0" tIns="0" rIns="0" bIns="0" numCol="1" anchor="t">
                <a:noAutofit/>
              </a:bodyPr>
              <a:lstStyle/>
              <a:p>
                <a:pPr>
                  <a:defRPr sz="1200"/>
                </a:pPr>
              </a:p>
            </p:txBody>
          </p:sp>
          <p:sp>
            <p:nvSpPr>
              <p:cNvPr id="1218" name="Tier One"/>
              <p:cNvSpPr txBox="1"/>
              <p:nvPr/>
            </p:nvSpPr>
            <p:spPr>
              <a:xfrm>
                <a:off x="61399" y="6300"/>
                <a:ext cx="1396042" cy="2662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4699" tIns="54699" rIns="54699" bIns="54699" numCol="1" anchor="t">
                <a:spAutoFit/>
              </a:bodyPr>
              <a:lstStyle>
                <a:lvl1pPr>
                  <a:defRPr sz="1200">
                    <a:latin typeface="Calibri"/>
                    <a:ea typeface="Calibri"/>
                    <a:cs typeface="Calibri"/>
                    <a:sym typeface="Calibri"/>
                  </a:defRPr>
                </a:lvl1pPr>
              </a:lstStyle>
              <a:p>
                <a:pPr/>
                <a:r>
                  <a:t>Tier One</a:t>
                </a:r>
              </a:p>
            </p:txBody>
          </p:sp>
        </p:grpSp>
        <p:grpSp>
          <p:nvGrpSpPr>
            <p:cNvPr id="1222" name="Google Shape;765;p73"/>
            <p:cNvGrpSpPr/>
            <p:nvPr/>
          </p:nvGrpSpPr>
          <p:grpSpPr>
            <a:xfrm>
              <a:off x="3038399" y="0"/>
              <a:ext cx="1518841" cy="292320"/>
              <a:chOff x="0" y="0"/>
              <a:chExt cx="1518840" cy="292319"/>
            </a:xfrm>
          </p:grpSpPr>
          <p:sp>
            <p:nvSpPr>
              <p:cNvPr id="1220" name="Rectangle"/>
              <p:cNvSpPr/>
              <p:nvPr/>
            </p:nvSpPr>
            <p:spPr>
              <a:xfrm>
                <a:off x="-1" y="0"/>
                <a:ext cx="1518842" cy="292320"/>
              </a:xfrm>
              <a:prstGeom prst="rect">
                <a:avLst/>
              </a:prstGeom>
              <a:solidFill>
                <a:srgbClr val="FFFF00"/>
              </a:solidFill>
              <a:ln w="12600" cap="flat">
                <a:solidFill>
                  <a:srgbClr val="000000"/>
                </a:solidFill>
                <a:prstDash val="solid"/>
                <a:miter lim="8000"/>
              </a:ln>
              <a:effectLst/>
            </p:spPr>
            <p:txBody>
              <a:bodyPr wrap="square" lIns="0" tIns="0" rIns="0" bIns="0" numCol="1" anchor="t">
                <a:noAutofit/>
              </a:bodyPr>
              <a:lstStyle/>
              <a:p>
                <a:pPr>
                  <a:defRPr sz="1200"/>
                </a:pPr>
              </a:p>
            </p:txBody>
          </p:sp>
          <p:sp>
            <p:nvSpPr>
              <p:cNvPr id="1221" name="Tier Two"/>
              <p:cNvSpPr txBox="1"/>
              <p:nvPr/>
            </p:nvSpPr>
            <p:spPr>
              <a:xfrm>
                <a:off x="61399" y="6300"/>
                <a:ext cx="1396042" cy="2662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4699" tIns="54699" rIns="54699" bIns="54699" numCol="1" anchor="t">
                <a:spAutoFit/>
              </a:bodyPr>
              <a:lstStyle>
                <a:lvl1pPr>
                  <a:defRPr sz="1200">
                    <a:latin typeface="Calibri"/>
                    <a:ea typeface="Calibri"/>
                    <a:cs typeface="Calibri"/>
                    <a:sym typeface="Calibri"/>
                  </a:defRPr>
                </a:lvl1pPr>
              </a:lstStyle>
              <a:p>
                <a:pPr/>
                <a:r>
                  <a:t>Tier Two</a:t>
                </a:r>
              </a:p>
            </p:txBody>
          </p:sp>
        </p:grpSp>
        <p:grpSp>
          <p:nvGrpSpPr>
            <p:cNvPr id="1225" name="Google Shape;766;p73"/>
            <p:cNvGrpSpPr/>
            <p:nvPr/>
          </p:nvGrpSpPr>
          <p:grpSpPr>
            <a:xfrm>
              <a:off x="4557599" y="0"/>
              <a:ext cx="1518842" cy="292320"/>
              <a:chOff x="0" y="0"/>
              <a:chExt cx="1518840" cy="292319"/>
            </a:xfrm>
          </p:grpSpPr>
          <p:sp>
            <p:nvSpPr>
              <p:cNvPr id="1223" name="Rectangle"/>
              <p:cNvSpPr/>
              <p:nvPr/>
            </p:nvSpPr>
            <p:spPr>
              <a:xfrm>
                <a:off x="-1" y="0"/>
                <a:ext cx="1518842" cy="292320"/>
              </a:xfrm>
              <a:prstGeom prst="rect">
                <a:avLst/>
              </a:prstGeom>
              <a:solidFill>
                <a:srgbClr val="00B050"/>
              </a:solidFill>
              <a:ln w="12600" cap="flat">
                <a:solidFill>
                  <a:srgbClr val="000000"/>
                </a:solidFill>
                <a:prstDash val="solid"/>
                <a:miter lim="8000"/>
              </a:ln>
              <a:effectLst/>
            </p:spPr>
            <p:txBody>
              <a:bodyPr wrap="square" lIns="0" tIns="0" rIns="0" bIns="0" numCol="1" anchor="t">
                <a:noAutofit/>
              </a:bodyPr>
              <a:lstStyle/>
              <a:p>
                <a:pPr>
                  <a:defRPr sz="1200"/>
                </a:pPr>
              </a:p>
            </p:txBody>
          </p:sp>
          <p:sp>
            <p:nvSpPr>
              <p:cNvPr id="1224" name="Tier Three"/>
              <p:cNvSpPr txBox="1"/>
              <p:nvPr/>
            </p:nvSpPr>
            <p:spPr>
              <a:xfrm>
                <a:off x="61399" y="6300"/>
                <a:ext cx="1396042" cy="26626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4699" tIns="54699" rIns="54699" bIns="54699" numCol="1" anchor="t">
                <a:spAutoFit/>
              </a:bodyPr>
              <a:lstStyle>
                <a:lvl1pPr>
                  <a:defRPr sz="1200">
                    <a:latin typeface="Calibri"/>
                    <a:ea typeface="Calibri"/>
                    <a:cs typeface="Calibri"/>
                    <a:sym typeface="Calibri"/>
                  </a:defRPr>
                </a:lvl1pPr>
              </a:lstStyle>
              <a:p>
                <a:pPr/>
                <a:r>
                  <a:t>Tier Three</a:t>
                </a:r>
              </a:p>
            </p:txBody>
          </p:sp>
        </p:grpSp>
      </p:grpSp>
      <p:sp>
        <p:nvSpPr>
          <p:cNvPr id="1227" name="Google Shape;767;p73"/>
          <p:cNvSpPr txBox="1"/>
          <p:nvPr/>
        </p:nvSpPr>
        <p:spPr>
          <a:xfrm>
            <a:off x="2551699" y="7128360"/>
            <a:ext cx="2385681" cy="266266"/>
          </a:xfrm>
          <a:prstGeom prst="rect">
            <a:avLst/>
          </a:prstGeom>
          <a:ln w="12700">
            <a:miter lim="400000"/>
          </a:ln>
          <a:extLst>
            <a:ext uri="{C572A759-6A51-4108-AA02-DFA0A04FC94B}">
              <ma14:wrappingTextBoxFlag xmlns:ma14="http://schemas.microsoft.com/office/mac/drawingml/2011/main" val="1"/>
            </a:ext>
          </a:extLst>
        </p:spPr>
        <p:txBody>
          <a:bodyPr lIns="54699" tIns="54699" rIns="54699" bIns="54699">
            <a:spAutoFit/>
          </a:bodyPr>
          <a:lstStyle>
            <a:lvl1pPr algn="r">
              <a:defRPr sz="1200">
                <a:latin typeface="Calibri"/>
                <a:ea typeface="Calibri"/>
                <a:cs typeface="Calibri"/>
                <a:sym typeface="Calibri"/>
              </a:defRPr>
            </a:lvl1pPr>
          </a:lstStyle>
          <a:p>
            <a:pPr/>
            <a:r>
              <a:t>Legend: Capability Heat Map</a:t>
            </a:r>
          </a:p>
        </p:txBody>
      </p:sp>
      <p:sp>
        <p:nvSpPr>
          <p:cNvPr id="1228" name="Google Shape;768;p73"/>
          <p:cNvSpPr txBox="1"/>
          <p:nvPr/>
        </p:nvSpPr>
        <p:spPr>
          <a:xfrm>
            <a:off x="565219" y="217800"/>
            <a:ext cx="12508161" cy="1096561"/>
          </a:xfrm>
          <a:prstGeom prst="rect">
            <a:avLst/>
          </a:prstGeom>
          <a:ln w="12700">
            <a:miter lim="400000"/>
          </a:ln>
          <a:extLst>
            <a:ext uri="{C572A759-6A51-4108-AA02-DFA0A04FC94B}">
              <ma14:wrappingTextBoxFlag xmlns:ma14="http://schemas.microsoft.com/office/mac/drawingml/2011/main" val="1"/>
            </a:ext>
          </a:extLst>
        </p:spPr>
        <p:txBody>
          <a:bodyPr lIns="54699" tIns="54699" rIns="54699" bIns="54699" anchor="ctr">
            <a:normAutofit fontScale="100000" lnSpcReduction="0"/>
          </a:bodyPr>
          <a:lstStyle/>
          <a:p>
            <a:pPr defTabSz="859536">
              <a:lnSpc>
                <a:spcPct val="90000"/>
              </a:lnSpc>
              <a:defRPr sz="4982">
                <a:solidFill>
                  <a:srgbClr val="833C0B"/>
                </a:solidFill>
                <a:latin typeface="Calibri"/>
                <a:ea typeface="Calibri"/>
                <a:cs typeface="Calibri"/>
                <a:sym typeface="Calibri"/>
              </a:defRPr>
            </a:pPr>
            <a:r>
              <a:t>Capability Heat Map</a:t>
            </a:r>
            <a:br/>
            <a:r>
              <a:rPr sz="2068">
                <a:solidFill>
                  <a:srgbClr val="757070"/>
                </a:solidFill>
              </a:rPr>
              <a:t>Items in RED are priority one</a:t>
            </a:r>
          </a:p>
        </p:txBody>
      </p:sp>
      <p:grpSp>
        <p:nvGrpSpPr>
          <p:cNvPr id="1233" name="Google Shape;769;p73"/>
          <p:cNvGrpSpPr/>
          <p:nvPr/>
        </p:nvGrpSpPr>
        <p:grpSpPr>
          <a:xfrm>
            <a:off x="13783679" y="-1"/>
            <a:ext cx="846360" cy="1009205"/>
            <a:chOff x="0" y="0"/>
            <a:chExt cx="846359" cy="1009203"/>
          </a:xfrm>
        </p:grpSpPr>
        <p:sp>
          <p:nvSpPr>
            <p:cNvPr id="1229" name="Google Shape;770;p73"/>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232" name="Google Shape;771;p73"/>
            <p:cNvGrpSpPr/>
            <p:nvPr/>
          </p:nvGrpSpPr>
          <p:grpSpPr>
            <a:xfrm>
              <a:off x="55079" y="-1"/>
              <a:ext cx="791281" cy="1009205"/>
              <a:chOff x="0" y="0"/>
              <a:chExt cx="791279" cy="1009203"/>
            </a:xfrm>
          </p:grpSpPr>
          <p:pic>
            <p:nvPicPr>
              <p:cNvPr id="1230" name="Google Shape;772;p73" descr="Google Shape;772;p73"/>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231" name="Google Shape;773;p73"/>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5" name="Google Shape;779;p74"/>
          <p:cNvSpPr txBox="1"/>
          <p:nvPr/>
        </p:nvSpPr>
        <p:spPr>
          <a:xfrm>
            <a:off x="8795880" y="1028880"/>
            <a:ext cx="5313241"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25000"/>
              </a:lnSpc>
              <a:defRPr b="1" sz="4600">
                <a:latin typeface="Petrona"/>
                <a:ea typeface="Petrona"/>
                <a:cs typeface="Petrona"/>
                <a:sym typeface="Petrona"/>
              </a:defRPr>
            </a:lvl1pPr>
          </a:lstStyle>
          <a:p>
            <a:pPr/>
            <a:r>
              <a:t>Domains</a:t>
            </a:r>
          </a:p>
        </p:txBody>
      </p:sp>
      <p:pic>
        <p:nvPicPr>
          <p:cNvPr id="1236" name="Google Shape;780;p74" descr="Google Shape;780;p74"/>
          <p:cNvPicPr>
            <a:picLocks noChangeAspect="1"/>
          </p:cNvPicPr>
          <p:nvPr/>
        </p:nvPicPr>
        <p:blipFill>
          <a:blip r:embed="rId2">
            <a:extLst/>
          </a:blip>
          <a:stretch>
            <a:fillRect/>
          </a:stretch>
        </p:blipFill>
        <p:spPr>
          <a:xfrm>
            <a:off x="8489880" y="1935359"/>
            <a:ext cx="1133281" cy="1813681"/>
          </a:xfrm>
          <a:prstGeom prst="rect">
            <a:avLst/>
          </a:prstGeom>
          <a:ln w="12700">
            <a:miter lim="400000"/>
          </a:ln>
        </p:spPr>
      </p:pic>
      <p:sp>
        <p:nvSpPr>
          <p:cNvPr id="1237" name="Google Shape;781;p74"/>
          <p:cNvSpPr txBox="1"/>
          <p:nvPr/>
        </p:nvSpPr>
        <p:spPr>
          <a:xfrm>
            <a:off x="9964080" y="2162160"/>
            <a:ext cx="383112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000">
                <a:solidFill>
                  <a:srgbClr val="272525"/>
                </a:solidFill>
                <a:latin typeface="Petrona"/>
                <a:ea typeface="Petrona"/>
                <a:cs typeface="Petrona"/>
                <a:sym typeface="Petrona"/>
              </a:defRPr>
            </a:lvl1pPr>
          </a:lstStyle>
          <a:p>
            <a:pPr/>
            <a:r>
              <a:t>Commercial Operations</a:t>
            </a:r>
          </a:p>
        </p:txBody>
      </p:sp>
      <p:sp>
        <p:nvSpPr>
          <p:cNvPr id="1238" name="Google Shape;782;p74"/>
          <p:cNvSpPr txBox="1"/>
          <p:nvPr/>
        </p:nvSpPr>
        <p:spPr>
          <a:xfrm>
            <a:off x="9964080" y="2670119"/>
            <a:ext cx="4089961" cy="9154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Retail Sales</a:t>
            </a:r>
          </a:p>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Sales Operations</a:t>
            </a:r>
          </a:p>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Marketing Operations</a:t>
            </a:r>
          </a:p>
        </p:txBody>
      </p:sp>
      <p:pic>
        <p:nvPicPr>
          <p:cNvPr id="1239" name="Google Shape;783;p74" descr="Google Shape;783;p74"/>
          <p:cNvPicPr>
            <a:picLocks noChangeAspect="1"/>
          </p:cNvPicPr>
          <p:nvPr/>
        </p:nvPicPr>
        <p:blipFill>
          <a:blip r:embed="rId3">
            <a:extLst/>
          </a:blip>
          <a:stretch>
            <a:fillRect/>
          </a:stretch>
        </p:blipFill>
        <p:spPr>
          <a:xfrm>
            <a:off x="8489880" y="3749759"/>
            <a:ext cx="1133281" cy="1813681"/>
          </a:xfrm>
          <a:prstGeom prst="rect">
            <a:avLst/>
          </a:prstGeom>
          <a:ln w="12700">
            <a:miter lim="400000"/>
          </a:ln>
        </p:spPr>
      </p:pic>
      <p:sp>
        <p:nvSpPr>
          <p:cNvPr id="1240" name="Google Shape;784;p74"/>
          <p:cNvSpPr txBox="1"/>
          <p:nvPr/>
        </p:nvSpPr>
        <p:spPr>
          <a:xfrm>
            <a:off x="9964080" y="3976559"/>
            <a:ext cx="297648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000">
                <a:solidFill>
                  <a:srgbClr val="272525"/>
                </a:solidFill>
                <a:latin typeface="Petrona"/>
                <a:ea typeface="Petrona"/>
                <a:cs typeface="Petrona"/>
                <a:sym typeface="Petrona"/>
              </a:defRPr>
            </a:lvl1pPr>
          </a:lstStyle>
          <a:p>
            <a:pPr/>
            <a:r>
              <a:t>Corporate Operations</a:t>
            </a:r>
          </a:p>
        </p:txBody>
      </p:sp>
      <p:sp>
        <p:nvSpPr>
          <p:cNvPr id="1241" name="Google Shape;785;p74"/>
          <p:cNvSpPr txBox="1"/>
          <p:nvPr/>
        </p:nvSpPr>
        <p:spPr>
          <a:xfrm>
            <a:off x="9964080" y="4484880"/>
            <a:ext cx="4089961" cy="9154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Contract Management</a:t>
            </a:r>
          </a:p>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Real Estate</a:t>
            </a:r>
          </a:p>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Energy &amp; Power Management</a:t>
            </a:r>
          </a:p>
        </p:txBody>
      </p:sp>
      <p:pic>
        <p:nvPicPr>
          <p:cNvPr id="1242" name="Google Shape;786;p74" descr="Google Shape;786;p74"/>
          <p:cNvPicPr>
            <a:picLocks noChangeAspect="1"/>
          </p:cNvPicPr>
          <p:nvPr/>
        </p:nvPicPr>
        <p:blipFill>
          <a:blip r:embed="rId4">
            <a:extLst/>
          </a:blip>
          <a:stretch>
            <a:fillRect/>
          </a:stretch>
        </p:blipFill>
        <p:spPr>
          <a:xfrm>
            <a:off x="8489880" y="5564159"/>
            <a:ext cx="1133281" cy="1813681"/>
          </a:xfrm>
          <a:prstGeom prst="rect">
            <a:avLst/>
          </a:prstGeom>
          <a:ln w="12700">
            <a:miter lim="400000"/>
          </a:ln>
        </p:spPr>
      </p:pic>
      <p:sp>
        <p:nvSpPr>
          <p:cNvPr id="1243" name="Google Shape;787;p74"/>
          <p:cNvSpPr txBox="1"/>
          <p:nvPr/>
        </p:nvSpPr>
        <p:spPr>
          <a:xfrm>
            <a:off x="9964080" y="5790960"/>
            <a:ext cx="297648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6000"/>
              </a:lnSpc>
              <a:defRPr b="1" sz="2000">
                <a:solidFill>
                  <a:srgbClr val="272525"/>
                </a:solidFill>
                <a:latin typeface="Petrona"/>
                <a:ea typeface="Petrona"/>
                <a:cs typeface="Petrona"/>
                <a:sym typeface="Petrona"/>
              </a:defRPr>
            </a:lvl1pPr>
          </a:lstStyle>
          <a:p>
            <a:pPr/>
            <a:r>
              <a:t>Network Operations</a:t>
            </a:r>
          </a:p>
        </p:txBody>
      </p:sp>
      <p:sp>
        <p:nvSpPr>
          <p:cNvPr id="1244" name="Google Shape;788;p74"/>
          <p:cNvSpPr txBox="1"/>
          <p:nvPr/>
        </p:nvSpPr>
        <p:spPr>
          <a:xfrm>
            <a:off x="9964080" y="6299279"/>
            <a:ext cx="4089961" cy="9154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Wireless Services</a:t>
            </a:r>
          </a:p>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Wireline Services</a:t>
            </a:r>
          </a:p>
          <a:p>
            <a:pPr marL="457200" indent="-317160">
              <a:lnSpc>
                <a:spcPct val="162000"/>
              </a:lnSpc>
              <a:buClr>
                <a:srgbClr val="272525"/>
              </a:buClr>
              <a:buSzPts val="1400"/>
              <a:buFont typeface="Helvetica"/>
              <a:buChar char="●"/>
              <a:defRPr>
                <a:solidFill>
                  <a:srgbClr val="272525"/>
                </a:solidFill>
                <a:latin typeface="Inter"/>
                <a:ea typeface="Inter"/>
                <a:cs typeface="Inter"/>
                <a:sym typeface="Inter"/>
              </a:defRPr>
            </a:pPr>
            <a:r>
              <a:t>Customer Support</a:t>
            </a:r>
          </a:p>
        </p:txBody>
      </p:sp>
      <p:pic>
        <p:nvPicPr>
          <p:cNvPr id="1245" name="Google Shape;789;p74" descr="Google Shape;789;p74"/>
          <p:cNvPicPr>
            <a:picLocks noChangeAspect="1"/>
          </p:cNvPicPr>
          <p:nvPr/>
        </p:nvPicPr>
        <p:blipFill>
          <a:blip r:embed="rId5">
            <a:extLst/>
          </a:blip>
          <a:stretch>
            <a:fillRect/>
          </a:stretch>
        </p:blipFill>
        <p:spPr>
          <a:xfrm>
            <a:off x="1326600" y="4853520"/>
            <a:ext cx="5313241" cy="2027881"/>
          </a:xfrm>
          <a:prstGeom prst="rect">
            <a:avLst/>
          </a:prstGeom>
          <a:ln w="12700">
            <a:miter lim="400000"/>
          </a:ln>
        </p:spPr>
      </p:pic>
      <p:sp>
        <p:nvSpPr>
          <p:cNvPr id="1246" name="Google Shape;790;p74"/>
          <p:cNvSpPr txBox="1"/>
          <p:nvPr/>
        </p:nvSpPr>
        <p:spPr>
          <a:xfrm>
            <a:off x="534960" y="650879"/>
            <a:ext cx="7411319"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(Scope)</a:t>
            </a:r>
          </a:p>
        </p:txBody>
      </p:sp>
      <p:pic>
        <p:nvPicPr>
          <p:cNvPr id="1247" name="Google Shape;791;p74" descr="Google Shape;791;p74"/>
          <p:cNvPicPr>
            <a:picLocks noChangeAspect="1"/>
          </p:cNvPicPr>
          <p:nvPr/>
        </p:nvPicPr>
        <p:blipFill>
          <a:blip r:embed="rId6">
            <a:extLst/>
          </a:blip>
          <a:stretch>
            <a:fillRect/>
          </a:stretch>
        </p:blipFill>
        <p:spPr>
          <a:xfrm>
            <a:off x="1931759" y="1744559"/>
            <a:ext cx="4288322" cy="2451241"/>
          </a:xfrm>
          <a:prstGeom prst="rect">
            <a:avLst/>
          </a:prstGeom>
          <a:ln w="12700">
            <a:miter lim="400000"/>
          </a:ln>
        </p:spPr>
      </p:pic>
      <p:sp>
        <p:nvSpPr>
          <p:cNvPr id="1248" name="Google Shape;792;p74"/>
          <p:cNvSpPr/>
          <p:nvPr/>
        </p:nvSpPr>
        <p:spPr>
          <a:xfrm>
            <a:off x="4015080" y="4363920"/>
            <a:ext cx="324361" cy="3715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2171"/>
                </a:moveTo>
                <a:lnTo>
                  <a:pt x="5400" y="12171"/>
                </a:lnTo>
                <a:lnTo>
                  <a:pt x="5400" y="0"/>
                </a:lnTo>
                <a:lnTo>
                  <a:pt x="16200" y="0"/>
                </a:lnTo>
                <a:lnTo>
                  <a:pt x="16200" y="12171"/>
                </a:lnTo>
                <a:lnTo>
                  <a:pt x="21600" y="12171"/>
                </a:lnTo>
                <a:lnTo>
                  <a:pt x="10800" y="21600"/>
                </a:lnTo>
                <a:close/>
              </a:path>
            </a:pathLst>
          </a:custGeom>
          <a:solidFill>
            <a:srgbClr val="EEECE1"/>
          </a:solidFill>
          <a:ln>
            <a:solidFill>
              <a:srgbClr val="1F497D"/>
            </a:solidFill>
          </a:ln>
        </p:spPr>
        <p:txBody>
          <a:bodyPr lIns="0" tIns="0" rIns="0" bIns="0" anchor="ctr"/>
          <a:lstStyle/>
          <a:p>
            <a:pPr/>
          </a:p>
        </p:txBody>
      </p:sp>
      <p:sp>
        <p:nvSpPr>
          <p:cNvPr id="1249" name="Google Shape;793;p74"/>
          <p:cNvSpPr/>
          <p:nvPr/>
        </p:nvSpPr>
        <p:spPr>
          <a:xfrm>
            <a:off x="7212959" y="5681519"/>
            <a:ext cx="504721" cy="371521"/>
          </a:xfrm>
          <a:prstGeom prst="rightArrow">
            <a:avLst>
              <a:gd name="adj1" fmla="val 50000"/>
              <a:gd name="adj2" fmla="val 50000"/>
            </a:avLst>
          </a:prstGeom>
          <a:solidFill>
            <a:srgbClr val="EEECE1"/>
          </a:solidFill>
          <a:ln>
            <a:solidFill>
              <a:srgbClr val="1F497D"/>
            </a:solidFill>
          </a:ln>
        </p:spPr>
        <p:txBody>
          <a:bodyPr lIns="0" tIns="0" rIns="0" bIns="0" anchor="ctr"/>
          <a:lstStyle/>
          <a:p>
            <a:pPr/>
          </a:p>
        </p:txBody>
      </p:sp>
      <p:grpSp>
        <p:nvGrpSpPr>
          <p:cNvPr id="1254" name="Google Shape;794;p74"/>
          <p:cNvGrpSpPr/>
          <p:nvPr/>
        </p:nvGrpSpPr>
        <p:grpSpPr>
          <a:xfrm>
            <a:off x="13783679" y="-1"/>
            <a:ext cx="846360" cy="1009205"/>
            <a:chOff x="0" y="0"/>
            <a:chExt cx="846359" cy="1009203"/>
          </a:xfrm>
        </p:grpSpPr>
        <p:sp>
          <p:nvSpPr>
            <p:cNvPr id="1250" name="Google Shape;795;p74"/>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253" name="Google Shape;796;p74"/>
            <p:cNvGrpSpPr/>
            <p:nvPr/>
          </p:nvGrpSpPr>
          <p:grpSpPr>
            <a:xfrm>
              <a:off x="55079" y="-1"/>
              <a:ext cx="791281" cy="1009205"/>
              <a:chOff x="0" y="0"/>
              <a:chExt cx="791279" cy="1009203"/>
            </a:xfrm>
          </p:grpSpPr>
          <p:pic>
            <p:nvPicPr>
              <p:cNvPr id="1251" name="Google Shape;797;p74" descr="Google Shape;797;p74"/>
              <p:cNvPicPr>
                <a:picLocks noChangeAspect="1"/>
              </p:cNvPicPr>
              <p:nvPr/>
            </p:nvPicPr>
            <p:blipFill>
              <a:blip r:embed="rId7">
                <a:extLst/>
              </a:blip>
              <a:srcRect l="20669" t="0" r="9844" b="0"/>
              <a:stretch>
                <a:fillRect/>
              </a:stretch>
            </p:blipFill>
            <p:spPr>
              <a:xfrm>
                <a:off x="0" y="0"/>
                <a:ext cx="756360" cy="756361"/>
              </a:xfrm>
              <a:prstGeom prst="rect">
                <a:avLst/>
              </a:prstGeom>
              <a:ln w="12700" cap="flat">
                <a:noFill/>
                <a:miter lim="400000"/>
              </a:ln>
              <a:effectLst/>
            </p:spPr>
          </p:pic>
          <p:sp>
            <p:nvSpPr>
              <p:cNvPr id="1252" name="Google Shape;798;p74"/>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6" name="Google Shape;804;p75"/>
          <p:cNvSpPr txBox="1"/>
          <p:nvPr/>
        </p:nvSpPr>
        <p:spPr>
          <a:xfrm>
            <a:off x="793800" y="1023119"/>
            <a:ext cx="9592200"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a:t>
            </a:r>
          </a:p>
        </p:txBody>
      </p:sp>
      <p:grpSp>
        <p:nvGrpSpPr>
          <p:cNvPr id="1259" name="Google Shape;805;p75"/>
          <p:cNvGrpSpPr/>
          <p:nvPr/>
        </p:nvGrpSpPr>
        <p:grpSpPr>
          <a:xfrm>
            <a:off x="793800" y="2028600"/>
            <a:ext cx="6512760" cy="5274720"/>
            <a:chOff x="0" y="0"/>
            <a:chExt cx="6512759" cy="5274719"/>
          </a:xfrm>
        </p:grpSpPr>
        <p:sp>
          <p:nvSpPr>
            <p:cNvPr id="1257" name="Rectangle"/>
            <p:cNvSpPr/>
            <p:nvPr/>
          </p:nvSpPr>
          <p:spPr>
            <a:xfrm>
              <a:off x="0" y="0"/>
              <a:ext cx="6512760" cy="5274720"/>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pPr>
            </a:p>
          </p:txBody>
        </p:sp>
        <p:sp>
          <p:nvSpPr>
            <p:cNvPr id="1258" name="Success Criteria for enabling phase 1 Semantic Search…"/>
            <p:cNvSpPr txBox="1"/>
            <p:nvPr/>
          </p:nvSpPr>
          <p:spPr>
            <a:xfrm>
              <a:off x="14212" y="14212"/>
              <a:ext cx="6484336" cy="5155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7160">
                <a:buClr>
                  <a:srgbClr val="000000"/>
                </a:buClr>
                <a:buSzPts val="1400"/>
                <a:buFont typeface="Arial"/>
                <a:buChar char="●"/>
              </a:pPr>
              <a:r>
                <a:t>Scenario 1: </a:t>
              </a:r>
            </a:p>
            <a:p>
              <a:pPr lvl="1" marL="914400" indent="-317160">
                <a:spcBef>
                  <a:spcPts val="1000"/>
                </a:spcBef>
                <a:buClr>
                  <a:srgbClr val="000000"/>
                </a:buClr>
                <a:buSzPts val="1400"/>
                <a:buFont typeface="Arial"/>
                <a:buChar char="○"/>
              </a:pPr>
              <a:r>
                <a:t>Persona: Data Engineer in Marketing (SOW)</a:t>
              </a:r>
            </a:p>
            <a:p>
              <a:pPr lvl="1" marL="914400" indent="-317160">
                <a:spcBef>
                  <a:spcPts val="1000"/>
                </a:spcBef>
                <a:buClr>
                  <a:srgbClr val="000000"/>
                </a:buClr>
                <a:buSzPts val="1400"/>
                <a:buFont typeface="Arial"/>
                <a:buChar char="○"/>
              </a:pPr>
              <a:r>
                <a:t>Scenario A: Searching for table name where upgrades for Perks were added</a:t>
              </a:r>
            </a:p>
            <a:p>
              <a:pPr lvl="1" marL="914400" indent="-317160">
                <a:spcBef>
                  <a:spcPts val="1000"/>
                </a:spcBef>
                <a:buClr>
                  <a:srgbClr val="000000"/>
                </a:buClr>
                <a:buSzPts val="1400"/>
                <a:buFont typeface="Arial"/>
                <a:buChar char="○"/>
              </a:pPr>
              <a:r>
                <a:t>Scenario B: Can someone explain what VZW-EROES' channel ID means?</a:t>
              </a:r>
            </a:p>
            <a:p>
              <a:pPr lvl="1" marL="914400" indent="-317160">
                <a:spcBef>
                  <a:spcPts val="1000"/>
                </a:spcBef>
                <a:buClr>
                  <a:srgbClr val="000000"/>
                </a:buClr>
                <a:buSzPts val="1400"/>
                <a:buFont typeface="Arial"/>
                <a:buChar char="○"/>
              </a:pPr>
              <a:r>
                <a:t>Outcomes: </a:t>
              </a:r>
            </a:p>
            <a:p>
              <a:pPr marL="457200" indent="-317160">
                <a:spcBef>
                  <a:spcPts val="1000"/>
                </a:spcBef>
                <a:buClr>
                  <a:srgbClr val="000000"/>
                </a:buClr>
                <a:buSzPts val="1400"/>
                <a:buFont typeface="Arial"/>
                <a:buChar char="●"/>
              </a:pPr>
              <a:r>
                <a:t>Scenario 2: </a:t>
              </a:r>
            </a:p>
            <a:p>
              <a:pPr lvl="1" marL="914400" indent="-317160">
                <a:spcBef>
                  <a:spcPts val="1000"/>
                </a:spcBef>
                <a:buClr>
                  <a:srgbClr val="000000"/>
                </a:buClr>
                <a:buSzPts val="1400"/>
                <a:buFont typeface="Arial"/>
                <a:buChar char="○"/>
              </a:pPr>
              <a:r>
                <a:t>Persona: Data Scientist in Sales</a:t>
              </a:r>
            </a:p>
            <a:p>
              <a:pPr lvl="1" marL="914400" indent="-317160">
                <a:spcBef>
                  <a:spcPts val="1000"/>
                </a:spcBef>
                <a:buClr>
                  <a:srgbClr val="000000"/>
                </a:buClr>
                <a:buSzPts val="1400"/>
                <a:buFont typeface="Arial"/>
                <a:buChar char="○"/>
              </a:pPr>
              <a:r>
                <a:t>Scenario A: Search for tables where device returns are captured in device payment plan (DPPs)</a:t>
              </a:r>
            </a:p>
            <a:p>
              <a:pPr lvl="1" marL="914400" indent="-317160">
                <a:spcBef>
                  <a:spcPts val="1000"/>
                </a:spcBef>
                <a:buClr>
                  <a:srgbClr val="000000"/>
                </a:buClr>
                <a:buSzPts val="1400"/>
                <a:buFont typeface="Arial"/>
                <a:buChar char="○"/>
              </a:pPr>
              <a:r>
                <a:t>Scenario B: Search for reasons why someone previously upgraded through a DPP loan and also has a contract</a:t>
              </a:r>
            </a:p>
            <a:p>
              <a:pPr lvl="1" marL="914400" indent="-317160">
                <a:spcBef>
                  <a:spcPts val="1000"/>
                </a:spcBef>
                <a:buClr>
                  <a:srgbClr val="000000"/>
                </a:buClr>
                <a:buSzPts val="1400"/>
                <a:buFont typeface="Arial"/>
                <a:buChar char="○"/>
              </a:pPr>
              <a:r>
                <a:t>Scenario C: Are there any tables that store the the actual Content of the communication (text/ emails)  for Wireline customers</a:t>
              </a:r>
            </a:p>
            <a:p>
              <a:pPr lvl="1" marL="914400" indent="-317160">
                <a:spcBef>
                  <a:spcPts val="1000"/>
                </a:spcBef>
                <a:buClr>
                  <a:srgbClr val="000000"/>
                </a:buClr>
                <a:buSzPts val="1400"/>
                <a:buFont typeface="Arial"/>
                <a:buChar char="○"/>
              </a:pPr>
              <a:r>
                <a:t>Outcomes: </a:t>
              </a:r>
            </a:p>
          </p:txBody>
        </p:sp>
      </p:grpSp>
      <p:grpSp>
        <p:nvGrpSpPr>
          <p:cNvPr id="1262" name="Google Shape;806;p75"/>
          <p:cNvGrpSpPr/>
          <p:nvPr/>
        </p:nvGrpSpPr>
        <p:grpSpPr>
          <a:xfrm>
            <a:off x="7705439" y="2028599"/>
            <a:ext cx="6512761" cy="5655962"/>
            <a:chOff x="0" y="0"/>
            <a:chExt cx="6512759" cy="5655960"/>
          </a:xfrm>
        </p:grpSpPr>
        <p:sp>
          <p:nvSpPr>
            <p:cNvPr id="1260" name="Rectangle"/>
            <p:cNvSpPr/>
            <p:nvPr/>
          </p:nvSpPr>
          <p:spPr>
            <a:xfrm>
              <a:off x="0" y="-1"/>
              <a:ext cx="6512760" cy="5655962"/>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pPr>
            </a:p>
          </p:txBody>
        </p:sp>
        <p:sp>
          <p:nvSpPr>
            <p:cNvPr id="1261" name="Success Criteria for enabling phase 1 Semantic Search…"/>
            <p:cNvSpPr txBox="1"/>
            <p:nvPr/>
          </p:nvSpPr>
          <p:spPr>
            <a:xfrm>
              <a:off x="14212" y="14212"/>
              <a:ext cx="6484336" cy="55364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7160">
                <a:buClr>
                  <a:srgbClr val="000000"/>
                </a:buClr>
                <a:buSzPts val="1400"/>
                <a:buFont typeface="Arial"/>
                <a:buChar char="●"/>
              </a:pPr>
              <a:r>
                <a:t>Scenario 3: </a:t>
              </a:r>
            </a:p>
            <a:p>
              <a:pPr lvl="1" marL="914400" indent="-317160">
                <a:spcBef>
                  <a:spcPts val="1000"/>
                </a:spcBef>
                <a:buClr>
                  <a:srgbClr val="000000"/>
                </a:buClr>
                <a:buSzPts val="1400"/>
                <a:buFont typeface="Arial"/>
                <a:buChar char="○"/>
              </a:pPr>
              <a:r>
                <a:t>Persona: BI Analyst in Customer Experience</a:t>
              </a:r>
            </a:p>
            <a:p>
              <a:pPr lvl="1" marL="914400" indent="-317160">
                <a:spcBef>
                  <a:spcPts val="1000"/>
                </a:spcBef>
                <a:buClr>
                  <a:srgbClr val="000000"/>
                </a:buClr>
                <a:buSzPts val="1400"/>
                <a:buFont typeface="Arial"/>
                <a:buChar char="○"/>
              </a:pPr>
              <a:r>
                <a:t>Scenario A: Find the list of tables that power the </a:t>
              </a:r>
              <a:r>
                <a:rPr u="sng">
                  <a:solidFill>
                    <a:srgbClr val="0000FF"/>
                  </a:solidFill>
                  <a:uFill>
                    <a:solidFill>
                      <a:srgbClr val="0000FF"/>
                    </a:solidFill>
                  </a:uFill>
                  <a:hlinkClick r:id="rId2" invalidUrl="" action="" tgtFrame="" tooltip="" history="1" highlightClick="0" endSnd="0"/>
                </a:rPr>
                <a:t>FWA dashboard</a:t>
              </a:r>
              <a:r>
                <a:t>: </a:t>
              </a:r>
            </a:p>
            <a:p>
              <a:pPr lvl="1" marL="914400" indent="-317160">
                <a:spcBef>
                  <a:spcPts val="1000"/>
                </a:spcBef>
                <a:buClr>
                  <a:srgbClr val="000000"/>
                </a:buClr>
                <a:buSzPts val="1400"/>
                <a:buFont typeface="Arial"/>
                <a:buChar char="○"/>
              </a:pPr>
              <a:r>
                <a:t>Outcomes: </a:t>
              </a:r>
            </a:p>
            <a:p>
              <a:pPr marL="457200" indent="-317160">
                <a:spcBef>
                  <a:spcPts val="1000"/>
                </a:spcBef>
                <a:buClr>
                  <a:srgbClr val="000000"/>
                </a:buClr>
                <a:buSzPts val="1400"/>
                <a:buFont typeface="Arial"/>
                <a:buChar char="●"/>
              </a:pPr>
              <a:r>
                <a:t>Scenario 4</a:t>
              </a:r>
            </a:p>
            <a:p>
              <a:pPr lvl="1" marL="914400" indent="-317160">
                <a:spcBef>
                  <a:spcPts val="1000"/>
                </a:spcBef>
                <a:buClr>
                  <a:srgbClr val="000000"/>
                </a:buClr>
                <a:buSzPts val="1400"/>
                <a:buFont typeface="Arial"/>
                <a:buChar char="○"/>
              </a:pPr>
              <a:r>
                <a:t>Persona: Sr Analyst in CS Strategy, Experience</a:t>
              </a:r>
            </a:p>
            <a:p>
              <a:pPr lvl="1" marL="914400" indent="-317160">
                <a:spcBef>
                  <a:spcPts val="1000"/>
                </a:spcBef>
                <a:buClr>
                  <a:srgbClr val="000000"/>
                </a:buClr>
                <a:buSzPts val="1400"/>
                <a:buFont typeface="Arial"/>
                <a:buChar char="○"/>
              </a:pPr>
              <a:r>
                <a:t>Scenario A: Find a table / logic / or PoC for credit risk assessment.  IE what factors are used to determine a customer’s credit risk CD</a:t>
              </a:r>
            </a:p>
            <a:p>
              <a:pPr lvl="1" marL="914400" indent="-317160">
                <a:spcBef>
                  <a:spcPts val="1000"/>
                </a:spcBef>
                <a:buClr>
                  <a:srgbClr val="000000"/>
                </a:buClr>
                <a:buSzPts val="1400"/>
                <a:buFont typeface="Arial"/>
                <a:buChar char="○"/>
              </a:pPr>
              <a:r>
                <a:t>Outcomes: </a:t>
              </a:r>
            </a:p>
            <a:p>
              <a:pPr marL="457200" indent="-317160">
                <a:spcBef>
                  <a:spcPts val="1000"/>
                </a:spcBef>
                <a:buClr>
                  <a:srgbClr val="000000"/>
                </a:buClr>
                <a:buSzPts val="1400"/>
                <a:buFont typeface="Arial"/>
                <a:buChar char="●"/>
              </a:pPr>
              <a:r>
                <a:t>Scenario 5: </a:t>
              </a:r>
            </a:p>
            <a:p>
              <a:pPr lvl="1" marL="914400" indent="-317160">
                <a:spcBef>
                  <a:spcPts val="1000"/>
                </a:spcBef>
                <a:buClr>
                  <a:srgbClr val="000000"/>
                </a:buClr>
                <a:buSzPts val="1400"/>
                <a:buFont typeface="Arial"/>
                <a:buChar char="○"/>
              </a:pPr>
              <a:r>
                <a:t>Persona: BI Analyst in Marketing</a:t>
              </a:r>
            </a:p>
            <a:p>
              <a:pPr lvl="1" marL="914400" indent="-317160">
                <a:spcBef>
                  <a:spcPts val="1000"/>
                </a:spcBef>
                <a:buClr>
                  <a:srgbClr val="000000"/>
                </a:buClr>
                <a:buSzPts val="1400"/>
                <a:buFont typeface="Arial"/>
                <a:buChar char="○"/>
              </a:pPr>
              <a:r>
                <a:t>Scenario A: Find table(s) with Fios Voice Agent Assistant data</a:t>
              </a:r>
            </a:p>
            <a:p>
              <a:pPr lvl="1" marL="914400" indent="-317160">
                <a:spcBef>
                  <a:spcPts val="1000"/>
                </a:spcBef>
                <a:buClr>
                  <a:srgbClr val="000000"/>
                </a:buClr>
                <a:buSzPts val="1400"/>
                <a:buFont typeface="Arial"/>
                <a:buChar char="○"/>
              </a:pPr>
              <a:r>
                <a:t>Scenario B: Find an indicator to determine if a CUST_ID / ACCT_NUM is within the FiOS footprint</a:t>
              </a:r>
            </a:p>
            <a:p>
              <a:pPr lvl="1" marL="914400" indent="-317160">
                <a:spcBef>
                  <a:spcPts val="1000"/>
                </a:spcBef>
                <a:buClr>
                  <a:srgbClr val="000000"/>
                </a:buClr>
                <a:buSzPts val="1400"/>
                <a:buFont typeface="Arial"/>
                <a:buChar char="○"/>
              </a:pPr>
              <a:r>
                <a:t>Outcomes: </a:t>
              </a:r>
            </a:p>
          </p:txBody>
        </p:sp>
      </p:grpSp>
      <p:grpSp>
        <p:nvGrpSpPr>
          <p:cNvPr id="1265" name="Google Shape;807;p75"/>
          <p:cNvGrpSpPr/>
          <p:nvPr/>
        </p:nvGrpSpPr>
        <p:grpSpPr>
          <a:xfrm>
            <a:off x="892439" y="7593285"/>
            <a:ext cx="6228362" cy="367950"/>
            <a:chOff x="0" y="0"/>
            <a:chExt cx="6228360" cy="367948"/>
          </a:xfrm>
        </p:grpSpPr>
        <p:sp>
          <p:nvSpPr>
            <p:cNvPr id="1263" name="Rectangle"/>
            <p:cNvSpPr/>
            <p:nvPr/>
          </p:nvSpPr>
          <p:spPr>
            <a:xfrm>
              <a:off x="0" y="64274"/>
              <a:ext cx="6228361" cy="239401"/>
            </a:xfrm>
            <a:prstGeom prst="rect">
              <a:avLst/>
            </a:prstGeom>
            <a:solidFill>
              <a:srgbClr val="FFFF00"/>
            </a:solidFill>
            <a:ln w="12700" cap="flat">
              <a:noFill/>
              <a:miter lim="400000"/>
            </a:ln>
            <a:effectLst/>
          </p:spPr>
          <p:txBody>
            <a:bodyPr wrap="square" lIns="0" tIns="0" rIns="0" bIns="0" numCol="1" anchor="ctr">
              <a:noAutofit/>
            </a:bodyPr>
            <a:lstStyle/>
            <a:p>
              <a:pPr algn="ctr">
                <a:defRPr sz="1300"/>
              </a:pPr>
            </a:p>
          </p:txBody>
        </p:sp>
        <p:sp>
          <p:nvSpPr>
            <p:cNvPr id="1264" name="Note: These are just a sample pulled from vz-data-discovery Slack Channel"/>
            <p:cNvSpPr txBox="1"/>
            <p:nvPr/>
          </p:nvSpPr>
          <p:spPr>
            <a:xfrm>
              <a:off x="0" y="0"/>
              <a:ext cx="6228361" cy="367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b="1" sz="1300">
                  <a:solidFill>
                    <a:schemeClr val="accent1"/>
                  </a:solidFill>
                </a:defRPr>
              </a:lvl1pPr>
            </a:lstStyle>
            <a:p>
              <a:pPr/>
              <a:r>
                <a:t>Note: These are just a sample pulled from vz-data-discovery Slack Channel</a:t>
              </a:r>
            </a:p>
          </p:txBody>
        </p:sp>
      </p:grpSp>
      <p:grpSp>
        <p:nvGrpSpPr>
          <p:cNvPr id="1271" name="Google Shape;808;p75"/>
          <p:cNvGrpSpPr/>
          <p:nvPr/>
        </p:nvGrpSpPr>
        <p:grpSpPr>
          <a:xfrm>
            <a:off x="10095840" y="418319"/>
            <a:ext cx="3238561" cy="743762"/>
            <a:chOff x="0" y="0"/>
            <a:chExt cx="3238560" cy="743760"/>
          </a:xfrm>
        </p:grpSpPr>
        <p:grpSp>
          <p:nvGrpSpPr>
            <p:cNvPr id="1269" name="Group"/>
            <p:cNvGrpSpPr/>
            <p:nvPr/>
          </p:nvGrpSpPr>
          <p:grpSpPr>
            <a:xfrm>
              <a:off x="-1" y="-1"/>
              <a:ext cx="3238562" cy="743762"/>
              <a:chOff x="0" y="0"/>
              <a:chExt cx="3238560" cy="743760"/>
            </a:xfrm>
          </p:grpSpPr>
          <p:sp>
            <p:nvSpPr>
              <p:cNvPr id="1266" name="Shape"/>
              <p:cNvSpPr/>
              <p:nvPr/>
            </p:nvSpPr>
            <p:spPr>
              <a:xfrm>
                <a:off x="-1" y="-1"/>
                <a:ext cx="3238562" cy="743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350"/>
                    </a:moveTo>
                    <a:cubicBezTo>
                      <a:pt x="21600" y="604"/>
                      <a:pt x="21461" y="0"/>
                      <a:pt x="21290" y="0"/>
                    </a:cubicBezTo>
                    <a:cubicBezTo>
                      <a:pt x="21119" y="0"/>
                      <a:pt x="20980" y="604"/>
                      <a:pt x="20980" y="1350"/>
                    </a:cubicBezTo>
                    <a:lnTo>
                      <a:pt x="20980" y="2700"/>
                    </a:lnTo>
                    <a:lnTo>
                      <a:pt x="310" y="2700"/>
                    </a:lnTo>
                    <a:cubicBezTo>
                      <a:pt x="139" y="2700"/>
                      <a:pt x="0" y="3304"/>
                      <a:pt x="0" y="4050"/>
                    </a:cubicBezTo>
                    <a:lnTo>
                      <a:pt x="0" y="20250"/>
                    </a:lnTo>
                    <a:cubicBezTo>
                      <a:pt x="0" y="20996"/>
                      <a:pt x="139" y="21600"/>
                      <a:pt x="310" y="21600"/>
                    </a:cubicBezTo>
                    <a:cubicBezTo>
                      <a:pt x="481" y="21600"/>
                      <a:pt x="620" y="20996"/>
                      <a:pt x="620" y="20250"/>
                    </a:cubicBezTo>
                    <a:lnTo>
                      <a:pt x="620" y="18900"/>
                    </a:lnTo>
                    <a:lnTo>
                      <a:pt x="21290" y="18900"/>
                    </a:lnTo>
                    <a:cubicBezTo>
                      <a:pt x="21461" y="18900"/>
                      <a:pt x="21600" y="18296"/>
                      <a:pt x="21600" y="17550"/>
                    </a:cubicBezTo>
                    <a:close/>
                  </a:path>
                </a:pathLst>
              </a:custGeom>
              <a:solidFill>
                <a:srgbClr val="00B050"/>
              </a:solidFill>
              <a:ln w="12700" cap="flat">
                <a:noFill/>
                <a:miter lim="400000"/>
              </a:ln>
              <a:effectLst/>
            </p:spPr>
            <p:txBody>
              <a:bodyPr wrap="square" lIns="0" tIns="0" rIns="0" bIns="0" numCol="1" anchor="ctr">
                <a:noAutofit/>
              </a:bodyPr>
              <a:lstStyle/>
              <a:p>
                <a:pPr algn="ctr">
                  <a:defRPr sz="2000"/>
                </a:pPr>
              </a:p>
            </p:txBody>
          </p:sp>
          <p:sp>
            <p:nvSpPr>
              <p:cNvPr id="1267" name="Shape"/>
              <p:cNvSpPr/>
              <p:nvPr/>
            </p:nvSpPr>
            <p:spPr>
              <a:xfrm>
                <a:off x="46483" y="-1"/>
                <a:ext cx="3192078" cy="1859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174" y="21600"/>
                      <a:pt x="315" y="19182"/>
                      <a:pt x="315" y="16200"/>
                    </a:cubicBezTo>
                    <a:cubicBezTo>
                      <a:pt x="315" y="14709"/>
                      <a:pt x="244" y="13500"/>
                      <a:pt x="157" y="13500"/>
                    </a:cubicBezTo>
                    <a:cubicBezTo>
                      <a:pt x="70" y="13500"/>
                      <a:pt x="0" y="14709"/>
                      <a:pt x="0" y="16200"/>
                    </a:cubicBezTo>
                    <a:close/>
                    <a:moveTo>
                      <a:pt x="21285" y="10800"/>
                    </a:moveTo>
                    <a:cubicBezTo>
                      <a:pt x="21459" y="10800"/>
                      <a:pt x="21600" y="8382"/>
                      <a:pt x="21600" y="5400"/>
                    </a:cubicBezTo>
                    <a:cubicBezTo>
                      <a:pt x="21600" y="2418"/>
                      <a:pt x="21459" y="0"/>
                      <a:pt x="21285" y="0"/>
                    </a:cubicBezTo>
                    <a:cubicBezTo>
                      <a:pt x="21112" y="0"/>
                      <a:pt x="20971" y="2418"/>
                      <a:pt x="20971" y="5400"/>
                    </a:cubicBezTo>
                    <a:cubicBezTo>
                      <a:pt x="20971" y="6891"/>
                      <a:pt x="21041" y="8100"/>
                      <a:pt x="21128" y="8100"/>
                    </a:cubicBezTo>
                    <a:cubicBezTo>
                      <a:pt x="21215" y="8100"/>
                      <a:pt x="21285" y="6891"/>
                      <a:pt x="21285" y="5400"/>
                    </a:cubicBezTo>
                    <a:close/>
                  </a:path>
                </a:pathLst>
              </a:custGeom>
              <a:solidFill>
                <a:srgbClr val="000000">
                  <a:alpha val="20000"/>
                </a:srgbClr>
              </a:solidFill>
              <a:ln w="12700" cap="flat">
                <a:noFill/>
                <a:miter lim="400000"/>
              </a:ln>
              <a:effectLst/>
            </p:spPr>
            <p:txBody>
              <a:bodyPr wrap="square" lIns="0" tIns="0" rIns="0" bIns="0" numCol="1" anchor="ctr">
                <a:noAutofit/>
              </a:bodyPr>
              <a:lstStyle/>
              <a:p>
                <a:pPr algn="ctr">
                  <a:defRPr sz="2000"/>
                </a:pPr>
              </a:p>
            </p:txBody>
          </p:sp>
          <p:sp>
            <p:nvSpPr>
              <p:cNvPr id="1268" name="Shape"/>
              <p:cNvSpPr/>
              <p:nvPr/>
            </p:nvSpPr>
            <p:spPr>
              <a:xfrm>
                <a:off x="-1" y="-1"/>
                <a:ext cx="3238562" cy="743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3304"/>
                      <a:pt x="139" y="2700"/>
                      <a:pt x="310" y="2700"/>
                    </a:cubicBezTo>
                    <a:lnTo>
                      <a:pt x="20980" y="2700"/>
                    </a:lnTo>
                    <a:lnTo>
                      <a:pt x="20980" y="1350"/>
                    </a:lnTo>
                    <a:cubicBezTo>
                      <a:pt x="20980" y="604"/>
                      <a:pt x="21119" y="0"/>
                      <a:pt x="21290" y="0"/>
                    </a:cubicBezTo>
                    <a:cubicBezTo>
                      <a:pt x="21461" y="0"/>
                      <a:pt x="21600" y="604"/>
                      <a:pt x="21600" y="1350"/>
                    </a:cubicBezTo>
                    <a:lnTo>
                      <a:pt x="21600" y="17550"/>
                    </a:lnTo>
                    <a:cubicBezTo>
                      <a:pt x="21600" y="18296"/>
                      <a:pt x="21461" y="18900"/>
                      <a:pt x="21290" y="18900"/>
                    </a:cubicBezTo>
                    <a:lnTo>
                      <a:pt x="620" y="18900"/>
                    </a:lnTo>
                    <a:lnTo>
                      <a:pt x="620" y="20250"/>
                    </a:lnTo>
                    <a:cubicBezTo>
                      <a:pt x="620" y="20996"/>
                      <a:pt x="481" y="21600"/>
                      <a:pt x="310" y="21600"/>
                    </a:cubicBezTo>
                    <a:cubicBezTo>
                      <a:pt x="139" y="21600"/>
                      <a:pt x="0" y="20996"/>
                      <a:pt x="0" y="20250"/>
                    </a:cubicBezTo>
                    <a:close/>
                    <a:moveTo>
                      <a:pt x="20980" y="2700"/>
                    </a:moveTo>
                    <a:lnTo>
                      <a:pt x="21290" y="2700"/>
                    </a:lnTo>
                    <a:cubicBezTo>
                      <a:pt x="21461" y="2700"/>
                      <a:pt x="21600" y="2096"/>
                      <a:pt x="21600" y="1350"/>
                    </a:cubicBezTo>
                    <a:moveTo>
                      <a:pt x="21290" y="2700"/>
                    </a:moveTo>
                    <a:lnTo>
                      <a:pt x="21290" y="1350"/>
                    </a:lnTo>
                    <a:cubicBezTo>
                      <a:pt x="21290" y="1723"/>
                      <a:pt x="21221" y="2025"/>
                      <a:pt x="21135" y="2025"/>
                    </a:cubicBezTo>
                    <a:cubicBezTo>
                      <a:pt x="21049" y="2025"/>
                      <a:pt x="20980" y="1723"/>
                      <a:pt x="20980" y="1350"/>
                    </a:cubicBezTo>
                    <a:moveTo>
                      <a:pt x="310" y="5400"/>
                    </a:moveTo>
                    <a:lnTo>
                      <a:pt x="310" y="4050"/>
                    </a:lnTo>
                    <a:cubicBezTo>
                      <a:pt x="310" y="3677"/>
                      <a:pt x="379" y="3375"/>
                      <a:pt x="465" y="3375"/>
                    </a:cubicBezTo>
                    <a:cubicBezTo>
                      <a:pt x="551" y="3375"/>
                      <a:pt x="620" y="3677"/>
                      <a:pt x="620" y="4050"/>
                    </a:cubicBezTo>
                    <a:cubicBezTo>
                      <a:pt x="620" y="4796"/>
                      <a:pt x="481" y="5400"/>
                      <a:pt x="310" y="5400"/>
                    </a:cubicBezTo>
                    <a:cubicBezTo>
                      <a:pt x="139" y="5400"/>
                      <a:pt x="0" y="4796"/>
                      <a:pt x="0" y="4050"/>
                    </a:cubicBezTo>
                    <a:moveTo>
                      <a:pt x="620" y="4050"/>
                    </a:moveTo>
                    <a:lnTo>
                      <a:pt x="620" y="18900"/>
                    </a:lnTo>
                  </a:path>
                </a:pathLst>
              </a:custGeom>
              <a:noFill/>
              <a:ln w="9525" cap="flat">
                <a:solidFill>
                  <a:srgbClr val="1F497D"/>
                </a:solidFill>
                <a:prstDash val="solid"/>
                <a:round/>
              </a:ln>
              <a:effectLst/>
            </p:spPr>
            <p:txBody>
              <a:bodyPr wrap="square" lIns="0" tIns="0" rIns="0" bIns="0" numCol="1" anchor="ctr">
                <a:noAutofit/>
              </a:bodyPr>
              <a:lstStyle/>
              <a:p>
                <a:pPr algn="ctr">
                  <a:defRPr sz="2000"/>
                </a:pPr>
              </a:p>
            </p:txBody>
          </p:sp>
        </p:grpSp>
        <p:sp>
          <p:nvSpPr>
            <p:cNvPr id="1270" name="Success Criteria"/>
            <p:cNvSpPr txBox="1"/>
            <p:nvPr/>
          </p:nvSpPr>
          <p:spPr>
            <a:xfrm>
              <a:off x="97732" y="138559"/>
              <a:ext cx="3089581" cy="4666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b="1" sz="2000">
                  <a:solidFill>
                    <a:srgbClr val="FFFFFF"/>
                  </a:solidFill>
                </a:defRPr>
              </a:lvl1pPr>
            </a:lstStyle>
            <a:p>
              <a:pPr/>
              <a:r>
                <a:t>Success Criteria</a:t>
              </a:r>
            </a:p>
          </p:txBody>
        </p:sp>
      </p:grpSp>
      <p:grpSp>
        <p:nvGrpSpPr>
          <p:cNvPr id="1276" name="Google Shape;809;p75"/>
          <p:cNvGrpSpPr/>
          <p:nvPr/>
        </p:nvGrpSpPr>
        <p:grpSpPr>
          <a:xfrm>
            <a:off x="13783679" y="-1"/>
            <a:ext cx="846360" cy="1009205"/>
            <a:chOff x="0" y="0"/>
            <a:chExt cx="846359" cy="1009203"/>
          </a:xfrm>
        </p:grpSpPr>
        <p:sp>
          <p:nvSpPr>
            <p:cNvPr id="1272" name="Google Shape;810;p75"/>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275" name="Google Shape;811;p75"/>
            <p:cNvGrpSpPr/>
            <p:nvPr/>
          </p:nvGrpSpPr>
          <p:grpSpPr>
            <a:xfrm>
              <a:off x="55079" y="-1"/>
              <a:ext cx="791281" cy="1009205"/>
              <a:chOff x="0" y="0"/>
              <a:chExt cx="791279" cy="1009203"/>
            </a:xfrm>
          </p:grpSpPr>
          <p:pic>
            <p:nvPicPr>
              <p:cNvPr id="1273" name="Google Shape;812;p75" descr="Google Shape;812;p75"/>
              <p:cNvPicPr>
                <a:picLocks noChangeAspect="1"/>
              </p:cNvPicPr>
              <p:nvPr/>
            </p:nvPicPr>
            <p:blipFill>
              <a:blip r:embed="rId3">
                <a:extLst/>
              </a:blip>
              <a:srcRect l="20669" t="0" r="9844" b="0"/>
              <a:stretch>
                <a:fillRect/>
              </a:stretch>
            </p:blipFill>
            <p:spPr>
              <a:xfrm>
                <a:off x="0" y="0"/>
                <a:ext cx="756360" cy="756361"/>
              </a:xfrm>
              <a:prstGeom prst="rect">
                <a:avLst/>
              </a:prstGeom>
              <a:ln w="12700" cap="flat">
                <a:noFill/>
                <a:miter lim="400000"/>
              </a:ln>
              <a:effectLst/>
            </p:spPr>
          </p:pic>
          <p:sp>
            <p:nvSpPr>
              <p:cNvPr id="1274" name="Google Shape;813;p75"/>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8" name="Google Shape;819;p76"/>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281" name="Google Shape;820;p76"/>
          <p:cNvGrpSpPr/>
          <p:nvPr/>
        </p:nvGrpSpPr>
        <p:grpSpPr>
          <a:xfrm>
            <a:off x="793800" y="2028600"/>
            <a:ext cx="6512760" cy="1982362"/>
            <a:chOff x="0" y="0"/>
            <a:chExt cx="6512759" cy="1982361"/>
          </a:xfrm>
        </p:grpSpPr>
        <p:sp>
          <p:nvSpPr>
            <p:cNvPr id="1279" name="Rectangle"/>
            <p:cNvSpPr/>
            <p:nvPr/>
          </p:nvSpPr>
          <p:spPr>
            <a:xfrm>
              <a:off x="0" y="0"/>
              <a:ext cx="6512760" cy="1980359"/>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280" name="Success Criteria for enabling phase 1 Semantic Search…"/>
            <p:cNvSpPr txBox="1"/>
            <p:nvPr/>
          </p:nvSpPr>
          <p:spPr>
            <a:xfrm>
              <a:off x="14212" y="14212"/>
              <a:ext cx="6484336" cy="1968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1: </a:t>
              </a:r>
            </a:p>
            <a:p>
              <a:pPr lvl="1" marL="914400" indent="-310679">
                <a:spcBef>
                  <a:spcPts val="1000"/>
                </a:spcBef>
                <a:buClr>
                  <a:srgbClr val="000000"/>
                </a:buClr>
                <a:buSzPts val="1300"/>
                <a:buFont typeface="Arial"/>
                <a:buChar char="○"/>
                <a:defRPr sz="1300"/>
              </a:pPr>
              <a:r>
                <a:t>Persona: Data Engineer in Marketing (SOW)</a:t>
              </a:r>
            </a:p>
            <a:p>
              <a:pPr lvl="1" marL="914400" indent="-310679">
                <a:spcBef>
                  <a:spcPts val="1000"/>
                </a:spcBef>
                <a:buClr>
                  <a:srgbClr val="000000"/>
                </a:buClr>
                <a:buSzPts val="1300"/>
                <a:buFont typeface="Arial"/>
                <a:buChar char="○"/>
                <a:defRPr sz="1300"/>
              </a:pPr>
              <a:r>
                <a:t>Scenario A: Searching for table name where upgrades for Perks were added</a:t>
              </a:r>
            </a:p>
          </p:txBody>
        </p:sp>
      </p:grpSp>
      <p:grpSp>
        <p:nvGrpSpPr>
          <p:cNvPr id="1284" name="Google Shape;821;p76"/>
          <p:cNvGrpSpPr/>
          <p:nvPr/>
        </p:nvGrpSpPr>
        <p:grpSpPr>
          <a:xfrm>
            <a:off x="7705439" y="2028599"/>
            <a:ext cx="6512761" cy="5585762"/>
            <a:chOff x="0" y="0"/>
            <a:chExt cx="6512759" cy="5585760"/>
          </a:xfrm>
        </p:grpSpPr>
        <p:sp>
          <p:nvSpPr>
            <p:cNvPr id="1282" name="Rectangle"/>
            <p:cNvSpPr/>
            <p:nvPr/>
          </p:nvSpPr>
          <p:spPr>
            <a:xfrm>
              <a:off x="0" y="-1"/>
              <a:ext cx="6512760" cy="5585762"/>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283" name="Outcomes…"/>
            <p:cNvSpPr txBox="1"/>
            <p:nvPr/>
          </p:nvSpPr>
          <p:spPr>
            <a:xfrm>
              <a:off x="14212" y="14212"/>
              <a:ext cx="6484336" cy="5397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4A86E8"/>
                </a:buClr>
                <a:buSzPts val="1300"/>
                <a:buFont typeface="Arial"/>
                <a:buChar char="○"/>
                <a:defRPr b="1" sz="1300">
                  <a:solidFill>
                    <a:srgbClr val="4A86E8"/>
                  </a:solidFill>
                </a:defRPr>
              </a:pPr>
              <a:r>
                <a:t>Reduce the effort to identify the correct table</a:t>
              </a:r>
            </a:p>
            <a:p>
              <a:pPr lvl="1" marL="914400" indent="-310679">
                <a:buClr>
                  <a:srgbClr val="1F497D"/>
                </a:buClr>
                <a:buSzPts val="1300"/>
                <a:buFont typeface="Arial"/>
                <a:buChar char="○"/>
                <a:defRPr i="1" sz="1300">
                  <a:solidFill>
                    <a:srgbClr val="1F497D"/>
                  </a:solidFill>
                </a:defRPr>
              </a:pPr>
              <a:r>
                <a:t>“I want to locate the specific table containing Perks upgrade data quickly, without having to sift through irrelevant tables or complex database structures.”</a:t>
              </a:r>
            </a:p>
            <a:p>
              <a:pPr lvl="1" marL="914400" indent="-310679">
                <a:spcBef>
                  <a:spcPts val="1000"/>
                </a:spcBef>
                <a:buClr>
                  <a:srgbClr val="4A86E8"/>
                </a:buClr>
                <a:buSzPts val="1300"/>
                <a:buFont typeface="Arial"/>
                <a:buChar char="○"/>
                <a:defRPr b="1" sz="1300">
                  <a:solidFill>
                    <a:srgbClr val="4A86E8"/>
                  </a:solidFill>
                </a:defRPr>
              </a:pPr>
              <a:r>
                <a:t>Increase the likelihood that I have clarity on the data structure and relationships</a:t>
              </a:r>
            </a:p>
            <a:p>
              <a:pPr lvl="1" marL="914400" indent="-310679">
                <a:buClr>
                  <a:srgbClr val="1F497D"/>
                </a:buClr>
                <a:buSzPts val="1300"/>
                <a:buFont typeface="Arial"/>
                <a:buChar char="○"/>
                <a:defRPr i="1" sz="1300">
                  <a:solidFill>
                    <a:srgbClr val="1F497D"/>
                  </a:solidFill>
                </a:defRPr>
              </a:pPr>
              <a:r>
                <a:t>“I need to understand how the Perks upgrade data is structured, including key columns, relationships with other tables, and data lineage to ensure accurate data integration.”</a:t>
              </a:r>
            </a:p>
            <a:p>
              <a:pPr lvl="1" marL="914400" indent="-310679">
                <a:spcBef>
                  <a:spcPts val="1000"/>
                </a:spcBef>
                <a:buClr>
                  <a:srgbClr val="4A86E8"/>
                </a:buClr>
                <a:buSzPts val="1300"/>
                <a:buFont typeface="Arial"/>
                <a:buChar char="○"/>
                <a:defRPr b="1" sz="1300">
                  <a:solidFill>
                    <a:srgbClr val="4A86E8"/>
                  </a:solidFill>
                </a:defRPr>
              </a:pPr>
              <a:r>
                <a:t>Increase the likelihood that having confidence in (1) Data Accuracy and (2) Currency</a:t>
              </a:r>
            </a:p>
            <a:p>
              <a:pPr lvl="1" marL="914400" indent="-310679">
                <a:buClr>
                  <a:srgbClr val="1F497D"/>
                </a:buClr>
                <a:buSzPts val="1300"/>
                <a:buFont typeface="Arial"/>
                <a:buChar char="○"/>
                <a:defRPr i="1" sz="1300">
                  <a:solidFill>
                    <a:srgbClr val="1F497D"/>
                  </a:solidFill>
                </a:defRPr>
              </a:pPr>
              <a:r>
                <a:t>“I want to verify that the table contains the most up-to-date and accurate information on Perks upgrades to support reliable marketing insights and campaigns.”</a:t>
              </a:r>
            </a:p>
            <a:p>
              <a:pPr lvl="1" marL="914400" indent="-310679">
                <a:spcBef>
                  <a:spcPts val="1000"/>
                </a:spcBef>
                <a:buClr>
                  <a:schemeClr val="accent1"/>
                </a:buClr>
                <a:buSzPts val="1300"/>
                <a:buFont typeface="Arial"/>
                <a:buChar char="○"/>
                <a:defRPr b="1" sz="1300">
                  <a:solidFill>
                    <a:schemeClr val="accent1"/>
                  </a:solidFill>
                </a:defRPr>
              </a:pPr>
              <a:r>
                <a:t>Increase the likelihood that the table can be seamlessly integrated into existing marketing analytics</a:t>
              </a:r>
            </a:p>
            <a:p>
              <a:pPr lvl="1" marL="914400" indent="-310679">
                <a:buClr>
                  <a:srgbClr val="1F497D"/>
                </a:buClr>
                <a:buSzPts val="1300"/>
                <a:buFont typeface="Arial"/>
                <a:buChar char="○"/>
                <a:defRPr i="1" sz="1300">
                  <a:solidFill>
                    <a:srgbClr val="1F497D"/>
                  </a:solidFill>
                </a:defRPr>
              </a:pPr>
              <a:r>
                <a:t>“I need the table to be easily accessible and compatible with our existing data pipelines so I can quickly incorporate Perks upgrade data into marketing reports and dashboards.”</a:t>
              </a:r>
            </a:p>
            <a:p>
              <a:pPr lvl="1" marL="914400" indent="-310679">
                <a:spcBef>
                  <a:spcPts val="1000"/>
                </a:spcBef>
                <a:buClr>
                  <a:schemeClr val="accent1"/>
                </a:buClr>
                <a:buSzPts val="1300"/>
                <a:buFont typeface="Arial"/>
                <a:buChar char="○"/>
                <a:defRPr b="1" sz="1300">
                  <a:solidFill>
                    <a:schemeClr val="accent1"/>
                  </a:solidFill>
                </a:defRPr>
              </a:pPr>
              <a:r>
                <a:t>Reduce the effort for troubleshooting data discrepancies</a:t>
              </a:r>
            </a:p>
            <a:p>
              <a:pPr lvl="1" marL="914400" indent="-310679">
                <a:buClr>
                  <a:srgbClr val="1F497D"/>
                </a:buClr>
                <a:buSzPts val="1300"/>
                <a:buFont typeface="Arial"/>
                <a:buChar char="○"/>
                <a:defRPr i="1" sz="1300">
                  <a:solidFill>
                    <a:srgbClr val="1F497D"/>
                  </a:solidFill>
                </a:defRPr>
              </a:pPr>
              <a:r>
                <a:t>“I want to trace any data issues related to Perks upgrades back to the source table efficiently, enabling fast resolution of discrepancies in marketing analyses.”</a:t>
              </a:r>
            </a:p>
          </p:txBody>
        </p:sp>
      </p:grpSp>
      <p:grpSp>
        <p:nvGrpSpPr>
          <p:cNvPr id="1289" name="Google Shape;822;p76"/>
          <p:cNvGrpSpPr/>
          <p:nvPr/>
        </p:nvGrpSpPr>
        <p:grpSpPr>
          <a:xfrm>
            <a:off x="13783679" y="-1"/>
            <a:ext cx="846360" cy="1009205"/>
            <a:chOff x="0" y="0"/>
            <a:chExt cx="846359" cy="1009203"/>
          </a:xfrm>
        </p:grpSpPr>
        <p:sp>
          <p:nvSpPr>
            <p:cNvPr id="1285" name="Google Shape;823;p76"/>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288" name="Google Shape;824;p76"/>
            <p:cNvGrpSpPr/>
            <p:nvPr/>
          </p:nvGrpSpPr>
          <p:grpSpPr>
            <a:xfrm>
              <a:off x="55079" y="-1"/>
              <a:ext cx="791281" cy="1009205"/>
              <a:chOff x="0" y="0"/>
              <a:chExt cx="791279" cy="1009203"/>
            </a:xfrm>
          </p:grpSpPr>
          <p:pic>
            <p:nvPicPr>
              <p:cNvPr id="1286" name="Google Shape;825;p76" descr="Google Shape;825;p76"/>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287" name="Google Shape;826;p76"/>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1" name="Google Shape;832;p77"/>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294" name="Google Shape;833;p77"/>
          <p:cNvGrpSpPr/>
          <p:nvPr/>
        </p:nvGrpSpPr>
        <p:grpSpPr>
          <a:xfrm>
            <a:off x="793800" y="2028599"/>
            <a:ext cx="6512760" cy="1982363"/>
            <a:chOff x="0" y="0"/>
            <a:chExt cx="6512759" cy="1982361"/>
          </a:xfrm>
        </p:grpSpPr>
        <p:sp>
          <p:nvSpPr>
            <p:cNvPr id="1292" name="Rectangle"/>
            <p:cNvSpPr/>
            <p:nvPr/>
          </p:nvSpPr>
          <p:spPr>
            <a:xfrm>
              <a:off x="0" y="0"/>
              <a:ext cx="6512760" cy="1782361"/>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293" name="Success Criteria for enabling phase 1 Semantic Search…"/>
            <p:cNvSpPr txBox="1"/>
            <p:nvPr/>
          </p:nvSpPr>
          <p:spPr>
            <a:xfrm>
              <a:off x="14212" y="14212"/>
              <a:ext cx="6484336" cy="1968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1: </a:t>
              </a:r>
            </a:p>
            <a:p>
              <a:pPr lvl="1" marL="914400" indent="-310679">
                <a:spcBef>
                  <a:spcPts val="1000"/>
                </a:spcBef>
                <a:buClr>
                  <a:srgbClr val="000000"/>
                </a:buClr>
                <a:buSzPts val="1300"/>
                <a:buFont typeface="Arial"/>
                <a:buChar char="○"/>
                <a:defRPr sz="1300"/>
              </a:pPr>
              <a:r>
                <a:t>Persona: Data Engineer in Marketing (SOW)</a:t>
              </a:r>
            </a:p>
            <a:p>
              <a:pPr lvl="1" marL="914400" indent="-310679">
                <a:spcBef>
                  <a:spcPts val="1000"/>
                </a:spcBef>
                <a:buClr>
                  <a:srgbClr val="000000"/>
                </a:buClr>
                <a:buSzPts val="1300"/>
                <a:buFont typeface="Arial"/>
                <a:buChar char="○"/>
                <a:defRPr sz="1300"/>
              </a:pPr>
              <a:r>
                <a:t>Scenario B: Can someone explain what VZW-EROES' channel ID means?</a:t>
              </a:r>
            </a:p>
          </p:txBody>
        </p:sp>
      </p:grpSp>
      <p:grpSp>
        <p:nvGrpSpPr>
          <p:cNvPr id="1297" name="Google Shape;834;p77"/>
          <p:cNvGrpSpPr/>
          <p:nvPr/>
        </p:nvGrpSpPr>
        <p:grpSpPr>
          <a:xfrm>
            <a:off x="7705439" y="2028599"/>
            <a:ext cx="6633361" cy="5585762"/>
            <a:chOff x="0" y="0"/>
            <a:chExt cx="6633360" cy="5585760"/>
          </a:xfrm>
        </p:grpSpPr>
        <p:sp>
          <p:nvSpPr>
            <p:cNvPr id="1295" name="Rectangle"/>
            <p:cNvSpPr/>
            <p:nvPr/>
          </p:nvSpPr>
          <p:spPr>
            <a:xfrm>
              <a:off x="-1" y="-1"/>
              <a:ext cx="6633362" cy="5585762"/>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296" name="Outcomes…"/>
            <p:cNvSpPr txBox="1"/>
            <p:nvPr/>
          </p:nvSpPr>
          <p:spPr>
            <a:xfrm>
              <a:off x="14212" y="14212"/>
              <a:ext cx="6604936" cy="5397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000000"/>
                </a:buClr>
                <a:buSzPts val="1300"/>
                <a:buFont typeface="Arial"/>
                <a:buChar char="○"/>
                <a:defRPr b="1" sz="1300">
                  <a:solidFill>
                    <a:srgbClr val="4A86E8"/>
                  </a:solidFill>
                </a:defRPr>
              </a:pPr>
              <a:r>
                <a:t>Increase the likelihood of getting a clear and accurate definition of the acronym</a:t>
              </a:r>
            </a:p>
            <a:p>
              <a:pPr lvl="1" marL="914400" indent="-310679">
                <a:buClr>
                  <a:srgbClr val="1F497D"/>
                </a:buClr>
                <a:buSzPts val="1300"/>
                <a:buFont typeface="Arial"/>
                <a:buChar char="○"/>
                <a:defRPr sz="1300">
                  <a:solidFill>
                    <a:srgbClr val="1F497D"/>
                  </a:solidFill>
                </a:defRPr>
              </a:pPr>
              <a:r>
                <a:t>“I want to quickly find a clear, accurate definition of what VZW-EROES stands for, so I can understand its relevance to my data analysis.”</a:t>
              </a:r>
            </a:p>
            <a:p>
              <a:pPr lvl="1" marL="914400" indent="-310679">
                <a:spcBef>
                  <a:spcPts val="1000"/>
                </a:spcBef>
                <a:buClr>
                  <a:srgbClr val="000000"/>
                </a:buClr>
                <a:buSzPts val="1300"/>
                <a:buFont typeface="Arial"/>
                <a:buChar char="○"/>
                <a:defRPr b="1" sz="1300">
                  <a:solidFill>
                    <a:srgbClr val="4A86E8"/>
                  </a:solidFill>
                </a:defRPr>
              </a:pPr>
              <a:r>
                <a:t>Increase the likelihood of understanding the context and purpose of the Channel ID</a:t>
              </a:r>
            </a:p>
            <a:p>
              <a:pPr lvl="1" marL="914400" indent="-310679">
                <a:buClr>
                  <a:srgbClr val="1F497D"/>
                </a:buClr>
                <a:buSzPts val="1300"/>
                <a:buFont typeface="Arial"/>
                <a:buChar char="○"/>
                <a:defRPr sz="1300">
                  <a:solidFill>
                    <a:srgbClr val="1F497D"/>
                  </a:solidFill>
                </a:defRPr>
              </a:pPr>
              <a:r>
                <a:t>“I need to know the business context and purpose of the VZW-EROES channel ID to understand how it fits within marketing campaigns, customer journeys, or operational processes.”</a:t>
              </a:r>
            </a:p>
            <a:p>
              <a:pPr lvl="1" marL="914400" indent="-310679">
                <a:spcBef>
                  <a:spcPts val="1000"/>
                </a:spcBef>
                <a:buClr>
                  <a:srgbClr val="000000"/>
                </a:buClr>
                <a:buSzPts val="1300"/>
                <a:buFont typeface="Arial"/>
                <a:buChar char="○"/>
                <a:defRPr b="1" sz="1300">
                  <a:solidFill>
                    <a:srgbClr val="4A86E8"/>
                  </a:solidFill>
                </a:defRPr>
              </a:pPr>
              <a:r>
                <a:t>Increase the likelihood of obtaining insight into relationships and dependencies of data associated with this channel ID</a:t>
              </a:r>
            </a:p>
            <a:p>
              <a:pPr lvl="1" marL="914400" indent="-310679">
                <a:buClr>
                  <a:srgbClr val="1F497D"/>
                </a:buClr>
                <a:buSzPts val="1300"/>
                <a:buFont typeface="Arial"/>
                <a:buChar char="○"/>
                <a:defRPr sz="1300">
                  <a:solidFill>
                    <a:srgbClr val="1F497D"/>
                  </a:solidFill>
                </a:defRPr>
              </a:pPr>
              <a:r>
                <a:t>“I want to identify how the VZW-EROES channel ID connects to other data points, such as customer segments, products, or campaign channels, to ensure accurate data mapping.”</a:t>
              </a:r>
            </a:p>
            <a:p>
              <a:pPr lvl="1" marL="914400" indent="-310679">
                <a:spcBef>
                  <a:spcPts val="1000"/>
                </a:spcBef>
                <a:buClr>
                  <a:srgbClr val="000000"/>
                </a:buClr>
                <a:buSzPts val="1300"/>
                <a:buFont typeface="Arial"/>
                <a:buChar char="○"/>
                <a:defRPr b="1" sz="1300">
                  <a:solidFill>
                    <a:srgbClr val="4A86E8"/>
                  </a:solidFill>
                </a:defRPr>
              </a:pPr>
              <a:r>
                <a:t>Reduce the likelihood of feeling anxious about source and validity of the explanation</a:t>
              </a:r>
            </a:p>
            <a:p>
              <a:pPr lvl="1" marL="914400" indent="-310679">
                <a:buClr>
                  <a:srgbClr val="1F497D"/>
                </a:buClr>
                <a:buSzPts val="1300"/>
                <a:buFont typeface="Arial"/>
                <a:buChar char="○"/>
                <a:defRPr sz="1300">
                  <a:solidFill>
                    <a:srgbClr val="1F497D"/>
                  </a:solidFill>
                </a:defRPr>
              </a:pPr>
              <a:r>
                <a:t>“I need to ensure that the explanation of VZW-EROES comes from a reliable, authoritative source so I can trust the information in my data workflows.”</a:t>
              </a:r>
            </a:p>
            <a:p>
              <a:pPr lvl="1" marL="914400" indent="-310679">
                <a:spcBef>
                  <a:spcPts val="1000"/>
                </a:spcBef>
                <a:buClr>
                  <a:srgbClr val="000000"/>
                </a:buClr>
                <a:buSzPts val="1300"/>
                <a:buFont typeface="Arial"/>
                <a:buChar char="○"/>
                <a:defRPr b="1" sz="1300">
                  <a:solidFill>
                    <a:srgbClr val="4A86E8"/>
                  </a:solidFill>
                </a:defRPr>
              </a:pPr>
              <a:r>
                <a:t>Reduce the effort required to retrieve and apply the information</a:t>
              </a:r>
            </a:p>
            <a:p>
              <a:pPr lvl="1" marL="914400" indent="-310679">
                <a:buClr>
                  <a:srgbClr val="1F497D"/>
                </a:buClr>
                <a:buSzPts val="1300"/>
                <a:buFont typeface="Arial"/>
                <a:buChar char="○"/>
                <a:defRPr sz="1300">
                  <a:solidFill>
                    <a:srgbClr val="1F497D"/>
                  </a:solidFill>
                </a:defRPr>
              </a:pPr>
              <a:r>
                <a:t>“I want to access the meaning of VZW-EROES quickly, without navigating through multiple systems, so I can focus on integrating this understanding into my marketing analytics tasks.”</a:t>
              </a:r>
            </a:p>
          </p:txBody>
        </p:sp>
      </p:grpSp>
      <p:grpSp>
        <p:nvGrpSpPr>
          <p:cNvPr id="1302" name="Google Shape;835;p77"/>
          <p:cNvGrpSpPr/>
          <p:nvPr/>
        </p:nvGrpSpPr>
        <p:grpSpPr>
          <a:xfrm>
            <a:off x="13783679" y="-1"/>
            <a:ext cx="846360" cy="1009205"/>
            <a:chOff x="0" y="0"/>
            <a:chExt cx="846359" cy="1009203"/>
          </a:xfrm>
        </p:grpSpPr>
        <p:sp>
          <p:nvSpPr>
            <p:cNvPr id="1298" name="Google Shape;836;p77"/>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01" name="Google Shape;837;p77"/>
            <p:cNvGrpSpPr/>
            <p:nvPr/>
          </p:nvGrpSpPr>
          <p:grpSpPr>
            <a:xfrm>
              <a:off x="55079" y="-1"/>
              <a:ext cx="791281" cy="1009205"/>
              <a:chOff x="0" y="0"/>
              <a:chExt cx="791279" cy="1009203"/>
            </a:xfrm>
          </p:grpSpPr>
          <p:pic>
            <p:nvPicPr>
              <p:cNvPr id="1299" name="Google Shape;838;p77" descr="Google Shape;838;p77"/>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00" name="Google Shape;839;p77"/>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4" name="Google Shape;845;p78"/>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307" name="Google Shape;846;p78"/>
          <p:cNvGrpSpPr/>
          <p:nvPr/>
        </p:nvGrpSpPr>
        <p:grpSpPr>
          <a:xfrm>
            <a:off x="793800" y="2028600"/>
            <a:ext cx="6512760" cy="1982362"/>
            <a:chOff x="0" y="0"/>
            <a:chExt cx="6512759" cy="1982361"/>
          </a:xfrm>
        </p:grpSpPr>
        <p:sp>
          <p:nvSpPr>
            <p:cNvPr id="1305" name="Rectangle"/>
            <p:cNvSpPr/>
            <p:nvPr/>
          </p:nvSpPr>
          <p:spPr>
            <a:xfrm>
              <a:off x="0" y="0"/>
              <a:ext cx="6512760" cy="1980359"/>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306" name="Success Criteria for enabling phase 1 Semantic Search…"/>
            <p:cNvSpPr txBox="1"/>
            <p:nvPr/>
          </p:nvSpPr>
          <p:spPr>
            <a:xfrm>
              <a:off x="14212" y="14212"/>
              <a:ext cx="6484336" cy="1968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2: </a:t>
              </a:r>
            </a:p>
            <a:p>
              <a:pPr lvl="1" marL="914400" indent="-310679">
                <a:spcBef>
                  <a:spcPts val="1000"/>
                </a:spcBef>
                <a:buClr>
                  <a:srgbClr val="000000"/>
                </a:buClr>
                <a:buSzPts val="1300"/>
                <a:buFont typeface="Arial"/>
                <a:buChar char="○"/>
                <a:defRPr sz="1300"/>
              </a:pPr>
              <a:r>
                <a:t>Persona: Data Scientist in Sales</a:t>
              </a:r>
            </a:p>
            <a:p>
              <a:pPr lvl="1" marL="914400" indent="-310679">
                <a:spcBef>
                  <a:spcPts val="1000"/>
                </a:spcBef>
                <a:buClr>
                  <a:srgbClr val="000000"/>
                </a:buClr>
                <a:buSzPts val="1300"/>
                <a:buFont typeface="Arial"/>
                <a:buChar char="○"/>
                <a:defRPr sz="1300"/>
              </a:pPr>
              <a:r>
                <a:t>Scenario A: Search for tables where device returns are captured in device payment plan (DPPs)</a:t>
              </a:r>
            </a:p>
          </p:txBody>
        </p:sp>
      </p:grpSp>
      <p:grpSp>
        <p:nvGrpSpPr>
          <p:cNvPr id="1310" name="Google Shape;847;p78"/>
          <p:cNvGrpSpPr/>
          <p:nvPr/>
        </p:nvGrpSpPr>
        <p:grpSpPr>
          <a:xfrm>
            <a:off x="7705439" y="2028599"/>
            <a:ext cx="6693121" cy="5585762"/>
            <a:chOff x="0" y="0"/>
            <a:chExt cx="6693120" cy="5585760"/>
          </a:xfrm>
        </p:grpSpPr>
        <p:sp>
          <p:nvSpPr>
            <p:cNvPr id="1308" name="Rectangle"/>
            <p:cNvSpPr/>
            <p:nvPr/>
          </p:nvSpPr>
          <p:spPr>
            <a:xfrm>
              <a:off x="-1" y="-1"/>
              <a:ext cx="6693122" cy="5585762"/>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309" name="Outcomes…"/>
            <p:cNvSpPr txBox="1"/>
            <p:nvPr/>
          </p:nvSpPr>
          <p:spPr>
            <a:xfrm>
              <a:off x="14212" y="14212"/>
              <a:ext cx="6664696" cy="5397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000000"/>
                </a:buClr>
                <a:buSzPts val="1300"/>
                <a:buFont typeface="Arial"/>
                <a:buChar char="○"/>
                <a:defRPr b="1" sz="1300">
                  <a:solidFill>
                    <a:srgbClr val="4A86E8"/>
                  </a:solidFill>
                </a:defRPr>
              </a:pPr>
              <a:r>
                <a:t>Reduce the effort &amp; time required to discover relevant tables </a:t>
              </a:r>
            </a:p>
            <a:p>
              <a:pPr lvl="1" marL="914400" indent="-310679">
                <a:buClr>
                  <a:srgbClr val="1F497D"/>
                </a:buClr>
                <a:buSzPts val="1300"/>
                <a:buFont typeface="Arial"/>
                <a:buChar char="○"/>
                <a:defRPr sz="1300">
                  <a:solidFill>
                    <a:srgbClr val="1F497D"/>
                  </a:solidFill>
                </a:defRPr>
              </a:pPr>
              <a:r>
                <a:t>“I want to quickly identify all tables that capture device return data related to DPPs, minimizing time spent navigating complex data ecosystems.”</a:t>
              </a:r>
            </a:p>
            <a:p>
              <a:pPr lvl="1" marL="914400" indent="-310679">
                <a:spcBef>
                  <a:spcPts val="1000"/>
                </a:spcBef>
                <a:buClr>
                  <a:srgbClr val="000000"/>
                </a:buClr>
                <a:buSzPts val="1300"/>
                <a:buFont typeface="Arial"/>
                <a:buChar char="○"/>
                <a:defRPr b="1" sz="1300">
                  <a:solidFill>
                    <a:srgbClr val="4A86E8"/>
                  </a:solidFill>
                </a:defRPr>
              </a:pPr>
              <a:r>
                <a:t>Increase the likelihood of obtaining a comprehensive understanding of data coverage for device returns in DPPs</a:t>
              </a:r>
            </a:p>
            <a:p>
              <a:pPr lvl="1" marL="914400" indent="-310679">
                <a:buClr>
                  <a:srgbClr val="1F497D"/>
                </a:buClr>
                <a:buSzPts val="1300"/>
                <a:buFont typeface="Arial"/>
                <a:buChar char="○"/>
                <a:defRPr sz="1300">
                  <a:solidFill>
                    <a:srgbClr val="1F497D"/>
                  </a:solidFill>
                </a:defRPr>
              </a:pPr>
              <a:r>
                <a:t>“I need to ensure that the tables I find cover all relevant device return scenarios within DPPs, including partial returns, exchanges, and early upgrades, to support robust analysis.”</a:t>
              </a:r>
            </a:p>
            <a:p>
              <a:pPr lvl="1" marL="914400" indent="-310679">
                <a:spcBef>
                  <a:spcPts val="1000"/>
                </a:spcBef>
                <a:buClr>
                  <a:srgbClr val="000000"/>
                </a:buClr>
                <a:buSzPts val="1300"/>
                <a:buFont typeface="Arial"/>
                <a:buChar char="○"/>
                <a:defRPr b="1" sz="1300">
                  <a:solidFill>
                    <a:srgbClr val="4A86E8"/>
                  </a:solidFill>
                </a:defRPr>
              </a:pPr>
              <a:r>
                <a:t>Increase the likelihood of obtaining insight into relationships and dependencies of data associated with device returns</a:t>
              </a:r>
            </a:p>
            <a:p>
              <a:pPr lvl="1" marL="914400" indent="-310679">
                <a:buClr>
                  <a:srgbClr val="1F497D"/>
                </a:buClr>
                <a:buSzPts val="1300"/>
                <a:buFont typeface="Arial"/>
                <a:buChar char="○"/>
                <a:defRPr sz="1300">
                  <a:solidFill>
                    <a:srgbClr val="1F497D"/>
                  </a:solidFill>
                </a:defRPr>
              </a:pPr>
              <a:r>
                <a:t>“I want to understand how the device return data in DPP tables links to other datasets, such as customer accounts, payment histories, and sales transactions, to create accurate analytical models.”</a:t>
              </a:r>
            </a:p>
            <a:p>
              <a:pPr lvl="1" marL="914400" indent="-310679">
                <a:spcBef>
                  <a:spcPts val="1000"/>
                </a:spcBef>
                <a:buClr>
                  <a:srgbClr val="000000"/>
                </a:buClr>
                <a:buSzPts val="1300"/>
                <a:buFont typeface="Arial"/>
                <a:buChar char="○"/>
                <a:defRPr b="1" sz="1300">
                  <a:solidFill>
                    <a:srgbClr val="4A86E8"/>
                  </a:solidFill>
                </a:defRPr>
              </a:pPr>
              <a:r>
                <a:t>Reduce the likelihood of feeling anxious about the accuracy and/or timeliness of the data </a:t>
              </a:r>
            </a:p>
            <a:p>
              <a:pPr lvl="1" marL="914400" indent="-310679">
                <a:buClr>
                  <a:srgbClr val="1F497D"/>
                </a:buClr>
                <a:buSzPts val="1300"/>
                <a:buFont typeface="Arial"/>
                <a:buChar char="○"/>
                <a:defRPr sz="1300">
                  <a:solidFill>
                    <a:srgbClr val="1F497D"/>
                  </a:solidFill>
                </a:defRPr>
              </a:pPr>
              <a:r>
                <a:t>“I need assurance that the data in the identified tables is accurate, up-to-date, and reflects the current business processes around DPPs and device returns.”</a:t>
              </a:r>
            </a:p>
            <a:p>
              <a:pPr lvl="1" marL="914400" indent="-310679">
                <a:spcBef>
                  <a:spcPts val="1000"/>
                </a:spcBef>
                <a:buClr>
                  <a:srgbClr val="000000"/>
                </a:buClr>
                <a:buSzPts val="1300"/>
                <a:buFont typeface="Arial"/>
                <a:buChar char="○"/>
                <a:defRPr b="1" sz="1300">
                  <a:solidFill>
                    <a:srgbClr val="4A86E8"/>
                  </a:solidFill>
                </a:defRPr>
              </a:pPr>
              <a:r>
                <a:t>Reduce the effort required to integrate the device returns data into existing sales analytics</a:t>
              </a:r>
            </a:p>
            <a:p>
              <a:pPr lvl="1" marL="914400" indent="-310679">
                <a:buClr>
                  <a:srgbClr val="1F497D"/>
                </a:buClr>
                <a:buSzPts val="1300"/>
                <a:buFont typeface="Arial"/>
                <a:buChar char="○"/>
                <a:defRPr sz="1300">
                  <a:solidFill>
                    <a:srgbClr val="1F497D"/>
                  </a:solidFill>
                </a:defRPr>
              </a:pPr>
              <a:r>
                <a:t>“I want the device return data to be in a format that allows for seamless integration into my predictive models and sales performance dashboards, enhancing insights into return trends and their impact on revenue.”</a:t>
              </a:r>
            </a:p>
          </p:txBody>
        </p:sp>
      </p:grpSp>
      <p:grpSp>
        <p:nvGrpSpPr>
          <p:cNvPr id="1315" name="Google Shape;848;p78"/>
          <p:cNvGrpSpPr/>
          <p:nvPr/>
        </p:nvGrpSpPr>
        <p:grpSpPr>
          <a:xfrm>
            <a:off x="13783679" y="-1"/>
            <a:ext cx="846360" cy="1009205"/>
            <a:chOff x="0" y="0"/>
            <a:chExt cx="846359" cy="1009203"/>
          </a:xfrm>
        </p:grpSpPr>
        <p:sp>
          <p:nvSpPr>
            <p:cNvPr id="1311" name="Google Shape;849;p78"/>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14" name="Google Shape;850;p78"/>
            <p:cNvGrpSpPr/>
            <p:nvPr/>
          </p:nvGrpSpPr>
          <p:grpSpPr>
            <a:xfrm>
              <a:off x="55079" y="-1"/>
              <a:ext cx="791281" cy="1009205"/>
              <a:chOff x="0" y="0"/>
              <a:chExt cx="791279" cy="1009203"/>
            </a:xfrm>
          </p:grpSpPr>
          <p:pic>
            <p:nvPicPr>
              <p:cNvPr id="1312" name="Google Shape;851;p78" descr="Google Shape;851;p78"/>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13" name="Google Shape;852;p78"/>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7" name="Google Shape;858;p79"/>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320" name="Google Shape;859;p79"/>
          <p:cNvGrpSpPr/>
          <p:nvPr/>
        </p:nvGrpSpPr>
        <p:grpSpPr>
          <a:xfrm>
            <a:off x="793800" y="2028600"/>
            <a:ext cx="6512760" cy="1982362"/>
            <a:chOff x="0" y="0"/>
            <a:chExt cx="6512759" cy="1982361"/>
          </a:xfrm>
        </p:grpSpPr>
        <p:sp>
          <p:nvSpPr>
            <p:cNvPr id="1318" name="Rectangle"/>
            <p:cNvSpPr/>
            <p:nvPr/>
          </p:nvSpPr>
          <p:spPr>
            <a:xfrm>
              <a:off x="0" y="0"/>
              <a:ext cx="6512760" cy="1980359"/>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319" name="Success Criteria for enabling phase 1 Semantic Search…"/>
            <p:cNvSpPr txBox="1"/>
            <p:nvPr/>
          </p:nvSpPr>
          <p:spPr>
            <a:xfrm>
              <a:off x="14212" y="14212"/>
              <a:ext cx="6484336" cy="1968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2: </a:t>
              </a:r>
            </a:p>
            <a:p>
              <a:pPr lvl="1" marL="914400" indent="-310679">
                <a:spcBef>
                  <a:spcPts val="1000"/>
                </a:spcBef>
                <a:buClr>
                  <a:srgbClr val="000000"/>
                </a:buClr>
                <a:buSzPts val="1300"/>
                <a:buFont typeface="Arial"/>
                <a:buChar char="○"/>
                <a:defRPr sz="1300"/>
              </a:pPr>
              <a:r>
                <a:t>Persona: Data Scientist in Sales</a:t>
              </a:r>
            </a:p>
            <a:p>
              <a:pPr lvl="1" marL="914400" indent="-310679">
                <a:spcBef>
                  <a:spcPts val="1000"/>
                </a:spcBef>
                <a:buClr>
                  <a:srgbClr val="000000"/>
                </a:buClr>
                <a:buSzPts val="1300"/>
                <a:buFont typeface="Arial"/>
                <a:buChar char="○"/>
                <a:defRPr sz="1300"/>
              </a:pPr>
              <a:r>
                <a:t>Scenario B: Search for reasons why someone previously upgraded through a DPP loan and also has a contract</a:t>
              </a:r>
            </a:p>
          </p:txBody>
        </p:sp>
      </p:grpSp>
      <p:grpSp>
        <p:nvGrpSpPr>
          <p:cNvPr id="1323" name="Google Shape;860;p79"/>
          <p:cNvGrpSpPr/>
          <p:nvPr/>
        </p:nvGrpSpPr>
        <p:grpSpPr>
          <a:xfrm>
            <a:off x="7705439" y="2028599"/>
            <a:ext cx="6693121" cy="5981762"/>
            <a:chOff x="0" y="0"/>
            <a:chExt cx="6693120" cy="5981760"/>
          </a:xfrm>
        </p:grpSpPr>
        <p:sp>
          <p:nvSpPr>
            <p:cNvPr id="1321" name="Rectangle"/>
            <p:cNvSpPr/>
            <p:nvPr/>
          </p:nvSpPr>
          <p:spPr>
            <a:xfrm>
              <a:off x="-1" y="-1"/>
              <a:ext cx="6693122" cy="5981762"/>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322" name="Outcomes…"/>
            <p:cNvSpPr txBox="1"/>
            <p:nvPr/>
          </p:nvSpPr>
          <p:spPr>
            <a:xfrm>
              <a:off x="14212" y="14212"/>
              <a:ext cx="6664696" cy="5778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000000"/>
                </a:buClr>
                <a:buSzPts val="1300"/>
                <a:buFont typeface="Arial"/>
                <a:buChar char="○"/>
                <a:defRPr b="1" sz="1300">
                  <a:solidFill>
                    <a:srgbClr val="4A86E8"/>
                  </a:solidFill>
                </a:defRPr>
              </a:pPr>
              <a:r>
                <a:t>Increase the likelihood of accurately identifying customer upgrade patterns</a:t>
              </a:r>
            </a:p>
            <a:p>
              <a:pPr lvl="1" marL="914400" indent="-310679">
                <a:buClr>
                  <a:srgbClr val="1F497D"/>
                </a:buClr>
                <a:buSzPts val="1300"/>
                <a:buFont typeface="Arial"/>
                <a:buChar char="○"/>
                <a:defRPr sz="1300">
                  <a:solidFill>
                    <a:srgbClr val="1F497D"/>
                  </a:solidFill>
                </a:defRPr>
              </a:pPr>
              <a:r>
                <a:t>“I want to accurately identify customers who have both upgraded through a DPP loan and maintain a contract, so I can analyze their behavior without missing key segments.”</a:t>
              </a:r>
            </a:p>
            <a:p>
              <a:pPr lvl="1" marL="914400" indent="-310679">
                <a:spcBef>
                  <a:spcPts val="1000"/>
                </a:spcBef>
                <a:buClr>
                  <a:srgbClr val="000000"/>
                </a:buClr>
                <a:buSzPts val="1300"/>
                <a:buFont typeface="Arial"/>
                <a:buChar char="○"/>
                <a:defRPr b="1" sz="1300">
                  <a:solidFill>
                    <a:srgbClr val="4A86E8"/>
                  </a:solidFill>
                </a:defRPr>
              </a:pPr>
              <a:r>
                <a:t>Increase the likelihood of clearly understanding the underlying business drivers</a:t>
              </a:r>
            </a:p>
            <a:p>
              <a:pPr lvl="1" marL="914400" indent="-310679">
                <a:buClr>
                  <a:srgbClr val="1F497D"/>
                </a:buClr>
                <a:buSzPts val="1300"/>
                <a:buFont typeface="Arial"/>
                <a:buChar char="○"/>
                <a:defRPr sz="1300">
                  <a:solidFill>
                    <a:srgbClr val="1F497D"/>
                  </a:solidFill>
                </a:defRPr>
              </a:pPr>
              <a:r>
                <a:t>“I need to uncover the business or policy reasons behind customers having both a DPP loan and a contract, such as promotional offers, retention strategies, or device upgrade programs, to inform sales tactics.”</a:t>
              </a:r>
            </a:p>
            <a:p>
              <a:pPr lvl="1" marL="914400" indent="-310679">
                <a:spcBef>
                  <a:spcPts val="1000"/>
                </a:spcBef>
                <a:buClr>
                  <a:srgbClr val="000000"/>
                </a:buClr>
                <a:buSzPts val="1300"/>
                <a:buFont typeface="Arial"/>
                <a:buChar char="○"/>
                <a:defRPr b="1" sz="1300">
                  <a:solidFill>
                    <a:srgbClr val="4A86E8"/>
                  </a:solidFill>
                </a:defRPr>
              </a:pPr>
              <a:r>
                <a:t>Increase the likelihood of obtaining insight about customer decision-making factors</a:t>
              </a:r>
            </a:p>
            <a:p>
              <a:pPr lvl="1" marL="914400" indent="-310679">
                <a:buClr>
                  <a:srgbClr val="1F497D"/>
                </a:buClr>
                <a:buSzPts val="1300"/>
                <a:buFont typeface="Arial"/>
                <a:buChar char="○"/>
                <a:defRPr sz="1300">
                  <a:solidFill>
                    <a:srgbClr val="1F497D"/>
                  </a:solidFill>
                </a:defRPr>
              </a:pPr>
              <a:r>
                <a:t>“I want to understand the factors influencing customer decisions to maintain both a DPP loan and a contract, such as financial incentives, device preferences, or service bundling, to enhance predictive models.”</a:t>
              </a:r>
            </a:p>
            <a:p>
              <a:pPr lvl="1" marL="914400" indent="-310679">
                <a:spcBef>
                  <a:spcPts val="1000"/>
                </a:spcBef>
                <a:buClr>
                  <a:srgbClr val="000000"/>
                </a:buClr>
                <a:buSzPts val="1300"/>
                <a:buFont typeface="Arial"/>
                <a:buChar char="○"/>
                <a:defRPr b="1" sz="1300">
                  <a:solidFill>
                    <a:srgbClr val="4A86E8"/>
                  </a:solidFill>
                </a:defRPr>
              </a:pPr>
              <a:r>
                <a:t>Increase the likelihood of being able to correlate this data with sales and churn metrics</a:t>
              </a:r>
            </a:p>
            <a:p>
              <a:pPr lvl="1" marL="914400" indent="-310679">
                <a:buClr>
                  <a:srgbClr val="1F497D"/>
                </a:buClr>
                <a:buSzPts val="1300"/>
                <a:buFont typeface="Arial"/>
                <a:buChar char="○"/>
                <a:defRPr sz="1300">
                  <a:solidFill>
                    <a:srgbClr val="1F497D"/>
                  </a:solidFill>
                </a:defRPr>
              </a:pPr>
              <a:r>
                <a:t>“I need to correlate this dual engagement (DPP + contract) with sales performance, churn rates, and customer lifetime value, to assess its impact on revenue and retention strategies.”</a:t>
              </a:r>
            </a:p>
            <a:p>
              <a:pPr lvl="1" marL="914400" indent="-310679">
                <a:spcBef>
                  <a:spcPts val="1000"/>
                </a:spcBef>
                <a:buClr>
                  <a:srgbClr val="000000"/>
                </a:buClr>
                <a:buSzPts val="1300"/>
                <a:buFont typeface="Arial"/>
                <a:buChar char="○"/>
                <a:defRPr b="1" sz="1300">
                  <a:solidFill>
                    <a:srgbClr val="4A86E8"/>
                  </a:solidFill>
                </a:defRPr>
              </a:pPr>
              <a:r>
                <a:t>Increase the ability to incorporate this data into sales optimization strategies</a:t>
              </a:r>
            </a:p>
            <a:p>
              <a:pPr lvl="1" marL="914400" indent="-310679">
                <a:buClr>
                  <a:srgbClr val="1F497D"/>
                </a:buClr>
                <a:buSzPts val="1300"/>
                <a:buFont typeface="Arial"/>
                <a:buChar char="○"/>
                <a:defRPr sz="1300">
                  <a:solidFill>
                    <a:srgbClr val="1F497D"/>
                  </a:solidFill>
                </a:defRPr>
              </a:pPr>
              <a:r>
                <a:t>“I want to generate actionable insights from the data that can be used to refine sales strategies, personalize customer offers, and identify opportunities to upsell or cross-sell effectively.”</a:t>
              </a:r>
            </a:p>
          </p:txBody>
        </p:sp>
      </p:grpSp>
      <p:grpSp>
        <p:nvGrpSpPr>
          <p:cNvPr id="1328" name="Google Shape;861;p79"/>
          <p:cNvGrpSpPr/>
          <p:nvPr/>
        </p:nvGrpSpPr>
        <p:grpSpPr>
          <a:xfrm>
            <a:off x="13783679" y="-1"/>
            <a:ext cx="846360" cy="1009205"/>
            <a:chOff x="0" y="0"/>
            <a:chExt cx="846359" cy="1009203"/>
          </a:xfrm>
        </p:grpSpPr>
        <p:sp>
          <p:nvSpPr>
            <p:cNvPr id="1324" name="Google Shape;862;p79"/>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27" name="Google Shape;863;p79"/>
            <p:cNvGrpSpPr/>
            <p:nvPr/>
          </p:nvGrpSpPr>
          <p:grpSpPr>
            <a:xfrm>
              <a:off x="55079" y="-1"/>
              <a:ext cx="791281" cy="1009205"/>
              <a:chOff x="0" y="0"/>
              <a:chExt cx="791279" cy="1009203"/>
            </a:xfrm>
          </p:grpSpPr>
          <p:pic>
            <p:nvPicPr>
              <p:cNvPr id="1325" name="Google Shape;864;p79" descr="Google Shape;864;p79"/>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26" name="Google Shape;865;p79"/>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0" name="Google Shape;871;p80"/>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333" name="Google Shape;872;p80"/>
          <p:cNvGrpSpPr/>
          <p:nvPr/>
        </p:nvGrpSpPr>
        <p:grpSpPr>
          <a:xfrm>
            <a:off x="793800" y="2028600"/>
            <a:ext cx="6512760" cy="1982362"/>
            <a:chOff x="0" y="0"/>
            <a:chExt cx="6512759" cy="1982361"/>
          </a:xfrm>
        </p:grpSpPr>
        <p:sp>
          <p:nvSpPr>
            <p:cNvPr id="1331" name="Rectangle"/>
            <p:cNvSpPr/>
            <p:nvPr/>
          </p:nvSpPr>
          <p:spPr>
            <a:xfrm>
              <a:off x="0" y="0"/>
              <a:ext cx="6512760" cy="1980359"/>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332" name="Success Criteria for enabling phase 1 Semantic Search…"/>
            <p:cNvSpPr txBox="1"/>
            <p:nvPr/>
          </p:nvSpPr>
          <p:spPr>
            <a:xfrm>
              <a:off x="14212" y="14212"/>
              <a:ext cx="6484336" cy="1968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2: </a:t>
              </a:r>
            </a:p>
            <a:p>
              <a:pPr lvl="1" marL="914400" indent="-310679">
                <a:spcBef>
                  <a:spcPts val="1000"/>
                </a:spcBef>
                <a:buClr>
                  <a:srgbClr val="000000"/>
                </a:buClr>
                <a:buSzPts val="1300"/>
                <a:buFont typeface="Arial"/>
                <a:buChar char="○"/>
                <a:defRPr sz="1300"/>
              </a:pPr>
              <a:r>
                <a:t>Persona: Data Scientist in Sales</a:t>
              </a:r>
            </a:p>
            <a:p>
              <a:pPr lvl="1" marL="914400" indent="-310679">
                <a:spcBef>
                  <a:spcPts val="1000"/>
                </a:spcBef>
                <a:buClr>
                  <a:srgbClr val="000000"/>
                </a:buClr>
                <a:buSzPts val="1300"/>
                <a:buFont typeface="Arial"/>
                <a:buChar char="○"/>
                <a:defRPr sz="1300"/>
              </a:pPr>
              <a:r>
                <a:t>Scenario C: Are there any tables that store the the actual Content of the communication (text/ emails)  for Wireline customers</a:t>
              </a:r>
            </a:p>
          </p:txBody>
        </p:sp>
      </p:grpSp>
      <p:grpSp>
        <p:nvGrpSpPr>
          <p:cNvPr id="1336" name="Google Shape;873;p80"/>
          <p:cNvGrpSpPr/>
          <p:nvPr/>
        </p:nvGrpSpPr>
        <p:grpSpPr>
          <a:xfrm>
            <a:off x="7705439" y="2028599"/>
            <a:ext cx="6693121" cy="5585762"/>
            <a:chOff x="0" y="0"/>
            <a:chExt cx="6693120" cy="5585760"/>
          </a:xfrm>
        </p:grpSpPr>
        <p:sp>
          <p:nvSpPr>
            <p:cNvPr id="1334" name="Rectangle"/>
            <p:cNvSpPr/>
            <p:nvPr/>
          </p:nvSpPr>
          <p:spPr>
            <a:xfrm>
              <a:off x="-1" y="-1"/>
              <a:ext cx="6693122" cy="5585762"/>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335" name="Outcomes…"/>
            <p:cNvSpPr txBox="1"/>
            <p:nvPr/>
          </p:nvSpPr>
          <p:spPr>
            <a:xfrm>
              <a:off x="14212" y="14212"/>
              <a:ext cx="6664696" cy="5397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000000"/>
                </a:buClr>
                <a:buSzPts val="1300"/>
                <a:buFont typeface="Arial"/>
                <a:buChar char="○"/>
                <a:defRPr b="1" sz="1300">
                  <a:solidFill>
                    <a:srgbClr val="4A86E8"/>
                  </a:solidFill>
                </a:defRPr>
              </a:pPr>
              <a:r>
                <a:t>Increase the likelihood of efficiently finding and discovering the right (relevant) data sources</a:t>
              </a:r>
            </a:p>
            <a:p>
              <a:pPr lvl="1" marL="914400" indent="-310679">
                <a:buClr>
                  <a:srgbClr val="1F497D"/>
                </a:buClr>
                <a:buSzPts val="1300"/>
                <a:buFont typeface="Arial"/>
                <a:buChar char="○"/>
                <a:defRPr sz="1300">
                  <a:solidFill>
                    <a:srgbClr val="1F497D"/>
                  </a:solidFill>
                </a:defRPr>
              </a:pPr>
              <a:r>
                <a:t>“I want to quickly identify all tables that store the actual content of Wireline customer communications, so I can reduce the time spent on data exploration and focus on analysis.”</a:t>
              </a:r>
            </a:p>
            <a:p>
              <a:pPr lvl="1" marL="914400" indent="-310679">
                <a:spcBef>
                  <a:spcPts val="1000"/>
                </a:spcBef>
                <a:buClr>
                  <a:srgbClr val="000000"/>
                </a:buClr>
                <a:buSzPts val="1300"/>
                <a:buFont typeface="Arial"/>
                <a:buChar char="○"/>
                <a:defRPr b="1" sz="1300">
                  <a:solidFill>
                    <a:srgbClr val="4A86E8"/>
                  </a:solidFill>
                </a:defRPr>
              </a:pPr>
              <a:r>
                <a:t>Increase the likelihood of obtaining comprehensive access to communication data</a:t>
              </a:r>
            </a:p>
            <a:p>
              <a:pPr lvl="1" marL="914400" indent="-310679">
                <a:buClr>
                  <a:srgbClr val="1F497D"/>
                </a:buClr>
                <a:buSzPts val="1300"/>
                <a:buFont typeface="Arial"/>
                <a:buChar char="○"/>
                <a:defRPr sz="1300">
                  <a:solidFill>
                    <a:srgbClr val="1F497D"/>
                  </a:solidFill>
                </a:defRPr>
              </a:pPr>
              <a:r>
                <a:t>“I need to ensure that I’m accessing all relevant communication data (across emails, texts, and other channels) so my analysis captures the full customer interaction landscape.”</a:t>
              </a:r>
            </a:p>
            <a:p>
              <a:pPr lvl="1" marL="914400" indent="-310679">
                <a:spcBef>
                  <a:spcPts val="1000"/>
                </a:spcBef>
                <a:buClr>
                  <a:srgbClr val="000000"/>
                </a:buClr>
                <a:buSzPts val="1300"/>
                <a:buFont typeface="Arial"/>
                <a:buChar char="○"/>
                <a:defRPr b="1" sz="1300">
                  <a:solidFill>
                    <a:srgbClr val="4A86E8"/>
                  </a:solidFill>
                </a:defRPr>
              </a:pPr>
              <a:r>
                <a:t>Increase the likelihood of clarifying the data structure and schema</a:t>
              </a:r>
            </a:p>
            <a:p>
              <a:pPr lvl="1" marL="914400" indent="-310679">
                <a:buClr>
                  <a:srgbClr val="1F497D"/>
                </a:buClr>
                <a:buSzPts val="1300"/>
                <a:buFont typeface="Arial"/>
                <a:buChar char="○"/>
                <a:defRPr sz="1300">
                  <a:solidFill>
                    <a:srgbClr val="1F497D"/>
                  </a:solidFill>
                </a:defRPr>
              </a:pPr>
              <a:r>
                <a:t>“I want to understand the schema, metadata, and relationships of the identified tables, so I can efficiently query, process, and integrate the data with other customer datasets.”</a:t>
              </a:r>
            </a:p>
            <a:p>
              <a:pPr lvl="1" marL="914400" indent="-310679">
                <a:spcBef>
                  <a:spcPts val="1000"/>
                </a:spcBef>
                <a:buClr>
                  <a:srgbClr val="000000"/>
                </a:buClr>
                <a:buSzPts val="1300"/>
                <a:buFont typeface="Arial"/>
                <a:buChar char="○"/>
                <a:defRPr b="1" sz="1300">
                  <a:solidFill>
                    <a:srgbClr val="4A86E8"/>
                  </a:solidFill>
                </a:defRPr>
              </a:pPr>
              <a:r>
                <a:t>Increase the ability to derive insights for sales optimization</a:t>
              </a:r>
            </a:p>
            <a:p>
              <a:pPr lvl="1" marL="914400" indent="-310679">
                <a:buClr>
                  <a:srgbClr val="1F497D"/>
                </a:buClr>
                <a:buSzPts val="1300"/>
                <a:buFont typeface="Arial"/>
                <a:buChar char="○"/>
                <a:defRPr sz="1300">
                  <a:solidFill>
                    <a:srgbClr val="1F497D"/>
                  </a:solidFill>
                </a:defRPr>
              </a:pPr>
              <a:r>
                <a:t>“I need to analyze the content of customer communications to uncover patterns, sentiment, and preferences that can drive personalized sales strategies and improve customer engagement.”</a:t>
              </a:r>
            </a:p>
            <a:p>
              <a:pPr lvl="1" marL="914400" indent="-310679">
                <a:spcBef>
                  <a:spcPts val="1000"/>
                </a:spcBef>
                <a:buClr>
                  <a:srgbClr val="000000"/>
                </a:buClr>
                <a:buSzPts val="1300"/>
                <a:buFont typeface="Arial"/>
                <a:buChar char="○"/>
                <a:defRPr b="1" sz="1300">
                  <a:solidFill>
                    <a:srgbClr val="4A86E8"/>
                  </a:solidFill>
                </a:defRPr>
              </a:pPr>
              <a:r>
                <a:t>Increase the likelihood that the data is compliant with data privacy and security standards</a:t>
              </a:r>
            </a:p>
            <a:p>
              <a:pPr lvl="1" marL="914400" indent="-310679">
                <a:buClr>
                  <a:srgbClr val="1F497D"/>
                </a:buClr>
                <a:buSzPts val="1300"/>
                <a:buFont typeface="Arial"/>
                <a:buChar char="○"/>
                <a:defRPr sz="1300">
                  <a:solidFill>
                    <a:srgbClr val="1F497D"/>
                  </a:solidFill>
                </a:defRPr>
              </a:pPr>
              <a:r>
                <a:t>“I want to ensure that any analysis of communication content adheres to data privacy regulations and internal security policies, so sensitive customer information is handled responsibly.”</a:t>
              </a:r>
            </a:p>
          </p:txBody>
        </p:sp>
      </p:grpSp>
      <p:grpSp>
        <p:nvGrpSpPr>
          <p:cNvPr id="1341" name="Google Shape;874;p80"/>
          <p:cNvGrpSpPr/>
          <p:nvPr/>
        </p:nvGrpSpPr>
        <p:grpSpPr>
          <a:xfrm>
            <a:off x="13783679" y="-1"/>
            <a:ext cx="846360" cy="1009205"/>
            <a:chOff x="0" y="0"/>
            <a:chExt cx="846359" cy="1009203"/>
          </a:xfrm>
        </p:grpSpPr>
        <p:sp>
          <p:nvSpPr>
            <p:cNvPr id="1337" name="Google Shape;875;p80"/>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40" name="Google Shape;876;p80"/>
            <p:cNvGrpSpPr/>
            <p:nvPr/>
          </p:nvGrpSpPr>
          <p:grpSpPr>
            <a:xfrm>
              <a:off x="55079" y="-1"/>
              <a:ext cx="791281" cy="1009205"/>
              <a:chOff x="0" y="0"/>
              <a:chExt cx="791279" cy="1009203"/>
            </a:xfrm>
          </p:grpSpPr>
          <p:pic>
            <p:nvPicPr>
              <p:cNvPr id="1338" name="Google Shape;877;p80" descr="Google Shape;877;p80"/>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39" name="Google Shape;878;p80"/>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3" name="Google Shape;884;p81"/>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346" name="Google Shape;885;p81"/>
          <p:cNvGrpSpPr/>
          <p:nvPr/>
        </p:nvGrpSpPr>
        <p:grpSpPr>
          <a:xfrm>
            <a:off x="793800" y="2028599"/>
            <a:ext cx="6512760" cy="1791863"/>
            <a:chOff x="0" y="0"/>
            <a:chExt cx="6512759" cy="1791861"/>
          </a:xfrm>
        </p:grpSpPr>
        <p:sp>
          <p:nvSpPr>
            <p:cNvPr id="1344" name="Rectangle"/>
            <p:cNvSpPr/>
            <p:nvPr/>
          </p:nvSpPr>
          <p:spPr>
            <a:xfrm>
              <a:off x="0" y="0"/>
              <a:ext cx="6512760" cy="1782361"/>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345" name="Success Criteria for enabling phase 1 Semantic Search…"/>
            <p:cNvSpPr txBox="1"/>
            <p:nvPr/>
          </p:nvSpPr>
          <p:spPr>
            <a:xfrm>
              <a:off x="14212" y="14212"/>
              <a:ext cx="6484336" cy="17776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3: </a:t>
              </a:r>
            </a:p>
            <a:p>
              <a:pPr lvl="1" marL="914400" indent="-310679">
                <a:spcBef>
                  <a:spcPts val="1000"/>
                </a:spcBef>
                <a:buClr>
                  <a:srgbClr val="000000"/>
                </a:buClr>
                <a:buSzPts val="1300"/>
                <a:buFont typeface="Arial"/>
                <a:buChar char="○"/>
                <a:defRPr sz="1300"/>
              </a:pPr>
              <a:r>
                <a:t>Persona: BI Analyst in Customer Experience</a:t>
              </a:r>
            </a:p>
            <a:p>
              <a:pPr lvl="1" marL="914400" indent="-310679">
                <a:spcBef>
                  <a:spcPts val="1000"/>
                </a:spcBef>
                <a:buClr>
                  <a:srgbClr val="000000"/>
                </a:buClr>
                <a:buSzPts val="1300"/>
                <a:buFont typeface="Arial"/>
                <a:buChar char="○"/>
                <a:defRPr sz="1300"/>
              </a:pPr>
              <a:r>
                <a:t>Scenario A: Find the list of tables that power the FWA dashboard</a:t>
              </a:r>
            </a:p>
          </p:txBody>
        </p:sp>
      </p:grpSp>
      <p:grpSp>
        <p:nvGrpSpPr>
          <p:cNvPr id="1349" name="Google Shape;886;p81"/>
          <p:cNvGrpSpPr/>
          <p:nvPr/>
        </p:nvGrpSpPr>
        <p:grpSpPr>
          <a:xfrm>
            <a:off x="7705439" y="2028599"/>
            <a:ext cx="6693121" cy="5783762"/>
            <a:chOff x="0" y="0"/>
            <a:chExt cx="6693120" cy="5783760"/>
          </a:xfrm>
        </p:grpSpPr>
        <p:sp>
          <p:nvSpPr>
            <p:cNvPr id="1347" name="Rectangle"/>
            <p:cNvSpPr/>
            <p:nvPr/>
          </p:nvSpPr>
          <p:spPr>
            <a:xfrm>
              <a:off x="-1" y="-1"/>
              <a:ext cx="6693122" cy="5783762"/>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348" name="Outcomes…"/>
            <p:cNvSpPr txBox="1"/>
            <p:nvPr/>
          </p:nvSpPr>
          <p:spPr>
            <a:xfrm>
              <a:off x="14212" y="14212"/>
              <a:ext cx="6664696" cy="55876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000000"/>
                </a:buClr>
                <a:buSzPts val="1300"/>
                <a:buFont typeface="Arial"/>
                <a:buChar char="○"/>
                <a:defRPr b="1" sz="1300">
                  <a:solidFill>
                    <a:srgbClr val="4A86E8"/>
                  </a:solidFill>
                </a:defRPr>
              </a:pPr>
              <a:r>
                <a:t>Reduce the effort and time required to identify a list of data sources</a:t>
              </a:r>
            </a:p>
            <a:p>
              <a:pPr lvl="1" marL="914400" indent="-310679">
                <a:buClr>
                  <a:srgbClr val="1F497D"/>
                </a:buClr>
                <a:buSzPts val="1300"/>
                <a:buFont typeface="Arial"/>
                <a:buChar char="○"/>
                <a:defRPr sz="1300">
                  <a:solidFill>
                    <a:srgbClr val="1F497D"/>
                  </a:solidFill>
                </a:defRPr>
              </a:pPr>
              <a:r>
                <a:t>“I want to quickly identify all tables that feed into the Fixed Wireless Access dashboard, so I can minimize time spent on data discovery and focus on analyzing customer experience metrics.”</a:t>
              </a:r>
            </a:p>
            <a:p>
              <a:pPr lvl="1" marL="914400" indent="-310679">
                <a:spcBef>
                  <a:spcPts val="1000"/>
                </a:spcBef>
                <a:buClr>
                  <a:srgbClr val="000000"/>
                </a:buClr>
                <a:buSzPts val="1300"/>
                <a:buFont typeface="Arial"/>
                <a:buChar char="○"/>
                <a:defRPr b="1" sz="1300">
                  <a:solidFill>
                    <a:srgbClr val="4A86E8"/>
                  </a:solidFill>
                </a:defRPr>
              </a:pPr>
              <a:r>
                <a:t>Increase the likelihood of understanding data lineage and any dependencies with the data</a:t>
              </a:r>
            </a:p>
            <a:p>
              <a:pPr lvl="1" marL="914400" indent="-310679">
                <a:buClr>
                  <a:srgbClr val="1F497D"/>
                </a:buClr>
                <a:buSzPts val="1300"/>
                <a:buFont typeface="Arial"/>
                <a:buChar char="○"/>
                <a:defRPr sz="1300">
                  <a:solidFill>
                    <a:srgbClr val="1F497D"/>
                  </a:solidFill>
                </a:defRPr>
              </a:pPr>
              <a:r>
                <a:t>“I need to understand how data flows from source tables to the dashboard, including transformations and dependencies, so I can ensure data accuracy and troubleshoot issues effectively.”</a:t>
              </a:r>
            </a:p>
            <a:p>
              <a:pPr lvl="1" marL="914400" indent="-310679">
                <a:spcBef>
                  <a:spcPts val="1000"/>
                </a:spcBef>
                <a:buClr>
                  <a:srgbClr val="000000"/>
                </a:buClr>
                <a:buSzPts val="1300"/>
                <a:buFont typeface="Arial"/>
                <a:buChar char="○"/>
                <a:defRPr b="1" sz="1300">
                  <a:solidFill>
                    <a:srgbClr val="4A86E8"/>
                  </a:solidFill>
                </a:defRPr>
              </a:pPr>
              <a:r>
                <a:t>Increase the likelihood of obtaining data that has been validated with good data quality and is consistent</a:t>
              </a:r>
            </a:p>
            <a:p>
              <a:pPr lvl="1" marL="914400" indent="-310679">
                <a:buClr>
                  <a:srgbClr val="1F497D"/>
                </a:buClr>
                <a:buSzPts val="1300"/>
                <a:buFont typeface="Arial"/>
                <a:buChar char="○"/>
                <a:defRPr sz="1300">
                  <a:solidFill>
                    <a:srgbClr val="1F497D"/>
                  </a:solidFill>
                </a:defRPr>
              </a:pPr>
              <a:r>
                <a:t>“I want to verify that the data powering the dashboard is consistent, complete, and accurate, so I can trust the insights derived and make confident recommendations to improve customer experience.”</a:t>
              </a:r>
            </a:p>
            <a:p>
              <a:pPr lvl="1" marL="914400" indent="-310679">
                <a:spcBef>
                  <a:spcPts val="1000"/>
                </a:spcBef>
                <a:buClr>
                  <a:srgbClr val="000000"/>
                </a:buClr>
                <a:buSzPts val="1300"/>
                <a:buFont typeface="Arial"/>
                <a:buChar char="○"/>
                <a:defRPr b="1" sz="1300">
                  <a:solidFill>
                    <a:srgbClr val="4A86E8"/>
                  </a:solidFill>
                </a:defRPr>
              </a:pPr>
              <a:r>
                <a:t>Increase the likelihood of improving the performance and optimization of dashboards</a:t>
              </a:r>
            </a:p>
            <a:p>
              <a:pPr lvl="1" marL="914400" indent="-310679">
                <a:buClr>
                  <a:srgbClr val="1F497D"/>
                </a:buClr>
                <a:buSzPts val="1300"/>
                <a:buFont typeface="Arial"/>
                <a:buChar char="○"/>
                <a:defRPr sz="1300">
                  <a:solidFill>
                    <a:srgbClr val="1F497D"/>
                  </a:solidFill>
                </a:defRPr>
              </a:pPr>
              <a:r>
                <a:t>“I need to identify performance bottlenecks in the data sources to optimize query efficiency and dashboard responsiveness, ensuring a seamless experience for stakeholders.”</a:t>
              </a:r>
            </a:p>
            <a:p>
              <a:pPr lvl="1" marL="914400" indent="-310679">
                <a:spcBef>
                  <a:spcPts val="1000"/>
                </a:spcBef>
                <a:buClr>
                  <a:srgbClr val="000000"/>
                </a:buClr>
                <a:buSzPts val="1300"/>
                <a:buFont typeface="Arial"/>
                <a:buChar char="○"/>
                <a:defRPr b="1" sz="1300">
                  <a:solidFill>
                    <a:srgbClr val="4A86E8"/>
                  </a:solidFill>
                </a:defRPr>
              </a:pPr>
              <a:r>
                <a:t>Increase the likelihood of enhancing my ability to customize the insights for wireline data</a:t>
              </a:r>
            </a:p>
            <a:p>
              <a:pPr lvl="1" marL="914400" indent="-310679">
                <a:buClr>
                  <a:srgbClr val="1F497D"/>
                </a:buClr>
                <a:buSzPts val="1300"/>
                <a:buFont typeface="Arial"/>
                <a:buChar char="○"/>
                <a:defRPr sz="1300">
                  <a:solidFill>
                    <a:srgbClr val="1F497D"/>
                  </a:solidFill>
                </a:defRPr>
              </a:pPr>
              <a:r>
                <a:t>“I want to understand the underlying data structure so I can create customized reports or add new metrics to the dashboard, aligning insights more closely with evolving business needs.”</a:t>
              </a:r>
            </a:p>
          </p:txBody>
        </p:sp>
      </p:grpSp>
      <p:grpSp>
        <p:nvGrpSpPr>
          <p:cNvPr id="1354" name="Google Shape;887;p81"/>
          <p:cNvGrpSpPr/>
          <p:nvPr/>
        </p:nvGrpSpPr>
        <p:grpSpPr>
          <a:xfrm>
            <a:off x="13783679" y="-1"/>
            <a:ext cx="846360" cy="1009205"/>
            <a:chOff x="0" y="0"/>
            <a:chExt cx="846359" cy="1009203"/>
          </a:xfrm>
        </p:grpSpPr>
        <p:sp>
          <p:nvSpPr>
            <p:cNvPr id="1350" name="Google Shape;888;p81"/>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53" name="Google Shape;889;p81"/>
            <p:cNvGrpSpPr/>
            <p:nvPr/>
          </p:nvGrpSpPr>
          <p:grpSpPr>
            <a:xfrm>
              <a:off x="55079" y="-1"/>
              <a:ext cx="791281" cy="1009205"/>
              <a:chOff x="0" y="0"/>
              <a:chExt cx="791279" cy="1009203"/>
            </a:xfrm>
          </p:grpSpPr>
          <p:pic>
            <p:nvPicPr>
              <p:cNvPr id="1351" name="Google Shape;890;p81" descr="Google Shape;890;p81"/>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52" name="Google Shape;891;p81"/>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6" name="Google Shape;897;p82"/>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359" name="Google Shape;898;p82"/>
          <p:cNvGrpSpPr/>
          <p:nvPr/>
        </p:nvGrpSpPr>
        <p:grpSpPr>
          <a:xfrm>
            <a:off x="793800" y="2028600"/>
            <a:ext cx="6512760" cy="1982362"/>
            <a:chOff x="0" y="0"/>
            <a:chExt cx="6512759" cy="1982361"/>
          </a:xfrm>
        </p:grpSpPr>
        <p:sp>
          <p:nvSpPr>
            <p:cNvPr id="1357" name="Rectangle"/>
            <p:cNvSpPr/>
            <p:nvPr/>
          </p:nvSpPr>
          <p:spPr>
            <a:xfrm>
              <a:off x="0" y="0"/>
              <a:ext cx="6512760" cy="1980359"/>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358" name="Success Criteria for enabling phase 1 Semantic Search…"/>
            <p:cNvSpPr txBox="1"/>
            <p:nvPr/>
          </p:nvSpPr>
          <p:spPr>
            <a:xfrm>
              <a:off x="14212" y="14212"/>
              <a:ext cx="6484336" cy="1968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4: </a:t>
              </a:r>
            </a:p>
            <a:p>
              <a:pPr lvl="1" marL="914400" indent="-310679">
                <a:spcBef>
                  <a:spcPts val="1000"/>
                </a:spcBef>
                <a:buClr>
                  <a:srgbClr val="000000"/>
                </a:buClr>
                <a:buSzPts val="1300"/>
                <a:buFont typeface="Arial"/>
                <a:buChar char="○"/>
                <a:defRPr sz="1300"/>
              </a:pPr>
              <a:r>
                <a:t>Persona: Sr Analyst in CS Strategy, Experience</a:t>
              </a:r>
            </a:p>
            <a:p>
              <a:pPr lvl="1" marL="914400" indent="-310679">
                <a:spcBef>
                  <a:spcPts val="1000"/>
                </a:spcBef>
                <a:buClr>
                  <a:srgbClr val="000000"/>
                </a:buClr>
                <a:buSzPts val="1300"/>
                <a:buFont typeface="Arial"/>
                <a:buChar char="○"/>
                <a:defRPr sz="1300"/>
              </a:pPr>
              <a:r>
                <a:t>Scenario A: Find a table / logic / or PoC for credit risk assessment.  IE what factors are used to determine a customer’s credit risk CD</a:t>
              </a:r>
            </a:p>
          </p:txBody>
        </p:sp>
      </p:grpSp>
      <p:grpSp>
        <p:nvGrpSpPr>
          <p:cNvPr id="1362" name="Google Shape;899;p82"/>
          <p:cNvGrpSpPr/>
          <p:nvPr/>
        </p:nvGrpSpPr>
        <p:grpSpPr>
          <a:xfrm>
            <a:off x="7705439" y="2028600"/>
            <a:ext cx="6693121" cy="5189760"/>
            <a:chOff x="0" y="0"/>
            <a:chExt cx="6693120" cy="5189759"/>
          </a:xfrm>
        </p:grpSpPr>
        <p:sp>
          <p:nvSpPr>
            <p:cNvPr id="1360" name="Rectangle"/>
            <p:cNvSpPr/>
            <p:nvPr/>
          </p:nvSpPr>
          <p:spPr>
            <a:xfrm>
              <a:off x="-1" y="0"/>
              <a:ext cx="6693122" cy="5189760"/>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361" name="Outcomes…"/>
            <p:cNvSpPr txBox="1"/>
            <p:nvPr/>
          </p:nvSpPr>
          <p:spPr>
            <a:xfrm>
              <a:off x="14212" y="14212"/>
              <a:ext cx="6664696" cy="5016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000000"/>
                </a:buClr>
                <a:buSzPts val="1300"/>
                <a:buFont typeface="Arial"/>
                <a:buChar char="○"/>
                <a:defRPr b="1" sz="1300">
                  <a:solidFill>
                    <a:srgbClr val="4A86E8"/>
                  </a:solidFill>
                </a:defRPr>
              </a:pPr>
              <a:r>
                <a:t>Increase the likelihood of clearly identifying credit risk factors</a:t>
              </a:r>
            </a:p>
            <a:p>
              <a:pPr lvl="1" marL="914400" indent="-310679">
                <a:buClr>
                  <a:srgbClr val="1F497D"/>
                </a:buClr>
                <a:buSzPts val="1300"/>
                <a:buFont typeface="Arial"/>
                <a:buChar char="○"/>
                <a:defRPr sz="1300">
                  <a:solidFill>
                    <a:srgbClr val="1F497D"/>
                  </a:solidFill>
                </a:defRPr>
              </a:pPr>
              <a:r>
                <a:t>“I want to quickly identify the specific tables and data points that capture the factors used in credit risk assessments, so I can understand what drives customer risk profiles.”</a:t>
              </a:r>
            </a:p>
            <a:p>
              <a:pPr lvl="1" marL="914400" indent="-310679">
                <a:spcBef>
                  <a:spcPts val="1000"/>
                </a:spcBef>
                <a:buClr>
                  <a:srgbClr val="000000"/>
                </a:buClr>
                <a:buSzPts val="1300"/>
                <a:buFont typeface="Arial"/>
                <a:buChar char="○"/>
                <a:defRPr b="1" sz="1300">
                  <a:solidFill>
                    <a:srgbClr val="4A86E8"/>
                  </a:solidFill>
                </a:defRPr>
              </a:pPr>
              <a:r>
                <a:t>Increase the likelihood of improving visibility into risk assessment logic and models</a:t>
              </a:r>
            </a:p>
            <a:p>
              <a:pPr lvl="1" marL="914400" indent="-310679">
                <a:buClr>
                  <a:srgbClr val="1F497D"/>
                </a:buClr>
                <a:buSzPts val="1300"/>
                <a:buFont typeface="Arial"/>
                <a:buChar char="○"/>
                <a:defRPr sz="1300">
                  <a:solidFill>
                    <a:srgbClr val="1F497D"/>
                  </a:solidFill>
                </a:defRPr>
              </a:pPr>
              <a:r>
                <a:t>“I need to access the logic, algorithms, or PoC models behind credit risk calculations, so I can evaluate how different factors are weighted and how risk scores are derived.”</a:t>
              </a:r>
            </a:p>
            <a:p>
              <a:pPr lvl="1" marL="914400" indent="-310679">
                <a:spcBef>
                  <a:spcPts val="1000"/>
                </a:spcBef>
                <a:buClr>
                  <a:srgbClr val="000000"/>
                </a:buClr>
                <a:buSzPts val="1300"/>
                <a:buFont typeface="Arial"/>
                <a:buChar char="○"/>
                <a:defRPr b="1" sz="1300">
                  <a:solidFill>
                    <a:srgbClr val="4A86E8"/>
                  </a:solidFill>
                </a:defRPr>
              </a:pPr>
              <a:r>
                <a:t>Increase the ability to analyze the impact on customer experience</a:t>
              </a:r>
            </a:p>
            <a:p>
              <a:pPr lvl="1" marL="914400" indent="-310679">
                <a:buClr>
                  <a:srgbClr val="1F497D"/>
                </a:buClr>
                <a:buSzPts val="1300"/>
                <a:buFont typeface="Arial"/>
                <a:buChar char="○"/>
                <a:defRPr sz="1300">
                  <a:solidFill>
                    <a:srgbClr val="1F497D"/>
                  </a:solidFill>
                </a:defRPr>
              </a:pPr>
              <a:r>
                <a:t>“I want to analyze how credit risk assessments influence customer journeys and decision points, so I can recommend strategies that balance risk management with a positive customer experience.”</a:t>
              </a:r>
            </a:p>
            <a:p>
              <a:pPr lvl="1" marL="914400" indent="-310679">
                <a:spcBef>
                  <a:spcPts val="1000"/>
                </a:spcBef>
                <a:buClr>
                  <a:srgbClr val="000000"/>
                </a:buClr>
                <a:buSzPts val="1300"/>
                <a:buFont typeface="Arial"/>
                <a:buChar char="○"/>
                <a:defRPr b="1" sz="1300">
                  <a:solidFill>
                    <a:srgbClr val="4A86E8"/>
                  </a:solidFill>
                </a:defRPr>
              </a:pPr>
              <a:r>
                <a:t>Increase the likelihood of obtaining insights into historical risk trends</a:t>
              </a:r>
            </a:p>
            <a:p>
              <a:pPr lvl="1" marL="914400" indent="-310679">
                <a:buClr>
                  <a:srgbClr val="1F497D"/>
                </a:buClr>
                <a:buSzPts val="1300"/>
                <a:buFont typeface="Arial"/>
                <a:buChar char="○"/>
                <a:defRPr sz="1300">
                  <a:solidFill>
                    <a:srgbClr val="1F497D"/>
                  </a:solidFill>
                </a:defRPr>
              </a:pPr>
              <a:r>
                <a:t>“I need to explore historical credit risk data to identify trends and patterns, enabling me to predict potential risks and support proactive strategy development.”</a:t>
              </a:r>
            </a:p>
            <a:p>
              <a:pPr lvl="1" marL="914400" indent="-310679">
                <a:spcBef>
                  <a:spcPts val="1000"/>
                </a:spcBef>
                <a:buClr>
                  <a:srgbClr val="000000"/>
                </a:buClr>
                <a:buSzPts val="1300"/>
                <a:buFont typeface="Arial"/>
                <a:buChar char="○"/>
                <a:defRPr b="1" sz="1300">
                  <a:solidFill>
                    <a:srgbClr val="4A86E8"/>
                  </a:solidFill>
                </a:defRPr>
              </a:pPr>
              <a:r>
                <a:t>Increase the ability to support data-driven decision making</a:t>
              </a:r>
            </a:p>
            <a:p>
              <a:pPr lvl="1" marL="914400" indent="-310679">
                <a:buClr>
                  <a:srgbClr val="1F497D"/>
                </a:buClr>
                <a:buSzPts val="1300"/>
                <a:buFont typeface="Arial"/>
                <a:buChar char="○"/>
                <a:defRPr sz="1300">
                  <a:solidFill>
                    <a:srgbClr val="1F497D"/>
                  </a:solidFill>
                </a:defRPr>
              </a:pPr>
              <a:r>
                <a:t>“I want to leverage credit risk assessment data to inform strategic decisions, such as refining eligibility criteria for offers or adjusting risk thresholds to optimize business outcomes.”</a:t>
              </a:r>
            </a:p>
          </p:txBody>
        </p:sp>
      </p:grpSp>
      <p:grpSp>
        <p:nvGrpSpPr>
          <p:cNvPr id="1367" name="Google Shape;900;p82"/>
          <p:cNvGrpSpPr/>
          <p:nvPr/>
        </p:nvGrpSpPr>
        <p:grpSpPr>
          <a:xfrm>
            <a:off x="13783679" y="-1"/>
            <a:ext cx="846360" cy="1009205"/>
            <a:chOff x="0" y="0"/>
            <a:chExt cx="846359" cy="1009203"/>
          </a:xfrm>
        </p:grpSpPr>
        <p:sp>
          <p:nvSpPr>
            <p:cNvPr id="1363" name="Google Shape;901;p82"/>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66" name="Google Shape;902;p82"/>
            <p:cNvGrpSpPr/>
            <p:nvPr/>
          </p:nvGrpSpPr>
          <p:grpSpPr>
            <a:xfrm>
              <a:off x="55079" y="-1"/>
              <a:ext cx="791281" cy="1009205"/>
              <a:chOff x="0" y="0"/>
              <a:chExt cx="791279" cy="1009203"/>
            </a:xfrm>
          </p:grpSpPr>
          <p:pic>
            <p:nvPicPr>
              <p:cNvPr id="1364" name="Google Shape;903;p82" descr="Google Shape;903;p82"/>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65" name="Google Shape;904;p82"/>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9" name="Google Shape;910;p83"/>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372" name="Google Shape;911;p83"/>
          <p:cNvGrpSpPr/>
          <p:nvPr/>
        </p:nvGrpSpPr>
        <p:grpSpPr>
          <a:xfrm>
            <a:off x="793800" y="2028599"/>
            <a:ext cx="6512760" cy="1791863"/>
            <a:chOff x="0" y="0"/>
            <a:chExt cx="6512759" cy="1791861"/>
          </a:xfrm>
        </p:grpSpPr>
        <p:sp>
          <p:nvSpPr>
            <p:cNvPr id="1370" name="Rectangle"/>
            <p:cNvSpPr/>
            <p:nvPr/>
          </p:nvSpPr>
          <p:spPr>
            <a:xfrm>
              <a:off x="0" y="0"/>
              <a:ext cx="6512760" cy="1782361"/>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371" name="Success Criteria for enabling phase 1 Semantic Search…"/>
            <p:cNvSpPr txBox="1"/>
            <p:nvPr/>
          </p:nvSpPr>
          <p:spPr>
            <a:xfrm>
              <a:off x="14212" y="14212"/>
              <a:ext cx="6484336" cy="17776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5: </a:t>
              </a:r>
            </a:p>
            <a:p>
              <a:pPr lvl="1" marL="914400" indent="-310679">
                <a:spcBef>
                  <a:spcPts val="1000"/>
                </a:spcBef>
                <a:buClr>
                  <a:srgbClr val="000000"/>
                </a:buClr>
                <a:buSzPts val="1300"/>
                <a:buFont typeface="Arial"/>
                <a:buChar char="○"/>
                <a:defRPr sz="1300"/>
              </a:pPr>
              <a:r>
                <a:t>Persona: BI Analyst in Marketing</a:t>
              </a:r>
            </a:p>
            <a:p>
              <a:pPr lvl="1" marL="914400" indent="-310679">
                <a:spcBef>
                  <a:spcPts val="1000"/>
                </a:spcBef>
                <a:buClr>
                  <a:srgbClr val="000000"/>
                </a:buClr>
                <a:buSzPts val="1300"/>
                <a:buFont typeface="Arial"/>
                <a:buChar char="○"/>
                <a:defRPr sz="1300"/>
              </a:pPr>
              <a:r>
                <a:t>Scenario A: Find table(s) with Fios Voice Agent Assistant data</a:t>
              </a:r>
            </a:p>
          </p:txBody>
        </p:sp>
      </p:grpSp>
      <p:grpSp>
        <p:nvGrpSpPr>
          <p:cNvPr id="1375" name="Google Shape;912;p83"/>
          <p:cNvGrpSpPr/>
          <p:nvPr/>
        </p:nvGrpSpPr>
        <p:grpSpPr>
          <a:xfrm>
            <a:off x="7705439" y="2028599"/>
            <a:ext cx="6693121" cy="5585762"/>
            <a:chOff x="0" y="0"/>
            <a:chExt cx="6693120" cy="5585760"/>
          </a:xfrm>
        </p:grpSpPr>
        <p:sp>
          <p:nvSpPr>
            <p:cNvPr id="1373" name="Rectangle"/>
            <p:cNvSpPr/>
            <p:nvPr/>
          </p:nvSpPr>
          <p:spPr>
            <a:xfrm>
              <a:off x="-1" y="-1"/>
              <a:ext cx="6693122" cy="5585762"/>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374" name="Outcomes…"/>
            <p:cNvSpPr txBox="1"/>
            <p:nvPr/>
          </p:nvSpPr>
          <p:spPr>
            <a:xfrm>
              <a:off x="14212" y="14212"/>
              <a:ext cx="6664696" cy="53971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1F497D"/>
                </a:buClr>
                <a:buSzPts val="1300"/>
                <a:buFont typeface="Arial"/>
                <a:buChar char="○"/>
                <a:defRPr b="1" sz="1300">
                  <a:solidFill>
                    <a:srgbClr val="4A86E8"/>
                  </a:solidFill>
                </a:defRPr>
              </a:pPr>
              <a:r>
                <a:t>Increase the likelihood of quickly discovering relevant data tables</a:t>
              </a:r>
            </a:p>
            <a:p>
              <a:pPr lvl="1" marL="914400" indent="-310679">
                <a:buClr>
                  <a:srgbClr val="1F497D"/>
                </a:buClr>
                <a:buSzPts val="1300"/>
                <a:buFont typeface="Arial"/>
                <a:buChar char="○"/>
                <a:defRPr sz="1300">
                  <a:solidFill>
                    <a:srgbClr val="1F497D"/>
                  </a:solidFill>
                </a:defRPr>
              </a:pPr>
              <a:r>
                <a:t>“I want to easily identify the specific tables that contain Fios Voice Agent Assistant data, so I can reduce time spent searching and focus on data analysis.”</a:t>
              </a:r>
            </a:p>
            <a:p>
              <a:pPr lvl="1" marL="914400" indent="-310679">
                <a:spcBef>
                  <a:spcPts val="1000"/>
                </a:spcBef>
                <a:buClr>
                  <a:srgbClr val="1F497D"/>
                </a:buClr>
                <a:buSzPts val="1300"/>
                <a:buFont typeface="Arial"/>
                <a:buChar char="○"/>
                <a:defRPr b="1" sz="1300">
                  <a:solidFill>
                    <a:srgbClr val="4A86E8"/>
                  </a:solidFill>
                </a:defRPr>
              </a:pPr>
              <a:r>
                <a:t>Increase the likelihood of having access to comprehensive interaction data</a:t>
              </a:r>
            </a:p>
            <a:p>
              <a:pPr lvl="1" marL="914400" indent="-310679">
                <a:buClr>
                  <a:srgbClr val="1F497D"/>
                </a:buClr>
                <a:buSzPts val="1300"/>
                <a:buFont typeface="Arial"/>
                <a:buChar char="○"/>
                <a:defRPr sz="1300">
                  <a:solidFill>
                    <a:srgbClr val="1F497D"/>
                  </a:solidFill>
                </a:defRPr>
              </a:pPr>
              <a:r>
                <a:t>“I need to find tables that capture detailed customer interactions with the Fios Voice Agent Assistant, so I can analyze patterns in usage, queries, and customer engagement.”</a:t>
              </a:r>
            </a:p>
            <a:p>
              <a:pPr lvl="1" marL="914400" indent="-310679">
                <a:spcBef>
                  <a:spcPts val="1000"/>
                </a:spcBef>
                <a:buClr>
                  <a:srgbClr val="1F497D"/>
                </a:buClr>
                <a:buSzPts val="1300"/>
                <a:buFont typeface="Arial"/>
                <a:buChar char="○"/>
                <a:defRPr b="1" sz="1300">
                  <a:solidFill>
                    <a:srgbClr val="4A86E8"/>
                  </a:solidFill>
                </a:defRPr>
              </a:pPr>
              <a:r>
                <a:t>Increase the ability to link voice assistant data with marketing metrics</a:t>
              </a:r>
            </a:p>
            <a:p>
              <a:pPr lvl="1" marL="914400" indent="-310679">
                <a:buClr>
                  <a:srgbClr val="1F497D"/>
                </a:buClr>
                <a:buSzPts val="1300"/>
                <a:buFont typeface="Arial"/>
                <a:buChar char="○"/>
                <a:defRPr sz="1300">
                  <a:solidFill>
                    <a:srgbClr val="1F497D"/>
                  </a:solidFill>
                </a:defRPr>
              </a:pPr>
              <a:r>
                <a:t>“I want to connect Voice Agent Assistant data with existing marketing performance metrics, so I can measure its impact on customer acquisition, retention, and satisfaction.”</a:t>
              </a:r>
            </a:p>
            <a:p>
              <a:pPr lvl="1" marL="914400" indent="-310679">
                <a:spcBef>
                  <a:spcPts val="1000"/>
                </a:spcBef>
                <a:buClr>
                  <a:srgbClr val="1F497D"/>
                </a:buClr>
                <a:buSzPts val="1300"/>
                <a:buFont typeface="Arial"/>
                <a:buChar char="○"/>
                <a:defRPr b="1" sz="1300">
                  <a:solidFill>
                    <a:srgbClr val="4A86E8"/>
                  </a:solidFill>
                </a:defRPr>
              </a:pPr>
              <a:r>
                <a:t>Increase the likelihood of obtaining insights into customer behavior and preferences</a:t>
              </a:r>
            </a:p>
            <a:p>
              <a:pPr lvl="1" marL="914400" indent="-310679">
                <a:buClr>
                  <a:srgbClr val="1F497D"/>
                </a:buClr>
                <a:buSzPts val="1300"/>
                <a:buFont typeface="Arial"/>
                <a:buChar char="○"/>
                <a:defRPr sz="1300">
                  <a:solidFill>
                    <a:srgbClr val="1F497D"/>
                  </a:solidFill>
                </a:defRPr>
              </a:pPr>
              <a:r>
                <a:t>“I need data that helps me understand how customers interact with the Voice Agent Assistant, so I can uncover insights about customer needs, preferences, and common issues.”</a:t>
              </a:r>
            </a:p>
            <a:p>
              <a:pPr lvl="1" marL="914400" indent="-310679">
                <a:spcBef>
                  <a:spcPts val="1000"/>
                </a:spcBef>
                <a:buClr>
                  <a:srgbClr val="1F497D"/>
                </a:buClr>
                <a:buSzPts val="1300"/>
                <a:buFont typeface="Arial"/>
                <a:buChar char="○"/>
                <a:defRPr b="1" sz="1300">
                  <a:solidFill>
                    <a:srgbClr val="4A86E8"/>
                  </a:solidFill>
                </a:defRPr>
              </a:pPr>
              <a:r>
                <a:t>Increase the likelihood of obtaining support for data-driven campaign strategies</a:t>
              </a:r>
            </a:p>
            <a:p>
              <a:pPr lvl="1" marL="914400" indent="-310679">
                <a:buClr>
                  <a:srgbClr val="1F497D"/>
                </a:buClr>
                <a:buSzPts val="1300"/>
                <a:buFont typeface="Arial"/>
                <a:buChar char="○"/>
                <a:defRPr sz="1300">
                  <a:solidFill>
                    <a:srgbClr val="1F497D"/>
                  </a:solidFill>
                </a:defRPr>
              </a:pPr>
              <a:r>
                <a:t>“I want to leverage Fios Voice Agent Assistant data to inform marketing strategies, so I can create targeted campaigns that address customer pain points and improve engagement.”</a:t>
              </a:r>
            </a:p>
          </p:txBody>
        </p:sp>
      </p:grpSp>
      <p:grpSp>
        <p:nvGrpSpPr>
          <p:cNvPr id="1380" name="Google Shape;913;p83"/>
          <p:cNvGrpSpPr/>
          <p:nvPr/>
        </p:nvGrpSpPr>
        <p:grpSpPr>
          <a:xfrm>
            <a:off x="13783679" y="-1"/>
            <a:ext cx="846360" cy="1009205"/>
            <a:chOff x="0" y="0"/>
            <a:chExt cx="846359" cy="1009203"/>
          </a:xfrm>
        </p:grpSpPr>
        <p:sp>
          <p:nvSpPr>
            <p:cNvPr id="1376" name="Google Shape;914;p83"/>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79" name="Google Shape;915;p83"/>
            <p:cNvGrpSpPr/>
            <p:nvPr/>
          </p:nvGrpSpPr>
          <p:grpSpPr>
            <a:xfrm>
              <a:off x="55079" y="-1"/>
              <a:ext cx="791281" cy="1009205"/>
              <a:chOff x="0" y="0"/>
              <a:chExt cx="791279" cy="1009203"/>
            </a:xfrm>
          </p:grpSpPr>
          <p:pic>
            <p:nvPicPr>
              <p:cNvPr id="1377" name="Google Shape;916;p83" descr="Google Shape;916;p83"/>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78" name="Google Shape;917;p83"/>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2" name="Google Shape;923;p84"/>
          <p:cNvSpPr txBox="1"/>
          <p:nvPr/>
        </p:nvSpPr>
        <p:spPr>
          <a:xfrm>
            <a:off x="793799" y="1023119"/>
            <a:ext cx="11346482"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Semantic Search (Needs + Outcomes)</a:t>
            </a:r>
          </a:p>
        </p:txBody>
      </p:sp>
      <p:grpSp>
        <p:nvGrpSpPr>
          <p:cNvPr id="1385" name="Google Shape;924;p84"/>
          <p:cNvGrpSpPr/>
          <p:nvPr/>
        </p:nvGrpSpPr>
        <p:grpSpPr>
          <a:xfrm>
            <a:off x="793800" y="2028599"/>
            <a:ext cx="6512760" cy="1791863"/>
            <a:chOff x="0" y="0"/>
            <a:chExt cx="6512759" cy="1791861"/>
          </a:xfrm>
        </p:grpSpPr>
        <p:sp>
          <p:nvSpPr>
            <p:cNvPr id="1383" name="Rectangle"/>
            <p:cNvSpPr/>
            <p:nvPr/>
          </p:nvSpPr>
          <p:spPr>
            <a:xfrm>
              <a:off x="0" y="0"/>
              <a:ext cx="6512760" cy="1782361"/>
            </a:xfrm>
            <a:prstGeom prst="rect">
              <a:avLst/>
            </a:prstGeom>
            <a:noFill/>
            <a:ln w="28425" cap="flat">
              <a:solidFill>
                <a:srgbClr val="B2D4E5"/>
              </a:solidFill>
              <a:prstDash val="solid"/>
              <a:round/>
            </a:ln>
            <a:effectLst/>
          </p:spPr>
          <p:txBody>
            <a:bodyPr wrap="square" lIns="0" tIns="0" rIns="0" bIns="0" numCol="1" anchor="t">
              <a:noAutofit/>
            </a:bodyPr>
            <a:lstStyle/>
            <a:p>
              <a:pPr>
                <a:spcBef>
                  <a:spcPts val="1000"/>
                </a:spcBef>
                <a:defRPr sz="1300"/>
              </a:pPr>
            </a:p>
          </p:txBody>
        </p:sp>
        <p:sp>
          <p:nvSpPr>
            <p:cNvPr id="1384" name="Success Criteria for enabling phase 1 Semantic Search…"/>
            <p:cNvSpPr txBox="1"/>
            <p:nvPr/>
          </p:nvSpPr>
          <p:spPr>
            <a:xfrm>
              <a:off x="14212" y="14212"/>
              <a:ext cx="6484336" cy="17776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a:defRPr b="1" sz="1600"/>
              </a:pPr>
              <a:r>
                <a:t>Success Criteria for enabling phase 1 Semantic Search</a:t>
              </a:r>
            </a:p>
            <a:p>
              <a:pPr/>
              <a:endParaRPr sz="1600"/>
            </a:p>
            <a:p>
              <a:pPr marL="457200" indent="-310679">
                <a:buClr>
                  <a:srgbClr val="000000"/>
                </a:buClr>
                <a:buSzPts val="1300"/>
                <a:buFont typeface="Arial"/>
                <a:buChar char="●"/>
                <a:defRPr sz="1300"/>
              </a:pPr>
              <a:r>
                <a:t>Scenario 5: </a:t>
              </a:r>
            </a:p>
            <a:p>
              <a:pPr lvl="1" marL="914400" indent="-310679">
                <a:spcBef>
                  <a:spcPts val="1000"/>
                </a:spcBef>
                <a:buClr>
                  <a:srgbClr val="000000"/>
                </a:buClr>
                <a:buSzPts val="1300"/>
                <a:buFont typeface="Arial"/>
                <a:buChar char="○"/>
                <a:defRPr sz="1300"/>
              </a:pPr>
              <a:r>
                <a:t>Persona: BI Analyst in Marketing</a:t>
              </a:r>
            </a:p>
            <a:p>
              <a:pPr lvl="1" marL="914400" indent="-310679">
                <a:spcBef>
                  <a:spcPts val="1000"/>
                </a:spcBef>
                <a:buClr>
                  <a:srgbClr val="000000"/>
                </a:buClr>
                <a:buSzPts val="1300"/>
                <a:buFont typeface="Arial"/>
                <a:buChar char="○"/>
                <a:defRPr sz="1300"/>
              </a:pPr>
              <a:r>
                <a:t>Scenario A: Find table(s) with Fios Voice Agent Assistant data</a:t>
              </a:r>
            </a:p>
          </p:txBody>
        </p:sp>
      </p:grpSp>
      <p:grpSp>
        <p:nvGrpSpPr>
          <p:cNvPr id="1388" name="Google Shape;925;p84"/>
          <p:cNvGrpSpPr/>
          <p:nvPr/>
        </p:nvGrpSpPr>
        <p:grpSpPr>
          <a:xfrm>
            <a:off x="7705439" y="2028600"/>
            <a:ext cx="6693121" cy="5220862"/>
            <a:chOff x="0" y="0"/>
            <a:chExt cx="6693120" cy="5220861"/>
          </a:xfrm>
        </p:grpSpPr>
        <p:sp>
          <p:nvSpPr>
            <p:cNvPr id="1386" name="Rectangle"/>
            <p:cNvSpPr/>
            <p:nvPr/>
          </p:nvSpPr>
          <p:spPr>
            <a:xfrm>
              <a:off x="0" y="0"/>
              <a:ext cx="6693121" cy="5189760"/>
            </a:xfrm>
            <a:prstGeom prst="rect">
              <a:avLst/>
            </a:prstGeom>
            <a:noFill/>
            <a:ln w="28425" cap="flat">
              <a:solidFill>
                <a:srgbClr val="B2D4E5"/>
              </a:solidFill>
              <a:prstDash val="solid"/>
              <a:round/>
            </a:ln>
            <a:effectLst/>
          </p:spPr>
          <p:txBody>
            <a:bodyPr wrap="square" lIns="0" tIns="0" rIns="0" bIns="0" numCol="1" anchor="t">
              <a:noAutofit/>
            </a:bodyPr>
            <a:lstStyle/>
            <a:p>
              <a:pPr>
                <a:defRPr sz="1300"/>
              </a:pPr>
            </a:p>
          </p:txBody>
        </p:sp>
        <p:sp>
          <p:nvSpPr>
            <p:cNvPr id="1387" name="Outcomes…"/>
            <p:cNvSpPr txBox="1"/>
            <p:nvPr/>
          </p:nvSpPr>
          <p:spPr>
            <a:xfrm>
              <a:off x="14212" y="14212"/>
              <a:ext cx="6664696" cy="52066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457200" indent="-317160">
                <a:buClr>
                  <a:srgbClr val="000000"/>
                </a:buClr>
                <a:buSzPts val="1400"/>
                <a:buFont typeface="Arial"/>
                <a:buChar char="●"/>
                <a:defRPr b="1"/>
              </a:pPr>
              <a:r>
                <a:t>Outcomes </a:t>
              </a:r>
            </a:p>
            <a:p>
              <a:pPr lvl="1" marL="914400" indent="-310679">
                <a:spcBef>
                  <a:spcPts val="1000"/>
                </a:spcBef>
                <a:buClr>
                  <a:srgbClr val="1F497D"/>
                </a:buClr>
                <a:buSzPts val="1300"/>
                <a:buFont typeface="Arial"/>
                <a:buChar char="○"/>
                <a:defRPr b="1" sz="1300">
                  <a:solidFill>
                    <a:srgbClr val="4A86E8"/>
                  </a:solidFill>
                </a:defRPr>
              </a:pPr>
              <a:r>
                <a:t>Increase the likelihood of accurately identifying FiOS-eligible customers</a:t>
              </a:r>
            </a:p>
            <a:p>
              <a:pPr lvl="1" marL="914400" indent="-310679">
                <a:buClr>
                  <a:srgbClr val="1F497D"/>
                </a:buClr>
                <a:buSzPts val="1300"/>
                <a:buFont typeface="Arial"/>
                <a:buChar char="○"/>
                <a:defRPr sz="1300">
                  <a:solidFill>
                    <a:srgbClr val="1F497D"/>
                  </a:solidFill>
                </a:defRPr>
              </a:pPr>
              <a:r>
                <a:t>“I want to quickly identify whether a specific CUST_ID or ACCT_NUM falls within the FiOS service footprint, so I can target the right customers for FiOS-specific marketing campaigns.”</a:t>
              </a:r>
            </a:p>
            <a:p>
              <a:pPr lvl="1" marL="914400" indent="-310679">
                <a:spcBef>
                  <a:spcPts val="1000"/>
                </a:spcBef>
                <a:buClr>
                  <a:srgbClr val="1F497D"/>
                </a:buClr>
                <a:buSzPts val="1300"/>
                <a:buFont typeface="Arial"/>
                <a:buChar char="○"/>
                <a:defRPr b="1" sz="1300">
                  <a:solidFill>
                    <a:srgbClr val="4A86E8"/>
                  </a:solidFill>
                </a:defRPr>
              </a:pPr>
              <a:r>
                <a:t>Increase the likelihood of seamlessly integrating with marketing data</a:t>
              </a:r>
            </a:p>
            <a:p>
              <a:pPr lvl="1" marL="914400" indent="-310679">
                <a:buClr>
                  <a:srgbClr val="1F497D"/>
                </a:buClr>
                <a:buSzPts val="1300"/>
                <a:buFont typeface="Arial"/>
                <a:buChar char="○"/>
                <a:defRPr sz="1300">
                  <a:solidFill>
                    <a:srgbClr val="1F497D"/>
                  </a:solidFill>
                </a:defRPr>
              </a:pPr>
              <a:r>
                <a:t>“I need an indicator that can be easily integrated into existing marketing databases and dashboards, so I can streamline segmentation and campaign automation without additional data wrangling.”</a:t>
              </a:r>
            </a:p>
            <a:p>
              <a:pPr lvl="1" marL="914400" indent="-310679">
                <a:spcBef>
                  <a:spcPts val="1000"/>
                </a:spcBef>
                <a:buClr>
                  <a:srgbClr val="1F497D"/>
                </a:buClr>
                <a:buSzPts val="1300"/>
                <a:buFont typeface="Arial"/>
                <a:buChar char="○"/>
                <a:defRPr b="1" sz="1300">
                  <a:solidFill>
                    <a:srgbClr val="4A86E8"/>
                  </a:solidFill>
                </a:defRPr>
              </a:pPr>
              <a:r>
                <a:t>Increase the likelihood of supporting Real-Time or near Real-Time availability and accessibility</a:t>
              </a:r>
            </a:p>
            <a:p>
              <a:pPr lvl="1" marL="914400" indent="-310679">
                <a:buClr>
                  <a:srgbClr val="1F497D"/>
                </a:buClr>
                <a:buSzPts val="1300"/>
                <a:buFont typeface="Arial"/>
                <a:buChar char="○"/>
                <a:defRPr sz="1300">
                  <a:solidFill>
                    <a:srgbClr val="1F497D"/>
                  </a:solidFill>
                </a:defRPr>
              </a:pPr>
              <a:r>
                <a:t>“I want to access up-to-date information on FiOS footprint eligibility, so I can ensure marketing decisions are based on the latest service availability data.”</a:t>
              </a:r>
            </a:p>
            <a:p>
              <a:pPr lvl="1" marL="914400" indent="-310679">
                <a:spcBef>
                  <a:spcPts val="1000"/>
                </a:spcBef>
                <a:buClr>
                  <a:srgbClr val="1F497D"/>
                </a:buClr>
                <a:buSzPts val="1300"/>
                <a:buFont typeface="Arial"/>
                <a:buChar char="○"/>
                <a:defRPr b="1" sz="1300">
                  <a:solidFill>
                    <a:srgbClr val="4A86E8"/>
                  </a:solidFill>
                </a:defRPr>
              </a:pPr>
              <a:r>
                <a:t>Increase the ability to support key marketing campaigns</a:t>
              </a:r>
            </a:p>
            <a:p>
              <a:pPr lvl="1" marL="914400" indent="-310679">
                <a:buClr>
                  <a:srgbClr val="1F497D"/>
                </a:buClr>
                <a:buSzPts val="1300"/>
                <a:buFont typeface="Arial"/>
                <a:buChar char="○"/>
                <a:defRPr sz="1300">
                  <a:solidFill>
                    <a:srgbClr val="1F497D"/>
                  </a:solidFill>
                </a:defRPr>
              </a:pPr>
              <a:r>
                <a:t>“I need precise FiOS footprint data to create personalized marketing strategies, so I can improve conversion rates by focusing on customers who are actually eligible for FiOS services.”</a:t>
              </a:r>
            </a:p>
            <a:p>
              <a:pPr lvl="1" marL="914400" indent="-310679">
                <a:spcBef>
                  <a:spcPts val="1000"/>
                </a:spcBef>
                <a:buClr>
                  <a:srgbClr val="1F497D"/>
                </a:buClr>
                <a:buSzPts val="1300"/>
                <a:buFont typeface="Arial"/>
                <a:buChar char="○"/>
                <a:defRPr b="1" sz="1300">
                  <a:solidFill>
                    <a:srgbClr val="4A86E8"/>
                  </a:solidFill>
                </a:defRPr>
              </a:pPr>
              <a:r>
                <a:t>Increase the likelihood of enhancing reporting and analytics</a:t>
              </a:r>
            </a:p>
            <a:p>
              <a:pPr lvl="1" marL="914400" indent="-310679">
                <a:buClr>
                  <a:srgbClr val="1F497D"/>
                </a:buClr>
                <a:buSzPts val="1300"/>
                <a:buFont typeface="Arial"/>
                <a:buChar char="○"/>
                <a:defRPr sz="1300">
                  <a:solidFill>
                    <a:srgbClr val="1F497D"/>
                  </a:solidFill>
                </a:defRPr>
              </a:pPr>
              <a:r>
                <a:t>“I want to incorporate FiOS footprint indicators into performance reports, so I can analyze the effectiveness of FiOS-specific campaigns and identify growth opportunities within the eligible customer base.”</a:t>
              </a:r>
            </a:p>
          </p:txBody>
        </p:sp>
      </p:grpSp>
      <p:grpSp>
        <p:nvGrpSpPr>
          <p:cNvPr id="1393" name="Google Shape;926;p84"/>
          <p:cNvGrpSpPr/>
          <p:nvPr/>
        </p:nvGrpSpPr>
        <p:grpSpPr>
          <a:xfrm>
            <a:off x="13783679" y="-1"/>
            <a:ext cx="846360" cy="1009205"/>
            <a:chOff x="0" y="0"/>
            <a:chExt cx="846359" cy="1009203"/>
          </a:xfrm>
        </p:grpSpPr>
        <p:sp>
          <p:nvSpPr>
            <p:cNvPr id="1389" name="Google Shape;927;p84"/>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92" name="Google Shape;928;p84"/>
            <p:cNvGrpSpPr/>
            <p:nvPr/>
          </p:nvGrpSpPr>
          <p:grpSpPr>
            <a:xfrm>
              <a:off x="55079" y="-1"/>
              <a:ext cx="791281" cy="1009205"/>
              <a:chOff x="0" y="0"/>
              <a:chExt cx="791279" cy="1009203"/>
            </a:xfrm>
          </p:grpSpPr>
          <p:pic>
            <p:nvPicPr>
              <p:cNvPr id="1390" name="Google Shape;929;p84" descr="Google Shape;929;p84"/>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91" name="Google Shape;930;p84"/>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5" name="Google Shape;936;p85"/>
          <p:cNvSpPr txBox="1"/>
          <p:nvPr/>
        </p:nvSpPr>
        <p:spPr>
          <a:xfrm>
            <a:off x="793800" y="1023119"/>
            <a:ext cx="7360919"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600">
                <a:latin typeface="Petrona"/>
                <a:ea typeface="Petrona"/>
                <a:cs typeface="Petrona"/>
                <a:sym typeface="Petrona"/>
              </a:defRPr>
            </a:lvl1pPr>
          </a:lstStyle>
          <a:p>
            <a:pPr/>
            <a:r>
              <a:t>Future State Capabilities...</a:t>
            </a:r>
          </a:p>
        </p:txBody>
      </p:sp>
      <p:grpSp>
        <p:nvGrpSpPr>
          <p:cNvPr id="1400" name="Google Shape;937;p85"/>
          <p:cNvGrpSpPr/>
          <p:nvPr/>
        </p:nvGrpSpPr>
        <p:grpSpPr>
          <a:xfrm>
            <a:off x="13783679" y="-1"/>
            <a:ext cx="846360" cy="1009205"/>
            <a:chOff x="0" y="0"/>
            <a:chExt cx="846359" cy="1009203"/>
          </a:xfrm>
        </p:grpSpPr>
        <p:sp>
          <p:nvSpPr>
            <p:cNvPr id="1396" name="Google Shape;938;p85"/>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399" name="Google Shape;939;p85"/>
            <p:cNvGrpSpPr/>
            <p:nvPr/>
          </p:nvGrpSpPr>
          <p:grpSpPr>
            <a:xfrm>
              <a:off x="55079" y="-1"/>
              <a:ext cx="791281" cy="1009205"/>
              <a:chOff x="0" y="0"/>
              <a:chExt cx="791279" cy="1009203"/>
            </a:xfrm>
          </p:grpSpPr>
          <p:pic>
            <p:nvPicPr>
              <p:cNvPr id="1397" name="Google Shape;940;p85" descr="Google Shape;940;p85"/>
              <p:cNvPicPr>
                <a:picLocks noChangeAspect="1"/>
              </p:cNvPicPr>
              <p:nvPr/>
            </p:nvPicPr>
            <p:blipFill>
              <a:blip r:embed="rId2">
                <a:extLst/>
              </a:blip>
              <a:srcRect l="20669" t="0" r="9844" b="0"/>
              <a:stretch>
                <a:fillRect/>
              </a:stretch>
            </p:blipFill>
            <p:spPr>
              <a:xfrm>
                <a:off x="0" y="0"/>
                <a:ext cx="756360" cy="756361"/>
              </a:xfrm>
              <a:prstGeom prst="rect">
                <a:avLst/>
              </a:prstGeom>
              <a:ln w="12700" cap="flat">
                <a:noFill/>
                <a:miter lim="400000"/>
              </a:ln>
              <a:effectLst/>
            </p:spPr>
          </p:pic>
          <p:sp>
            <p:nvSpPr>
              <p:cNvPr id="1398" name="Google Shape;941;p85"/>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02" name="Google Shape;947;p86" descr="Google Shape;947;p86"/>
          <p:cNvPicPr>
            <a:picLocks noChangeAspect="1"/>
          </p:cNvPicPr>
          <p:nvPr/>
        </p:nvPicPr>
        <p:blipFill>
          <a:blip r:embed="rId2">
            <a:extLst/>
          </a:blip>
          <a:stretch>
            <a:fillRect/>
          </a:stretch>
        </p:blipFill>
        <p:spPr>
          <a:xfrm>
            <a:off x="9144000" y="0"/>
            <a:ext cx="5485680" cy="8232121"/>
          </a:xfrm>
          <a:prstGeom prst="rect">
            <a:avLst/>
          </a:prstGeom>
          <a:ln w="12700">
            <a:miter lim="400000"/>
          </a:ln>
        </p:spPr>
      </p:pic>
      <p:sp>
        <p:nvSpPr>
          <p:cNvPr id="1403" name="Google Shape;948;p86"/>
          <p:cNvSpPr txBox="1"/>
          <p:nvPr/>
        </p:nvSpPr>
        <p:spPr>
          <a:xfrm>
            <a:off x="767520" y="603000"/>
            <a:ext cx="7944783"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4500">
                <a:latin typeface="Petrona"/>
                <a:ea typeface="Petrona"/>
                <a:cs typeface="Petrona"/>
                <a:sym typeface="Petrona"/>
              </a:defRPr>
            </a:lvl1pPr>
          </a:lstStyle>
          <a:p>
            <a:pPr/>
            <a:r>
              <a:t>Intelligent Search Features</a:t>
            </a:r>
          </a:p>
        </p:txBody>
      </p:sp>
      <p:sp>
        <p:nvSpPr>
          <p:cNvPr id="1404" name="Google Shape;949;p86"/>
          <p:cNvSpPr/>
          <p:nvPr/>
        </p:nvSpPr>
        <p:spPr>
          <a:xfrm>
            <a:off x="767520" y="1651679"/>
            <a:ext cx="3693961" cy="3058562"/>
          </a:xfrm>
          <a:prstGeom prst="roundRect">
            <a:avLst>
              <a:gd name="adj" fmla="val 3011"/>
            </a:avLst>
          </a:prstGeom>
          <a:solidFill>
            <a:srgbClr val="CCEEFF"/>
          </a:solidFill>
          <a:ln>
            <a:solidFill>
              <a:srgbClr val="B2D4E5"/>
            </a:solidFill>
          </a:ln>
        </p:spPr>
        <p:txBody>
          <a:bodyPr lIns="0" tIns="0" rIns="0" bIns="0" anchor="ctr"/>
          <a:lstStyle/>
          <a:p>
            <a:pPr/>
          </a:p>
        </p:txBody>
      </p:sp>
      <p:sp>
        <p:nvSpPr>
          <p:cNvPr id="1405" name="Google Shape;950;p86"/>
          <p:cNvSpPr txBox="1"/>
          <p:nvPr/>
        </p:nvSpPr>
        <p:spPr>
          <a:xfrm>
            <a:off x="994680" y="1878479"/>
            <a:ext cx="3240360" cy="739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4000"/>
              </a:lnSpc>
              <a:defRPr b="1" sz="2200">
                <a:solidFill>
                  <a:srgbClr val="272525"/>
                </a:solidFill>
                <a:latin typeface="Petrona"/>
                <a:ea typeface="Petrona"/>
                <a:cs typeface="Petrona"/>
                <a:sym typeface="Petrona"/>
              </a:defRPr>
            </a:lvl1pPr>
          </a:lstStyle>
          <a:p>
            <a:pPr/>
            <a:r>
              <a:t>Multi-dimensional Analytics</a:t>
            </a:r>
          </a:p>
        </p:txBody>
      </p:sp>
      <p:sp>
        <p:nvSpPr>
          <p:cNvPr id="1406" name="Google Shape;951;p86"/>
          <p:cNvSpPr txBox="1"/>
          <p:nvPr/>
        </p:nvSpPr>
        <p:spPr>
          <a:xfrm>
            <a:off x="994680" y="2729520"/>
            <a:ext cx="3240360" cy="18897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1000"/>
              </a:lnSpc>
              <a:defRPr sz="1700">
                <a:solidFill>
                  <a:srgbClr val="272525"/>
                </a:solidFill>
                <a:latin typeface="Inter"/>
                <a:ea typeface="Inter"/>
                <a:cs typeface="Inter"/>
                <a:sym typeface="Inter"/>
              </a:defRPr>
            </a:lvl1pPr>
          </a:lstStyle>
          <a:p>
            <a:pPr/>
            <a:r>
              <a:t>Intelligent Search offers advanced analytics capabilities, allowing users to analyze data across multiple dimensions simultaneously.</a:t>
            </a:r>
          </a:p>
        </p:txBody>
      </p:sp>
      <p:sp>
        <p:nvSpPr>
          <p:cNvPr id="1407" name="Google Shape;952;p86"/>
          <p:cNvSpPr/>
          <p:nvPr/>
        </p:nvSpPr>
        <p:spPr>
          <a:xfrm>
            <a:off x="4681799" y="1651679"/>
            <a:ext cx="3693962" cy="3058562"/>
          </a:xfrm>
          <a:prstGeom prst="roundRect">
            <a:avLst>
              <a:gd name="adj" fmla="val 3011"/>
            </a:avLst>
          </a:prstGeom>
          <a:solidFill>
            <a:srgbClr val="CCEEFF"/>
          </a:solidFill>
          <a:ln>
            <a:solidFill>
              <a:srgbClr val="B2D4E5"/>
            </a:solidFill>
          </a:ln>
        </p:spPr>
        <p:txBody>
          <a:bodyPr lIns="0" tIns="0" rIns="0" bIns="0" anchor="ctr"/>
          <a:lstStyle/>
          <a:p>
            <a:pPr/>
          </a:p>
        </p:txBody>
      </p:sp>
      <p:sp>
        <p:nvSpPr>
          <p:cNvPr id="1408" name="Google Shape;953;p86"/>
          <p:cNvSpPr txBox="1"/>
          <p:nvPr/>
        </p:nvSpPr>
        <p:spPr>
          <a:xfrm>
            <a:off x="4908599" y="1878479"/>
            <a:ext cx="287784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4000"/>
              </a:lnSpc>
              <a:defRPr b="1" sz="2200">
                <a:solidFill>
                  <a:srgbClr val="272525"/>
                </a:solidFill>
                <a:latin typeface="Petrona"/>
                <a:ea typeface="Petrona"/>
                <a:cs typeface="Petrona"/>
                <a:sym typeface="Petrona"/>
              </a:defRPr>
            </a:lvl1pPr>
          </a:lstStyle>
          <a:p>
            <a:pPr/>
            <a:r>
              <a:t>Causal Analysis</a:t>
            </a:r>
          </a:p>
        </p:txBody>
      </p:sp>
      <p:sp>
        <p:nvSpPr>
          <p:cNvPr id="1409" name="Google Shape;954;p86"/>
          <p:cNvSpPr txBox="1"/>
          <p:nvPr/>
        </p:nvSpPr>
        <p:spPr>
          <a:xfrm>
            <a:off x="4908600" y="2369879"/>
            <a:ext cx="3240360" cy="148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1000"/>
              </a:lnSpc>
              <a:defRPr sz="1700">
                <a:solidFill>
                  <a:srgbClr val="272525"/>
                </a:solidFill>
                <a:latin typeface="Inter"/>
                <a:ea typeface="Inter"/>
                <a:cs typeface="Inter"/>
                <a:sym typeface="Inter"/>
              </a:defRPr>
            </a:lvl1pPr>
          </a:lstStyle>
          <a:p>
            <a:pPr/>
            <a:r>
              <a:t>This feature enables users to identify and understand cause-and-effect relationships within their data.</a:t>
            </a:r>
          </a:p>
        </p:txBody>
      </p:sp>
      <p:sp>
        <p:nvSpPr>
          <p:cNvPr id="1410" name="Google Shape;955;p86"/>
          <p:cNvSpPr/>
          <p:nvPr/>
        </p:nvSpPr>
        <p:spPr>
          <a:xfrm>
            <a:off x="767520" y="4930199"/>
            <a:ext cx="3693961" cy="2698921"/>
          </a:xfrm>
          <a:prstGeom prst="roundRect">
            <a:avLst>
              <a:gd name="adj" fmla="val 3412"/>
            </a:avLst>
          </a:prstGeom>
          <a:solidFill>
            <a:srgbClr val="CCEEFF"/>
          </a:solidFill>
          <a:ln>
            <a:solidFill>
              <a:srgbClr val="B2D4E5"/>
            </a:solidFill>
          </a:ln>
        </p:spPr>
        <p:txBody>
          <a:bodyPr lIns="0" tIns="0" rIns="0" bIns="0" anchor="ctr"/>
          <a:lstStyle/>
          <a:p>
            <a:pPr/>
          </a:p>
        </p:txBody>
      </p:sp>
      <p:sp>
        <p:nvSpPr>
          <p:cNvPr id="1411" name="Google Shape;956;p86"/>
          <p:cNvSpPr txBox="1"/>
          <p:nvPr/>
        </p:nvSpPr>
        <p:spPr>
          <a:xfrm>
            <a:off x="994679" y="5157360"/>
            <a:ext cx="287784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4000"/>
              </a:lnSpc>
              <a:defRPr b="1" sz="2200">
                <a:solidFill>
                  <a:srgbClr val="272525"/>
                </a:solidFill>
                <a:latin typeface="Petrona"/>
                <a:ea typeface="Petrona"/>
                <a:cs typeface="Petrona"/>
                <a:sym typeface="Petrona"/>
              </a:defRPr>
            </a:lvl1pPr>
          </a:lstStyle>
          <a:p>
            <a:pPr/>
            <a:r>
              <a:t>Trend Forecasting</a:t>
            </a:r>
          </a:p>
        </p:txBody>
      </p:sp>
      <p:sp>
        <p:nvSpPr>
          <p:cNvPr id="1412" name="Google Shape;957;p86"/>
          <p:cNvSpPr txBox="1"/>
          <p:nvPr/>
        </p:nvSpPr>
        <p:spPr>
          <a:xfrm>
            <a:off x="994680" y="5648400"/>
            <a:ext cx="3240360" cy="148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1000"/>
              </a:lnSpc>
              <a:defRPr sz="1700">
                <a:solidFill>
                  <a:srgbClr val="272525"/>
                </a:solidFill>
                <a:latin typeface="Inter"/>
                <a:ea typeface="Inter"/>
                <a:cs typeface="Inter"/>
                <a:sym typeface="Inter"/>
              </a:defRPr>
            </a:lvl1pPr>
          </a:lstStyle>
          <a:p>
            <a:pPr/>
            <a:r>
              <a:t>Intelligent Search incorporates predictive analytics to forecast future trends based on historical data and patterns.</a:t>
            </a:r>
          </a:p>
        </p:txBody>
      </p:sp>
      <p:sp>
        <p:nvSpPr>
          <p:cNvPr id="1413" name="Google Shape;958;p86"/>
          <p:cNvSpPr/>
          <p:nvPr/>
        </p:nvSpPr>
        <p:spPr>
          <a:xfrm>
            <a:off x="4681799" y="4930199"/>
            <a:ext cx="3693962" cy="2698921"/>
          </a:xfrm>
          <a:prstGeom prst="roundRect">
            <a:avLst>
              <a:gd name="adj" fmla="val 3412"/>
            </a:avLst>
          </a:prstGeom>
          <a:solidFill>
            <a:srgbClr val="CCEEFF"/>
          </a:solidFill>
          <a:ln>
            <a:solidFill>
              <a:srgbClr val="B2D4E5"/>
            </a:solidFill>
          </a:ln>
        </p:spPr>
        <p:txBody>
          <a:bodyPr lIns="0" tIns="0" rIns="0" bIns="0" anchor="ctr"/>
          <a:lstStyle/>
          <a:p>
            <a:pPr/>
          </a:p>
        </p:txBody>
      </p:sp>
      <p:sp>
        <p:nvSpPr>
          <p:cNvPr id="1414" name="Google Shape;959;p86"/>
          <p:cNvSpPr txBox="1"/>
          <p:nvPr/>
        </p:nvSpPr>
        <p:spPr>
          <a:xfrm>
            <a:off x="4908599" y="5157360"/>
            <a:ext cx="287784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4000"/>
              </a:lnSpc>
              <a:defRPr b="1" sz="2200">
                <a:solidFill>
                  <a:srgbClr val="272525"/>
                </a:solidFill>
                <a:latin typeface="Petrona"/>
                <a:ea typeface="Petrona"/>
                <a:cs typeface="Petrona"/>
                <a:sym typeface="Petrona"/>
              </a:defRPr>
            </a:lvl1pPr>
          </a:lstStyle>
          <a:p>
            <a:pPr/>
            <a:r>
              <a:t>AI-powered Insights</a:t>
            </a:r>
          </a:p>
        </p:txBody>
      </p:sp>
      <p:sp>
        <p:nvSpPr>
          <p:cNvPr id="1415" name="Google Shape;960;p86"/>
          <p:cNvSpPr txBox="1"/>
          <p:nvPr/>
        </p:nvSpPr>
        <p:spPr>
          <a:xfrm>
            <a:off x="4908600" y="5648400"/>
            <a:ext cx="3240360" cy="14808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1000"/>
              </a:lnSpc>
              <a:defRPr sz="1700">
                <a:solidFill>
                  <a:srgbClr val="272525"/>
                </a:solidFill>
                <a:latin typeface="Inter"/>
                <a:ea typeface="Inter"/>
                <a:cs typeface="Inter"/>
                <a:sym typeface="Inter"/>
              </a:defRPr>
            </a:lvl1pPr>
          </a:lstStyle>
          <a:p>
            <a:pPr/>
            <a:r>
              <a:t>The system leverages artificial intelligence to provide personalized insights based on individual goals and user context.</a:t>
            </a:r>
          </a:p>
        </p:txBody>
      </p:sp>
      <p:grpSp>
        <p:nvGrpSpPr>
          <p:cNvPr id="1420" name="Google Shape;961;p86"/>
          <p:cNvGrpSpPr/>
          <p:nvPr/>
        </p:nvGrpSpPr>
        <p:grpSpPr>
          <a:xfrm>
            <a:off x="13783679" y="-1"/>
            <a:ext cx="846360" cy="1009205"/>
            <a:chOff x="0" y="0"/>
            <a:chExt cx="846359" cy="1009203"/>
          </a:xfrm>
        </p:grpSpPr>
        <p:sp>
          <p:nvSpPr>
            <p:cNvPr id="1416" name="Google Shape;962;p86"/>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419" name="Google Shape;963;p86"/>
            <p:cNvGrpSpPr/>
            <p:nvPr/>
          </p:nvGrpSpPr>
          <p:grpSpPr>
            <a:xfrm>
              <a:off x="55079" y="-1"/>
              <a:ext cx="791281" cy="1009205"/>
              <a:chOff x="0" y="0"/>
              <a:chExt cx="791279" cy="1009203"/>
            </a:xfrm>
          </p:grpSpPr>
          <p:pic>
            <p:nvPicPr>
              <p:cNvPr id="1417" name="Google Shape;964;p86" descr="Google Shape;964;p86"/>
              <p:cNvPicPr>
                <a:picLocks noChangeAspect="1"/>
              </p:cNvPicPr>
              <p:nvPr/>
            </p:nvPicPr>
            <p:blipFill>
              <a:blip r:embed="rId3">
                <a:extLst/>
              </a:blip>
              <a:srcRect l="20669" t="0" r="9844" b="0"/>
              <a:stretch>
                <a:fillRect/>
              </a:stretch>
            </p:blipFill>
            <p:spPr>
              <a:xfrm>
                <a:off x="0" y="0"/>
                <a:ext cx="756360" cy="756361"/>
              </a:xfrm>
              <a:prstGeom prst="rect">
                <a:avLst/>
              </a:prstGeom>
              <a:ln w="12700" cap="flat">
                <a:noFill/>
                <a:miter lim="400000"/>
              </a:ln>
              <a:effectLst/>
            </p:spPr>
          </p:pic>
          <p:sp>
            <p:nvSpPr>
              <p:cNvPr id="1418" name="Google Shape;965;p86"/>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22" name="Google Shape;971;p87" descr="Google Shape;971;p87"/>
          <p:cNvPicPr>
            <a:picLocks noChangeAspect="1"/>
          </p:cNvPicPr>
          <p:nvPr/>
        </p:nvPicPr>
        <p:blipFill>
          <a:blip r:embed="rId2">
            <a:extLst/>
          </a:blip>
          <a:stretch>
            <a:fillRect/>
          </a:stretch>
        </p:blipFill>
        <p:spPr>
          <a:xfrm>
            <a:off x="9144000" y="0"/>
            <a:ext cx="5485680" cy="8228880"/>
          </a:xfrm>
          <a:prstGeom prst="rect">
            <a:avLst/>
          </a:prstGeom>
          <a:ln w="12700">
            <a:miter lim="400000"/>
          </a:ln>
        </p:spPr>
      </p:pic>
      <p:sp>
        <p:nvSpPr>
          <p:cNvPr id="1423" name="Google Shape;972;p87"/>
          <p:cNvSpPr txBox="1"/>
          <p:nvPr/>
        </p:nvSpPr>
        <p:spPr>
          <a:xfrm>
            <a:off x="736560" y="631439"/>
            <a:ext cx="7670159" cy="14792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4000"/>
              </a:lnSpc>
              <a:defRPr b="1" sz="4300">
                <a:latin typeface="Petrona"/>
                <a:ea typeface="Petrona"/>
                <a:cs typeface="Petrona"/>
                <a:sym typeface="Petrona"/>
              </a:defRPr>
            </a:lvl1pPr>
          </a:lstStyle>
          <a:p>
            <a:pPr/>
            <a:r>
              <a:t>Simulation Search Capabilities</a:t>
            </a:r>
          </a:p>
        </p:txBody>
      </p:sp>
      <p:pic>
        <p:nvPicPr>
          <p:cNvPr id="1424" name="Google Shape;973;p87" descr="Google Shape;973;p87"/>
          <p:cNvPicPr>
            <a:picLocks noChangeAspect="1"/>
          </p:cNvPicPr>
          <p:nvPr/>
        </p:nvPicPr>
        <p:blipFill>
          <a:blip r:embed="rId3">
            <a:extLst/>
          </a:blip>
          <a:stretch>
            <a:fillRect/>
          </a:stretch>
        </p:blipFill>
        <p:spPr>
          <a:xfrm>
            <a:off x="736559" y="2328119"/>
            <a:ext cx="1051562" cy="1683001"/>
          </a:xfrm>
          <a:prstGeom prst="rect">
            <a:avLst/>
          </a:prstGeom>
          <a:ln w="12700">
            <a:miter lim="400000"/>
          </a:ln>
        </p:spPr>
      </p:pic>
      <p:sp>
        <p:nvSpPr>
          <p:cNvPr id="1425" name="Google Shape;974;p87"/>
          <p:cNvSpPr txBox="1"/>
          <p:nvPr/>
        </p:nvSpPr>
        <p:spPr>
          <a:xfrm>
            <a:off x="2104559" y="2538720"/>
            <a:ext cx="276156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2100">
                <a:solidFill>
                  <a:srgbClr val="272525"/>
                </a:solidFill>
                <a:latin typeface="Petrona"/>
                <a:ea typeface="Petrona"/>
                <a:cs typeface="Petrona"/>
                <a:sym typeface="Petrona"/>
              </a:defRPr>
            </a:lvl1pPr>
          </a:lstStyle>
          <a:p>
            <a:pPr/>
            <a:r>
              <a:t>Simulate Outcomes</a:t>
            </a:r>
          </a:p>
        </p:txBody>
      </p:sp>
      <p:sp>
        <p:nvSpPr>
          <p:cNvPr id="1426" name="Google Shape;975;p87"/>
          <p:cNvSpPr txBox="1"/>
          <p:nvPr/>
        </p:nvSpPr>
        <p:spPr>
          <a:xfrm>
            <a:off x="2104559" y="3009960"/>
            <a:ext cx="6302162" cy="6273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600">
                <a:solidFill>
                  <a:srgbClr val="272525"/>
                </a:solidFill>
                <a:latin typeface="Inter"/>
                <a:ea typeface="Inter"/>
                <a:cs typeface="Inter"/>
                <a:sym typeface="Inter"/>
              </a:defRPr>
            </a:lvl1pPr>
          </a:lstStyle>
          <a:p>
            <a:pPr/>
            <a:r>
              <a:t>Users can simulate potential outcomes based on user-defined scenarios, allowing for better decision-making and planning.</a:t>
            </a:r>
          </a:p>
        </p:txBody>
      </p:sp>
      <p:pic>
        <p:nvPicPr>
          <p:cNvPr id="1427" name="Google Shape;976;p87" descr="Google Shape;976;p87"/>
          <p:cNvPicPr>
            <a:picLocks noChangeAspect="1"/>
          </p:cNvPicPr>
          <p:nvPr/>
        </p:nvPicPr>
        <p:blipFill>
          <a:blip r:embed="rId4">
            <a:extLst/>
          </a:blip>
          <a:stretch>
            <a:fillRect/>
          </a:stretch>
        </p:blipFill>
        <p:spPr>
          <a:xfrm>
            <a:off x="736559" y="4011840"/>
            <a:ext cx="1051562" cy="1683000"/>
          </a:xfrm>
          <a:prstGeom prst="rect">
            <a:avLst/>
          </a:prstGeom>
          <a:ln w="12700">
            <a:miter lim="400000"/>
          </a:ln>
        </p:spPr>
      </p:pic>
      <p:sp>
        <p:nvSpPr>
          <p:cNvPr id="1428" name="Google Shape;977;p87"/>
          <p:cNvSpPr txBox="1"/>
          <p:nvPr/>
        </p:nvSpPr>
        <p:spPr>
          <a:xfrm>
            <a:off x="2104559" y="4222439"/>
            <a:ext cx="428562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2100">
                <a:solidFill>
                  <a:srgbClr val="272525"/>
                </a:solidFill>
                <a:latin typeface="Petrona"/>
                <a:ea typeface="Petrona"/>
                <a:cs typeface="Petrona"/>
                <a:sym typeface="Petrona"/>
              </a:defRPr>
            </a:lvl1pPr>
          </a:lstStyle>
          <a:p>
            <a:pPr/>
            <a:r>
              <a:t>Model "What-if" Scenarios</a:t>
            </a:r>
          </a:p>
        </p:txBody>
      </p:sp>
      <p:sp>
        <p:nvSpPr>
          <p:cNvPr id="1429" name="Google Shape;978;p87"/>
          <p:cNvSpPr txBox="1"/>
          <p:nvPr/>
        </p:nvSpPr>
        <p:spPr>
          <a:xfrm>
            <a:off x="2104559" y="4693680"/>
            <a:ext cx="6302162" cy="6273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600">
                <a:solidFill>
                  <a:srgbClr val="272525"/>
                </a:solidFill>
                <a:latin typeface="Inter"/>
                <a:ea typeface="Inter"/>
                <a:cs typeface="Inter"/>
                <a:sym typeface="Inter"/>
              </a:defRPr>
            </a:lvl1pPr>
          </a:lstStyle>
          <a:p>
            <a:pPr/>
            <a:r>
              <a:t>The system enables users to create and explore various "what-if" scenarios, testing different hypotheses and strategies.</a:t>
            </a:r>
          </a:p>
        </p:txBody>
      </p:sp>
      <p:pic>
        <p:nvPicPr>
          <p:cNvPr id="1430" name="Google Shape;979;p87" descr="Google Shape;979;p87"/>
          <p:cNvPicPr>
            <a:picLocks noChangeAspect="1"/>
          </p:cNvPicPr>
          <p:nvPr/>
        </p:nvPicPr>
        <p:blipFill>
          <a:blip r:embed="rId5">
            <a:extLst/>
          </a:blip>
          <a:stretch>
            <a:fillRect/>
          </a:stretch>
        </p:blipFill>
        <p:spPr>
          <a:xfrm>
            <a:off x="736559" y="5695560"/>
            <a:ext cx="1051562" cy="1901521"/>
          </a:xfrm>
          <a:prstGeom prst="rect">
            <a:avLst/>
          </a:prstGeom>
          <a:ln w="12700">
            <a:miter lim="400000"/>
          </a:ln>
        </p:spPr>
      </p:pic>
      <p:sp>
        <p:nvSpPr>
          <p:cNvPr id="1431" name="Google Shape;980;p87"/>
          <p:cNvSpPr txBox="1"/>
          <p:nvPr/>
        </p:nvSpPr>
        <p:spPr>
          <a:xfrm>
            <a:off x="2104559" y="5905799"/>
            <a:ext cx="39715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2100">
                <a:solidFill>
                  <a:srgbClr val="272525"/>
                </a:solidFill>
                <a:latin typeface="Petrona"/>
                <a:ea typeface="Petrona"/>
                <a:cs typeface="Petrona"/>
                <a:sym typeface="Petrona"/>
              </a:defRPr>
            </a:lvl1pPr>
          </a:lstStyle>
          <a:p>
            <a:pPr/>
            <a:r>
              <a:t>Highlight Relevant Simulations</a:t>
            </a:r>
          </a:p>
        </p:txBody>
      </p:sp>
      <p:sp>
        <p:nvSpPr>
          <p:cNvPr id="1432" name="Google Shape;981;p87"/>
          <p:cNvSpPr txBox="1"/>
          <p:nvPr/>
        </p:nvSpPr>
        <p:spPr>
          <a:xfrm>
            <a:off x="2104559" y="6377399"/>
            <a:ext cx="6302162" cy="10134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600">
                <a:solidFill>
                  <a:srgbClr val="272525"/>
                </a:solidFill>
                <a:latin typeface="Inter"/>
                <a:ea typeface="Inter"/>
                <a:cs typeface="Inter"/>
                <a:sym typeface="Inter"/>
              </a:defRPr>
            </a:lvl1pPr>
          </a:lstStyle>
          <a:p>
            <a:pPr/>
            <a:r>
              <a:t>Based on past actions and user history, the system suggests and highlights relevant simulations that may be of interest or value to the user.</a:t>
            </a:r>
          </a:p>
        </p:txBody>
      </p:sp>
      <p:grpSp>
        <p:nvGrpSpPr>
          <p:cNvPr id="1437" name="Google Shape;982;p87"/>
          <p:cNvGrpSpPr/>
          <p:nvPr/>
        </p:nvGrpSpPr>
        <p:grpSpPr>
          <a:xfrm>
            <a:off x="13783679" y="-1"/>
            <a:ext cx="846360" cy="1009205"/>
            <a:chOff x="0" y="0"/>
            <a:chExt cx="846359" cy="1009203"/>
          </a:xfrm>
        </p:grpSpPr>
        <p:sp>
          <p:nvSpPr>
            <p:cNvPr id="1433" name="Google Shape;983;p87"/>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436" name="Google Shape;984;p87"/>
            <p:cNvGrpSpPr/>
            <p:nvPr/>
          </p:nvGrpSpPr>
          <p:grpSpPr>
            <a:xfrm>
              <a:off x="55079" y="-1"/>
              <a:ext cx="791281" cy="1009205"/>
              <a:chOff x="0" y="0"/>
              <a:chExt cx="791279" cy="1009203"/>
            </a:xfrm>
          </p:grpSpPr>
          <p:pic>
            <p:nvPicPr>
              <p:cNvPr id="1434" name="Google Shape;985;p87" descr="Google Shape;985;p87"/>
              <p:cNvPicPr>
                <a:picLocks noChangeAspect="1"/>
              </p:cNvPicPr>
              <p:nvPr/>
            </p:nvPicPr>
            <p:blipFill>
              <a:blip r:embed="rId6">
                <a:extLst/>
              </a:blip>
              <a:srcRect l="20669" t="0" r="9844" b="0"/>
              <a:stretch>
                <a:fillRect/>
              </a:stretch>
            </p:blipFill>
            <p:spPr>
              <a:xfrm>
                <a:off x="0" y="0"/>
                <a:ext cx="756360" cy="756361"/>
              </a:xfrm>
              <a:prstGeom prst="rect">
                <a:avLst/>
              </a:prstGeom>
              <a:ln w="12700" cap="flat">
                <a:noFill/>
                <a:miter lim="400000"/>
              </a:ln>
              <a:effectLst/>
            </p:spPr>
          </p:pic>
          <p:sp>
            <p:nvSpPr>
              <p:cNvPr id="1435" name="Google Shape;986;p87"/>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39" name="Google Shape;992;p88" descr="Google Shape;992;p88"/>
          <p:cNvPicPr>
            <a:picLocks noChangeAspect="1"/>
          </p:cNvPicPr>
          <p:nvPr/>
        </p:nvPicPr>
        <p:blipFill>
          <a:blip r:embed="rId2">
            <a:extLst/>
          </a:blip>
          <a:stretch>
            <a:fillRect/>
          </a:stretch>
        </p:blipFill>
        <p:spPr>
          <a:xfrm>
            <a:off x="9144000" y="0"/>
            <a:ext cx="5485680" cy="8228880"/>
          </a:xfrm>
          <a:prstGeom prst="rect">
            <a:avLst/>
          </a:prstGeom>
          <a:ln w="12700">
            <a:miter lim="400000"/>
          </a:ln>
        </p:spPr>
      </p:pic>
      <p:sp>
        <p:nvSpPr>
          <p:cNvPr id="1440" name="Google Shape;993;p88"/>
          <p:cNvSpPr txBox="1"/>
          <p:nvPr/>
        </p:nvSpPr>
        <p:spPr>
          <a:xfrm>
            <a:off x="669240" y="874440"/>
            <a:ext cx="7637121" cy="596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4000"/>
              </a:lnSpc>
              <a:defRPr b="1" sz="3900">
                <a:latin typeface="Petrona"/>
                <a:ea typeface="Petrona"/>
                <a:cs typeface="Petrona"/>
                <a:sym typeface="Petrona"/>
              </a:defRPr>
            </a:lvl1pPr>
          </a:lstStyle>
          <a:p>
            <a:pPr/>
            <a:r>
              <a:t>Intelligent Assistant Features</a:t>
            </a:r>
          </a:p>
        </p:txBody>
      </p:sp>
      <p:sp>
        <p:nvSpPr>
          <p:cNvPr id="1441" name="Google Shape;994;p88"/>
          <p:cNvSpPr/>
          <p:nvPr/>
        </p:nvSpPr>
        <p:spPr>
          <a:xfrm>
            <a:off x="944279" y="1788479"/>
            <a:ext cx="21961" cy="5565961"/>
          </a:xfrm>
          <a:prstGeom prst="roundRect">
            <a:avLst>
              <a:gd name="adj" fmla="val 50000"/>
            </a:avLst>
          </a:prstGeom>
          <a:solidFill>
            <a:srgbClr val="B2D4E5"/>
          </a:solidFill>
          <a:ln w="12700">
            <a:miter lim="400000"/>
          </a:ln>
        </p:spPr>
        <p:txBody>
          <a:bodyPr lIns="0" tIns="0" rIns="0" bIns="0" anchor="ctr"/>
          <a:lstStyle/>
          <a:p>
            <a:pPr/>
          </a:p>
        </p:txBody>
      </p:sp>
      <p:sp>
        <p:nvSpPr>
          <p:cNvPr id="1442" name="Google Shape;995;p88"/>
          <p:cNvSpPr/>
          <p:nvPr/>
        </p:nvSpPr>
        <p:spPr>
          <a:xfrm>
            <a:off x="1148040" y="2206799"/>
            <a:ext cx="668160" cy="21961"/>
          </a:xfrm>
          <a:prstGeom prst="roundRect">
            <a:avLst>
              <a:gd name="adj" fmla="val 50000"/>
            </a:avLst>
          </a:prstGeom>
          <a:solidFill>
            <a:srgbClr val="B2D4E5"/>
          </a:solidFill>
          <a:ln w="12700">
            <a:miter lim="400000"/>
          </a:ln>
        </p:spPr>
        <p:txBody>
          <a:bodyPr lIns="0" tIns="0" rIns="0" bIns="0" anchor="ctr"/>
          <a:lstStyle/>
          <a:p>
            <a:pPr/>
          </a:p>
        </p:txBody>
      </p:sp>
      <p:sp>
        <p:nvSpPr>
          <p:cNvPr id="1443" name="Google Shape;996;p88"/>
          <p:cNvSpPr/>
          <p:nvPr/>
        </p:nvSpPr>
        <p:spPr>
          <a:xfrm>
            <a:off x="740880" y="2003400"/>
            <a:ext cx="429481" cy="429480"/>
          </a:xfrm>
          <a:prstGeom prst="roundRect">
            <a:avLst>
              <a:gd name="adj" fmla="val 18667"/>
            </a:avLst>
          </a:prstGeom>
          <a:solidFill>
            <a:srgbClr val="CCEEFF"/>
          </a:solidFill>
          <a:ln>
            <a:solidFill>
              <a:srgbClr val="B2D4E5"/>
            </a:solidFill>
          </a:ln>
        </p:spPr>
        <p:txBody>
          <a:bodyPr lIns="0" tIns="0" rIns="0" bIns="0" anchor="ctr"/>
          <a:lstStyle/>
          <a:p>
            <a:pPr/>
          </a:p>
        </p:txBody>
      </p:sp>
      <p:sp>
        <p:nvSpPr>
          <p:cNvPr id="1444" name="Google Shape;997;p88"/>
          <p:cNvSpPr txBox="1"/>
          <p:nvPr/>
        </p:nvSpPr>
        <p:spPr>
          <a:xfrm>
            <a:off x="891360" y="2067840"/>
            <a:ext cx="1281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300">
                <a:solidFill>
                  <a:srgbClr val="272525"/>
                </a:solidFill>
                <a:latin typeface="Petrona"/>
                <a:ea typeface="Petrona"/>
                <a:cs typeface="Petrona"/>
                <a:sym typeface="Petrona"/>
              </a:defRPr>
            </a:lvl1pPr>
          </a:lstStyle>
          <a:p>
            <a:pPr/>
            <a:r>
              <a:t>1</a:t>
            </a:r>
          </a:p>
        </p:txBody>
      </p:sp>
      <p:sp>
        <p:nvSpPr>
          <p:cNvPr id="1445" name="Google Shape;998;p88"/>
          <p:cNvSpPr txBox="1"/>
          <p:nvPr/>
        </p:nvSpPr>
        <p:spPr>
          <a:xfrm>
            <a:off x="2007360" y="1979279"/>
            <a:ext cx="4832224"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1900">
                <a:solidFill>
                  <a:srgbClr val="272525"/>
                </a:solidFill>
                <a:latin typeface="Petrona"/>
                <a:ea typeface="Petrona"/>
                <a:cs typeface="Petrona"/>
                <a:sym typeface="Petrona"/>
              </a:defRPr>
            </a:lvl1pPr>
          </a:lstStyle>
          <a:p>
            <a:pPr/>
            <a:r>
              <a:t>Natural Language Processing</a:t>
            </a:r>
          </a:p>
        </p:txBody>
      </p:sp>
      <p:sp>
        <p:nvSpPr>
          <p:cNvPr id="1446" name="Google Shape;999;p88"/>
          <p:cNvSpPr txBox="1"/>
          <p:nvPr/>
        </p:nvSpPr>
        <p:spPr>
          <a:xfrm>
            <a:off x="2007359" y="2407679"/>
            <a:ext cx="6467042" cy="9601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500">
                <a:solidFill>
                  <a:srgbClr val="272525"/>
                </a:solidFill>
                <a:latin typeface="Inter"/>
                <a:ea typeface="Inter"/>
                <a:cs typeface="Inter"/>
                <a:sym typeface="Inter"/>
              </a:defRPr>
            </a:lvl1pPr>
          </a:lstStyle>
          <a:p>
            <a:pPr/>
            <a:r>
              <a:t>The Intelligent Assistant utilizes advanced NLP techniques to enable conversational search, allowing users to interact with the system using natural language queries.</a:t>
            </a:r>
          </a:p>
        </p:txBody>
      </p:sp>
      <p:sp>
        <p:nvSpPr>
          <p:cNvPr id="1447" name="Google Shape;1000;p88"/>
          <p:cNvSpPr/>
          <p:nvPr/>
        </p:nvSpPr>
        <p:spPr>
          <a:xfrm>
            <a:off x="1148040" y="4126319"/>
            <a:ext cx="668160" cy="21961"/>
          </a:xfrm>
          <a:prstGeom prst="roundRect">
            <a:avLst>
              <a:gd name="adj" fmla="val 50000"/>
            </a:avLst>
          </a:prstGeom>
          <a:solidFill>
            <a:srgbClr val="B2D4E5"/>
          </a:solidFill>
          <a:ln w="12700">
            <a:miter lim="400000"/>
          </a:ln>
        </p:spPr>
        <p:txBody>
          <a:bodyPr lIns="0" tIns="0" rIns="0" bIns="0" anchor="ctr"/>
          <a:lstStyle/>
          <a:p>
            <a:pPr/>
          </a:p>
        </p:txBody>
      </p:sp>
      <p:sp>
        <p:nvSpPr>
          <p:cNvPr id="1448" name="Google Shape;1001;p88"/>
          <p:cNvSpPr/>
          <p:nvPr/>
        </p:nvSpPr>
        <p:spPr>
          <a:xfrm>
            <a:off x="740880" y="3922560"/>
            <a:ext cx="429481" cy="429481"/>
          </a:xfrm>
          <a:prstGeom prst="roundRect">
            <a:avLst>
              <a:gd name="adj" fmla="val 18667"/>
            </a:avLst>
          </a:prstGeom>
          <a:solidFill>
            <a:srgbClr val="CCEEFF"/>
          </a:solidFill>
          <a:ln>
            <a:solidFill>
              <a:srgbClr val="B2D4E5"/>
            </a:solidFill>
          </a:ln>
        </p:spPr>
        <p:txBody>
          <a:bodyPr lIns="0" tIns="0" rIns="0" bIns="0" anchor="ctr"/>
          <a:lstStyle/>
          <a:p>
            <a:pPr/>
          </a:p>
        </p:txBody>
      </p:sp>
      <p:sp>
        <p:nvSpPr>
          <p:cNvPr id="1449" name="Google Shape;1002;p88"/>
          <p:cNvSpPr txBox="1"/>
          <p:nvPr/>
        </p:nvSpPr>
        <p:spPr>
          <a:xfrm>
            <a:off x="870480" y="3987000"/>
            <a:ext cx="16992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300">
                <a:solidFill>
                  <a:srgbClr val="272525"/>
                </a:solidFill>
                <a:latin typeface="Petrona"/>
                <a:ea typeface="Petrona"/>
                <a:cs typeface="Petrona"/>
                <a:sym typeface="Petrona"/>
              </a:defRPr>
            </a:lvl1pPr>
          </a:lstStyle>
          <a:p>
            <a:pPr/>
            <a:r>
              <a:t>2</a:t>
            </a:r>
          </a:p>
        </p:txBody>
      </p:sp>
      <p:sp>
        <p:nvSpPr>
          <p:cNvPr id="1450" name="Google Shape;1003;p88"/>
          <p:cNvSpPr txBox="1"/>
          <p:nvPr/>
        </p:nvSpPr>
        <p:spPr>
          <a:xfrm>
            <a:off x="2007359" y="3898800"/>
            <a:ext cx="317196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1900">
                <a:solidFill>
                  <a:srgbClr val="272525"/>
                </a:solidFill>
                <a:latin typeface="Petrona"/>
                <a:ea typeface="Petrona"/>
                <a:cs typeface="Petrona"/>
                <a:sym typeface="Petrona"/>
              </a:defRPr>
            </a:lvl1pPr>
          </a:lstStyle>
          <a:p>
            <a:pPr/>
            <a:r>
              <a:t>Real-time Decision Support</a:t>
            </a:r>
          </a:p>
        </p:txBody>
      </p:sp>
      <p:sp>
        <p:nvSpPr>
          <p:cNvPr id="1451" name="Google Shape;1004;p88"/>
          <p:cNvSpPr txBox="1"/>
          <p:nvPr/>
        </p:nvSpPr>
        <p:spPr>
          <a:xfrm>
            <a:off x="2007359" y="4327199"/>
            <a:ext cx="6467042" cy="9601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500">
                <a:solidFill>
                  <a:srgbClr val="272525"/>
                </a:solidFill>
                <a:latin typeface="Inter"/>
                <a:ea typeface="Inter"/>
                <a:cs typeface="Inter"/>
                <a:sym typeface="Inter"/>
              </a:defRPr>
            </a:lvl1pPr>
          </a:lstStyle>
          <a:p>
            <a:pPr/>
            <a:r>
              <a:t>By analyzing user queries and context, the assistant provides real-time decision support, offering relevant information and suggestions to aid in decision-making processes.</a:t>
            </a:r>
          </a:p>
        </p:txBody>
      </p:sp>
      <p:sp>
        <p:nvSpPr>
          <p:cNvPr id="1452" name="Google Shape;1005;p88"/>
          <p:cNvSpPr/>
          <p:nvPr/>
        </p:nvSpPr>
        <p:spPr>
          <a:xfrm>
            <a:off x="1148040" y="6045479"/>
            <a:ext cx="668160" cy="21961"/>
          </a:xfrm>
          <a:prstGeom prst="roundRect">
            <a:avLst>
              <a:gd name="adj" fmla="val 50000"/>
            </a:avLst>
          </a:prstGeom>
          <a:solidFill>
            <a:srgbClr val="B2D4E5"/>
          </a:solidFill>
          <a:ln w="12700">
            <a:miter lim="400000"/>
          </a:ln>
        </p:spPr>
        <p:txBody>
          <a:bodyPr lIns="0" tIns="0" rIns="0" bIns="0" anchor="ctr"/>
          <a:lstStyle/>
          <a:p>
            <a:pPr/>
          </a:p>
        </p:txBody>
      </p:sp>
      <p:sp>
        <p:nvSpPr>
          <p:cNvPr id="1453" name="Google Shape;1006;p88"/>
          <p:cNvSpPr/>
          <p:nvPr/>
        </p:nvSpPr>
        <p:spPr>
          <a:xfrm>
            <a:off x="740880" y="5842079"/>
            <a:ext cx="429481" cy="429481"/>
          </a:xfrm>
          <a:prstGeom prst="roundRect">
            <a:avLst>
              <a:gd name="adj" fmla="val 18667"/>
            </a:avLst>
          </a:prstGeom>
          <a:solidFill>
            <a:srgbClr val="CCEEFF"/>
          </a:solidFill>
          <a:ln>
            <a:solidFill>
              <a:srgbClr val="B2D4E5"/>
            </a:solidFill>
          </a:ln>
        </p:spPr>
        <p:txBody>
          <a:bodyPr lIns="0" tIns="0" rIns="0" bIns="0" anchor="ctr"/>
          <a:lstStyle/>
          <a:p>
            <a:pPr/>
          </a:p>
        </p:txBody>
      </p:sp>
      <p:sp>
        <p:nvSpPr>
          <p:cNvPr id="1454" name="Google Shape;1007;p88"/>
          <p:cNvSpPr txBox="1"/>
          <p:nvPr/>
        </p:nvSpPr>
        <p:spPr>
          <a:xfrm>
            <a:off x="870480" y="5906520"/>
            <a:ext cx="1695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300">
                <a:solidFill>
                  <a:srgbClr val="272525"/>
                </a:solidFill>
                <a:latin typeface="Petrona"/>
                <a:ea typeface="Petrona"/>
                <a:cs typeface="Petrona"/>
                <a:sym typeface="Petrona"/>
              </a:defRPr>
            </a:lvl1pPr>
          </a:lstStyle>
          <a:p>
            <a:pPr/>
            <a:r>
              <a:t>3</a:t>
            </a:r>
          </a:p>
        </p:txBody>
      </p:sp>
      <p:sp>
        <p:nvSpPr>
          <p:cNvPr id="1455" name="Google Shape;1008;p88"/>
          <p:cNvSpPr txBox="1"/>
          <p:nvPr/>
        </p:nvSpPr>
        <p:spPr>
          <a:xfrm>
            <a:off x="2007360" y="5817959"/>
            <a:ext cx="527008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5000"/>
              </a:lnSpc>
              <a:defRPr b="1" sz="1900">
                <a:solidFill>
                  <a:srgbClr val="272525"/>
                </a:solidFill>
                <a:latin typeface="Petrona"/>
                <a:ea typeface="Petrona"/>
                <a:cs typeface="Petrona"/>
                <a:sym typeface="Petrona"/>
              </a:defRPr>
            </a:lvl1pPr>
          </a:lstStyle>
          <a:p>
            <a:pPr/>
            <a:r>
              <a:t>Personalized Recommendations</a:t>
            </a:r>
          </a:p>
        </p:txBody>
      </p:sp>
      <p:sp>
        <p:nvSpPr>
          <p:cNvPr id="1456" name="Google Shape;1009;p88"/>
          <p:cNvSpPr txBox="1"/>
          <p:nvPr/>
        </p:nvSpPr>
        <p:spPr>
          <a:xfrm>
            <a:off x="2007359" y="6246359"/>
            <a:ext cx="6467042" cy="9601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500">
                <a:solidFill>
                  <a:srgbClr val="272525"/>
                </a:solidFill>
                <a:latin typeface="Inter"/>
                <a:ea typeface="Inter"/>
                <a:cs typeface="Inter"/>
                <a:sym typeface="Inter"/>
              </a:defRPr>
            </a:lvl1pPr>
          </a:lstStyle>
          <a:p>
            <a:pPr/>
            <a:r>
              <a:t>The system generates personalized recommendations based on the user's context, search history, and inferred intent, enhancing the overall search experience.</a:t>
            </a:r>
          </a:p>
        </p:txBody>
      </p:sp>
      <p:grpSp>
        <p:nvGrpSpPr>
          <p:cNvPr id="1461" name="Google Shape;1010;p88"/>
          <p:cNvGrpSpPr/>
          <p:nvPr/>
        </p:nvGrpSpPr>
        <p:grpSpPr>
          <a:xfrm>
            <a:off x="13783679" y="-1"/>
            <a:ext cx="846360" cy="1009205"/>
            <a:chOff x="0" y="0"/>
            <a:chExt cx="846359" cy="1009203"/>
          </a:xfrm>
        </p:grpSpPr>
        <p:sp>
          <p:nvSpPr>
            <p:cNvPr id="1457" name="Google Shape;1011;p88"/>
            <p:cNvSpPr/>
            <p:nvPr/>
          </p:nvSpPr>
          <p:spPr>
            <a:xfrm>
              <a:off x="0" y="0"/>
              <a:ext cx="846359" cy="968401"/>
            </a:xfrm>
            <a:prstGeom prst="rect">
              <a:avLst/>
            </a:prstGeom>
            <a:solidFill>
              <a:srgbClr val="FFFFFF"/>
            </a:solidFill>
            <a:ln w="12700" cap="flat">
              <a:noFill/>
              <a:miter lim="400000"/>
            </a:ln>
            <a:effectLst/>
          </p:spPr>
          <p:txBody>
            <a:bodyPr wrap="square" lIns="0" tIns="0" rIns="0" bIns="0" numCol="1" anchor="ctr">
              <a:noAutofit/>
            </a:bodyPr>
            <a:lstStyle/>
            <a:p>
              <a:pPr/>
            </a:p>
          </p:txBody>
        </p:sp>
        <p:grpSp>
          <p:nvGrpSpPr>
            <p:cNvPr id="1460" name="Google Shape;1012;p88"/>
            <p:cNvGrpSpPr/>
            <p:nvPr/>
          </p:nvGrpSpPr>
          <p:grpSpPr>
            <a:xfrm>
              <a:off x="55079" y="-1"/>
              <a:ext cx="791281" cy="1009205"/>
              <a:chOff x="0" y="0"/>
              <a:chExt cx="791279" cy="1009203"/>
            </a:xfrm>
          </p:grpSpPr>
          <p:pic>
            <p:nvPicPr>
              <p:cNvPr id="1458" name="Google Shape;1013;p88" descr="Google Shape;1013;p88"/>
              <p:cNvPicPr>
                <a:picLocks noChangeAspect="1"/>
              </p:cNvPicPr>
              <p:nvPr/>
            </p:nvPicPr>
            <p:blipFill>
              <a:blip r:embed="rId3">
                <a:extLst/>
              </a:blip>
              <a:srcRect l="20669" t="0" r="9844" b="0"/>
              <a:stretch>
                <a:fillRect/>
              </a:stretch>
            </p:blipFill>
            <p:spPr>
              <a:xfrm>
                <a:off x="0" y="0"/>
                <a:ext cx="756360" cy="756361"/>
              </a:xfrm>
              <a:prstGeom prst="rect">
                <a:avLst/>
              </a:prstGeom>
              <a:ln w="12700" cap="flat">
                <a:noFill/>
                <a:miter lim="400000"/>
              </a:ln>
              <a:effectLst/>
            </p:spPr>
          </p:pic>
          <p:sp>
            <p:nvSpPr>
              <p:cNvPr id="1459" name="Google Shape;1014;p88"/>
              <p:cNvSpPr txBox="1"/>
              <p:nvPr/>
            </p:nvSpPr>
            <p:spPr>
              <a:xfrm>
                <a:off x="0" y="662276"/>
                <a:ext cx="791280" cy="3469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824" tIns="60824" rIns="60824" bIns="60824" numCol="1" anchor="ctr">
                <a:spAutoFit/>
              </a:bodyPr>
              <a:lstStyle/>
              <a:p>
                <a:pPr algn="ctr">
                  <a:defRPr b="1" sz="800">
                    <a:solidFill>
                      <a:srgbClr val="EE0000"/>
                    </a:solidFill>
                  </a:defRPr>
                </a:pPr>
                <a:r>
                  <a:t>SEMANTIC</a:t>
                </a:r>
              </a:p>
              <a:p>
                <a:pPr algn="ctr">
                  <a:defRPr sz="800"/>
                </a:pPr>
                <a:r>
                  <a:t>Governance</a:t>
                </a:r>
              </a:p>
            </p:txBody>
          </p:sp>
        </p:grpSp>
      </p:gr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