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6" r:id="rId3"/>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y="8229600" cx="14630400"/>
  <p:notesSz cx="8229600" cy="14630400"/>
  <p:embeddedFontLst>
    <p:embeddedFont>
      <p:font typeface="Inter"/>
      <p:regular r:id="rId44"/>
      <p:bold r:id="rId45"/>
      <p:italic r:id="rId46"/>
      <p:boldItalic r:id="rId47"/>
    </p:embeddedFont>
    <p:embeddedFont>
      <p:font typeface="Petrona"/>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font" Target="fonts/Inter-regular.fntdata"/><Relationship Id="rId43" Type="http://schemas.openxmlformats.org/officeDocument/2006/relationships/slide" Target="slides/slide36.xml"/><Relationship Id="rId46" Type="http://schemas.openxmlformats.org/officeDocument/2006/relationships/font" Target="fonts/Inter-italic.fntdata"/><Relationship Id="rId45" Type="http://schemas.openxmlformats.org/officeDocument/2006/relationships/font" Target="fonts/Inter-bold.fntdata"/><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2.xml"/><Relationship Id="rId48" Type="http://schemas.openxmlformats.org/officeDocument/2006/relationships/font" Target="fonts/Petrona-regular.fntdata"/><Relationship Id="rId47" Type="http://schemas.openxmlformats.org/officeDocument/2006/relationships/font" Target="fonts/Inter-boldItalic.fntdata"/><Relationship Id="rId49" Type="http://schemas.openxmlformats.org/officeDocument/2006/relationships/font" Target="fonts/Petrona-bold.fntdata"/><Relationship Id="rId5" Type="http://schemas.openxmlformats.org/officeDocument/2006/relationships/slideMaster" Target="slideMasters/slideMaster3.xml"/><Relationship Id="rId6" Type="http://schemas.openxmlformats.org/officeDocument/2006/relationships/slideMaster" Target="slideMasters/slideMaster4.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font" Target="fonts/Petrona-boldItalic.fntdata"/><Relationship Id="rId50" Type="http://schemas.openxmlformats.org/officeDocument/2006/relationships/font" Target="fonts/Petrona-italic.fntdata"/><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5" name="Google Shape;5;n"/>
          <p:cNvSpPr txBox="1"/>
          <p:nvPr>
            <p:ph idx="3" type="hdr"/>
          </p:nvPr>
        </p:nvSpPr>
        <p:spPr>
          <a:xfrm>
            <a:off x="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 name="Google Shape;6;n"/>
          <p:cNvSpPr txBox="1"/>
          <p:nvPr>
            <p:ph idx="10" type="dt"/>
          </p:nvPr>
        </p:nvSpPr>
        <p:spPr>
          <a:xfrm>
            <a:off x="427896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10157400"/>
            <a:ext cx="3280680" cy="534240"/>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4278960" y="10157400"/>
            <a:ext cx="3280680" cy="53424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en-US" sz="1400" u="none" cap="none" strike="noStrike">
                <a:latin typeface="Times New Roman"/>
                <a:ea typeface="Times New Roman"/>
                <a:cs typeface="Times New Roman"/>
                <a:sym typeface="Times New Roman"/>
              </a:rPr>
              <a:t>‹#›</a:t>
            </a:fld>
            <a:endParaRPr b="0" i="0" sz="1400" u="none" cap="none" strike="noStrike">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6" name="Google Shape;226;p1: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227" name="Google Shape;227;p1: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2: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p2: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241" name="Google Shape;241;p2: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3: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8" name="Google Shape;268;p3: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269" name="Google Shape;269;p3: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4: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9" name="Google Shape;289;p4: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290" name="Google Shape;290;p4: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5: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7" name="Google Shape;307;p5: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308" name="Google Shape;308;p5: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6: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p6: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332" name="Google Shape;332;p6: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7: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1" name="Google Shape;361;p7: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362" name="Google Shape;362;p7: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8: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8: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386" name="Google Shape;386;p8: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9: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p9: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405" name="Google Shape;405;p9: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10: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5" name="Google Shape;425;p10: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426" name="Google Shape;426;p10: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11: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0" name="Google Shape;450;p11: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451" name="Google Shape;451;p11: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p12: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5" name="Google Shape;485;p12: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486" name="Google Shape;486;p12: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3: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13: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515" name="Google Shape;515;p13: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4:notes"/>
          <p:cNvSpPr txBox="1"/>
          <p:nvPr>
            <p:ph idx="1" type="body"/>
          </p:nvPr>
        </p:nvSpPr>
        <p:spPr>
          <a:xfrm>
            <a:off x="756000" y="5078520"/>
            <a:ext cx="6047640" cy="481104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544" name="Google Shape;544;p14:notes"/>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15: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15: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590" name="Google Shape;590;p15: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16: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16: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20" name="Google Shape;620;p16: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p17: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3" name="Google Shape;633;p17: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34" name="Google Shape;634;p17: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48" name="Google Shape;648;p18: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19: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2" name="Google Shape;662;p19: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63" name="Google Shape;663;p19: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2" name="Shape 672"/>
        <p:cNvGrpSpPr/>
        <p:nvPr/>
      </p:nvGrpSpPr>
      <p:grpSpPr>
        <a:xfrm>
          <a:off x="0" y="0"/>
          <a:ext cx="0" cy="0"/>
          <a:chOff x="0" y="0"/>
          <a:chExt cx="0" cy="0"/>
        </a:xfrm>
      </p:grpSpPr>
      <p:sp>
        <p:nvSpPr>
          <p:cNvPr id="673" name="Google Shape;673;p20: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4" name="Google Shape;674;p20: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75" name="Google Shape;675;p20: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p21:notes"/>
          <p:cNvSpPr txBox="1"/>
          <p:nvPr>
            <p:ph idx="1" type="body"/>
          </p:nvPr>
        </p:nvSpPr>
        <p:spPr>
          <a:xfrm>
            <a:off x="756000" y="5078520"/>
            <a:ext cx="6047640" cy="481104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686" name="Google Shape;686;p21:notes"/>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p22: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6" name="Google Shape;776;p22:notes"/>
          <p:cNvSpPr txBox="1"/>
          <p:nvPr>
            <p:ph idx="1" type="body"/>
          </p:nvPr>
        </p:nvSpPr>
        <p:spPr>
          <a:xfrm>
            <a:off x="685800" y="4400640"/>
            <a:ext cx="5485680" cy="3599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777" name="Google Shape;777;p22: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p23: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1" name="Google Shape;801;p23: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02" name="Google Shape;802;p23: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24: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6" name="Google Shape;816;p24: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17" name="Google Shape;817;p24: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30" name="Google Shape;830;p25: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0" name="Shape 840"/>
        <p:cNvGrpSpPr/>
        <p:nvPr/>
      </p:nvGrpSpPr>
      <p:grpSpPr>
        <a:xfrm>
          <a:off x="0" y="0"/>
          <a:ext cx="0" cy="0"/>
          <a:chOff x="0" y="0"/>
          <a:chExt cx="0" cy="0"/>
        </a:xfrm>
      </p:grpSpPr>
      <p:sp>
        <p:nvSpPr>
          <p:cNvPr id="841" name="Google Shape;841;p26: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2" name="Google Shape;842;p26: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43" name="Google Shape;843;p26: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56" name="Google Shape;856;p27: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28: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8" name="Google Shape;868;p28: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69" name="Google Shape;869;p28: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9" name="Shape 879"/>
        <p:cNvGrpSpPr/>
        <p:nvPr/>
      </p:nvGrpSpPr>
      <p:grpSpPr>
        <a:xfrm>
          <a:off x="0" y="0"/>
          <a:ext cx="0" cy="0"/>
          <a:chOff x="0" y="0"/>
          <a:chExt cx="0" cy="0"/>
        </a:xfrm>
      </p:grpSpPr>
      <p:sp>
        <p:nvSpPr>
          <p:cNvPr id="880" name="Google Shape;880;p29: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1" name="Google Shape;881;p29: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82" name="Google Shape;882;p29: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30: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4" name="Google Shape;894;p30: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895" name="Google Shape;895;p30: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31: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07" name="Google Shape;907;p31: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08" name="Google Shape;908;p31: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32: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0" name="Google Shape;920;p32: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21" name="Google Shape;921;p32: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1" name="Shape 931"/>
        <p:cNvGrpSpPr/>
        <p:nvPr/>
      </p:nvGrpSpPr>
      <p:grpSpPr>
        <a:xfrm>
          <a:off x="0" y="0"/>
          <a:ext cx="0" cy="0"/>
          <a:chOff x="0" y="0"/>
          <a:chExt cx="0" cy="0"/>
        </a:xfrm>
      </p:grpSpPr>
      <p:sp>
        <p:nvSpPr>
          <p:cNvPr id="932" name="Google Shape;932;p33: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3" name="Google Shape;933;p33: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34" name="Google Shape;934;p33: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34: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4" name="Google Shape;944;p34: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45" name="Google Shape;945;p34: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6" name="Shape 966"/>
        <p:cNvGrpSpPr/>
        <p:nvPr/>
      </p:nvGrpSpPr>
      <p:grpSpPr>
        <a:xfrm>
          <a:off x="0" y="0"/>
          <a:ext cx="0" cy="0"/>
          <a:chOff x="0" y="0"/>
          <a:chExt cx="0" cy="0"/>
        </a:xfrm>
      </p:grpSpPr>
      <p:sp>
        <p:nvSpPr>
          <p:cNvPr id="967" name="Google Shape;967;p35: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8" name="Google Shape;968;p35: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69" name="Google Shape;969;p35: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7" name="Shape 987"/>
        <p:cNvGrpSpPr/>
        <p:nvPr/>
      </p:nvGrpSpPr>
      <p:grpSpPr>
        <a:xfrm>
          <a:off x="0" y="0"/>
          <a:ext cx="0" cy="0"/>
          <a:chOff x="0" y="0"/>
          <a:chExt cx="0" cy="0"/>
        </a:xfrm>
      </p:grpSpPr>
      <p:sp>
        <p:nvSpPr>
          <p:cNvPr id="988" name="Google Shape;988;p36:notes"/>
          <p:cNvSpPr/>
          <p:nvPr>
            <p:ph idx="2" type="sldImg"/>
          </p:nvPr>
        </p:nvSpPr>
        <p:spPr>
          <a:xfrm>
            <a:off x="685800" y="1143000"/>
            <a:ext cx="5485680" cy="3085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9" name="Google Shape;989;p36:notes"/>
          <p:cNvSpPr txBox="1"/>
          <p:nvPr>
            <p:ph idx="1" type="body"/>
          </p:nvPr>
        </p:nvSpPr>
        <p:spPr>
          <a:xfrm>
            <a:off x="685800" y="4400640"/>
            <a:ext cx="5485680" cy="3600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990" name="Google Shape;990;p36:notes"/>
          <p:cNvSpPr/>
          <p:nvPr/>
        </p:nvSpPr>
        <p:spPr>
          <a:xfrm>
            <a:off x="3884760" y="8685360"/>
            <a:ext cx="2971080" cy="45792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None/>
            </a:pPr>
            <a:fld id="{00000000-1234-1234-1234-123412341234}" type="slidenum">
              <a:rPr b="0" i="0" lang="en-US" sz="1800" u="none" cap="none" strike="noStrike">
                <a:latin typeface="Arial"/>
                <a:ea typeface="Arial"/>
                <a:cs typeface="Arial"/>
                <a:sym typeface="Arial"/>
              </a:rPr>
              <a:t>‹#›</a:t>
            </a:fld>
            <a:endParaRPr b="0" i="0" sz="1800" u="none" cap="none" strike="noStrike">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4" name="Shape 14"/>
        <p:cNvGrpSpPr/>
        <p:nvPr/>
      </p:nvGrpSpPr>
      <p:grpSpPr>
        <a:xfrm>
          <a:off x="0" y="0"/>
          <a:ext cx="0" cy="0"/>
          <a:chOff x="0" y="0"/>
          <a:chExt cx="0" cy="0"/>
        </a:xfrm>
      </p:grpSpPr>
      <p:sp>
        <p:nvSpPr>
          <p:cNvPr id="15" name="Google Shape;15;p2"/>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7" name="Shape 1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8" name="Shape 18"/>
        <p:cNvGrpSpPr/>
        <p:nvPr/>
      </p:nvGrpSpPr>
      <p:grpSpPr>
        <a:xfrm>
          <a:off x="0" y="0"/>
          <a:ext cx="0" cy="0"/>
          <a:chOff x="0" y="0"/>
          <a:chExt cx="0" cy="0"/>
        </a:xfrm>
      </p:grpSpPr>
      <p:sp>
        <p:nvSpPr>
          <p:cNvPr id="19" name="Google Shape;19;p4"/>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
          <p:cNvSpPr txBox="1"/>
          <p:nvPr>
            <p:ph idx="1" type="subTitle"/>
          </p:nvPr>
        </p:nvSpPr>
        <p:spPr>
          <a:xfrm>
            <a:off x="731520" y="1925640"/>
            <a:ext cx="13167000" cy="47725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1" name="Shape 21"/>
        <p:cNvGrpSpPr/>
        <p:nvPr/>
      </p:nvGrpSpPr>
      <p:grpSpPr>
        <a:xfrm>
          <a:off x="0" y="0"/>
          <a:ext cx="0" cy="0"/>
          <a:chOff x="0" y="0"/>
          <a:chExt cx="0" cy="0"/>
        </a:xfrm>
      </p:grpSpPr>
      <p:sp>
        <p:nvSpPr>
          <p:cNvPr id="22" name="Google Shape;22;p5"/>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5"/>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4" name="Google Shape;24;p5"/>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7" name="Shape 27"/>
        <p:cNvGrpSpPr/>
        <p:nvPr/>
      </p:nvGrpSpPr>
      <p:grpSpPr>
        <a:xfrm>
          <a:off x="0" y="0"/>
          <a:ext cx="0" cy="0"/>
          <a:chOff x="0" y="0"/>
          <a:chExt cx="0" cy="0"/>
        </a:xfrm>
      </p:grpSpPr>
      <p:sp>
        <p:nvSpPr>
          <p:cNvPr id="28" name="Google Shape;28;p7"/>
          <p:cNvSpPr txBox="1"/>
          <p:nvPr>
            <p:ph idx="1" type="subTitle"/>
          </p:nvPr>
        </p:nvSpPr>
        <p:spPr>
          <a:xfrm>
            <a:off x="731520" y="328320"/>
            <a:ext cx="13167000" cy="63691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9" name="Shape 29"/>
        <p:cNvGrpSpPr/>
        <p:nvPr/>
      </p:nvGrpSpPr>
      <p:grpSpPr>
        <a:xfrm>
          <a:off x="0" y="0"/>
          <a:ext cx="0" cy="0"/>
          <a:chOff x="0" y="0"/>
          <a:chExt cx="0" cy="0"/>
        </a:xfrm>
      </p:grpSpPr>
      <p:sp>
        <p:nvSpPr>
          <p:cNvPr id="30" name="Google Shape;30;p8"/>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8"/>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2" name="Google Shape;32;p8"/>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3" name="Google Shape;33;p8"/>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34" name="Shape 34"/>
        <p:cNvGrpSpPr/>
        <p:nvPr/>
      </p:nvGrpSpPr>
      <p:grpSpPr>
        <a:xfrm>
          <a:off x="0" y="0"/>
          <a:ext cx="0" cy="0"/>
          <a:chOff x="0" y="0"/>
          <a:chExt cx="0" cy="0"/>
        </a:xfrm>
      </p:grpSpPr>
      <p:sp>
        <p:nvSpPr>
          <p:cNvPr id="35" name="Google Shape;35;p9"/>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9"/>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7" name="Google Shape;37;p9"/>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8" name="Google Shape;38;p9"/>
          <p:cNvSpPr txBox="1"/>
          <p:nvPr>
            <p:ph idx="3"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9" name="Shape 39"/>
        <p:cNvGrpSpPr/>
        <p:nvPr/>
      </p:nvGrpSpPr>
      <p:grpSpPr>
        <a:xfrm>
          <a:off x="0" y="0"/>
          <a:ext cx="0" cy="0"/>
          <a:chOff x="0" y="0"/>
          <a:chExt cx="0" cy="0"/>
        </a:xfrm>
      </p:grpSpPr>
      <p:sp>
        <p:nvSpPr>
          <p:cNvPr id="40" name="Google Shape;40;p10"/>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10"/>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2" name="Google Shape;42;p10"/>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3" name="Google Shape;43;p10"/>
          <p:cNvSpPr txBox="1"/>
          <p:nvPr>
            <p:ph idx="3"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44" name="Shape 44"/>
        <p:cNvGrpSpPr/>
        <p:nvPr/>
      </p:nvGrpSpPr>
      <p:grpSpPr>
        <a:xfrm>
          <a:off x="0" y="0"/>
          <a:ext cx="0" cy="0"/>
          <a:chOff x="0" y="0"/>
          <a:chExt cx="0" cy="0"/>
        </a:xfrm>
      </p:grpSpPr>
      <p:sp>
        <p:nvSpPr>
          <p:cNvPr id="45" name="Google Shape;45;p11"/>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11"/>
          <p:cNvSpPr txBox="1"/>
          <p:nvPr>
            <p:ph idx="1" type="body"/>
          </p:nvPr>
        </p:nvSpPr>
        <p:spPr>
          <a:xfrm>
            <a:off x="731520" y="1925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7" name="Google Shape;47;p11"/>
          <p:cNvSpPr txBox="1"/>
          <p:nvPr>
            <p:ph idx="2"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8" name="Shape 48"/>
        <p:cNvGrpSpPr/>
        <p:nvPr/>
      </p:nvGrpSpPr>
      <p:grpSpPr>
        <a:xfrm>
          <a:off x="0" y="0"/>
          <a:ext cx="0" cy="0"/>
          <a:chOff x="0" y="0"/>
          <a:chExt cx="0" cy="0"/>
        </a:xfrm>
      </p:grpSpPr>
      <p:sp>
        <p:nvSpPr>
          <p:cNvPr id="49" name="Google Shape;49;p12"/>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12"/>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1" name="Google Shape;51;p12"/>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2" name="Google Shape;52;p12"/>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3" name="Google Shape;53;p12"/>
          <p:cNvSpPr txBox="1"/>
          <p:nvPr>
            <p:ph idx="4"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54" name="Shape 54"/>
        <p:cNvGrpSpPr/>
        <p:nvPr/>
      </p:nvGrpSpPr>
      <p:grpSpPr>
        <a:xfrm>
          <a:off x="0" y="0"/>
          <a:ext cx="0" cy="0"/>
          <a:chOff x="0" y="0"/>
          <a:chExt cx="0" cy="0"/>
        </a:xfrm>
      </p:grpSpPr>
      <p:sp>
        <p:nvSpPr>
          <p:cNvPr id="55" name="Google Shape;55;p13"/>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13"/>
          <p:cNvSpPr txBox="1"/>
          <p:nvPr>
            <p:ph idx="1" type="body"/>
          </p:nvPr>
        </p:nvSpPr>
        <p:spPr>
          <a:xfrm>
            <a:off x="73152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7" name="Google Shape;57;p13"/>
          <p:cNvSpPr txBox="1"/>
          <p:nvPr>
            <p:ph idx="2" type="body"/>
          </p:nvPr>
        </p:nvSpPr>
        <p:spPr>
          <a:xfrm>
            <a:off x="518328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8" name="Google Shape;58;p13"/>
          <p:cNvSpPr txBox="1"/>
          <p:nvPr>
            <p:ph idx="3" type="body"/>
          </p:nvPr>
        </p:nvSpPr>
        <p:spPr>
          <a:xfrm>
            <a:off x="963504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9" name="Google Shape;59;p13"/>
          <p:cNvSpPr txBox="1"/>
          <p:nvPr>
            <p:ph idx="4" type="body"/>
          </p:nvPr>
        </p:nvSpPr>
        <p:spPr>
          <a:xfrm>
            <a:off x="73152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60" name="Google Shape;60;p13"/>
          <p:cNvSpPr txBox="1"/>
          <p:nvPr>
            <p:ph idx="5" type="body"/>
          </p:nvPr>
        </p:nvSpPr>
        <p:spPr>
          <a:xfrm>
            <a:off x="518328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61" name="Google Shape;61;p13"/>
          <p:cNvSpPr txBox="1"/>
          <p:nvPr>
            <p:ph idx="6" type="body"/>
          </p:nvPr>
        </p:nvSpPr>
        <p:spPr>
          <a:xfrm>
            <a:off x="963504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67" name="Shape 67"/>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8" name="Shape 68"/>
        <p:cNvGrpSpPr/>
        <p:nvPr/>
      </p:nvGrpSpPr>
      <p:grpSpPr>
        <a:xfrm>
          <a:off x="0" y="0"/>
          <a:ext cx="0" cy="0"/>
          <a:chOff x="0" y="0"/>
          <a:chExt cx="0" cy="0"/>
        </a:xfrm>
      </p:grpSpPr>
      <p:sp>
        <p:nvSpPr>
          <p:cNvPr id="69" name="Google Shape;69;p16"/>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 type="subTitle"/>
          </p:nvPr>
        </p:nvSpPr>
        <p:spPr>
          <a:xfrm>
            <a:off x="731520" y="1925640"/>
            <a:ext cx="13167000" cy="47725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71" name="Shape 71"/>
        <p:cNvGrpSpPr/>
        <p:nvPr/>
      </p:nvGrpSpPr>
      <p:grpSpPr>
        <a:xfrm>
          <a:off x="0" y="0"/>
          <a:ext cx="0" cy="0"/>
          <a:chOff x="0" y="0"/>
          <a:chExt cx="0" cy="0"/>
        </a:xfrm>
      </p:grpSpPr>
      <p:sp>
        <p:nvSpPr>
          <p:cNvPr id="72" name="Google Shape;72;p17"/>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7"/>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74" name="Shape 74"/>
        <p:cNvGrpSpPr/>
        <p:nvPr/>
      </p:nvGrpSpPr>
      <p:grpSpPr>
        <a:xfrm>
          <a:off x="0" y="0"/>
          <a:ext cx="0" cy="0"/>
          <a:chOff x="0" y="0"/>
          <a:chExt cx="0" cy="0"/>
        </a:xfrm>
      </p:grpSpPr>
      <p:sp>
        <p:nvSpPr>
          <p:cNvPr id="75" name="Google Shape;75;p18"/>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8"/>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77" name="Google Shape;77;p18"/>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8" name="Shape 78"/>
        <p:cNvGrpSpPr/>
        <p:nvPr/>
      </p:nvGrpSpPr>
      <p:grpSpPr>
        <a:xfrm>
          <a:off x="0" y="0"/>
          <a:ext cx="0" cy="0"/>
          <a:chOff x="0" y="0"/>
          <a:chExt cx="0" cy="0"/>
        </a:xfrm>
      </p:grpSpPr>
      <p:sp>
        <p:nvSpPr>
          <p:cNvPr id="79" name="Google Shape;79;p19"/>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80" name="Shape 80"/>
        <p:cNvGrpSpPr/>
        <p:nvPr/>
      </p:nvGrpSpPr>
      <p:grpSpPr>
        <a:xfrm>
          <a:off x="0" y="0"/>
          <a:ext cx="0" cy="0"/>
          <a:chOff x="0" y="0"/>
          <a:chExt cx="0" cy="0"/>
        </a:xfrm>
      </p:grpSpPr>
      <p:sp>
        <p:nvSpPr>
          <p:cNvPr id="81" name="Google Shape;81;p20"/>
          <p:cNvSpPr txBox="1"/>
          <p:nvPr>
            <p:ph idx="1" type="subTitle"/>
          </p:nvPr>
        </p:nvSpPr>
        <p:spPr>
          <a:xfrm>
            <a:off x="731520" y="328320"/>
            <a:ext cx="13167000" cy="63691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82" name="Shape 82"/>
        <p:cNvGrpSpPr/>
        <p:nvPr/>
      </p:nvGrpSpPr>
      <p:grpSpPr>
        <a:xfrm>
          <a:off x="0" y="0"/>
          <a:ext cx="0" cy="0"/>
          <a:chOff x="0" y="0"/>
          <a:chExt cx="0" cy="0"/>
        </a:xfrm>
      </p:grpSpPr>
      <p:sp>
        <p:nvSpPr>
          <p:cNvPr id="83" name="Google Shape;83;p21"/>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1"/>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85" name="Google Shape;85;p21"/>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86" name="Google Shape;86;p21"/>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87" name="Shape 87"/>
        <p:cNvGrpSpPr/>
        <p:nvPr/>
      </p:nvGrpSpPr>
      <p:grpSpPr>
        <a:xfrm>
          <a:off x="0" y="0"/>
          <a:ext cx="0" cy="0"/>
          <a:chOff x="0" y="0"/>
          <a:chExt cx="0" cy="0"/>
        </a:xfrm>
      </p:grpSpPr>
      <p:sp>
        <p:nvSpPr>
          <p:cNvPr id="88" name="Google Shape;88;p22"/>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22"/>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90" name="Google Shape;90;p22"/>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91" name="Google Shape;91;p22"/>
          <p:cNvSpPr txBox="1"/>
          <p:nvPr>
            <p:ph idx="3"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92" name="Shape 92"/>
        <p:cNvGrpSpPr/>
        <p:nvPr/>
      </p:nvGrpSpPr>
      <p:grpSpPr>
        <a:xfrm>
          <a:off x="0" y="0"/>
          <a:ext cx="0" cy="0"/>
          <a:chOff x="0" y="0"/>
          <a:chExt cx="0" cy="0"/>
        </a:xfrm>
      </p:grpSpPr>
      <p:sp>
        <p:nvSpPr>
          <p:cNvPr id="93" name="Google Shape;93;p23"/>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23"/>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95" name="Google Shape;95;p23"/>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96" name="Google Shape;96;p23"/>
          <p:cNvSpPr txBox="1"/>
          <p:nvPr>
            <p:ph idx="3"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97" name="Shape 97"/>
        <p:cNvGrpSpPr/>
        <p:nvPr/>
      </p:nvGrpSpPr>
      <p:grpSpPr>
        <a:xfrm>
          <a:off x="0" y="0"/>
          <a:ext cx="0" cy="0"/>
          <a:chOff x="0" y="0"/>
          <a:chExt cx="0" cy="0"/>
        </a:xfrm>
      </p:grpSpPr>
      <p:sp>
        <p:nvSpPr>
          <p:cNvPr id="98" name="Google Shape;98;p24"/>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4"/>
          <p:cNvSpPr txBox="1"/>
          <p:nvPr>
            <p:ph idx="1" type="body"/>
          </p:nvPr>
        </p:nvSpPr>
        <p:spPr>
          <a:xfrm>
            <a:off x="731520" y="1925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00" name="Google Shape;100;p24"/>
          <p:cNvSpPr txBox="1"/>
          <p:nvPr>
            <p:ph idx="2"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01" name="Shape 101"/>
        <p:cNvGrpSpPr/>
        <p:nvPr/>
      </p:nvGrpSpPr>
      <p:grpSpPr>
        <a:xfrm>
          <a:off x="0" y="0"/>
          <a:ext cx="0" cy="0"/>
          <a:chOff x="0" y="0"/>
          <a:chExt cx="0" cy="0"/>
        </a:xfrm>
      </p:grpSpPr>
      <p:sp>
        <p:nvSpPr>
          <p:cNvPr id="102" name="Google Shape;102;p25"/>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3" name="Google Shape;103;p25"/>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04" name="Google Shape;104;p25"/>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05" name="Google Shape;105;p25"/>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06" name="Google Shape;106;p25"/>
          <p:cNvSpPr txBox="1"/>
          <p:nvPr>
            <p:ph idx="4"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07" name="Shape 107"/>
        <p:cNvGrpSpPr/>
        <p:nvPr/>
      </p:nvGrpSpPr>
      <p:grpSpPr>
        <a:xfrm>
          <a:off x="0" y="0"/>
          <a:ext cx="0" cy="0"/>
          <a:chOff x="0" y="0"/>
          <a:chExt cx="0" cy="0"/>
        </a:xfrm>
      </p:grpSpPr>
      <p:sp>
        <p:nvSpPr>
          <p:cNvPr id="108" name="Google Shape;108;p26"/>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9" name="Google Shape;109;p26"/>
          <p:cNvSpPr txBox="1"/>
          <p:nvPr>
            <p:ph idx="1" type="body"/>
          </p:nvPr>
        </p:nvSpPr>
        <p:spPr>
          <a:xfrm>
            <a:off x="73152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10" name="Google Shape;110;p26"/>
          <p:cNvSpPr txBox="1"/>
          <p:nvPr>
            <p:ph idx="2" type="body"/>
          </p:nvPr>
        </p:nvSpPr>
        <p:spPr>
          <a:xfrm>
            <a:off x="518328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11" name="Google Shape;111;p26"/>
          <p:cNvSpPr txBox="1"/>
          <p:nvPr>
            <p:ph idx="3" type="body"/>
          </p:nvPr>
        </p:nvSpPr>
        <p:spPr>
          <a:xfrm>
            <a:off x="963504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12" name="Google Shape;112;p26"/>
          <p:cNvSpPr txBox="1"/>
          <p:nvPr>
            <p:ph idx="4" type="body"/>
          </p:nvPr>
        </p:nvSpPr>
        <p:spPr>
          <a:xfrm>
            <a:off x="73152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13" name="Google Shape;113;p26"/>
          <p:cNvSpPr txBox="1"/>
          <p:nvPr>
            <p:ph idx="5" type="body"/>
          </p:nvPr>
        </p:nvSpPr>
        <p:spPr>
          <a:xfrm>
            <a:off x="518328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14" name="Google Shape;114;p26"/>
          <p:cNvSpPr txBox="1"/>
          <p:nvPr>
            <p:ph idx="6" type="body"/>
          </p:nvPr>
        </p:nvSpPr>
        <p:spPr>
          <a:xfrm>
            <a:off x="963504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22" name="Shape 122"/>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23" name="Shape 123"/>
        <p:cNvGrpSpPr/>
        <p:nvPr/>
      </p:nvGrpSpPr>
      <p:grpSpPr>
        <a:xfrm>
          <a:off x="0" y="0"/>
          <a:ext cx="0" cy="0"/>
          <a:chOff x="0" y="0"/>
          <a:chExt cx="0" cy="0"/>
        </a:xfrm>
      </p:grpSpPr>
      <p:sp>
        <p:nvSpPr>
          <p:cNvPr id="124" name="Google Shape;124;p29"/>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5" name="Google Shape;125;p29"/>
          <p:cNvSpPr txBox="1"/>
          <p:nvPr>
            <p:ph idx="1" type="subTitle"/>
          </p:nvPr>
        </p:nvSpPr>
        <p:spPr>
          <a:xfrm>
            <a:off x="731520" y="1925640"/>
            <a:ext cx="13167000" cy="47725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6" name="Shape 126"/>
        <p:cNvGrpSpPr/>
        <p:nvPr/>
      </p:nvGrpSpPr>
      <p:grpSpPr>
        <a:xfrm>
          <a:off x="0" y="0"/>
          <a:ext cx="0" cy="0"/>
          <a:chOff x="0" y="0"/>
          <a:chExt cx="0" cy="0"/>
        </a:xfrm>
      </p:grpSpPr>
      <p:sp>
        <p:nvSpPr>
          <p:cNvPr id="127" name="Google Shape;127;p30"/>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8" name="Google Shape;128;p30"/>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29" name="Shape 129"/>
        <p:cNvGrpSpPr/>
        <p:nvPr/>
      </p:nvGrpSpPr>
      <p:grpSpPr>
        <a:xfrm>
          <a:off x="0" y="0"/>
          <a:ext cx="0" cy="0"/>
          <a:chOff x="0" y="0"/>
          <a:chExt cx="0" cy="0"/>
        </a:xfrm>
      </p:grpSpPr>
      <p:sp>
        <p:nvSpPr>
          <p:cNvPr id="130" name="Google Shape;130;p31"/>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1" name="Google Shape;131;p31"/>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32" name="Google Shape;132;p31"/>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3" name="Shape 133"/>
        <p:cNvGrpSpPr/>
        <p:nvPr/>
      </p:nvGrpSpPr>
      <p:grpSpPr>
        <a:xfrm>
          <a:off x="0" y="0"/>
          <a:ext cx="0" cy="0"/>
          <a:chOff x="0" y="0"/>
          <a:chExt cx="0" cy="0"/>
        </a:xfrm>
      </p:grpSpPr>
      <p:sp>
        <p:nvSpPr>
          <p:cNvPr id="134" name="Google Shape;134;p32"/>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35" name="Shape 135"/>
        <p:cNvGrpSpPr/>
        <p:nvPr/>
      </p:nvGrpSpPr>
      <p:grpSpPr>
        <a:xfrm>
          <a:off x="0" y="0"/>
          <a:ext cx="0" cy="0"/>
          <a:chOff x="0" y="0"/>
          <a:chExt cx="0" cy="0"/>
        </a:xfrm>
      </p:grpSpPr>
      <p:sp>
        <p:nvSpPr>
          <p:cNvPr id="136" name="Google Shape;136;p33"/>
          <p:cNvSpPr txBox="1"/>
          <p:nvPr>
            <p:ph idx="1" type="subTitle"/>
          </p:nvPr>
        </p:nvSpPr>
        <p:spPr>
          <a:xfrm>
            <a:off x="731520" y="328320"/>
            <a:ext cx="13167000" cy="63691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37" name="Shape 137"/>
        <p:cNvGrpSpPr/>
        <p:nvPr/>
      </p:nvGrpSpPr>
      <p:grpSpPr>
        <a:xfrm>
          <a:off x="0" y="0"/>
          <a:ext cx="0" cy="0"/>
          <a:chOff x="0" y="0"/>
          <a:chExt cx="0" cy="0"/>
        </a:xfrm>
      </p:grpSpPr>
      <p:sp>
        <p:nvSpPr>
          <p:cNvPr id="138" name="Google Shape;138;p34"/>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9" name="Google Shape;139;p34"/>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40" name="Google Shape;140;p34"/>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41" name="Google Shape;141;p34"/>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42" name="Shape 142"/>
        <p:cNvGrpSpPr/>
        <p:nvPr/>
      </p:nvGrpSpPr>
      <p:grpSpPr>
        <a:xfrm>
          <a:off x="0" y="0"/>
          <a:ext cx="0" cy="0"/>
          <a:chOff x="0" y="0"/>
          <a:chExt cx="0" cy="0"/>
        </a:xfrm>
      </p:grpSpPr>
      <p:sp>
        <p:nvSpPr>
          <p:cNvPr id="143" name="Google Shape;143;p35"/>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4" name="Google Shape;144;p35"/>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45" name="Google Shape;145;p35"/>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46" name="Google Shape;146;p35"/>
          <p:cNvSpPr txBox="1"/>
          <p:nvPr>
            <p:ph idx="3"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47" name="Shape 147"/>
        <p:cNvGrpSpPr/>
        <p:nvPr/>
      </p:nvGrpSpPr>
      <p:grpSpPr>
        <a:xfrm>
          <a:off x="0" y="0"/>
          <a:ext cx="0" cy="0"/>
          <a:chOff x="0" y="0"/>
          <a:chExt cx="0" cy="0"/>
        </a:xfrm>
      </p:grpSpPr>
      <p:sp>
        <p:nvSpPr>
          <p:cNvPr id="148" name="Google Shape;148;p36"/>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9" name="Google Shape;149;p36"/>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50" name="Google Shape;150;p36"/>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51" name="Google Shape;151;p36"/>
          <p:cNvSpPr txBox="1"/>
          <p:nvPr>
            <p:ph idx="3"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52" name="Shape 152"/>
        <p:cNvGrpSpPr/>
        <p:nvPr/>
      </p:nvGrpSpPr>
      <p:grpSpPr>
        <a:xfrm>
          <a:off x="0" y="0"/>
          <a:ext cx="0" cy="0"/>
          <a:chOff x="0" y="0"/>
          <a:chExt cx="0" cy="0"/>
        </a:xfrm>
      </p:grpSpPr>
      <p:sp>
        <p:nvSpPr>
          <p:cNvPr id="153" name="Google Shape;153;p37"/>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4" name="Google Shape;154;p37"/>
          <p:cNvSpPr txBox="1"/>
          <p:nvPr>
            <p:ph idx="1" type="body"/>
          </p:nvPr>
        </p:nvSpPr>
        <p:spPr>
          <a:xfrm>
            <a:off x="731520" y="1925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55" name="Google Shape;155;p37"/>
          <p:cNvSpPr txBox="1"/>
          <p:nvPr>
            <p:ph idx="2"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56" name="Shape 156"/>
        <p:cNvGrpSpPr/>
        <p:nvPr/>
      </p:nvGrpSpPr>
      <p:grpSpPr>
        <a:xfrm>
          <a:off x="0" y="0"/>
          <a:ext cx="0" cy="0"/>
          <a:chOff x="0" y="0"/>
          <a:chExt cx="0" cy="0"/>
        </a:xfrm>
      </p:grpSpPr>
      <p:sp>
        <p:nvSpPr>
          <p:cNvPr id="157" name="Google Shape;157;p38"/>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8" name="Google Shape;158;p38"/>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59" name="Google Shape;159;p38"/>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0" name="Google Shape;160;p38"/>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1" name="Google Shape;161;p38"/>
          <p:cNvSpPr txBox="1"/>
          <p:nvPr>
            <p:ph idx="4"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62" name="Shape 162"/>
        <p:cNvGrpSpPr/>
        <p:nvPr/>
      </p:nvGrpSpPr>
      <p:grpSpPr>
        <a:xfrm>
          <a:off x="0" y="0"/>
          <a:ext cx="0" cy="0"/>
          <a:chOff x="0" y="0"/>
          <a:chExt cx="0" cy="0"/>
        </a:xfrm>
      </p:grpSpPr>
      <p:sp>
        <p:nvSpPr>
          <p:cNvPr id="163" name="Google Shape;163;p39"/>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4" name="Google Shape;164;p39"/>
          <p:cNvSpPr txBox="1"/>
          <p:nvPr>
            <p:ph idx="1" type="body"/>
          </p:nvPr>
        </p:nvSpPr>
        <p:spPr>
          <a:xfrm>
            <a:off x="73152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5" name="Google Shape;165;p39"/>
          <p:cNvSpPr txBox="1"/>
          <p:nvPr>
            <p:ph idx="2" type="body"/>
          </p:nvPr>
        </p:nvSpPr>
        <p:spPr>
          <a:xfrm>
            <a:off x="518328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6" name="Google Shape;166;p39"/>
          <p:cNvSpPr txBox="1"/>
          <p:nvPr>
            <p:ph idx="3" type="body"/>
          </p:nvPr>
        </p:nvSpPr>
        <p:spPr>
          <a:xfrm>
            <a:off x="963504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7" name="Google Shape;167;p39"/>
          <p:cNvSpPr txBox="1"/>
          <p:nvPr>
            <p:ph idx="4" type="body"/>
          </p:nvPr>
        </p:nvSpPr>
        <p:spPr>
          <a:xfrm>
            <a:off x="73152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8" name="Google Shape;168;p39"/>
          <p:cNvSpPr txBox="1"/>
          <p:nvPr>
            <p:ph idx="5" type="body"/>
          </p:nvPr>
        </p:nvSpPr>
        <p:spPr>
          <a:xfrm>
            <a:off x="518328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69" name="Google Shape;169;p39"/>
          <p:cNvSpPr txBox="1"/>
          <p:nvPr>
            <p:ph idx="6" type="body"/>
          </p:nvPr>
        </p:nvSpPr>
        <p:spPr>
          <a:xfrm>
            <a:off x="963504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6" name="Shape 176"/>
        <p:cNvGrpSpPr/>
        <p:nvPr/>
      </p:nvGrpSpPr>
      <p:grpSpPr>
        <a:xfrm>
          <a:off x="0" y="0"/>
          <a:ext cx="0" cy="0"/>
          <a:chOff x="0" y="0"/>
          <a:chExt cx="0" cy="0"/>
        </a:xfrm>
      </p:grpSpPr>
      <p:sp>
        <p:nvSpPr>
          <p:cNvPr id="177" name="Google Shape;177;p41"/>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78" name="Shape 178"/>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79" name="Shape 179"/>
        <p:cNvGrpSpPr/>
        <p:nvPr/>
      </p:nvGrpSpPr>
      <p:grpSpPr>
        <a:xfrm>
          <a:off x="0" y="0"/>
          <a:ext cx="0" cy="0"/>
          <a:chOff x="0" y="0"/>
          <a:chExt cx="0" cy="0"/>
        </a:xfrm>
      </p:grpSpPr>
      <p:sp>
        <p:nvSpPr>
          <p:cNvPr id="180" name="Google Shape;180;p43"/>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1" name="Google Shape;181;p43"/>
          <p:cNvSpPr txBox="1"/>
          <p:nvPr>
            <p:ph idx="1" type="subTitle"/>
          </p:nvPr>
        </p:nvSpPr>
        <p:spPr>
          <a:xfrm>
            <a:off x="731520" y="1925640"/>
            <a:ext cx="13167000" cy="47725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82" name="Shape 182"/>
        <p:cNvGrpSpPr/>
        <p:nvPr/>
      </p:nvGrpSpPr>
      <p:grpSpPr>
        <a:xfrm>
          <a:off x="0" y="0"/>
          <a:ext cx="0" cy="0"/>
          <a:chOff x="0" y="0"/>
          <a:chExt cx="0" cy="0"/>
        </a:xfrm>
      </p:grpSpPr>
      <p:sp>
        <p:nvSpPr>
          <p:cNvPr id="183" name="Google Shape;183;p44"/>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4" name="Google Shape;184;p44"/>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85" name="Shape 185"/>
        <p:cNvGrpSpPr/>
        <p:nvPr/>
      </p:nvGrpSpPr>
      <p:grpSpPr>
        <a:xfrm>
          <a:off x="0" y="0"/>
          <a:ext cx="0" cy="0"/>
          <a:chOff x="0" y="0"/>
          <a:chExt cx="0" cy="0"/>
        </a:xfrm>
      </p:grpSpPr>
      <p:sp>
        <p:nvSpPr>
          <p:cNvPr id="186" name="Google Shape;186;p45"/>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7" name="Google Shape;187;p45"/>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88" name="Google Shape;188;p45"/>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89" name="Shape 189"/>
        <p:cNvGrpSpPr/>
        <p:nvPr/>
      </p:nvGrpSpPr>
      <p:grpSpPr>
        <a:xfrm>
          <a:off x="0" y="0"/>
          <a:ext cx="0" cy="0"/>
          <a:chOff x="0" y="0"/>
          <a:chExt cx="0" cy="0"/>
        </a:xfrm>
      </p:grpSpPr>
      <p:sp>
        <p:nvSpPr>
          <p:cNvPr id="190" name="Google Shape;190;p46"/>
          <p:cNvSpPr txBox="1"/>
          <p:nvPr>
            <p:ph idx="1" type="subTitle"/>
          </p:nvPr>
        </p:nvSpPr>
        <p:spPr>
          <a:xfrm>
            <a:off x="731520" y="328320"/>
            <a:ext cx="13167000" cy="6369120"/>
          </a:xfrm>
          <a:prstGeom prst="rect">
            <a:avLst/>
          </a:prstGeom>
          <a:noFill/>
          <a:ln>
            <a:noFill/>
          </a:ln>
        </p:spPr>
        <p:txBody>
          <a:bodyPr anchorCtr="0" anchor="ctr" bIns="0" lIns="0" spcFirstLastPara="1" rIns="0" wrap="square" tIns="0">
            <a:norm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91" name="Shape 191"/>
        <p:cNvGrpSpPr/>
        <p:nvPr/>
      </p:nvGrpSpPr>
      <p:grpSpPr>
        <a:xfrm>
          <a:off x="0" y="0"/>
          <a:ext cx="0" cy="0"/>
          <a:chOff x="0" y="0"/>
          <a:chExt cx="0" cy="0"/>
        </a:xfrm>
      </p:grpSpPr>
      <p:sp>
        <p:nvSpPr>
          <p:cNvPr id="192" name="Google Shape;192;p47"/>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3" name="Google Shape;193;p47"/>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94" name="Google Shape;194;p47"/>
          <p:cNvSpPr txBox="1"/>
          <p:nvPr>
            <p:ph idx="2" type="body"/>
          </p:nvPr>
        </p:nvSpPr>
        <p:spPr>
          <a:xfrm>
            <a:off x="747828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95" name="Google Shape;195;p47"/>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96" name="Shape 196"/>
        <p:cNvGrpSpPr/>
        <p:nvPr/>
      </p:nvGrpSpPr>
      <p:grpSpPr>
        <a:xfrm>
          <a:off x="0" y="0"/>
          <a:ext cx="0" cy="0"/>
          <a:chOff x="0" y="0"/>
          <a:chExt cx="0" cy="0"/>
        </a:xfrm>
      </p:grpSpPr>
      <p:sp>
        <p:nvSpPr>
          <p:cNvPr id="197" name="Google Shape;197;p48"/>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8" name="Google Shape;198;p48"/>
          <p:cNvSpPr txBox="1"/>
          <p:nvPr>
            <p:ph idx="1" type="body"/>
          </p:nvPr>
        </p:nvSpPr>
        <p:spPr>
          <a:xfrm>
            <a:off x="731520" y="1925640"/>
            <a:ext cx="6425280" cy="477252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199" name="Google Shape;199;p48"/>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00" name="Google Shape;200;p48"/>
          <p:cNvSpPr txBox="1"/>
          <p:nvPr>
            <p:ph idx="3"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01" name="Shape 201"/>
        <p:cNvGrpSpPr/>
        <p:nvPr/>
      </p:nvGrpSpPr>
      <p:grpSpPr>
        <a:xfrm>
          <a:off x="0" y="0"/>
          <a:ext cx="0" cy="0"/>
          <a:chOff x="0" y="0"/>
          <a:chExt cx="0" cy="0"/>
        </a:xfrm>
      </p:grpSpPr>
      <p:sp>
        <p:nvSpPr>
          <p:cNvPr id="202" name="Google Shape;202;p49"/>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3" name="Google Shape;203;p49"/>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04" name="Google Shape;204;p49"/>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05" name="Google Shape;205;p49"/>
          <p:cNvSpPr txBox="1"/>
          <p:nvPr>
            <p:ph idx="3"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06" name="Shape 206"/>
        <p:cNvGrpSpPr/>
        <p:nvPr/>
      </p:nvGrpSpPr>
      <p:grpSpPr>
        <a:xfrm>
          <a:off x="0" y="0"/>
          <a:ext cx="0" cy="0"/>
          <a:chOff x="0" y="0"/>
          <a:chExt cx="0" cy="0"/>
        </a:xfrm>
      </p:grpSpPr>
      <p:sp>
        <p:nvSpPr>
          <p:cNvPr id="207" name="Google Shape;207;p50"/>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8" name="Google Shape;208;p50"/>
          <p:cNvSpPr txBox="1"/>
          <p:nvPr>
            <p:ph idx="1" type="body"/>
          </p:nvPr>
        </p:nvSpPr>
        <p:spPr>
          <a:xfrm>
            <a:off x="731520" y="1925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09" name="Google Shape;209;p50"/>
          <p:cNvSpPr txBox="1"/>
          <p:nvPr>
            <p:ph idx="2" type="body"/>
          </p:nvPr>
        </p:nvSpPr>
        <p:spPr>
          <a:xfrm>
            <a:off x="731520" y="4418640"/>
            <a:ext cx="1316700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10" name="Shape 210"/>
        <p:cNvGrpSpPr/>
        <p:nvPr/>
      </p:nvGrpSpPr>
      <p:grpSpPr>
        <a:xfrm>
          <a:off x="0" y="0"/>
          <a:ext cx="0" cy="0"/>
          <a:chOff x="0" y="0"/>
          <a:chExt cx="0" cy="0"/>
        </a:xfrm>
      </p:grpSpPr>
      <p:sp>
        <p:nvSpPr>
          <p:cNvPr id="211" name="Google Shape;211;p51"/>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2" name="Google Shape;212;p51"/>
          <p:cNvSpPr txBox="1"/>
          <p:nvPr>
            <p:ph idx="1" type="body"/>
          </p:nvPr>
        </p:nvSpPr>
        <p:spPr>
          <a:xfrm>
            <a:off x="73152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13" name="Google Shape;213;p51"/>
          <p:cNvSpPr txBox="1"/>
          <p:nvPr>
            <p:ph idx="2" type="body"/>
          </p:nvPr>
        </p:nvSpPr>
        <p:spPr>
          <a:xfrm>
            <a:off x="7478280" y="1925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14" name="Google Shape;214;p51"/>
          <p:cNvSpPr txBox="1"/>
          <p:nvPr>
            <p:ph idx="3" type="body"/>
          </p:nvPr>
        </p:nvSpPr>
        <p:spPr>
          <a:xfrm>
            <a:off x="73152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15" name="Google Shape;215;p51"/>
          <p:cNvSpPr txBox="1"/>
          <p:nvPr>
            <p:ph idx="4" type="body"/>
          </p:nvPr>
        </p:nvSpPr>
        <p:spPr>
          <a:xfrm>
            <a:off x="7478280" y="4418640"/>
            <a:ext cx="642528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16" name="Shape 216"/>
        <p:cNvGrpSpPr/>
        <p:nvPr/>
      </p:nvGrpSpPr>
      <p:grpSpPr>
        <a:xfrm>
          <a:off x="0" y="0"/>
          <a:ext cx="0" cy="0"/>
          <a:chOff x="0" y="0"/>
          <a:chExt cx="0" cy="0"/>
        </a:xfrm>
      </p:grpSpPr>
      <p:sp>
        <p:nvSpPr>
          <p:cNvPr id="217" name="Google Shape;217;p52"/>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8" name="Google Shape;218;p52"/>
          <p:cNvSpPr txBox="1"/>
          <p:nvPr>
            <p:ph idx="1" type="body"/>
          </p:nvPr>
        </p:nvSpPr>
        <p:spPr>
          <a:xfrm>
            <a:off x="73152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19" name="Google Shape;219;p52"/>
          <p:cNvSpPr txBox="1"/>
          <p:nvPr>
            <p:ph idx="2" type="body"/>
          </p:nvPr>
        </p:nvSpPr>
        <p:spPr>
          <a:xfrm>
            <a:off x="518328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20" name="Google Shape;220;p52"/>
          <p:cNvSpPr txBox="1"/>
          <p:nvPr>
            <p:ph idx="3" type="body"/>
          </p:nvPr>
        </p:nvSpPr>
        <p:spPr>
          <a:xfrm>
            <a:off x="9635040" y="1925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21" name="Google Shape;221;p52"/>
          <p:cNvSpPr txBox="1"/>
          <p:nvPr>
            <p:ph idx="4" type="body"/>
          </p:nvPr>
        </p:nvSpPr>
        <p:spPr>
          <a:xfrm>
            <a:off x="73152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22" name="Google Shape;222;p52"/>
          <p:cNvSpPr txBox="1"/>
          <p:nvPr>
            <p:ph idx="5" type="body"/>
          </p:nvPr>
        </p:nvSpPr>
        <p:spPr>
          <a:xfrm>
            <a:off x="518328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23" name="Google Shape;223;p52"/>
          <p:cNvSpPr txBox="1"/>
          <p:nvPr>
            <p:ph idx="6" type="body"/>
          </p:nvPr>
        </p:nvSpPr>
        <p:spPr>
          <a:xfrm>
            <a:off x="9635040" y="4418640"/>
            <a:ext cx="4239360" cy="2276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4" Type="http://schemas.openxmlformats.org/officeDocument/2006/relationships/theme" Target="../theme/theme4.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image" Target="../media/image3.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1.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4.xml"/><Relationship Id="rId10" Type="http://schemas.openxmlformats.org/officeDocument/2006/relationships/slideLayout" Target="../slideLayouts/slideLayout33.xml"/><Relationship Id="rId13" Type="http://schemas.openxmlformats.org/officeDocument/2006/relationships/slideLayout" Target="../slideLayouts/slideLayout36.xml"/><Relationship Id="rId12" Type="http://schemas.openxmlformats.org/officeDocument/2006/relationships/slideLayout" Target="../slideLayouts/slideLayout35.xml"/><Relationship Id="rId1" Type="http://schemas.openxmlformats.org/officeDocument/2006/relationships/image" Target="../media/image24.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theme" Target="../theme/theme3.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7.xml"/><Relationship Id="rId10" Type="http://schemas.openxmlformats.org/officeDocument/2006/relationships/slideLayout" Target="../slideLayouts/slideLayout46.xml"/><Relationship Id="rId13" Type="http://schemas.openxmlformats.org/officeDocument/2006/relationships/theme" Target="../theme/theme5.xml"/><Relationship Id="rId12" Type="http://schemas.openxmlformats.org/officeDocument/2006/relationships/slideLayout" Target="../slideLayouts/slideLayout48.xml"/><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9" Type="http://schemas.openxmlformats.org/officeDocument/2006/relationships/slideLayout" Target="../slideLayouts/slideLayout45.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pic>
        <p:nvPicPr>
          <p:cNvPr id="10" name="Google Shape;10;p1"/>
          <p:cNvPicPr preferRelativeResize="0"/>
          <p:nvPr/>
        </p:nvPicPr>
        <p:blipFill rotWithShape="1">
          <a:blip r:embed="rId1">
            <a:alphaModFix/>
          </a:blip>
          <a:srcRect b="0" l="0" r="0" t="0"/>
          <a:stretch/>
        </p:blipFill>
        <p:spPr>
          <a:xfrm>
            <a:off x="0" y="0"/>
            <a:ext cx="14629680" cy="8228880"/>
          </a:xfrm>
          <a:prstGeom prst="rect">
            <a:avLst/>
          </a:prstGeom>
          <a:noFill/>
          <a:ln>
            <a:noFill/>
          </a:ln>
        </p:spPr>
      </p:pic>
      <p:sp>
        <p:nvSpPr>
          <p:cNvPr id="11" name="Google Shape;11;p1"/>
          <p:cNvSpPr/>
          <p:nvPr/>
        </p:nvSpPr>
        <p:spPr>
          <a:xfrm>
            <a:off x="0" y="0"/>
            <a:ext cx="14629680" cy="8228880"/>
          </a:xfrm>
          <a:prstGeom prst="rect">
            <a:avLst/>
          </a:prstGeom>
          <a:solidFill>
            <a:srgbClr val="FFFFFF">
              <a:alpha val="9490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1"/>
          <p:cNvSpPr txBox="1"/>
          <p:nvPr>
            <p:ph type="title"/>
          </p:nvPr>
        </p:nvSpPr>
        <p:spPr>
          <a:xfrm>
            <a:off x="731520" y="328320"/>
            <a:ext cx="13166640" cy="137340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3" name="Google Shape;13;p1"/>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p:cNvPicPr preferRelativeResize="0"/>
          <p:nvPr/>
        </p:nvPicPr>
        <p:blipFill rotWithShape="1">
          <a:blip r:embed="rId1">
            <a:alphaModFix/>
          </a:blip>
          <a:srcRect b="0" l="0" r="0" t="0"/>
          <a:stretch/>
        </p:blipFill>
        <p:spPr>
          <a:xfrm>
            <a:off x="0" y="0"/>
            <a:ext cx="14629680" cy="8228880"/>
          </a:xfrm>
          <a:prstGeom prst="rect">
            <a:avLst/>
          </a:prstGeom>
          <a:noFill/>
          <a:ln>
            <a:noFill/>
          </a:ln>
        </p:spPr>
      </p:pic>
      <p:sp>
        <p:nvSpPr>
          <p:cNvPr id="64" name="Google Shape;64;p14"/>
          <p:cNvSpPr/>
          <p:nvPr/>
        </p:nvSpPr>
        <p:spPr>
          <a:xfrm>
            <a:off x="0" y="0"/>
            <a:ext cx="14629680" cy="8228880"/>
          </a:xfrm>
          <a:prstGeom prst="rect">
            <a:avLst/>
          </a:prstGeom>
          <a:solidFill>
            <a:srgbClr val="FFFFFF">
              <a:alpha val="9490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4"/>
          <p:cNvSpPr txBox="1"/>
          <p:nvPr>
            <p:ph type="title"/>
          </p:nvPr>
        </p:nvSpPr>
        <p:spPr>
          <a:xfrm>
            <a:off x="731520" y="328320"/>
            <a:ext cx="13167000" cy="137376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6" name="Google Shape;66;p14"/>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p27"/>
          <p:cNvSpPr/>
          <p:nvPr/>
        </p:nvSpPr>
        <p:spPr>
          <a:xfrm>
            <a:off x="4200480" y="7617960"/>
            <a:ext cx="5910120" cy="15264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i="0" lang="en-US" sz="1000" u="none" cap="none" strike="noStrike">
                <a:solidFill>
                  <a:srgbClr val="000000"/>
                </a:solidFill>
                <a:latin typeface="Arial"/>
                <a:ea typeface="Arial"/>
                <a:cs typeface="Arial"/>
                <a:sym typeface="Arial"/>
              </a:rPr>
              <a:t>Verizon confidential and proprietary. Unauthorized disclosure, reproduction or other use prohibited.</a:t>
            </a:r>
            <a:endParaRPr b="0" i="0" sz="1000" u="none" cap="none" strike="noStrike">
              <a:latin typeface="Arial"/>
              <a:ea typeface="Arial"/>
              <a:cs typeface="Arial"/>
              <a:sym typeface="Arial"/>
            </a:endParaRPr>
          </a:p>
        </p:txBody>
      </p:sp>
      <p:pic>
        <p:nvPicPr>
          <p:cNvPr id="117" name="Google Shape;117;p27"/>
          <p:cNvPicPr preferRelativeResize="0"/>
          <p:nvPr/>
        </p:nvPicPr>
        <p:blipFill rotWithShape="1">
          <a:blip r:embed="rId1">
            <a:alphaModFix/>
          </a:blip>
          <a:srcRect b="0" l="0" r="0" t="0"/>
          <a:stretch/>
        </p:blipFill>
        <p:spPr>
          <a:xfrm>
            <a:off x="596160" y="7412400"/>
            <a:ext cx="1346040" cy="550440"/>
          </a:xfrm>
          <a:prstGeom prst="rect">
            <a:avLst/>
          </a:prstGeom>
          <a:noFill/>
          <a:ln>
            <a:noFill/>
          </a:ln>
        </p:spPr>
      </p:pic>
      <p:sp>
        <p:nvSpPr>
          <p:cNvPr id="118" name="Google Shape;118;p27"/>
          <p:cNvSpPr txBox="1"/>
          <p:nvPr>
            <p:ph type="title"/>
          </p:nvPr>
        </p:nvSpPr>
        <p:spPr>
          <a:xfrm>
            <a:off x="731520" y="951120"/>
            <a:ext cx="11338200" cy="90792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19" name="Google Shape;119;p27"/>
          <p:cNvSpPr txBox="1"/>
          <p:nvPr>
            <p:ph idx="1" type="body"/>
          </p:nvPr>
        </p:nvSpPr>
        <p:spPr>
          <a:xfrm>
            <a:off x="731520" y="2163960"/>
            <a:ext cx="11338200" cy="493740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120" name="Google Shape;120;p27"/>
          <p:cNvSpPr txBox="1"/>
          <p:nvPr>
            <p:ph idx="12" type="sldNum"/>
          </p:nvPr>
        </p:nvSpPr>
        <p:spPr>
          <a:xfrm>
            <a:off x="13533120" y="7520040"/>
            <a:ext cx="365400" cy="365400"/>
          </a:xfrm>
          <a:prstGeom prst="rect">
            <a:avLst/>
          </a:prstGeom>
          <a:noFill/>
          <a:ln>
            <a:noFill/>
          </a:ln>
        </p:spPr>
        <p:txBody>
          <a:bodyPr anchorCtr="0" anchor="b" bIns="0" lIns="0" spcFirstLastPara="1" rIns="0" wrap="square" tIns="0">
            <a:noAutofit/>
          </a:bodyPr>
          <a:lstStyle>
            <a:lvl1pPr indent="0" lvl="0" marL="0" marR="0" rtl="0" algn="r">
              <a:lnSpc>
                <a:spcPct val="100000"/>
              </a:lnSpc>
              <a:spcBef>
                <a:spcPts val="0"/>
              </a:spcBef>
              <a:buNone/>
              <a:defRPr b="1" i="0" sz="1100" u="none" cap="none" strike="noStrike">
                <a:solidFill>
                  <a:srgbClr val="000000"/>
                </a:solidFill>
                <a:latin typeface="Arial"/>
                <a:ea typeface="Arial"/>
                <a:cs typeface="Arial"/>
                <a:sym typeface="Arial"/>
              </a:defRPr>
            </a:lvl1pPr>
            <a:lvl2pPr indent="0" lvl="1" marL="0" marR="0" rtl="0" algn="r">
              <a:lnSpc>
                <a:spcPct val="100000"/>
              </a:lnSpc>
              <a:spcBef>
                <a:spcPts val="0"/>
              </a:spcBef>
              <a:buNone/>
              <a:defRPr b="1" i="0" sz="1100" u="none" cap="none" strike="noStrike">
                <a:solidFill>
                  <a:srgbClr val="000000"/>
                </a:solidFill>
                <a:latin typeface="Arial"/>
                <a:ea typeface="Arial"/>
                <a:cs typeface="Arial"/>
                <a:sym typeface="Arial"/>
              </a:defRPr>
            </a:lvl2pPr>
            <a:lvl3pPr indent="0" lvl="2" marL="0" marR="0" rtl="0" algn="r">
              <a:lnSpc>
                <a:spcPct val="100000"/>
              </a:lnSpc>
              <a:spcBef>
                <a:spcPts val="0"/>
              </a:spcBef>
              <a:buNone/>
              <a:defRPr b="1" i="0" sz="1100" u="none" cap="none" strike="noStrike">
                <a:solidFill>
                  <a:srgbClr val="000000"/>
                </a:solidFill>
                <a:latin typeface="Arial"/>
                <a:ea typeface="Arial"/>
                <a:cs typeface="Arial"/>
                <a:sym typeface="Arial"/>
              </a:defRPr>
            </a:lvl3pPr>
            <a:lvl4pPr indent="0" lvl="3" marL="0" marR="0" rtl="0" algn="r">
              <a:lnSpc>
                <a:spcPct val="100000"/>
              </a:lnSpc>
              <a:spcBef>
                <a:spcPts val="0"/>
              </a:spcBef>
              <a:buNone/>
              <a:defRPr b="1" i="0" sz="1100" u="none" cap="none" strike="noStrike">
                <a:solidFill>
                  <a:srgbClr val="000000"/>
                </a:solidFill>
                <a:latin typeface="Arial"/>
                <a:ea typeface="Arial"/>
                <a:cs typeface="Arial"/>
                <a:sym typeface="Arial"/>
              </a:defRPr>
            </a:lvl4pPr>
            <a:lvl5pPr indent="0" lvl="4" marL="0" marR="0" rtl="0" algn="r">
              <a:lnSpc>
                <a:spcPct val="100000"/>
              </a:lnSpc>
              <a:spcBef>
                <a:spcPts val="0"/>
              </a:spcBef>
              <a:buNone/>
              <a:defRPr b="1" i="0" sz="1100" u="none" cap="none" strike="noStrike">
                <a:solidFill>
                  <a:srgbClr val="000000"/>
                </a:solidFill>
                <a:latin typeface="Arial"/>
                <a:ea typeface="Arial"/>
                <a:cs typeface="Arial"/>
                <a:sym typeface="Arial"/>
              </a:defRPr>
            </a:lvl5pPr>
            <a:lvl6pPr indent="0" lvl="5" marL="0" marR="0" rtl="0" algn="r">
              <a:lnSpc>
                <a:spcPct val="100000"/>
              </a:lnSpc>
              <a:spcBef>
                <a:spcPts val="0"/>
              </a:spcBef>
              <a:buNone/>
              <a:defRPr b="1" i="0" sz="1100" u="none" cap="none" strike="noStrike">
                <a:solidFill>
                  <a:srgbClr val="000000"/>
                </a:solidFill>
                <a:latin typeface="Arial"/>
                <a:ea typeface="Arial"/>
                <a:cs typeface="Arial"/>
                <a:sym typeface="Arial"/>
              </a:defRPr>
            </a:lvl6pPr>
            <a:lvl7pPr indent="0" lvl="6" marL="0" marR="0" rtl="0" algn="r">
              <a:lnSpc>
                <a:spcPct val="100000"/>
              </a:lnSpc>
              <a:spcBef>
                <a:spcPts val="0"/>
              </a:spcBef>
              <a:buNone/>
              <a:defRPr b="1" i="0" sz="1100" u="none" cap="none" strike="noStrike">
                <a:solidFill>
                  <a:srgbClr val="000000"/>
                </a:solidFill>
                <a:latin typeface="Arial"/>
                <a:ea typeface="Arial"/>
                <a:cs typeface="Arial"/>
                <a:sym typeface="Arial"/>
              </a:defRPr>
            </a:lvl7pPr>
            <a:lvl8pPr indent="0" lvl="7" marL="0" marR="0" rtl="0" algn="r">
              <a:lnSpc>
                <a:spcPct val="100000"/>
              </a:lnSpc>
              <a:spcBef>
                <a:spcPts val="0"/>
              </a:spcBef>
              <a:buNone/>
              <a:defRPr b="1" i="0" sz="1100" u="none" cap="none" strike="noStrike">
                <a:solidFill>
                  <a:srgbClr val="000000"/>
                </a:solidFill>
                <a:latin typeface="Arial"/>
                <a:ea typeface="Arial"/>
                <a:cs typeface="Arial"/>
                <a:sym typeface="Arial"/>
              </a:defRPr>
            </a:lvl8pPr>
            <a:lvl9pPr indent="0" lvl="8" marL="0" marR="0" rtl="0" algn="r">
              <a:lnSpc>
                <a:spcPct val="100000"/>
              </a:lnSpc>
              <a:spcBef>
                <a:spcPts val="0"/>
              </a:spcBef>
              <a:buNone/>
              <a:defRPr b="1" i="0" sz="11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b="0">
              <a:latin typeface="Times New Roman"/>
              <a:ea typeface="Times New Roman"/>
              <a:cs typeface="Times New Roman"/>
              <a:sym typeface="Times New Roman"/>
            </a:endParaRPr>
          </a:p>
        </p:txBody>
      </p:sp>
      <p:sp>
        <p:nvSpPr>
          <p:cNvPr id="121" name="Google Shape;121;p27"/>
          <p:cNvSpPr/>
          <p:nvPr/>
        </p:nvSpPr>
        <p:spPr>
          <a:xfrm>
            <a:off x="731520" y="731520"/>
            <a:ext cx="13167000" cy="360"/>
          </a:xfrm>
          <a:custGeom>
            <a:rect b="b" l="l" r="r" t="t"/>
            <a:pathLst>
              <a:path extrusionOk="0" h="21600" w="21600">
                <a:moveTo>
                  <a:pt x="0" y="0"/>
                </a:moveTo>
                <a:lnTo>
                  <a:pt x="21600" y="21600"/>
                </a:lnTo>
              </a:path>
            </a:pathLst>
          </a:custGeom>
          <a:noFill/>
          <a:ln cap="flat" cmpd="sng" w="47500">
            <a:solidFill>
              <a:srgbClr val="000000"/>
            </a:solidFill>
            <a:prstDash val="solid"/>
            <a:round/>
            <a:headEnd len="sm" w="sm" type="none"/>
            <a:tailEnd len="sm" w="sm" type="none"/>
          </a:ln>
        </p:spPr>
      </p:sp>
    </p:spTree>
  </p:cSld>
  <p:clrMap accent1="accent1" accent2="accent2" accent3="accent3" accent4="accent4" accent5="accent5" accent6="accent6" bg1="lt1" bg2="dk2" tx1="dk1" tx2="lt2" folHlink="folHlink" hlink="hlink"/>
  <p:sldLayoutIdLst>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40"/>
          <p:cNvSpPr txBox="1"/>
          <p:nvPr>
            <p:ph type="title"/>
          </p:nvPr>
        </p:nvSpPr>
        <p:spPr>
          <a:xfrm>
            <a:off x="1005840" y="438120"/>
            <a:ext cx="12618360" cy="159048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72" name="Google Shape;172;p40"/>
          <p:cNvSpPr txBox="1"/>
          <p:nvPr>
            <p:ph idx="10" type="dt"/>
          </p:nvPr>
        </p:nvSpPr>
        <p:spPr>
          <a:xfrm>
            <a:off x="1005840" y="7627680"/>
            <a:ext cx="3291480" cy="437760"/>
          </a:xfrm>
          <a:prstGeom prst="rect">
            <a:avLst/>
          </a:prstGeom>
          <a:noFill/>
          <a:ln>
            <a:noFill/>
          </a:ln>
        </p:spPr>
        <p:txBody>
          <a:bodyPr anchorCtr="0" anchor="ctr" bIns="54700" lIns="109800" spcFirstLastPara="1" rIns="109800" wrap="square" tIns="54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73" name="Google Shape;173;p40"/>
          <p:cNvSpPr txBox="1"/>
          <p:nvPr>
            <p:ph idx="11" type="ftr"/>
          </p:nvPr>
        </p:nvSpPr>
        <p:spPr>
          <a:xfrm>
            <a:off x="4846320" y="7627680"/>
            <a:ext cx="4937400" cy="437760"/>
          </a:xfrm>
          <a:prstGeom prst="rect">
            <a:avLst/>
          </a:prstGeom>
          <a:noFill/>
          <a:ln>
            <a:noFill/>
          </a:ln>
        </p:spPr>
        <p:txBody>
          <a:bodyPr anchorCtr="0" anchor="ctr" bIns="54700" lIns="109800" spcFirstLastPara="1" rIns="109800" wrap="square" tIns="54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74" name="Google Shape;174;p40"/>
          <p:cNvSpPr txBox="1"/>
          <p:nvPr>
            <p:ph idx="12" type="sldNum"/>
          </p:nvPr>
        </p:nvSpPr>
        <p:spPr>
          <a:xfrm>
            <a:off x="10332720" y="7627680"/>
            <a:ext cx="3291480" cy="437760"/>
          </a:xfrm>
          <a:prstGeom prst="rect">
            <a:avLst/>
          </a:prstGeom>
          <a:noFill/>
          <a:ln>
            <a:noFill/>
          </a:ln>
        </p:spPr>
        <p:txBody>
          <a:bodyPr anchorCtr="0" anchor="ctr" bIns="54700" lIns="109800" spcFirstLastPara="1" rIns="109800" wrap="square" tIns="54700">
            <a:noAutofit/>
          </a:bodyPr>
          <a:lstStyle>
            <a:lvl1pPr indent="0" lvl="0"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buNone/>
              <a:defRPr b="0" i="0" sz="14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solidFill>
                <a:srgbClr val="000000"/>
              </a:solidFill>
              <a:latin typeface="Times New Roman"/>
              <a:ea typeface="Times New Roman"/>
              <a:cs typeface="Times New Roman"/>
              <a:sym typeface="Times New Roman"/>
            </a:endParaRPr>
          </a:p>
        </p:txBody>
      </p:sp>
      <p:sp>
        <p:nvSpPr>
          <p:cNvPr id="175" name="Google Shape;175;p40"/>
          <p:cNvSpPr txBox="1"/>
          <p:nvPr>
            <p:ph idx="1" type="body"/>
          </p:nvPr>
        </p:nvSpPr>
        <p:spPr>
          <a:xfrm>
            <a:off x="731520" y="1925640"/>
            <a:ext cx="13167000" cy="477252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 Id="rId4" Type="http://schemas.openxmlformats.org/officeDocument/2006/relationships/image" Target="../media/image4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4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4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4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4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4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0.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4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4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4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4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 Id="rId3"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4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4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 Id="rId3" Type="http://schemas.openxmlformats.org/officeDocument/2006/relationships/hyperlink" Target="https://docs.google.com/spreadsheets/d/1PFEgSgQaLW9RPYImxc2ZsHITw2ncfVi_kUzFIAngeyc/edit?gid=0#gid=0" TargetMode="External"/><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4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34.png"/><Relationship Id="rId7" Type="http://schemas.openxmlformats.org/officeDocument/2006/relationships/image" Target="../media/image40.png"/><Relationship Id="rId8" Type="http://schemas.openxmlformats.org/officeDocument/2006/relationships/image" Target="../media/image4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hyperlink" Target="https://vzthoughtspot.verizon.com/#/pinboard/43276c73-e69c-4e0c-bc84-76cf0fb87401" TargetMode="External"/><Relationship Id="rId4" Type="http://schemas.openxmlformats.org/officeDocument/2006/relationships/image" Target="../media/image4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4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image" Target="../media/image4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4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 Id="rId3"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 Id="rId3" Type="http://schemas.openxmlformats.org/officeDocument/2006/relationships/image" Target="../media/image4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 Id="rId3" Type="http://schemas.openxmlformats.org/officeDocument/2006/relationships/image" Target="../media/image48.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4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6.xml"/><Relationship Id="rId3" Type="http://schemas.openxmlformats.org/officeDocument/2006/relationships/image" Target="../media/image57.png"/><Relationship Id="rId4"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pic>
        <p:nvPicPr>
          <p:cNvPr id="229" name="Google Shape;229;p53"/>
          <p:cNvPicPr preferRelativeResize="0"/>
          <p:nvPr/>
        </p:nvPicPr>
        <p:blipFill rotWithShape="1">
          <a:blip r:embed="rId3">
            <a:alphaModFix/>
          </a:blip>
          <a:srcRect b="0" l="0" r="0" t="0"/>
          <a:stretch/>
        </p:blipFill>
        <p:spPr>
          <a:xfrm>
            <a:off x="9144000" y="0"/>
            <a:ext cx="5485680" cy="8228880"/>
          </a:xfrm>
          <a:prstGeom prst="rect">
            <a:avLst/>
          </a:prstGeom>
          <a:noFill/>
          <a:ln>
            <a:noFill/>
          </a:ln>
        </p:spPr>
      </p:pic>
      <p:sp>
        <p:nvSpPr>
          <p:cNvPr id="230" name="Google Shape;230;p53"/>
          <p:cNvSpPr/>
          <p:nvPr/>
        </p:nvSpPr>
        <p:spPr>
          <a:xfrm>
            <a:off x="793800" y="1785600"/>
            <a:ext cx="7555680" cy="148788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5050" u="none" cap="none" strike="noStrike">
                <a:solidFill>
                  <a:srgbClr val="000000"/>
                </a:solidFill>
                <a:latin typeface="Petrona"/>
                <a:ea typeface="Petrona"/>
                <a:cs typeface="Petrona"/>
                <a:sym typeface="Petrona"/>
              </a:rPr>
              <a:t>Search as a Service </a:t>
            </a:r>
            <a:endParaRPr b="0" i="0" sz="5050" u="none" cap="none" strike="noStrike">
              <a:latin typeface="Arial"/>
              <a:ea typeface="Arial"/>
              <a:cs typeface="Arial"/>
              <a:sym typeface="Arial"/>
            </a:endParaRPr>
          </a:p>
          <a:p>
            <a:pPr indent="0" lvl="0" marL="0" marR="0" rtl="0" algn="l">
              <a:lnSpc>
                <a:spcPct val="125000"/>
              </a:lnSpc>
              <a:spcBef>
                <a:spcPts val="0"/>
              </a:spcBef>
              <a:spcAft>
                <a:spcPts val="0"/>
              </a:spcAft>
              <a:buNone/>
            </a:pPr>
            <a:r>
              <a:rPr b="1" i="0" lang="en-US" sz="3450" u="none" cap="none" strike="noStrike">
                <a:solidFill>
                  <a:srgbClr val="4A86E8"/>
                </a:solidFill>
                <a:latin typeface="Petrona"/>
                <a:ea typeface="Petrona"/>
                <a:cs typeface="Petrona"/>
                <a:sym typeface="Petrona"/>
              </a:rPr>
              <a:t>Design Specification</a:t>
            </a:r>
            <a:endParaRPr b="0" i="0" sz="3450" u="none" cap="none" strike="noStrike">
              <a:latin typeface="Arial"/>
              <a:ea typeface="Arial"/>
              <a:cs typeface="Arial"/>
              <a:sym typeface="Arial"/>
            </a:endParaRPr>
          </a:p>
        </p:txBody>
      </p:sp>
      <p:sp>
        <p:nvSpPr>
          <p:cNvPr id="231" name="Google Shape;231;p53"/>
          <p:cNvSpPr/>
          <p:nvPr/>
        </p:nvSpPr>
        <p:spPr>
          <a:xfrm>
            <a:off x="793800" y="3614400"/>
            <a:ext cx="7555680" cy="217656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This presentation outlines a comprehensive design specification for Search as a Service, covering various scenarios from basic search to intelligent assistants. The system incorporates Persona, Location, Party (Organization), Role, and Job To Be Done within the context of Technical, Operational, or Business Services, mapped to Projects or Services.</a:t>
            </a:r>
            <a:endParaRPr b="0" i="0" sz="1750" u="none" cap="none" strike="noStrike">
              <a:latin typeface="Arial"/>
              <a:ea typeface="Arial"/>
              <a:cs typeface="Arial"/>
              <a:sym typeface="Arial"/>
            </a:endParaRPr>
          </a:p>
        </p:txBody>
      </p:sp>
      <p:sp>
        <p:nvSpPr>
          <p:cNvPr id="232" name="Google Shape;232;p53"/>
          <p:cNvSpPr/>
          <p:nvPr/>
        </p:nvSpPr>
        <p:spPr>
          <a:xfrm>
            <a:off x="793800" y="6063840"/>
            <a:ext cx="362160" cy="362160"/>
          </a:xfrm>
          <a:prstGeom prst="roundRect">
            <a:avLst>
              <a:gd fmla="val 25194296" name="adj"/>
            </a:avLst>
          </a:prstGeom>
          <a:no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3" name="Google Shape;233;p53"/>
          <p:cNvGrpSpPr/>
          <p:nvPr/>
        </p:nvGrpSpPr>
        <p:grpSpPr>
          <a:xfrm>
            <a:off x="7110000" y="1521000"/>
            <a:ext cx="1401120" cy="1603080"/>
            <a:chOff x="7110000" y="1521000"/>
            <a:chExt cx="1401120" cy="1603080"/>
          </a:xfrm>
        </p:grpSpPr>
        <p:sp>
          <p:nvSpPr>
            <p:cNvPr id="234" name="Google Shape;234;p53"/>
            <p:cNvSpPr/>
            <p:nvPr/>
          </p:nvSpPr>
          <p:spPr>
            <a:xfrm>
              <a:off x="7110000" y="1521000"/>
              <a:ext cx="1400760" cy="160308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5" name="Google Shape;235;p53"/>
            <p:cNvGrpSpPr/>
            <p:nvPr/>
          </p:nvGrpSpPr>
          <p:grpSpPr>
            <a:xfrm>
              <a:off x="7201080" y="1521360"/>
              <a:ext cx="1310040" cy="1602720"/>
              <a:chOff x="7201080" y="1521360"/>
              <a:chExt cx="1310040" cy="1602720"/>
            </a:xfrm>
          </p:grpSpPr>
          <p:pic>
            <p:nvPicPr>
              <p:cNvPr id="236" name="Google Shape;236;p53"/>
              <p:cNvPicPr preferRelativeResize="0"/>
              <p:nvPr/>
            </p:nvPicPr>
            <p:blipFill rotWithShape="1">
              <a:blip r:embed="rId4">
                <a:alphaModFix/>
              </a:blip>
              <a:srcRect b="0" l="20669" r="9844" t="0"/>
              <a:stretch/>
            </p:blipFill>
            <p:spPr>
              <a:xfrm>
                <a:off x="7201080" y="1521360"/>
                <a:ext cx="1251720" cy="1251720"/>
              </a:xfrm>
              <a:prstGeom prst="rect">
                <a:avLst/>
              </a:prstGeom>
              <a:noFill/>
              <a:ln>
                <a:noFill/>
              </a:ln>
            </p:spPr>
          </p:pic>
          <p:sp>
            <p:nvSpPr>
              <p:cNvPr id="237" name="Google Shape;237;p53"/>
              <p:cNvSpPr/>
              <p:nvPr/>
            </p:nvSpPr>
            <p:spPr>
              <a:xfrm>
                <a:off x="7201080" y="2684880"/>
                <a:ext cx="1310040" cy="439200"/>
              </a:xfrm>
              <a:prstGeom prst="rect">
                <a:avLst/>
              </a:prstGeom>
              <a:noFill/>
              <a:ln>
                <a:noFill/>
              </a:ln>
            </p:spPr>
            <p:txBody>
              <a:bodyPr anchorCtr="0" anchor="ctr" bIns="100425" lIns="100425" spcFirstLastPara="1" rIns="100425" wrap="square" tIns="100425">
                <a:noAutofit/>
              </a:bodyPr>
              <a:lstStyle/>
              <a:p>
                <a:pPr indent="0" lvl="0" marL="0" marR="0" rtl="0" algn="ctr">
                  <a:lnSpc>
                    <a:spcPct val="100000"/>
                  </a:lnSpc>
                  <a:spcBef>
                    <a:spcPts val="0"/>
                  </a:spcBef>
                  <a:spcAft>
                    <a:spcPts val="0"/>
                  </a:spcAft>
                  <a:buNone/>
                </a:pPr>
                <a:r>
                  <a:rPr b="1" i="0" lang="en-US" sz="1430" u="none" cap="none" strike="noStrike">
                    <a:solidFill>
                      <a:srgbClr val="EE0000"/>
                    </a:solidFill>
                    <a:latin typeface="Arial"/>
                    <a:ea typeface="Arial"/>
                    <a:cs typeface="Arial"/>
                    <a:sym typeface="Arial"/>
                  </a:rPr>
                  <a:t>SEMANTIC</a:t>
                </a:r>
                <a:endParaRPr b="0" i="0" sz="143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30" u="none" cap="none" strike="noStrike">
                    <a:solidFill>
                      <a:srgbClr val="000000"/>
                    </a:solidFill>
                    <a:latin typeface="Arial"/>
                    <a:ea typeface="Arial"/>
                    <a:cs typeface="Arial"/>
                    <a:sym typeface="Arial"/>
                  </a:rPr>
                  <a:t>Governance</a:t>
                </a:r>
                <a:endParaRPr b="0" i="0" sz="1430" u="none" cap="none" strike="noStrike">
                  <a:latin typeface="Arial"/>
                  <a:ea typeface="Arial"/>
                  <a:cs typeface="Arial"/>
                  <a:sym typeface="Arial"/>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grpSp>
        <p:nvGrpSpPr>
          <p:cNvPr id="243" name="Google Shape;243;p54"/>
          <p:cNvGrpSpPr/>
          <p:nvPr/>
        </p:nvGrpSpPr>
        <p:grpSpPr>
          <a:xfrm>
            <a:off x="498240" y="801000"/>
            <a:ext cx="13703760" cy="6780240"/>
            <a:chOff x="498240" y="801000"/>
            <a:chExt cx="13703760" cy="6780240"/>
          </a:xfrm>
        </p:grpSpPr>
        <p:sp>
          <p:nvSpPr>
            <p:cNvPr id="244" name="Google Shape;244;p54"/>
            <p:cNvSpPr/>
            <p:nvPr/>
          </p:nvSpPr>
          <p:spPr>
            <a:xfrm>
              <a:off x="813240" y="801000"/>
              <a:ext cx="7809840" cy="15710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Search Scenarios Overview</a:t>
              </a:r>
              <a:endParaRPr b="0" i="0" sz="4650" u="none" cap="none" strike="noStrike">
                <a:latin typeface="Arial"/>
                <a:ea typeface="Arial"/>
                <a:cs typeface="Arial"/>
                <a:sym typeface="Arial"/>
              </a:endParaRPr>
            </a:p>
          </p:txBody>
        </p:sp>
        <p:sp>
          <p:nvSpPr>
            <p:cNvPr id="245" name="Google Shape;245;p54"/>
            <p:cNvSpPr/>
            <p:nvPr/>
          </p:nvSpPr>
          <p:spPr>
            <a:xfrm>
              <a:off x="813240" y="3869640"/>
              <a:ext cx="543240" cy="1077120"/>
            </a:xfrm>
            <a:prstGeom prst="roundRect">
              <a:avLst>
                <a:gd fmla="val 18669"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4"/>
            <p:cNvSpPr/>
            <p:nvPr/>
          </p:nvSpPr>
          <p:spPr>
            <a:xfrm>
              <a:off x="1003680" y="4031280"/>
              <a:ext cx="162360" cy="7538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800" u="none" cap="none" strike="noStrike">
                  <a:solidFill>
                    <a:srgbClr val="272525"/>
                  </a:solidFill>
                  <a:latin typeface="Petrona"/>
                  <a:ea typeface="Petrona"/>
                  <a:cs typeface="Petrona"/>
                  <a:sym typeface="Petrona"/>
                </a:rPr>
                <a:t>1</a:t>
              </a:r>
              <a:endParaRPr b="0" i="0" sz="2800" u="none" cap="none" strike="noStrike">
                <a:latin typeface="Arial"/>
                <a:ea typeface="Arial"/>
                <a:cs typeface="Arial"/>
                <a:sym typeface="Arial"/>
              </a:endParaRPr>
            </a:p>
          </p:txBody>
        </p:sp>
        <p:sp>
          <p:nvSpPr>
            <p:cNvPr id="247" name="Google Shape;247;p54"/>
            <p:cNvSpPr/>
            <p:nvPr/>
          </p:nvSpPr>
          <p:spPr>
            <a:xfrm>
              <a:off x="1599120" y="3869640"/>
              <a:ext cx="3172680" cy="785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Basic Search</a:t>
              </a:r>
              <a:endParaRPr b="0" i="0" sz="2300" u="none" cap="none" strike="noStrike">
                <a:latin typeface="Arial"/>
                <a:ea typeface="Arial"/>
                <a:cs typeface="Arial"/>
                <a:sym typeface="Arial"/>
              </a:endParaRPr>
            </a:p>
          </p:txBody>
        </p:sp>
        <p:sp>
          <p:nvSpPr>
            <p:cNvPr id="248" name="Google Shape;248;p54"/>
            <p:cNvSpPr/>
            <p:nvPr/>
          </p:nvSpPr>
          <p:spPr>
            <a:xfrm>
              <a:off x="5528520" y="3869640"/>
              <a:ext cx="543240" cy="1077120"/>
            </a:xfrm>
            <a:prstGeom prst="roundRect">
              <a:avLst>
                <a:gd fmla="val 18669"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54"/>
            <p:cNvSpPr/>
            <p:nvPr/>
          </p:nvSpPr>
          <p:spPr>
            <a:xfrm>
              <a:off x="5692320" y="4031280"/>
              <a:ext cx="215280" cy="7538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800" u="none" cap="none" strike="noStrike">
                  <a:solidFill>
                    <a:srgbClr val="272525"/>
                  </a:solidFill>
                  <a:latin typeface="Petrona"/>
                  <a:ea typeface="Petrona"/>
                  <a:cs typeface="Petrona"/>
                  <a:sym typeface="Petrona"/>
                </a:rPr>
                <a:t>2</a:t>
              </a:r>
              <a:endParaRPr b="0" i="0" sz="2800" u="none" cap="none" strike="noStrike">
                <a:latin typeface="Arial"/>
                <a:ea typeface="Arial"/>
                <a:cs typeface="Arial"/>
                <a:sym typeface="Arial"/>
              </a:endParaRPr>
            </a:p>
          </p:txBody>
        </p:sp>
        <p:sp>
          <p:nvSpPr>
            <p:cNvPr id="250" name="Google Shape;250;p54"/>
            <p:cNvSpPr/>
            <p:nvPr/>
          </p:nvSpPr>
          <p:spPr>
            <a:xfrm>
              <a:off x="6314040" y="3869640"/>
              <a:ext cx="3172680" cy="785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Augmented Search</a:t>
              </a:r>
              <a:endParaRPr b="0" i="0" sz="2300" u="none" cap="none" strike="noStrike">
                <a:latin typeface="Arial"/>
                <a:ea typeface="Arial"/>
                <a:cs typeface="Arial"/>
                <a:sym typeface="Arial"/>
              </a:endParaRPr>
            </a:p>
          </p:txBody>
        </p:sp>
        <p:sp>
          <p:nvSpPr>
            <p:cNvPr id="251" name="Google Shape;251;p54"/>
            <p:cNvSpPr/>
            <p:nvPr/>
          </p:nvSpPr>
          <p:spPr>
            <a:xfrm>
              <a:off x="10243440" y="3869640"/>
              <a:ext cx="543240" cy="1077120"/>
            </a:xfrm>
            <a:prstGeom prst="roundRect">
              <a:avLst>
                <a:gd fmla="val 18669"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54"/>
            <p:cNvSpPr/>
            <p:nvPr/>
          </p:nvSpPr>
          <p:spPr>
            <a:xfrm>
              <a:off x="10407600" y="4031280"/>
              <a:ext cx="214920" cy="7538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800" u="none" cap="none" strike="noStrike">
                  <a:solidFill>
                    <a:srgbClr val="272525"/>
                  </a:solidFill>
                  <a:latin typeface="Petrona"/>
                  <a:ea typeface="Petrona"/>
                  <a:cs typeface="Petrona"/>
                  <a:sym typeface="Petrona"/>
                </a:rPr>
                <a:t>3</a:t>
              </a:r>
              <a:endParaRPr b="0" i="0" sz="2800" u="none" cap="none" strike="noStrike">
                <a:latin typeface="Arial"/>
                <a:ea typeface="Arial"/>
                <a:cs typeface="Arial"/>
                <a:sym typeface="Arial"/>
              </a:endParaRPr>
            </a:p>
          </p:txBody>
        </p:sp>
        <p:sp>
          <p:nvSpPr>
            <p:cNvPr id="253" name="Google Shape;253;p54"/>
            <p:cNvSpPr/>
            <p:nvPr/>
          </p:nvSpPr>
          <p:spPr>
            <a:xfrm>
              <a:off x="11029320" y="3869640"/>
              <a:ext cx="3172680" cy="785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Intelligent Search</a:t>
              </a:r>
              <a:endParaRPr b="0" i="0" sz="2300" u="none" cap="none" strike="noStrike">
                <a:latin typeface="Arial"/>
                <a:ea typeface="Arial"/>
                <a:cs typeface="Arial"/>
                <a:sym typeface="Arial"/>
              </a:endParaRPr>
            </a:p>
          </p:txBody>
        </p:sp>
        <p:sp>
          <p:nvSpPr>
            <p:cNvPr id="254" name="Google Shape;254;p54"/>
            <p:cNvSpPr/>
            <p:nvPr/>
          </p:nvSpPr>
          <p:spPr>
            <a:xfrm>
              <a:off x="813240" y="6504120"/>
              <a:ext cx="543240" cy="1077120"/>
            </a:xfrm>
            <a:prstGeom prst="roundRect">
              <a:avLst>
                <a:gd fmla="val 18669"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54"/>
            <p:cNvSpPr/>
            <p:nvPr/>
          </p:nvSpPr>
          <p:spPr>
            <a:xfrm>
              <a:off x="982440" y="6665760"/>
              <a:ext cx="204480" cy="7538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800" u="none" cap="none" strike="noStrike">
                  <a:solidFill>
                    <a:srgbClr val="272525"/>
                  </a:solidFill>
                  <a:latin typeface="Petrona"/>
                  <a:ea typeface="Petrona"/>
                  <a:cs typeface="Petrona"/>
                  <a:sym typeface="Petrona"/>
                </a:rPr>
                <a:t>4</a:t>
              </a:r>
              <a:endParaRPr b="0" i="0" sz="2800" u="none" cap="none" strike="noStrike">
                <a:latin typeface="Arial"/>
                <a:ea typeface="Arial"/>
                <a:cs typeface="Arial"/>
                <a:sym typeface="Arial"/>
              </a:endParaRPr>
            </a:p>
          </p:txBody>
        </p:sp>
        <p:sp>
          <p:nvSpPr>
            <p:cNvPr id="256" name="Google Shape;256;p54"/>
            <p:cNvSpPr/>
            <p:nvPr/>
          </p:nvSpPr>
          <p:spPr>
            <a:xfrm>
              <a:off x="1599120" y="6504120"/>
              <a:ext cx="3172680" cy="785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Simulation Search</a:t>
              </a:r>
              <a:endParaRPr b="0" i="0" sz="2300" u="none" cap="none" strike="noStrike">
                <a:latin typeface="Arial"/>
                <a:ea typeface="Arial"/>
                <a:cs typeface="Arial"/>
                <a:sym typeface="Arial"/>
              </a:endParaRPr>
            </a:p>
          </p:txBody>
        </p:sp>
        <p:sp>
          <p:nvSpPr>
            <p:cNvPr id="257" name="Google Shape;257;p54"/>
            <p:cNvSpPr/>
            <p:nvPr/>
          </p:nvSpPr>
          <p:spPr>
            <a:xfrm>
              <a:off x="7886160" y="6504120"/>
              <a:ext cx="543240" cy="1077120"/>
            </a:xfrm>
            <a:prstGeom prst="roundRect">
              <a:avLst>
                <a:gd fmla="val 18669"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54"/>
            <p:cNvSpPr/>
            <p:nvPr/>
          </p:nvSpPr>
          <p:spPr>
            <a:xfrm>
              <a:off x="8049960" y="6665760"/>
              <a:ext cx="215640" cy="7538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800" u="none" cap="none" strike="noStrike">
                  <a:solidFill>
                    <a:srgbClr val="272525"/>
                  </a:solidFill>
                  <a:latin typeface="Petrona"/>
                  <a:ea typeface="Petrona"/>
                  <a:cs typeface="Petrona"/>
                  <a:sym typeface="Petrona"/>
                </a:rPr>
                <a:t>5</a:t>
              </a:r>
              <a:endParaRPr b="0" i="0" sz="2800" u="none" cap="none" strike="noStrike">
                <a:latin typeface="Arial"/>
                <a:ea typeface="Arial"/>
                <a:cs typeface="Arial"/>
                <a:sym typeface="Arial"/>
              </a:endParaRPr>
            </a:p>
          </p:txBody>
        </p:sp>
        <p:sp>
          <p:nvSpPr>
            <p:cNvPr id="259" name="Google Shape;259;p54"/>
            <p:cNvSpPr/>
            <p:nvPr/>
          </p:nvSpPr>
          <p:spPr>
            <a:xfrm>
              <a:off x="8671680" y="6504120"/>
              <a:ext cx="3172680" cy="785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Intelligent Assistant</a:t>
              </a:r>
              <a:endParaRPr b="0" i="0" sz="2300" u="none" cap="none" strike="noStrike">
                <a:latin typeface="Arial"/>
                <a:ea typeface="Arial"/>
                <a:cs typeface="Arial"/>
                <a:sym typeface="Arial"/>
              </a:endParaRPr>
            </a:p>
          </p:txBody>
        </p:sp>
        <p:sp>
          <p:nvSpPr>
            <p:cNvPr id="260" name="Google Shape;260;p54"/>
            <p:cNvSpPr/>
            <p:nvPr/>
          </p:nvSpPr>
          <p:spPr>
            <a:xfrm>
              <a:off x="498240" y="2803320"/>
              <a:ext cx="9466920" cy="3190680"/>
            </a:xfrm>
            <a:prstGeom prst="ellipse">
              <a:avLst/>
            </a:prstGeom>
            <a:noFill/>
            <a:ln cap="flat" cmpd="sng" w="28425">
              <a:solidFill>
                <a:srgbClr val="E0666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1" name="Google Shape;261;p54"/>
          <p:cNvGrpSpPr/>
          <p:nvPr/>
        </p:nvGrpSpPr>
        <p:grpSpPr>
          <a:xfrm>
            <a:off x="13783680" y="0"/>
            <a:ext cx="846360" cy="968400"/>
            <a:chOff x="13783680" y="0"/>
            <a:chExt cx="846360" cy="968400"/>
          </a:xfrm>
        </p:grpSpPr>
        <p:sp>
          <p:nvSpPr>
            <p:cNvPr id="262" name="Google Shape;262;p54"/>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3" name="Google Shape;263;p54"/>
            <p:cNvGrpSpPr/>
            <p:nvPr/>
          </p:nvGrpSpPr>
          <p:grpSpPr>
            <a:xfrm>
              <a:off x="13838760" y="0"/>
              <a:ext cx="791280" cy="968400"/>
              <a:chOff x="13838760" y="0"/>
              <a:chExt cx="791280" cy="968400"/>
            </a:xfrm>
          </p:grpSpPr>
          <p:pic>
            <p:nvPicPr>
              <p:cNvPr id="264" name="Google Shape;264;p54"/>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265" name="Google Shape;265;p54"/>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pic>
        <p:nvPicPr>
          <p:cNvPr id="271" name="Google Shape;271;p55"/>
          <p:cNvPicPr preferRelativeResize="0"/>
          <p:nvPr/>
        </p:nvPicPr>
        <p:blipFill rotWithShape="1">
          <a:blip r:embed="rId3">
            <a:alphaModFix/>
          </a:blip>
          <a:srcRect b="0" l="0" r="0" t="0"/>
          <a:stretch/>
        </p:blipFill>
        <p:spPr>
          <a:xfrm>
            <a:off x="10972800" y="0"/>
            <a:ext cx="3656880" cy="8228880"/>
          </a:xfrm>
          <a:prstGeom prst="rect">
            <a:avLst/>
          </a:prstGeom>
          <a:noFill/>
          <a:ln>
            <a:noFill/>
          </a:ln>
        </p:spPr>
      </p:pic>
      <p:sp>
        <p:nvSpPr>
          <p:cNvPr id="272" name="Google Shape;272;p55"/>
          <p:cNvSpPr/>
          <p:nvPr/>
        </p:nvSpPr>
        <p:spPr>
          <a:xfrm>
            <a:off x="793800" y="1576080"/>
            <a:ext cx="5953320" cy="743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Basic Search Features</a:t>
            </a:r>
            <a:endParaRPr b="0" i="0" sz="4650" u="none" cap="none" strike="noStrike">
              <a:latin typeface="Arial"/>
              <a:ea typeface="Arial"/>
              <a:cs typeface="Arial"/>
              <a:sym typeface="Arial"/>
            </a:endParaRPr>
          </a:p>
        </p:txBody>
      </p:sp>
      <p:pic>
        <p:nvPicPr>
          <p:cNvPr id="273" name="Google Shape;273;p55"/>
          <p:cNvPicPr preferRelativeResize="0"/>
          <p:nvPr/>
        </p:nvPicPr>
        <p:blipFill rotWithShape="1">
          <a:blip r:embed="rId4">
            <a:alphaModFix/>
          </a:blip>
          <a:srcRect b="0" l="0" r="0" t="0"/>
          <a:stretch/>
        </p:blipFill>
        <p:spPr>
          <a:xfrm>
            <a:off x="793800" y="2660400"/>
            <a:ext cx="566280" cy="566280"/>
          </a:xfrm>
          <a:prstGeom prst="rect">
            <a:avLst/>
          </a:prstGeom>
          <a:noFill/>
          <a:ln>
            <a:noFill/>
          </a:ln>
        </p:spPr>
      </p:pic>
      <p:sp>
        <p:nvSpPr>
          <p:cNvPr id="274" name="Google Shape;274;p55"/>
          <p:cNvSpPr/>
          <p:nvPr/>
        </p:nvSpPr>
        <p:spPr>
          <a:xfrm>
            <a:off x="793800" y="345420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Keyword Matching</a:t>
            </a:r>
            <a:endParaRPr b="0" i="0" sz="2300" u="none" cap="none" strike="noStrike">
              <a:latin typeface="Arial"/>
              <a:ea typeface="Arial"/>
              <a:cs typeface="Arial"/>
              <a:sym typeface="Arial"/>
            </a:endParaRPr>
          </a:p>
        </p:txBody>
      </p:sp>
      <p:pic>
        <p:nvPicPr>
          <p:cNvPr id="275" name="Google Shape;275;p55"/>
          <p:cNvPicPr preferRelativeResize="0"/>
          <p:nvPr/>
        </p:nvPicPr>
        <p:blipFill rotWithShape="1">
          <a:blip r:embed="rId5">
            <a:alphaModFix/>
          </a:blip>
          <a:srcRect b="0" l="0" r="0" t="0"/>
          <a:stretch/>
        </p:blipFill>
        <p:spPr>
          <a:xfrm>
            <a:off x="5656320" y="2660400"/>
            <a:ext cx="566280" cy="566280"/>
          </a:xfrm>
          <a:prstGeom prst="rect">
            <a:avLst/>
          </a:prstGeom>
          <a:noFill/>
          <a:ln>
            <a:noFill/>
          </a:ln>
        </p:spPr>
      </p:pic>
      <p:sp>
        <p:nvSpPr>
          <p:cNvPr id="276" name="Google Shape;276;p55"/>
          <p:cNvSpPr/>
          <p:nvPr/>
        </p:nvSpPr>
        <p:spPr>
          <a:xfrm>
            <a:off x="5656320" y="345420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Simple Filtering</a:t>
            </a:r>
            <a:endParaRPr b="0" i="0" sz="2300" u="none" cap="none" strike="noStrike">
              <a:latin typeface="Arial"/>
              <a:ea typeface="Arial"/>
              <a:cs typeface="Arial"/>
              <a:sym typeface="Arial"/>
            </a:endParaRPr>
          </a:p>
        </p:txBody>
      </p:sp>
      <p:pic>
        <p:nvPicPr>
          <p:cNvPr id="277" name="Google Shape;277;p55"/>
          <p:cNvPicPr preferRelativeResize="0"/>
          <p:nvPr/>
        </p:nvPicPr>
        <p:blipFill rotWithShape="1">
          <a:blip r:embed="rId6">
            <a:alphaModFix/>
          </a:blip>
          <a:srcRect b="0" l="0" r="0" t="0"/>
          <a:stretch/>
        </p:blipFill>
        <p:spPr>
          <a:xfrm>
            <a:off x="793800" y="4506840"/>
            <a:ext cx="566280" cy="566280"/>
          </a:xfrm>
          <a:prstGeom prst="rect">
            <a:avLst/>
          </a:prstGeom>
          <a:noFill/>
          <a:ln>
            <a:noFill/>
          </a:ln>
        </p:spPr>
      </p:pic>
      <p:sp>
        <p:nvSpPr>
          <p:cNvPr id="278" name="Google Shape;278;p55"/>
          <p:cNvSpPr/>
          <p:nvPr/>
        </p:nvSpPr>
        <p:spPr>
          <a:xfrm>
            <a:off x="793800" y="530064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Personalized Results</a:t>
            </a:r>
            <a:endParaRPr b="0" i="0" sz="2300" u="none" cap="none" strike="noStrike">
              <a:latin typeface="Arial"/>
              <a:ea typeface="Arial"/>
              <a:cs typeface="Arial"/>
              <a:sym typeface="Arial"/>
            </a:endParaRPr>
          </a:p>
        </p:txBody>
      </p:sp>
      <p:pic>
        <p:nvPicPr>
          <p:cNvPr id="279" name="Google Shape;279;p55"/>
          <p:cNvPicPr preferRelativeResize="0"/>
          <p:nvPr/>
        </p:nvPicPr>
        <p:blipFill rotWithShape="1">
          <a:blip r:embed="rId7">
            <a:alphaModFix/>
          </a:blip>
          <a:srcRect b="0" l="0" r="0" t="0"/>
          <a:stretch/>
        </p:blipFill>
        <p:spPr>
          <a:xfrm>
            <a:off x="5656320" y="4506840"/>
            <a:ext cx="566280" cy="566280"/>
          </a:xfrm>
          <a:prstGeom prst="rect">
            <a:avLst/>
          </a:prstGeom>
          <a:noFill/>
          <a:ln>
            <a:noFill/>
          </a:ln>
        </p:spPr>
      </p:pic>
      <p:sp>
        <p:nvSpPr>
          <p:cNvPr id="280" name="Google Shape;280;p55"/>
          <p:cNvSpPr/>
          <p:nvPr/>
        </p:nvSpPr>
        <p:spPr>
          <a:xfrm>
            <a:off x="5656320" y="530064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Boolean Logic</a:t>
            </a:r>
            <a:endParaRPr b="0" i="0" sz="2300" u="none" cap="none" strike="noStrike">
              <a:latin typeface="Arial"/>
              <a:ea typeface="Arial"/>
              <a:cs typeface="Arial"/>
              <a:sym typeface="Arial"/>
            </a:endParaRPr>
          </a:p>
        </p:txBody>
      </p:sp>
      <p:sp>
        <p:nvSpPr>
          <p:cNvPr id="281" name="Google Shape;281;p55"/>
          <p:cNvSpPr/>
          <p:nvPr/>
        </p:nvSpPr>
        <p:spPr>
          <a:xfrm>
            <a:off x="793800" y="5927760"/>
            <a:ext cx="9384480" cy="160056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950" u="none" cap="none" strike="noStrike">
                <a:solidFill>
                  <a:srgbClr val="272525"/>
                </a:solidFill>
                <a:latin typeface="Inter"/>
                <a:ea typeface="Inter"/>
                <a:cs typeface="Inter"/>
                <a:sym typeface="Inter"/>
              </a:rPr>
              <a:t>Basic Search provides fundamental search capabilities, including keyword matching, boolean logic, simple filtering, and personalized results based on user behavior.</a:t>
            </a:r>
            <a:endParaRPr b="0" i="0" sz="1950" u="none" cap="none" strike="noStrike">
              <a:latin typeface="Arial"/>
              <a:ea typeface="Arial"/>
              <a:cs typeface="Arial"/>
              <a:sym typeface="Arial"/>
            </a:endParaRPr>
          </a:p>
        </p:txBody>
      </p:sp>
      <p:grpSp>
        <p:nvGrpSpPr>
          <p:cNvPr id="282" name="Google Shape;282;p55"/>
          <p:cNvGrpSpPr/>
          <p:nvPr/>
        </p:nvGrpSpPr>
        <p:grpSpPr>
          <a:xfrm>
            <a:off x="13783680" y="0"/>
            <a:ext cx="846360" cy="968400"/>
            <a:chOff x="13783680" y="0"/>
            <a:chExt cx="846360" cy="968400"/>
          </a:xfrm>
        </p:grpSpPr>
        <p:sp>
          <p:nvSpPr>
            <p:cNvPr id="283" name="Google Shape;283;p55"/>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4" name="Google Shape;284;p55"/>
            <p:cNvGrpSpPr/>
            <p:nvPr/>
          </p:nvGrpSpPr>
          <p:grpSpPr>
            <a:xfrm>
              <a:off x="13838760" y="0"/>
              <a:ext cx="791280" cy="968400"/>
              <a:chOff x="13838760" y="0"/>
              <a:chExt cx="791280" cy="968400"/>
            </a:xfrm>
          </p:grpSpPr>
          <p:pic>
            <p:nvPicPr>
              <p:cNvPr id="285" name="Google Shape;285;p55"/>
              <p:cNvPicPr preferRelativeResize="0"/>
              <p:nvPr/>
            </p:nvPicPr>
            <p:blipFill rotWithShape="1">
              <a:blip r:embed="rId8">
                <a:alphaModFix/>
              </a:blip>
              <a:srcRect b="0" l="20669" r="9844" t="0"/>
              <a:stretch/>
            </p:blipFill>
            <p:spPr>
              <a:xfrm>
                <a:off x="13838760" y="0"/>
                <a:ext cx="756360" cy="756360"/>
              </a:xfrm>
              <a:prstGeom prst="rect">
                <a:avLst/>
              </a:prstGeom>
              <a:noFill/>
              <a:ln>
                <a:noFill/>
              </a:ln>
            </p:spPr>
          </p:pic>
          <p:sp>
            <p:nvSpPr>
              <p:cNvPr id="286" name="Google Shape;286;p55"/>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grpSp>
        <p:nvGrpSpPr>
          <p:cNvPr id="292" name="Google Shape;292;p56"/>
          <p:cNvGrpSpPr/>
          <p:nvPr/>
        </p:nvGrpSpPr>
        <p:grpSpPr>
          <a:xfrm>
            <a:off x="793800" y="587160"/>
            <a:ext cx="13337640" cy="7065360"/>
            <a:chOff x="793800" y="587160"/>
            <a:chExt cx="13337640" cy="7065360"/>
          </a:xfrm>
        </p:grpSpPr>
        <p:sp>
          <p:nvSpPr>
            <p:cNvPr id="293" name="Google Shape;293;p56"/>
            <p:cNvSpPr/>
            <p:nvPr/>
          </p:nvSpPr>
          <p:spPr>
            <a:xfrm>
              <a:off x="793800" y="587160"/>
              <a:ext cx="8747280" cy="12830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750" u="none" cap="none" strike="noStrike">
                  <a:solidFill>
                    <a:srgbClr val="000000"/>
                  </a:solidFill>
                  <a:latin typeface="Petrona"/>
                  <a:ea typeface="Petrona"/>
                  <a:cs typeface="Petrona"/>
                  <a:sym typeface="Petrona"/>
                </a:rPr>
                <a:t>Augmented Search Capabilities</a:t>
              </a:r>
              <a:endParaRPr b="0" i="0" sz="4750" u="none" cap="none" strike="noStrike">
                <a:latin typeface="Arial"/>
                <a:ea typeface="Arial"/>
                <a:cs typeface="Arial"/>
                <a:sym typeface="Arial"/>
              </a:endParaRPr>
            </a:p>
          </p:txBody>
        </p:sp>
        <p:sp>
          <p:nvSpPr>
            <p:cNvPr id="294" name="Google Shape;294;p56"/>
            <p:cNvSpPr/>
            <p:nvPr/>
          </p:nvSpPr>
          <p:spPr>
            <a:xfrm>
              <a:off x="793800" y="2848680"/>
              <a:ext cx="4063320" cy="128268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700" u="none" cap="none" strike="noStrike">
                  <a:solidFill>
                    <a:srgbClr val="000000"/>
                  </a:solidFill>
                  <a:latin typeface="Petrona"/>
                  <a:ea typeface="Petrona"/>
                  <a:cs typeface="Petrona"/>
                  <a:sym typeface="Petrona"/>
                </a:rPr>
                <a:t>Complex Logic and Phrase Matching</a:t>
              </a:r>
              <a:endParaRPr b="0" i="0" sz="2700" u="none" cap="none" strike="noStrike">
                <a:latin typeface="Arial"/>
                <a:ea typeface="Arial"/>
                <a:cs typeface="Arial"/>
                <a:sym typeface="Arial"/>
              </a:endParaRPr>
            </a:p>
          </p:txBody>
        </p:sp>
        <p:sp>
          <p:nvSpPr>
            <p:cNvPr id="295" name="Google Shape;295;p56"/>
            <p:cNvSpPr/>
            <p:nvPr/>
          </p:nvSpPr>
          <p:spPr>
            <a:xfrm>
              <a:off x="793800" y="4523400"/>
              <a:ext cx="4063320" cy="312912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150" u="none" cap="none" strike="noStrike">
                  <a:solidFill>
                    <a:srgbClr val="272525"/>
                  </a:solidFill>
                  <a:latin typeface="Inter"/>
                  <a:ea typeface="Inter"/>
                  <a:cs typeface="Inter"/>
                  <a:sym typeface="Inter"/>
                </a:rPr>
                <a:t>Augmented Search supports advanced search techniques, allowing users to construct more sophisticated queries using complex logic and precise phrase matching.</a:t>
              </a:r>
              <a:endParaRPr b="0" i="0" sz="2150" u="none" cap="none" strike="noStrike">
                <a:latin typeface="Arial"/>
                <a:ea typeface="Arial"/>
                <a:cs typeface="Arial"/>
                <a:sym typeface="Arial"/>
              </a:endParaRPr>
            </a:p>
          </p:txBody>
        </p:sp>
        <p:sp>
          <p:nvSpPr>
            <p:cNvPr id="296" name="Google Shape;296;p56"/>
            <p:cNvSpPr/>
            <p:nvPr/>
          </p:nvSpPr>
          <p:spPr>
            <a:xfrm>
              <a:off x="5430960" y="2848680"/>
              <a:ext cx="3040560" cy="641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700" u="none" cap="none" strike="noStrike">
                  <a:solidFill>
                    <a:srgbClr val="000000"/>
                  </a:solidFill>
                  <a:latin typeface="Petrona"/>
                  <a:ea typeface="Petrona"/>
                  <a:cs typeface="Petrona"/>
                  <a:sym typeface="Petrona"/>
                </a:rPr>
                <a:t>Basic Analytics</a:t>
              </a:r>
              <a:endParaRPr b="0" i="0" sz="2700" u="none" cap="none" strike="noStrike">
                <a:latin typeface="Arial"/>
                <a:ea typeface="Arial"/>
                <a:cs typeface="Arial"/>
                <a:sym typeface="Arial"/>
              </a:endParaRPr>
            </a:p>
          </p:txBody>
        </p:sp>
        <p:sp>
          <p:nvSpPr>
            <p:cNvPr id="297" name="Google Shape;297;p56"/>
            <p:cNvSpPr/>
            <p:nvPr/>
          </p:nvSpPr>
          <p:spPr>
            <a:xfrm>
              <a:off x="5430960" y="3881880"/>
              <a:ext cx="4063320" cy="250308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150" u="none" cap="none" strike="noStrike">
                  <a:solidFill>
                    <a:srgbClr val="272525"/>
                  </a:solidFill>
                  <a:latin typeface="Inter"/>
                  <a:ea typeface="Inter"/>
                  <a:cs typeface="Inter"/>
                  <a:sym typeface="Inter"/>
                </a:rPr>
                <a:t>This level of search introduces basic analytics capabilities, enabling users to gain insights from their search results.</a:t>
              </a:r>
              <a:endParaRPr b="0" i="0" sz="2150" u="none" cap="none" strike="noStrike">
                <a:latin typeface="Arial"/>
                <a:ea typeface="Arial"/>
                <a:cs typeface="Arial"/>
                <a:sym typeface="Arial"/>
              </a:endParaRPr>
            </a:p>
          </p:txBody>
        </p:sp>
        <p:sp>
          <p:nvSpPr>
            <p:cNvPr id="298" name="Google Shape;298;p56"/>
            <p:cNvSpPr/>
            <p:nvPr/>
          </p:nvSpPr>
          <p:spPr>
            <a:xfrm>
              <a:off x="10068120" y="2848680"/>
              <a:ext cx="4041720" cy="641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700" u="none" cap="none" strike="noStrike">
                  <a:solidFill>
                    <a:srgbClr val="000000"/>
                  </a:solidFill>
                  <a:latin typeface="Petrona"/>
                  <a:ea typeface="Petrona"/>
                  <a:cs typeface="Petrona"/>
                  <a:sym typeface="Petrona"/>
                </a:rPr>
                <a:t>Personalized Analytics Views</a:t>
              </a:r>
              <a:endParaRPr b="0" i="0" sz="2700" u="none" cap="none" strike="noStrike">
                <a:latin typeface="Arial"/>
                <a:ea typeface="Arial"/>
                <a:cs typeface="Arial"/>
                <a:sym typeface="Arial"/>
              </a:endParaRPr>
            </a:p>
          </p:txBody>
        </p:sp>
        <p:sp>
          <p:nvSpPr>
            <p:cNvPr id="299" name="Google Shape;299;p56"/>
            <p:cNvSpPr/>
            <p:nvPr/>
          </p:nvSpPr>
          <p:spPr>
            <a:xfrm>
              <a:off x="10068120" y="3881880"/>
              <a:ext cx="4063320" cy="250308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150" u="none" cap="none" strike="noStrike">
                  <a:solidFill>
                    <a:srgbClr val="272525"/>
                  </a:solidFill>
                  <a:latin typeface="Inter"/>
                  <a:ea typeface="Inter"/>
                  <a:cs typeface="Inter"/>
                  <a:sym typeface="Inter"/>
                </a:rPr>
                <a:t>Analytics views are tailored based on user roles and preferences, providing a more relevant and customized search experience.</a:t>
              </a:r>
              <a:endParaRPr b="0" i="0" sz="2150" u="none" cap="none" strike="noStrike">
                <a:latin typeface="Arial"/>
                <a:ea typeface="Arial"/>
                <a:cs typeface="Arial"/>
                <a:sym typeface="Arial"/>
              </a:endParaRPr>
            </a:p>
          </p:txBody>
        </p:sp>
      </p:grpSp>
      <p:grpSp>
        <p:nvGrpSpPr>
          <p:cNvPr id="300" name="Google Shape;300;p56"/>
          <p:cNvGrpSpPr/>
          <p:nvPr/>
        </p:nvGrpSpPr>
        <p:grpSpPr>
          <a:xfrm>
            <a:off x="13783680" y="0"/>
            <a:ext cx="846360" cy="968400"/>
            <a:chOff x="13783680" y="0"/>
            <a:chExt cx="846360" cy="968400"/>
          </a:xfrm>
        </p:grpSpPr>
        <p:sp>
          <p:nvSpPr>
            <p:cNvPr id="301" name="Google Shape;301;p56"/>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2" name="Google Shape;302;p56"/>
            <p:cNvGrpSpPr/>
            <p:nvPr/>
          </p:nvGrpSpPr>
          <p:grpSpPr>
            <a:xfrm>
              <a:off x="13838760" y="0"/>
              <a:ext cx="791280" cy="968400"/>
              <a:chOff x="13838760" y="0"/>
              <a:chExt cx="791280" cy="968400"/>
            </a:xfrm>
          </p:grpSpPr>
          <p:pic>
            <p:nvPicPr>
              <p:cNvPr id="303" name="Google Shape;303;p56"/>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304" name="Google Shape;304;p56"/>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pic>
        <p:nvPicPr>
          <p:cNvPr id="310" name="Google Shape;310;p57"/>
          <p:cNvPicPr preferRelativeResize="0"/>
          <p:nvPr/>
        </p:nvPicPr>
        <p:blipFill rotWithShape="1">
          <a:blip r:embed="rId3">
            <a:alphaModFix/>
          </a:blip>
          <a:srcRect b="0" l="0" r="0" t="0"/>
          <a:stretch/>
        </p:blipFill>
        <p:spPr>
          <a:xfrm>
            <a:off x="0" y="0"/>
            <a:ext cx="14629680" cy="2785680"/>
          </a:xfrm>
          <a:prstGeom prst="rect">
            <a:avLst/>
          </a:prstGeom>
          <a:noFill/>
          <a:ln>
            <a:noFill/>
          </a:ln>
        </p:spPr>
      </p:pic>
      <p:sp>
        <p:nvSpPr>
          <p:cNvPr id="311" name="Google Shape;311;p57"/>
          <p:cNvSpPr/>
          <p:nvPr/>
        </p:nvSpPr>
        <p:spPr>
          <a:xfrm>
            <a:off x="780120" y="3400560"/>
            <a:ext cx="8021520" cy="7304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00" u="none" cap="none" strike="noStrike">
                <a:solidFill>
                  <a:srgbClr val="000000"/>
                </a:solidFill>
                <a:latin typeface="Petrona"/>
                <a:ea typeface="Petrona"/>
                <a:cs typeface="Petrona"/>
                <a:sym typeface="Petrona"/>
              </a:rPr>
              <a:t>Key Components: Taxonomies</a:t>
            </a:r>
            <a:endParaRPr b="0" i="0" sz="4600" u="none" cap="none" strike="noStrike">
              <a:latin typeface="Arial"/>
              <a:ea typeface="Arial"/>
              <a:cs typeface="Arial"/>
              <a:sym typeface="Arial"/>
            </a:endParaRPr>
          </a:p>
        </p:txBody>
      </p:sp>
      <p:sp>
        <p:nvSpPr>
          <p:cNvPr id="312" name="Google Shape;312;p57"/>
          <p:cNvSpPr/>
          <p:nvPr/>
        </p:nvSpPr>
        <p:spPr>
          <a:xfrm>
            <a:off x="780120" y="4716720"/>
            <a:ext cx="389160" cy="389160"/>
          </a:xfrm>
          <a:prstGeom prst="roundRect">
            <a:avLst>
              <a:gd fmla="val 2400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57"/>
          <p:cNvSpPr/>
          <p:nvPr/>
        </p:nvSpPr>
        <p:spPr>
          <a:xfrm>
            <a:off x="1393200" y="4716720"/>
            <a:ext cx="2925000" cy="365040"/>
          </a:xfrm>
          <a:prstGeom prst="rect">
            <a:avLst/>
          </a:prstGeom>
          <a:noFill/>
          <a:ln>
            <a:noFill/>
          </a:ln>
        </p:spPr>
        <p:txBody>
          <a:bodyPr anchorCtr="0" anchor="t" bIns="0" lIns="0" spcFirstLastPara="1" rIns="0" wrap="square" tIns="0">
            <a:noAutofit/>
          </a:bodyPr>
          <a:lstStyle/>
          <a:p>
            <a:pPr indent="0" lvl="0" marL="0" marR="0" rtl="0" algn="l">
              <a:lnSpc>
                <a:spcPct val="123000"/>
              </a:lnSpc>
              <a:spcBef>
                <a:spcPts val="0"/>
              </a:spcBef>
              <a:spcAft>
                <a:spcPts val="0"/>
              </a:spcAft>
              <a:buNone/>
            </a:pPr>
            <a:r>
              <a:rPr b="1" i="0" lang="en-US" sz="2300" u="none" cap="none" strike="noStrike">
                <a:solidFill>
                  <a:srgbClr val="272525"/>
                </a:solidFill>
                <a:latin typeface="Petrona"/>
                <a:ea typeface="Petrona"/>
                <a:cs typeface="Petrona"/>
                <a:sym typeface="Petrona"/>
              </a:rPr>
              <a:t>Persona</a:t>
            </a:r>
            <a:endParaRPr b="0" i="0" sz="2300" u="none" cap="none" strike="noStrike">
              <a:latin typeface="Arial"/>
              <a:ea typeface="Arial"/>
              <a:cs typeface="Arial"/>
              <a:sym typeface="Arial"/>
            </a:endParaRPr>
          </a:p>
        </p:txBody>
      </p:sp>
      <p:sp>
        <p:nvSpPr>
          <p:cNvPr id="314" name="Google Shape;314;p57"/>
          <p:cNvSpPr/>
          <p:nvPr/>
        </p:nvSpPr>
        <p:spPr>
          <a:xfrm>
            <a:off x="1393200" y="5216040"/>
            <a:ext cx="5810040" cy="7124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750" u="none" cap="none" strike="noStrike">
                <a:solidFill>
                  <a:srgbClr val="272525"/>
                </a:solidFill>
                <a:latin typeface="Inter"/>
                <a:ea typeface="Inter"/>
                <a:cs typeface="Inter"/>
                <a:sym typeface="Inter"/>
              </a:rPr>
              <a:t>Defines different user types and their characteristics, enabling personalized search experiences.</a:t>
            </a:r>
            <a:endParaRPr b="0" i="0" sz="1750" u="none" cap="none" strike="noStrike">
              <a:latin typeface="Arial"/>
              <a:ea typeface="Arial"/>
              <a:cs typeface="Arial"/>
              <a:sym typeface="Arial"/>
            </a:endParaRPr>
          </a:p>
        </p:txBody>
      </p:sp>
      <p:sp>
        <p:nvSpPr>
          <p:cNvPr id="315" name="Google Shape;315;p57"/>
          <p:cNvSpPr/>
          <p:nvPr/>
        </p:nvSpPr>
        <p:spPr>
          <a:xfrm>
            <a:off x="7426800" y="4716720"/>
            <a:ext cx="389160" cy="389160"/>
          </a:xfrm>
          <a:prstGeom prst="roundRect">
            <a:avLst>
              <a:gd fmla="val 2400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57"/>
          <p:cNvSpPr/>
          <p:nvPr/>
        </p:nvSpPr>
        <p:spPr>
          <a:xfrm>
            <a:off x="8039520" y="4716720"/>
            <a:ext cx="2925000" cy="365040"/>
          </a:xfrm>
          <a:prstGeom prst="rect">
            <a:avLst/>
          </a:prstGeom>
          <a:noFill/>
          <a:ln>
            <a:noFill/>
          </a:ln>
        </p:spPr>
        <p:txBody>
          <a:bodyPr anchorCtr="0" anchor="t" bIns="0" lIns="0" spcFirstLastPara="1" rIns="0" wrap="square" tIns="0">
            <a:noAutofit/>
          </a:bodyPr>
          <a:lstStyle/>
          <a:p>
            <a:pPr indent="0" lvl="0" marL="0" marR="0" rtl="0" algn="l">
              <a:lnSpc>
                <a:spcPct val="123000"/>
              </a:lnSpc>
              <a:spcBef>
                <a:spcPts val="0"/>
              </a:spcBef>
              <a:spcAft>
                <a:spcPts val="0"/>
              </a:spcAft>
              <a:buNone/>
            </a:pPr>
            <a:r>
              <a:rPr b="1" i="0" lang="en-US" sz="2300" u="none" cap="none" strike="noStrike">
                <a:solidFill>
                  <a:srgbClr val="272525"/>
                </a:solidFill>
                <a:latin typeface="Petrona"/>
                <a:ea typeface="Petrona"/>
                <a:cs typeface="Petrona"/>
                <a:sym typeface="Petrona"/>
              </a:rPr>
              <a:t>Location</a:t>
            </a:r>
            <a:endParaRPr b="0" i="0" sz="2300" u="none" cap="none" strike="noStrike">
              <a:latin typeface="Arial"/>
              <a:ea typeface="Arial"/>
              <a:cs typeface="Arial"/>
              <a:sym typeface="Arial"/>
            </a:endParaRPr>
          </a:p>
        </p:txBody>
      </p:sp>
      <p:sp>
        <p:nvSpPr>
          <p:cNvPr id="317" name="Google Shape;317;p57"/>
          <p:cNvSpPr/>
          <p:nvPr/>
        </p:nvSpPr>
        <p:spPr>
          <a:xfrm>
            <a:off x="8039520" y="5216040"/>
            <a:ext cx="5810040" cy="7124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750" u="none" cap="none" strike="noStrike">
                <a:solidFill>
                  <a:srgbClr val="272525"/>
                </a:solidFill>
                <a:latin typeface="Inter"/>
                <a:ea typeface="Inter"/>
                <a:cs typeface="Inter"/>
                <a:sym typeface="Inter"/>
              </a:rPr>
              <a:t>Incorporates geographical and spatial information to provide location-aware search results.</a:t>
            </a:r>
            <a:endParaRPr b="0" i="0" sz="1750" u="none" cap="none" strike="noStrike">
              <a:latin typeface="Arial"/>
              <a:ea typeface="Arial"/>
              <a:cs typeface="Arial"/>
              <a:sym typeface="Arial"/>
            </a:endParaRPr>
          </a:p>
        </p:txBody>
      </p:sp>
      <p:sp>
        <p:nvSpPr>
          <p:cNvPr id="318" name="Google Shape;318;p57"/>
          <p:cNvSpPr/>
          <p:nvPr/>
        </p:nvSpPr>
        <p:spPr>
          <a:xfrm>
            <a:off x="780120" y="6402960"/>
            <a:ext cx="389160" cy="389160"/>
          </a:xfrm>
          <a:prstGeom prst="roundRect">
            <a:avLst>
              <a:gd fmla="val 2400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57"/>
          <p:cNvSpPr/>
          <p:nvPr/>
        </p:nvSpPr>
        <p:spPr>
          <a:xfrm>
            <a:off x="1393200" y="6402960"/>
            <a:ext cx="2925000" cy="365040"/>
          </a:xfrm>
          <a:prstGeom prst="rect">
            <a:avLst/>
          </a:prstGeom>
          <a:noFill/>
          <a:ln>
            <a:noFill/>
          </a:ln>
        </p:spPr>
        <p:txBody>
          <a:bodyPr anchorCtr="0" anchor="t" bIns="0" lIns="0" spcFirstLastPara="1" rIns="0" wrap="square" tIns="0">
            <a:noAutofit/>
          </a:bodyPr>
          <a:lstStyle/>
          <a:p>
            <a:pPr indent="0" lvl="0" marL="0" marR="0" rtl="0" algn="l">
              <a:lnSpc>
                <a:spcPct val="123000"/>
              </a:lnSpc>
              <a:spcBef>
                <a:spcPts val="0"/>
              </a:spcBef>
              <a:spcAft>
                <a:spcPts val="0"/>
              </a:spcAft>
              <a:buNone/>
            </a:pPr>
            <a:r>
              <a:rPr b="1" i="0" lang="en-US" sz="2300" u="none" cap="none" strike="noStrike">
                <a:solidFill>
                  <a:srgbClr val="272525"/>
                </a:solidFill>
                <a:latin typeface="Petrona"/>
                <a:ea typeface="Petrona"/>
                <a:cs typeface="Petrona"/>
                <a:sym typeface="Petrona"/>
              </a:rPr>
              <a:t>Party (Organization)</a:t>
            </a:r>
            <a:endParaRPr b="0" i="0" sz="2300" u="none" cap="none" strike="noStrike">
              <a:latin typeface="Arial"/>
              <a:ea typeface="Arial"/>
              <a:cs typeface="Arial"/>
              <a:sym typeface="Arial"/>
            </a:endParaRPr>
          </a:p>
        </p:txBody>
      </p:sp>
      <p:sp>
        <p:nvSpPr>
          <p:cNvPr id="320" name="Google Shape;320;p57"/>
          <p:cNvSpPr/>
          <p:nvPr/>
        </p:nvSpPr>
        <p:spPr>
          <a:xfrm>
            <a:off x="1393200" y="6902280"/>
            <a:ext cx="5810040" cy="7124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750" u="none" cap="none" strike="noStrike">
                <a:solidFill>
                  <a:srgbClr val="272525"/>
                </a:solidFill>
                <a:latin typeface="Inter"/>
                <a:ea typeface="Inter"/>
                <a:cs typeface="Inter"/>
                <a:sym typeface="Inter"/>
              </a:rPr>
              <a:t>Classifies different organizations and entities involved in the search ecosystem.</a:t>
            </a:r>
            <a:endParaRPr b="0" i="0" sz="1750" u="none" cap="none" strike="noStrike">
              <a:latin typeface="Arial"/>
              <a:ea typeface="Arial"/>
              <a:cs typeface="Arial"/>
              <a:sym typeface="Arial"/>
            </a:endParaRPr>
          </a:p>
        </p:txBody>
      </p:sp>
      <p:sp>
        <p:nvSpPr>
          <p:cNvPr id="321" name="Google Shape;321;p57"/>
          <p:cNvSpPr/>
          <p:nvPr/>
        </p:nvSpPr>
        <p:spPr>
          <a:xfrm>
            <a:off x="7426800" y="6402960"/>
            <a:ext cx="389160" cy="389160"/>
          </a:xfrm>
          <a:prstGeom prst="roundRect">
            <a:avLst>
              <a:gd fmla="val 2400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57"/>
          <p:cNvSpPr/>
          <p:nvPr/>
        </p:nvSpPr>
        <p:spPr>
          <a:xfrm>
            <a:off x="8039520" y="6402960"/>
            <a:ext cx="2925000" cy="365040"/>
          </a:xfrm>
          <a:prstGeom prst="rect">
            <a:avLst/>
          </a:prstGeom>
          <a:noFill/>
          <a:ln>
            <a:noFill/>
          </a:ln>
        </p:spPr>
        <p:txBody>
          <a:bodyPr anchorCtr="0" anchor="t" bIns="0" lIns="0" spcFirstLastPara="1" rIns="0" wrap="square" tIns="0">
            <a:noAutofit/>
          </a:bodyPr>
          <a:lstStyle/>
          <a:p>
            <a:pPr indent="0" lvl="0" marL="0" marR="0" rtl="0" algn="l">
              <a:lnSpc>
                <a:spcPct val="123000"/>
              </a:lnSpc>
              <a:spcBef>
                <a:spcPts val="0"/>
              </a:spcBef>
              <a:spcAft>
                <a:spcPts val="0"/>
              </a:spcAft>
              <a:buNone/>
            </a:pPr>
            <a:r>
              <a:rPr b="1" i="0" lang="en-US" sz="2300" u="none" cap="none" strike="noStrike">
                <a:solidFill>
                  <a:srgbClr val="272525"/>
                </a:solidFill>
                <a:latin typeface="Petrona"/>
                <a:ea typeface="Petrona"/>
                <a:cs typeface="Petrona"/>
                <a:sym typeface="Petrona"/>
              </a:rPr>
              <a:t>Role</a:t>
            </a:r>
            <a:endParaRPr b="0" i="0" sz="2300" u="none" cap="none" strike="noStrike">
              <a:latin typeface="Arial"/>
              <a:ea typeface="Arial"/>
              <a:cs typeface="Arial"/>
              <a:sym typeface="Arial"/>
            </a:endParaRPr>
          </a:p>
        </p:txBody>
      </p:sp>
      <p:sp>
        <p:nvSpPr>
          <p:cNvPr id="323" name="Google Shape;323;p57"/>
          <p:cNvSpPr/>
          <p:nvPr/>
        </p:nvSpPr>
        <p:spPr>
          <a:xfrm>
            <a:off x="8039520" y="6902280"/>
            <a:ext cx="5810040" cy="7124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750" u="none" cap="none" strike="noStrike">
                <a:solidFill>
                  <a:srgbClr val="272525"/>
                </a:solidFill>
                <a:latin typeface="Inter"/>
                <a:ea typeface="Inter"/>
                <a:cs typeface="Inter"/>
                <a:sym typeface="Inter"/>
              </a:rPr>
              <a:t>Defines user roles such as Customer, Provider, and Partner, influencing search permissions and results.</a:t>
            </a:r>
            <a:endParaRPr b="0" i="0" sz="1750" u="none" cap="none" strike="noStrike">
              <a:latin typeface="Arial"/>
              <a:ea typeface="Arial"/>
              <a:cs typeface="Arial"/>
              <a:sym typeface="Arial"/>
            </a:endParaRPr>
          </a:p>
        </p:txBody>
      </p:sp>
      <p:grpSp>
        <p:nvGrpSpPr>
          <p:cNvPr id="324" name="Google Shape;324;p57"/>
          <p:cNvGrpSpPr/>
          <p:nvPr/>
        </p:nvGrpSpPr>
        <p:grpSpPr>
          <a:xfrm>
            <a:off x="13783680" y="0"/>
            <a:ext cx="846360" cy="968400"/>
            <a:chOff x="13783680" y="0"/>
            <a:chExt cx="846360" cy="968400"/>
          </a:xfrm>
        </p:grpSpPr>
        <p:sp>
          <p:nvSpPr>
            <p:cNvPr id="325" name="Google Shape;325;p57"/>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6" name="Google Shape;326;p57"/>
            <p:cNvGrpSpPr/>
            <p:nvPr/>
          </p:nvGrpSpPr>
          <p:grpSpPr>
            <a:xfrm>
              <a:off x="13838760" y="0"/>
              <a:ext cx="791280" cy="968400"/>
              <a:chOff x="13838760" y="0"/>
              <a:chExt cx="791280" cy="968400"/>
            </a:xfrm>
          </p:grpSpPr>
          <p:pic>
            <p:nvPicPr>
              <p:cNvPr id="327" name="Google Shape;327;p57"/>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328" name="Google Shape;328;p57"/>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58"/>
          <p:cNvSpPr/>
          <p:nvPr/>
        </p:nvSpPr>
        <p:spPr>
          <a:xfrm>
            <a:off x="793800" y="1288800"/>
            <a:ext cx="7783560" cy="743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Key Components: Ontologies</a:t>
            </a:r>
            <a:endParaRPr b="0" i="0" sz="4650" u="none" cap="none" strike="noStrike">
              <a:latin typeface="Arial"/>
              <a:ea typeface="Arial"/>
              <a:cs typeface="Arial"/>
              <a:sym typeface="Arial"/>
            </a:endParaRPr>
          </a:p>
        </p:txBody>
      </p:sp>
      <p:pic>
        <p:nvPicPr>
          <p:cNvPr id="335" name="Google Shape;335;p58"/>
          <p:cNvPicPr preferRelativeResize="0"/>
          <p:nvPr/>
        </p:nvPicPr>
        <p:blipFill rotWithShape="1">
          <a:blip r:embed="rId3">
            <a:alphaModFix/>
          </a:blip>
          <a:srcRect b="0" l="0" r="0" t="0"/>
          <a:stretch/>
        </p:blipFill>
        <p:spPr>
          <a:xfrm>
            <a:off x="3247560" y="2486880"/>
            <a:ext cx="1613160" cy="825120"/>
          </a:xfrm>
          <a:prstGeom prst="rect">
            <a:avLst/>
          </a:prstGeom>
          <a:noFill/>
          <a:ln>
            <a:noFill/>
          </a:ln>
        </p:spPr>
      </p:pic>
      <p:sp>
        <p:nvSpPr>
          <p:cNvPr id="336" name="Google Shape;336;p58"/>
          <p:cNvSpPr/>
          <p:nvPr/>
        </p:nvSpPr>
        <p:spPr>
          <a:xfrm>
            <a:off x="3993840" y="2762640"/>
            <a:ext cx="120600" cy="452880"/>
          </a:xfrm>
          <a:prstGeom prst="rect">
            <a:avLst/>
          </a:prstGeom>
          <a:noFill/>
          <a:ln>
            <a:noFill/>
          </a:ln>
        </p:spPr>
        <p:txBody>
          <a:bodyPr anchorCtr="0" anchor="t" bIns="0" lIns="0" spcFirstLastPara="1" rIns="0" wrap="square" tIns="0">
            <a:noAutofit/>
          </a:bodyPr>
          <a:lstStyle/>
          <a:p>
            <a:pPr indent="0" lvl="0" marL="0" marR="0" rtl="0" algn="ctr">
              <a:lnSpc>
                <a:spcPct val="161000"/>
              </a:lnSpc>
              <a:spcBef>
                <a:spcPts val="0"/>
              </a:spcBef>
              <a:spcAft>
                <a:spcPts val="0"/>
              </a:spcAft>
              <a:buNone/>
            </a:pPr>
            <a:r>
              <a:rPr b="1" i="0" lang="en-US" sz="2200" u="none" cap="none" strike="noStrike">
                <a:solidFill>
                  <a:srgbClr val="272525"/>
                </a:solidFill>
                <a:latin typeface="Petrona"/>
                <a:ea typeface="Petrona"/>
                <a:cs typeface="Petrona"/>
                <a:sym typeface="Petrona"/>
              </a:rPr>
              <a:t>1</a:t>
            </a:r>
            <a:endParaRPr b="0" i="0" sz="2200" u="none" cap="none" strike="noStrike">
              <a:latin typeface="Arial"/>
              <a:ea typeface="Arial"/>
              <a:cs typeface="Arial"/>
              <a:sym typeface="Arial"/>
            </a:endParaRPr>
          </a:p>
        </p:txBody>
      </p:sp>
      <p:sp>
        <p:nvSpPr>
          <p:cNvPr id="337" name="Google Shape;337;p58"/>
          <p:cNvSpPr/>
          <p:nvPr/>
        </p:nvSpPr>
        <p:spPr>
          <a:xfrm>
            <a:off x="5088240" y="2713680"/>
            <a:ext cx="214560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Jobs To Be Done</a:t>
            </a:r>
            <a:endParaRPr b="0" i="0" sz="2300" u="none" cap="none" strike="noStrike">
              <a:latin typeface="Arial"/>
              <a:ea typeface="Arial"/>
              <a:cs typeface="Arial"/>
              <a:sym typeface="Arial"/>
            </a:endParaRPr>
          </a:p>
        </p:txBody>
      </p:sp>
      <p:sp>
        <p:nvSpPr>
          <p:cNvPr id="338" name="Google Shape;338;p58"/>
          <p:cNvSpPr/>
          <p:nvPr/>
        </p:nvSpPr>
        <p:spPr>
          <a:xfrm>
            <a:off x="4917960" y="3325680"/>
            <a:ext cx="8861040" cy="14400"/>
          </a:xfrm>
          <a:prstGeom prst="roundRect">
            <a:avLst>
              <a:gd fmla="val 625116"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9" name="Google Shape;339;p58"/>
          <p:cNvPicPr preferRelativeResize="0"/>
          <p:nvPr/>
        </p:nvPicPr>
        <p:blipFill rotWithShape="1">
          <a:blip r:embed="rId4">
            <a:alphaModFix/>
          </a:blip>
          <a:srcRect b="0" l="0" r="0" t="0"/>
          <a:stretch/>
        </p:blipFill>
        <p:spPr>
          <a:xfrm>
            <a:off x="2440440" y="3369240"/>
            <a:ext cx="3227400" cy="825120"/>
          </a:xfrm>
          <a:prstGeom prst="rect">
            <a:avLst/>
          </a:prstGeom>
          <a:noFill/>
          <a:ln>
            <a:noFill/>
          </a:ln>
        </p:spPr>
      </p:pic>
      <p:sp>
        <p:nvSpPr>
          <p:cNvPr id="340" name="Google Shape;340;p58"/>
          <p:cNvSpPr/>
          <p:nvPr/>
        </p:nvSpPr>
        <p:spPr>
          <a:xfrm>
            <a:off x="3974040" y="3555360"/>
            <a:ext cx="159840" cy="452880"/>
          </a:xfrm>
          <a:prstGeom prst="rect">
            <a:avLst/>
          </a:prstGeom>
          <a:noFill/>
          <a:ln>
            <a:noFill/>
          </a:ln>
        </p:spPr>
        <p:txBody>
          <a:bodyPr anchorCtr="0" anchor="t" bIns="0" lIns="0" spcFirstLastPara="1" rIns="0" wrap="square" tIns="0">
            <a:noAutofit/>
          </a:bodyPr>
          <a:lstStyle/>
          <a:p>
            <a:pPr indent="0" lvl="0" marL="0" marR="0" rtl="0" algn="ctr">
              <a:lnSpc>
                <a:spcPct val="161000"/>
              </a:lnSpc>
              <a:spcBef>
                <a:spcPts val="0"/>
              </a:spcBef>
              <a:spcAft>
                <a:spcPts val="0"/>
              </a:spcAft>
              <a:buNone/>
            </a:pPr>
            <a:r>
              <a:rPr b="1" i="0" lang="en-US" sz="2200" u="none" cap="none" strike="noStrike">
                <a:solidFill>
                  <a:srgbClr val="272525"/>
                </a:solidFill>
                <a:latin typeface="Petrona"/>
                <a:ea typeface="Petrona"/>
                <a:cs typeface="Petrona"/>
                <a:sym typeface="Petrona"/>
              </a:rPr>
              <a:t>2</a:t>
            </a:r>
            <a:endParaRPr b="0" i="0" sz="2200" u="none" cap="none" strike="noStrike">
              <a:latin typeface="Arial"/>
              <a:ea typeface="Arial"/>
              <a:cs typeface="Arial"/>
              <a:sym typeface="Arial"/>
            </a:endParaRPr>
          </a:p>
        </p:txBody>
      </p:sp>
      <p:sp>
        <p:nvSpPr>
          <p:cNvPr id="341" name="Google Shape;341;p58"/>
          <p:cNvSpPr/>
          <p:nvPr/>
        </p:nvSpPr>
        <p:spPr>
          <a:xfrm>
            <a:off x="5895360" y="3596040"/>
            <a:ext cx="13726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Outcomes</a:t>
            </a:r>
            <a:endParaRPr b="0" i="0" sz="2300" u="none" cap="none" strike="noStrike">
              <a:latin typeface="Arial"/>
              <a:ea typeface="Arial"/>
              <a:cs typeface="Arial"/>
              <a:sym typeface="Arial"/>
            </a:endParaRPr>
          </a:p>
        </p:txBody>
      </p:sp>
      <p:sp>
        <p:nvSpPr>
          <p:cNvPr id="342" name="Google Shape;342;p58"/>
          <p:cNvSpPr/>
          <p:nvPr/>
        </p:nvSpPr>
        <p:spPr>
          <a:xfrm>
            <a:off x="5725080" y="4208040"/>
            <a:ext cx="8053920" cy="14400"/>
          </a:xfrm>
          <a:prstGeom prst="roundRect">
            <a:avLst>
              <a:gd fmla="val 625116"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43" name="Google Shape;343;p58"/>
          <p:cNvPicPr preferRelativeResize="0"/>
          <p:nvPr/>
        </p:nvPicPr>
        <p:blipFill rotWithShape="1">
          <a:blip r:embed="rId5">
            <a:alphaModFix/>
          </a:blip>
          <a:srcRect b="0" l="0" r="0" t="0"/>
          <a:stretch/>
        </p:blipFill>
        <p:spPr>
          <a:xfrm>
            <a:off x="1633320" y="4251600"/>
            <a:ext cx="4841280" cy="825120"/>
          </a:xfrm>
          <a:prstGeom prst="rect">
            <a:avLst/>
          </a:prstGeom>
          <a:noFill/>
          <a:ln>
            <a:noFill/>
          </a:ln>
        </p:spPr>
      </p:pic>
      <p:sp>
        <p:nvSpPr>
          <p:cNvPr id="344" name="Google Shape;344;p58"/>
          <p:cNvSpPr/>
          <p:nvPr/>
        </p:nvSpPr>
        <p:spPr>
          <a:xfrm>
            <a:off x="3974040" y="4437720"/>
            <a:ext cx="159840" cy="452880"/>
          </a:xfrm>
          <a:prstGeom prst="rect">
            <a:avLst/>
          </a:prstGeom>
          <a:noFill/>
          <a:ln>
            <a:noFill/>
          </a:ln>
        </p:spPr>
        <p:txBody>
          <a:bodyPr anchorCtr="0" anchor="t" bIns="0" lIns="0" spcFirstLastPara="1" rIns="0" wrap="square" tIns="0">
            <a:noAutofit/>
          </a:bodyPr>
          <a:lstStyle/>
          <a:p>
            <a:pPr indent="0" lvl="0" marL="0" marR="0" rtl="0" algn="ctr">
              <a:lnSpc>
                <a:spcPct val="161000"/>
              </a:lnSpc>
              <a:spcBef>
                <a:spcPts val="0"/>
              </a:spcBef>
              <a:spcAft>
                <a:spcPts val="0"/>
              </a:spcAft>
              <a:buNone/>
            </a:pPr>
            <a:r>
              <a:rPr b="1" i="0" lang="en-US" sz="2200" u="none" cap="none" strike="noStrike">
                <a:solidFill>
                  <a:srgbClr val="272525"/>
                </a:solidFill>
                <a:latin typeface="Petrona"/>
                <a:ea typeface="Petrona"/>
                <a:cs typeface="Petrona"/>
                <a:sym typeface="Petrona"/>
              </a:rPr>
              <a:t>3</a:t>
            </a:r>
            <a:endParaRPr b="0" i="0" sz="2200" u="none" cap="none" strike="noStrike">
              <a:latin typeface="Arial"/>
              <a:ea typeface="Arial"/>
              <a:cs typeface="Arial"/>
              <a:sym typeface="Arial"/>
            </a:endParaRPr>
          </a:p>
        </p:txBody>
      </p:sp>
      <p:sp>
        <p:nvSpPr>
          <p:cNvPr id="345" name="Google Shape;345;p58"/>
          <p:cNvSpPr/>
          <p:nvPr/>
        </p:nvSpPr>
        <p:spPr>
          <a:xfrm>
            <a:off x="6702120" y="4478400"/>
            <a:ext cx="113292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Services</a:t>
            </a:r>
            <a:endParaRPr b="0" i="0" sz="2300" u="none" cap="none" strike="noStrike">
              <a:latin typeface="Arial"/>
              <a:ea typeface="Arial"/>
              <a:cs typeface="Arial"/>
              <a:sym typeface="Arial"/>
            </a:endParaRPr>
          </a:p>
        </p:txBody>
      </p:sp>
      <p:sp>
        <p:nvSpPr>
          <p:cNvPr id="346" name="Google Shape;346;p58"/>
          <p:cNvSpPr/>
          <p:nvPr/>
        </p:nvSpPr>
        <p:spPr>
          <a:xfrm>
            <a:off x="6532200" y="5090400"/>
            <a:ext cx="7247160" cy="14400"/>
          </a:xfrm>
          <a:prstGeom prst="roundRect">
            <a:avLst>
              <a:gd fmla="val 625116"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47" name="Google Shape;347;p58"/>
          <p:cNvPicPr preferRelativeResize="0"/>
          <p:nvPr/>
        </p:nvPicPr>
        <p:blipFill rotWithShape="1">
          <a:blip r:embed="rId6">
            <a:alphaModFix/>
          </a:blip>
          <a:srcRect b="0" l="0" r="0" t="0"/>
          <a:stretch/>
        </p:blipFill>
        <p:spPr>
          <a:xfrm>
            <a:off x="826200" y="5133960"/>
            <a:ext cx="6455520" cy="825120"/>
          </a:xfrm>
          <a:prstGeom prst="rect">
            <a:avLst/>
          </a:prstGeom>
          <a:noFill/>
          <a:ln>
            <a:noFill/>
          </a:ln>
        </p:spPr>
      </p:pic>
      <p:sp>
        <p:nvSpPr>
          <p:cNvPr id="348" name="Google Shape;348;p58"/>
          <p:cNvSpPr/>
          <p:nvPr/>
        </p:nvSpPr>
        <p:spPr>
          <a:xfrm>
            <a:off x="3978000" y="5320080"/>
            <a:ext cx="151920" cy="452880"/>
          </a:xfrm>
          <a:prstGeom prst="rect">
            <a:avLst/>
          </a:prstGeom>
          <a:noFill/>
          <a:ln>
            <a:noFill/>
          </a:ln>
        </p:spPr>
        <p:txBody>
          <a:bodyPr anchorCtr="0" anchor="t" bIns="0" lIns="0" spcFirstLastPara="1" rIns="0" wrap="square" tIns="0">
            <a:noAutofit/>
          </a:bodyPr>
          <a:lstStyle/>
          <a:p>
            <a:pPr indent="0" lvl="0" marL="0" marR="0" rtl="0" algn="ctr">
              <a:lnSpc>
                <a:spcPct val="161000"/>
              </a:lnSpc>
              <a:spcBef>
                <a:spcPts val="0"/>
              </a:spcBef>
              <a:spcAft>
                <a:spcPts val="0"/>
              </a:spcAft>
              <a:buNone/>
            </a:pPr>
            <a:r>
              <a:rPr b="1" i="0" lang="en-US" sz="2200" u="none" cap="none" strike="noStrike">
                <a:solidFill>
                  <a:srgbClr val="272525"/>
                </a:solidFill>
                <a:latin typeface="Petrona"/>
                <a:ea typeface="Petrona"/>
                <a:cs typeface="Petrona"/>
                <a:sym typeface="Petrona"/>
              </a:rPr>
              <a:t>4</a:t>
            </a:r>
            <a:endParaRPr b="0" i="0" sz="2200" u="none" cap="none" strike="noStrike">
              <a:latin typeface="Arial"/>
              <a:ea typeface="Arial"/>
              <a:cs typeface="Arial"/>
              <a:sym typeface="Arial"/>
            </a:endParaRPr>
          </a:p>
        </p:txBody>
      </p:sp>
      <p:sp>
        <p:nvSpPr>
          <p:cNvPr id="349" name="Google Shape;349;p58"/>
          <p:cNvSpPr/>
          <p:nvPr/>
        </p:nvSpPr>
        <p:spPr>
          <a:xfrm>
            <a:off x="7509240" y="5360760"/>
            <a:ext cx="108936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Domain</a:t>
            </a:r>
            <a:endParaRPr b="0" i="0" sz="2300" u="none" cap="none" strike="noStrike">
              <a:latin typeface="Arial"/>
              <a:ea typeface="Arial"/>
              <a:cs typeface="Arial"/>
              <a:sym typeface="Arial"/>
            </a:endParaRPr>
          </a:p>
        </p:txBody>
      </p:sp>
      <p:sp>
        <p:nvSpPr>
          <p:cNvPr id="350" name="Google Shape;350;p58"/>
          <p:cNvSpPr/>
          <p:nvPr/>
        </p:nvSpPr>
        <p:spPr>
          <a:xfrm>
            <a:off x="793800" y="6214680"/>
            <a:ext cx="13042080" cy="156240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150" u="none" cap="none" strike="noStrike">
                <a:solidFill>
                  <a:srgbClr val="272525"/>
                </a:solidFill>
                <a:latin typeface="Inter"/>
                <a:ea typeface="Inter"/>
                <a:cs typeface="Inter"/>
                <a:sym typeface="Inter"/>
              </a:rPr>
              <a:t>Ontologies provide a structured representation of knowledge within the search system, defining relationships between different concepts and entities. This hierarchical structure enables more intelligent and context-aware search capabilities.</a:t>
            </a:r>
            <a:endParaRPr b="0" i="0" sz="2150" u="none" cap="none" strike="noStrike">
              <a:latin typeface="Arial"/>
              <a:ea typeface="Arial"/>
              <a:cs typeface="Arial"/>
              <a:sym typeface="Arial"/>
            </a:endParaRPr>
          </a:p>
        </p:txBody>
      </p:sp>
      <p:cxnSp>
        <p:nvCxnSpPr>
          <p:cNvPr id="351" name="Google Shape;351;p58"/>
          <p:cNvCxnSpPr/>
          <p:nvPr/>
        </p:nvCxnSpPr>
        <p:spPr>
          <a:xfrm flipH="1" rot="-5400000">
            <a:off x="7110750" y="3939810"/>
            <a:ext cx="882000" cy="566700"/>
          </a:xfrm>
          <a:prstGeom prst="curvedConnector3">
            <a:avLst>
              <a:gd fmla="val 0" name="adj1"/>
            </a:avLst>
          </a:prstGeom>
          <a:noFill/>
          <a:ln cap="flat" cmpd="sng" w="28425">
            <a:solidFill>
              <a:srgbClr val="FF0000"/>
            </a:solidFill>
            <a:prstDash val="solid"/>
            <a:round/>
            <a:headEnd len="sm" w="sm" type="none"/>
            <a:tailEnd len="med" w="med" type="triangle"/>
          </a:ln>
        </p:spPr>
      </p:cxnSp>
      <p:cxnSp>
        <p:nvCxnSpPr>
          <p:cNvPr id="352" name="Google Shape;352;p58"/>
          <p:cNvCxnSpPr/>
          <p:nvPr/>
        </p:nvCxnSpPr>
        <p:spPr>
          <a:xfrm flipH="1" rot="-5400000">
            <a:off x="7776000" y="4723920"/>
            <a:ext cx="882000" cy="763200"/>
          </a:xfrm>
          <a:prstGeom prst="curvedConnector3">
            <a:avLst>
              <a:gd fmla="val 0" name="adj1"/>
            </a:avLst>
          </a:prstGeom>
          <a:noFill/>
          <a:ln cap="flat" cmpd="sng" w="28425">
            <a:solidFill>
              <a:srgbClr val="FF0000"/>
            </a:solidFill>
            <a:prstDash val="solid"/>
            <a:round/>
            <a:headEnd len="sm" w="sm" type="none"/>
            <a:tailEnd len="med" w="med" type="triangle"/>
          </a:ln>
        </p:spPr>
      </p:cxnSp>
      <p:cxnSp>
        <p:nvCxnSpPr>
          <p:cNvPr id="353" name="Google Shape;353;p58"/>
          <p:cNvCxnSpPr/>
          <p:nvPr/>
        </p:nvCxnSpPr>
        <p:spPr>
          <a:xfrm flipH="1" rot="-5400000">
            <a:off x="6810150" y="3323850"/>
            <a:ext cx="882000" cy="33900"/>
          </a:xfrm>
          <a:prstGeom prst="curvedConnector3">
            <a:avLst>
              <a:gd fmla="val 0" name="adj1"/>
            </a:avLst>
          </a:prstGeom>
          <a:noFill/>
          <a:ln cap="flat" cmpd="sng" w="28425">
            <a:solidFill>
              <a:srgbClr val="FF0000"/>
            </a:solidFill>
            <a:prstDash val="solid"/>
            <a:round/>
            <a:headEnd len="sm" w="sm" type="none"/>
            <a:tailEnd len="med" w="med" type="triangle"/>
          </a:ln>
        </p:spPr>
      </p:cxnSp>
      <p:grpSp>
        <p:nvGrpSpPr>
          <p:cNvPr id="354" name="Google Shape;354;p58"/>
          <p:cNvGrpSpPr/>
          <p:nvPr/>
        </p:nvGrpSpPr>
        <p:grpSpPr>
          <a:xfrm>
            <a:off x="13783680" y="0"/>
            <a:ext cx="846360" cy="968400"/>
            <a:chOff x="13783680" y="0"/>
            <a:chExt cx="846360" cy="968400"/>
          </a:xfrm>
        </p:grpSpPr>
        <p:sp>
          <p:nvSpPr>
            <p:cNvPr id="355" name="Google Shape;355;p58"/>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6" name="Google Shape;356;p58"/>
            <p:cNvGrpSpPr/>
            <p:nvPr/>
          </p:nvGrpSpPr>
          <p:grpSpPr>
            <a:xfrm>
              <a:off x="13838760" y="0"/>
              <a:ext cx="791280" cy="968400"/>
              <a:chOff x="13838760" y="0"/>
              <a:chExt cx="791280" cy="968400"/>
            </a:xfrm>
          </p:grpSpPr>
          <p:pic>
            <p:nvPicPr>
              <p:cNvPr id="357" name="Google Shape;357;p58"/>
              <p:cNvPicPr preferRelativeResize="0"/>
              <p:nvPr/>
            </p:nvPicPr>
            <p:blipFill rotWithShape="1">
              <a:blip r:embed="rId7">
                <a:alphaModFix/>
              </a:blip>
              <a:srcRect b="0" l="20669" r="9844" t="0"/>
              <a:stretch/>
            </p:blipFill>
            <p:spPr>
              <a:xfrm>
                <a:off x="13838760" y="0"/>
                <a:ext cx="756360" cy="756360"/>
              </a:xfrm>
              <a:prstGeom prst="rect">
                <a:avLst/>
              </a:prstGeom>
              <a:noFill/>
              <a:ln>
                <a:noFill/>
              </a:ln>
            </p:spPr>
          </p:pic>
          <p:sp>
            <p:nvSpPr>
              <p:cNvPr id="358" name="Google Shape;358;p58"/>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59"/>
          <p:cNvSpPr/>
          <p:nvPr/>
        </p:nvSpPr>
        <p:spPr>
          <a:xfrm>
            <a:off x="549000" y="822240"/>
            <a:ext cx="744624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Key Components: AI Agents</a:t>
            </a:r>
            <a:endParaRPr b="0" i="0" sz="4650" u="none" cap="none" strike="noStrike">
              <a:latin typeface="Arial"/>
              <a:ea typeface="Arial"/>
              <a:cs typeface="Arial"/>
              <a:sym typeface="Arial"/>
            </a:endParaRPr>
          </a:p>
        </p:txBody>
      </p:sp>
      <p:sp>
        <p:nvSpPr>
          <p:cNvPr id="365" name="Google Shape;365;p59"/>
          <p:cNvSpPr/>
          <p:nvPr/>
        </p:nvSpPr>
        <p:spPr>
          <a:xfrm>
            <a:off x="622800" y="1858680"/>
            <a:ext cx="6705000" cy="3535200"/>
          </a:xfrm>
          <a:prstGeom prst="roundRect">
            <a:avLst>
              <a:gd fmla="val 2694"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59"/>
          <p:cNvSpPr/>
          <p:nvPr/>
        </p:nvSpPr>
        <p:spPr>
          <a:xfrm>
            <a:off x="1014840" y="2158560"/>
            <a:ext cx="5536080" cy="5443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900" u="none" cap="none" strike="noStrike">
                <a:solidFill>
                  <a:srgbClr val="272525"/>
                </a:solidFill>
                <a:latin typeface="Petrona"/>
                <a:ea typeface="Petrona"/>
                <a:cs typeface="Petrona"/>
                <a:sym typeface="Petrona"/>
              </a:rPr>
              <a:t>Prompt Engineering</a:t>
            </a:r>
            <a:endParaRPr b="0" i="0" sz="2900" u="none" cap="none" strike="noStrike">
              <a:latin typeface="Arial"/>
              <a:ea typeface="Arial"/>
              <a:cs typeface="Arial"/>
              <a:sym typeface="Arial"/>
            </a:endParaRPr>
          </a:p>
        </p:txBody>
      </p:sp>
      <p:sp>
        <p:nvSpPr>
          <p:cNvPr id="367" name="Google Shape;367;p59"/>
          <p:cNvSpPr/>
          <p:nvPr/>
        </p:nvSpPr>
        <p:spPr>
          <a:xfrm>
            <a:off x="1014840" y="2903400"/>
            <a:ext cx="5943960" cy="212616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350" u="none" cap="none" strike="noStrike">
                <a:solidFill>
                  <a:srgbClr val="272525"/>
                </a:solidFill>
                <a:latin typeface="Inter"/>
                <a:ea typeface="Inter"/>
                <a:cs typeface="Inter"/>
                <a:sym typeface="Inter"/>
              </a:rPr>
              <a:t>AI agents support the creation and optimization of prompts to improve search accuracy and relevance.</a:t>
            </a:r>
            <a:endParaRPr b="0" i="0" sz="2350" u="none" cap="none" strike="noStrike">
              <a:latin typeface="Arial"/>
              <a:ea typeface="Arial"/>
              <a:cs typeface="Arial"/>
              <a:sym typeface="Arial"/>
            </a:endParaRPr>
          </a:p>
        </p:txBody>
      </p:sp>
      <p:sp>
        <p:nvSpPr>
          <p:cNvPr id="368" name="Google Shape;368;p59"/>
          <p:cNvSpPr/>
          <p:nvPr/>
        </p:nvSpPr>
        <p:spPr>
          <a:xfrm>
            <a:off x="7742520" y="1924200"/>
            <a:ext cx="6093720" cy="3535200"/>
          </a:xfrm>
          <a:prstGeom prst="roundRect">
            <a:avLst>
              <a:gd fmla="val 2694"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59"/>
          <p:cNvSpPr/>
          <p:nvPr/>
        </p:nvSpPr>
        <p:spPr>
          <a:xfrm>
            <a:off x="8065440" y="2158560"/>
            <a:ext cx="5536080" cy="111564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700" u="none" cap="none" strike="noStrike">
                <a:solidFill>
                  <a:srgbClr val="272525"/>
                </a:solidFill>
                <a:latin typeface="Petrona"/>
                <a:ea typeface="Petrona"/>
                <a:cs typeface="Petrona"/>
                <a:sym typeface="Petrona"/>
              </a:rPr>
              <a:t>Dynamic Generation of Federated Graph Queries</a:t>
            </a:r>
            <a:endParaRPr b="0" i="0" sz="2700" u="none" cap="none" strike="noStrike">
              <a:latin typeface="Arial"/>
              <a:ea typeface="Arial"/>
              <a:cs typeface="Arial"/>
              <a:sym typeface="Arial"/>
            </a:endParaRPr>
          </a:p>
        </p:txBody>
      </p:sp>
      <p:sp>
        <p:nvSpPr>
          <p:cNvPr id="370" name="Google Shape;370;p59"/>
          <p:cNvSpPr/>
          <p:nvPr/>
        </p:nvSpPr>
        <p:spPr>
          <a:xfrm>
            <a:off x="8065440" y="3411000"/>
            <a:ext cx="5536080" cy="181368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150" u="none" cap="none" strike="noStrike">
                <a:solidFill>
                  <a:srgbClr val="272525"/>
                </a:solidFill>
                <a:latin typeface="Inter"/>
                <a:ea typeface="Inter"/>
                <a:cs typeface="Inter"/>
                <a:sym typeface="Inter"/>
              </a:rPr>
              <a:t>Agents can generate complex graph queries from natural language prompts, enabling more sophisticated search capabilities.</a:t>
            </a:r>
            <a:endParaRPr b="0" i="0" sz="2150" u="none" cap="none" strike="noStrike">
              <a:latin typeface="Arial"/>
              <a:ea typeface="Arial"/>
              <a:cs typeface="Arial"/>
              <a:sym typeface="Arial"/>
            </a:endParaRPr>
          </a:p>
        </p:txBody>
      </p:sp>
      <p:sp>
        <p:nvSpPr>
          <p:cNvPr id="371" name="Google Shape;371;p59"/>
          <p:cNvSpPr/>
          <p:nvPr/>
        </p:nvSpPr>
        <p:spPr>
          <a:xfrm>
            <a:off x="622800" y="5686920"/>
            <a:ext cx="13212720" cy="1702080"/>
          </a:xfrm>
          <a:prstGeom prst="roundRect">
            <a:avLst>
              <a:gd fmla="val 5595"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59"/>
          <p:cNvSpPr/>
          <p:nvPr/>
        </p:nvSpPr>
        <p:spPr>
          <a:xfrm>
            <a:off x="1014840" y="5921280"/>
            <a:ext cx="10225800" cy="37116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800" u="none" cap="none" strike="noStrike">
                <a:solidFill>
                  <a:srgbClr val="272525"/>
                </a:solidFill>
                <a:latin typeface="Petrona"/>
                <a:ea typeface="Petrona"/>
                <a:cs typeface="Petrona"/>
                <a:sym typeface="Petrona"/>
              </a:rPr>
              <a:t>Dynamic Generation of Relational Queries</a:t>
            </a:r>
            <a:endParaRPr b="0" i="0" sz="2800" u="none" cap="none" strike="noStrike">
              <a:latin typeface="Arial"/>
              <a:ea typeface="Arial"/>
              <a:cs typeface="Arial"/>
              <a:sym typeface="Arial"/>
            </a:endParaRPr>
          </a:p>
        </p:txBody>
      </p:sp>
      <p:sp>
        <p:nvSpPr>
          <p:cNvPr id="373" name="Google Shape;373;p59"/>
          <p:cNvSpPr/>
          <p:nvPr/>
        </p:nvSpPr>
        <p:spPr>
          <a:xfrm>
            <a:off x="1014840" y="6429240"/>
            <a:ext cx="1258668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250" u="none" cap="none" strike="noStrike">
                <a:solidFill>
                  <a:srgbClr val="272525"/>
                </a:solidFill>
                <a:latin typeface="Inter"/>
                <a:ea typeface="Inter"/>
                <a:cs typeface="Inter"/>
                <a:sym typeface="Inter"/>
              </a:rPr>
              <a:t>AI agents translate graph queries into relational queries, bridging the gap between different data structures and search paradigms.</a:t>
            </a:r>
            <a:endParaRPr b="0" i="0" sz="2250" u="none" cap="none" strike="noStrike">
              <a:latin typeface="Arial"/>
              <a:ea typeface="Arial"/>
              <a:cs typeface="Arial"/>
              <a:sym typeface="Arial"/>
            </a:endParaRPr>
          </a:p>
        </p:txBody>
      </p:sp>
      <p:sp>
        <p:nvSpPr>
          <p:cNvPr id="374" name="Google Shape;374;p59"/>
          <p:cNvSpPr/>
          <p:nvPr/>
        </p:nvSpPr>
        <p:spPr>
          <a:xfrm>
            <a:off x="7210080" y="3633480"/>
            <a:ext cx="669960" cy="338760"/>
          </a:xfrm>
          <a:prstGeom prst="rightArrow">
            <a:avLst>
              <a:gd fmla="val 50000" name="adj1"/>
              <a:gd fmla="val 50000" name="adj2"/>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59"/>
          <p:cNvSpPr/>
          <p:nvPr/>
        </p:nvSpPr>
        <p:spPr>
          <a:xfrm rot="5400000">
            <a:off x="10454760" y="5474520"/>
            <a:ext cx="669960" cy="338760"/>
          </a:xfrm>
          <a:prstGeom prst="rightArrow">
            <a:avLst>
              <a:gd fmla="val 50000" name="adj1"/>
              <a:gd fmla="val 50000" name="adj2"/>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9"/>
          <p:cNvSpPr/>
          <p:nvPr/>
        </p:nvSpPr>
        <p:spPr>
          <a:xfrm rot="-5400000">
            <a:off x="3307680" y="5344560"/>
            <a:ext cx="669960" cy="338760"/>
          </a:xfrm>
          <a:prstGeom prst="rightArrow">
            <a:avLst>
              <a:gd fmla="val 50000" name="adj1"/>
              <a:gd fmla="val 50000" name="adj2"/>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59"/>
          <p:cNvSpPr/>
          <p:nvPr/>
        </p:nvSpPr>
        <p:spPr>
          <a:xfrm>
            <a:off x="10081440" y="701280"/>
            <a:ext cx="3754080" cy="864720"/>
          </a:xfrm>
          <a:prstGeom prst="rect">
            <a:avLst/>
          </a:prstGeom>
          <a:solidFill>
            <a:srgbClr val="F4CCCC"/>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600" u="none" cap="none" strike="noStrike">
                <a:solidFill>
                  <a:srgbClr val="000000"/>
                </a:solidFill>
                <a:latin typeface="Arial"/>
                <a:ea typeface="Arial"/>
                <a:cs typeface="Arial"/>
                <a:sym typeface="Arial"/>
              </a:rPr>
              <a:t>Conversations are recursive by nature which requires dynamic learning and knowledge curation</a:t>
            </a:r>
            <a:endParaRPr b="0" i="0" sz="1600" u="none" cap="none" strike="noStrike">
              <a:latin typeface="Arial"/>
              <a:ea typeface="Arial"/>
              <a:cs typeface="Arial"/>
              <a:sym typeface="Arial"/>
            </a:endParaRPr>
          </a:p>
        </p:txBody>
      </p:sp>
      <p:grpSp>
        <p:nvGrpSpPr>
          <p:cNvPr id="378" name="Google Shape;378;p59"/>
          <p:cNvGrpSpPr/>
          <p:nvPr/>
        </p:nvGrpSpPr>
        <p:grpSpPr>
          <a:xfrm>
            <a:off x="13783680" y="0"/>
            <a:ext cx="846360" cy="968400"/>
            <a:chOff x="13783680" y="0"/>
            <a:chExt cx="846360" cy="968400"/>
          </a:xfrm>
        </p:grpSpPr>
        <p:sp>
          <p:nvSpPr>
            <p:cNvPr id="379" name="Google Shape;379;p59"/>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0" name="Google Shape;380;p59"/>
            <p:cNvGrpSpPr/>
            <p:nvPr/>
          </p:nvGrpSpPr>
          <p:grpSpPr>
            <a:xfrm>
              <a:off x="13838760" y="0"/>
              <a:ext cx="791280" cy="968400"/>
              <a:chOff x="13838760" y="0"/>
              <a:chExt cx="791280" cy="968400"/>
            </a:xfrm>
          </p:grpSpPr>
          <p:pic>
            <p:nvPicPr>
              <p:cNvPr id="381" name="Google Shape;381;p59"/>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382" name="Google Shape;382;p59"/>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0"/>
          <p:cNvSpPr/>
          <p:nvPr/>
        </p:nvSpPr>
        <p:spPr>
          <a:xfrm>
            <a:off x="793800" y="751320"/>
            <a:ext cx="96886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Domain-specific Knowledge Graphs</a:t>
            </a:r>
            <a:endParaRPr b="0" i="0" sz="4650" u="none" cap="none" strike="noStrike">
              <a:latin typeface="Arial"/>
              <a:ea typeface="Arial"/>
              <a:cs typeface="Arial"/>
              <a:sym typeface="Arial"/>
            </a:endParaRPr>
          </a:p>
        </p:txBody>
      </p:sp>
      <p:grpSp>
        <p:nvGrpSpPr>
          <p:cNvPr id="389" name="Google Shape;389;p60"/>
          <p:cNvGrpSpPr/>
          <p:nvPr/>
        </p:nvGrpSpPr>
        <p:grpSpPr>
          <a:xfrm>
            <a:off x="793800" y="1957680"/>
            <a:ext cx="13049640" cy="5107320"/>
            <a:chOff x="793800" y="1957680"/>
            <a:chExt cx="13049640" cy="5107320"/>
          </a:xfrm>
        </p:grpSpPr>
        <p:sp>
          <p:nvSpPr>
            <p:cNvPr id="390" name="Google Shape;390;p60"/>
            <p:cNvSpPr/>
            <p:nvPr/>
          </p:nvSpPr>
          <p:spPr>
            <a:xfrm>
              <a:off x="793800" y="1957680"/>
              <a:ext cx="2976480" cy="82980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900" u="none" cap="none" strike="noStrike">
                  <a:solidFill>
                    <a:srgbClr val="000000"/>
                  </a:solidFill>
                  <a:latin typeface="Petrona"/>
                  <a:ea typeface="Petrona"/>
                  <a:cs typeface="Petrona"/>
                  <a:sym typeface="Petrona"/>
                </a:rPr>
                <a:t>Purpose</a:t>
              </a:r>
              <a:endParaRPr b="0" i="0" sz="2900" u="none" cap="none" strike="noStrike">
                <a:latin typeface="Arial"/>
                <a:ea typeface="Arial"/>
                <a:cs typeface="Arial"/>
                <a:sym typeface="Arial"/>
              </a:endParaRPr>
            </a:p>
          </p:txBody>
        </p:sp>
        <p:sp>
          <p:nvSpPr>
            <p:cNvPr id="391" name="Google Shape;391;p60"/>
            <p:cNvSpPr/>
            <p:nvPr/>
          </p:nvSpPr>
          <p:spPr>
            <a:xfrm>
              <a:off x="793800" y="3294360"/>
              <a:ext cx="6243840" cy="32396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2350" u="none" cap="none" strike="noStrike">
                  <a:solidFill>
                    <a:srgbClr val="272525"/>
                  </a:solidFill>
                  <a:latin typeface="Inter"/>
                  <a:ea typeface="Inter"/>
                  <a:cs typeface="Inter"/>
                  <a:sym typeface="Inter"/>
                </a:rPr>
                <a:t>Domain-specific knowledge graphs provide a structured representation of information within a particular field or industry, enhancing the search system's understanding of context and relationships.</a:t>
              </a:r>
              <a:endParaRPr b="0" i="0" sz="2350" u="none" cap="none" strike="noStrike">
                <a:latin typeface="Arial"/>
                <a:ea typeface="Arial"/>
                <a:cs typeface="Arial"/>
                <a:sym typeface="Arial"/>
              </a:endParaRPr>
            </a:p>
          </p:txBody>
        </p:sp>
        <p:sp>
          <p:nvSpPr>
            <p:cNvPr id="392" name="Google Shape;392;p60"/>
            <p:cNvSpPr/>
            <p:nvPr/>
          </p:nvSpPr>
          <p:spPr>
            <a:xfrm>
              <a:off x="7599600" y="1957680"/>
              <a:ext cx="2976480" cy="82980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900" u="none" cap="none" strike="noStrike">
                  <a:solidFill>
                    <a:srgbClr val="000000"/>
                  </a:solidFill>
                  <a:latin typeface="Petrona"/>
                  <a:ea typeface="Petrona"/>
                  <a:cs typeface="Petrona"/>
                  <a:sym typeface="Petrona"/>
                </a:rPr>
                <a:t>Benefits</a:t>
              </a:r>
              <a:endParaRPr b="0" i="0" sz="2900" u="none" cap="none" strike="noStrike">
                <a:latin typeface="Arial"/>
                <a:ea typeface="Arial"/>
                <a:cs typeface="Arial"/>
                <a:sym typeface="Arial"/>
              </a:endParaRPr>
            </a:p>
          </p:txBody>
        </p:sp>
        <p:sp>
          <p:nvSpPr>
            <p:cNvPr id="393" name="Google Shape;393;p60"/>
            <p:cNvSpPr/>
            <p:nvPr/>
          </p:nvSpPr>
          <p:spPr>
            <a:xfrm>
              <a:off x="7599600" y="3294360"/>
              <a:ext cx="6243840" cy="809280"/>
            </a:xfrm>
            <a:prstGeom prst="rect">
              <a:avLst/>
            </a:prstGeom>
            <a:noFill/>
            <a:ln>
              <a:noFill/>
            </a:ln>
          </p:spPr>
          <p:txBody>
            <a:bodyPr anchorCtr="0" anchor="t" bIns="0" lIns="0" spcFirstLastPara="1" rIns="0" wrap="square" tIns="0">
              <a:noAutofit/>
            </a:bodyPr>
            <a:lstStyle/>
            <a:p>
              <a:pPr indent="-342720" lvl="0" marL="343080" marR="0" rtl="0" algn="l">
                <a:lnSpc>
                  <a:spcPct val="162000"/>
                </a:lnSpc>
                <a:spcBef>
                  <a:spcPts val="0"/>
                </a:spcBef>
                <a:spcAft>
                  <a:spcPts val="0"/>
                </a:spcAft>
                <a:buClr>
                  <a:srgbClr val="272525"/>
                </a:buClr>
                <a:buSzPts val="2350"/>
                <a:buFont typeface="Inter"/>
                <a:buChar char="•"/>
              </a:pPr>
              <a:r>
                <a:rPr b="0" i="0" lang="en-US" sz="2350" u="none" cap="none" strike="noStrike">
                  <a:solidFill>
                    <a:srgbClr val="272525"/>
                  </a:solidFill>
                  <a:latin typeface="Inter"/>
                  <a:ea typeface="Inter"/>
                  <a:cs typeface="Inter"/>
                  <a:sym typeface="Inter"/>
                </a:rPr>
                <a:t>Improved search accuracy</a:t>
              </a:r>
              <a:endParaRPr b="0" i="0" sz="2350" u="none" cap="none" strike="noStrike">
                <a:latin typeface="Arial"/>
                <a:ea typeface="Arial"/>
                <a:cs typeface="Arial"/>
                <a:sym typeface="Arial"/>
              </a:endParaRPr>
            </a:p>
          </p:txBody>
        </p:sp>
        <p:sp>
          <p:nvSpPr>
            <p:cNvPr id="394" name="Google Shape;394;p60"/>
            <p:cNvSpPr/>
            <p:nvPr/>
          </p:nvSpPr>
          <p:spPr>
            <a:xfrm>
              <a:off x="7599600" y="4281480"/>
              <a:ext cx="6243840" cy="809280"/>
            </a:xfrm>
            <a:prstGeom prst="rect">
              <a:avLst/>
            </a:prstGeom>
            <a:noFill/>
            <a:ln>
              <a:noFill/>
            </a:ln>
          </p:spPr>
          <p:txBody>
            <a:bodyPr anchorCtr="0" anchor="t" bIns="0" lIns="0" spcFirstLastPara="1" rIns="0" wrap="square" tIns="0">
              <a:noAutofit/>
            </a:bodyPr>
            <a:lstStyle/>
            <a:p>
              <a:pPr indent="-342720" lvl="0" marL="343080" marR="0" rtl="0" algn="l">
                <a:lnSpc>
                  <a:spcPct val="162000"/>
                </a:lnSpc>
                <a:spcBef>
                  <a:spcPts val="0"/>
                </a:spcBef>
                <a:spcAft>
                  <a:spcPts val="0"/>
                </a:spcAft>
                <a:buClr>
                  <a:srgbClr val="272525"/>
                </a:buClr>
                <a:buSzPts val="2350"/>
                <a:buFont typeface="Inter"/>
                <a:buChar char="•"/>
              </a:pPr>
              <a:r>
                <a:rPr b="0" i="0" lang="en-US" sz="2350" u="none" cap="none" strike="noStrike">
                  <a:solidFill>
                    <a:srgbClr val="272525"/>
                  </a:solidFill>
                  <a:latin typeface="Inter"/>
                  <a:ea typeface="Inter"/>
                  <a:cs typeface="Inter"/>
                  <a:sym typeface="Inter"/>
                </a:rPr>
                <a:t>Enhanced context awareness</a:t>
              </a:r>
              <a:endParaRPr b="0" i="0" sz="2350" u="none" cap="none" strike="noStrike">
                <a:latin typeface="Arial"/>
                <a:ea typeface="Arial"/>
                <a:cs typeface="Arial"/>
                <a:sym typeface="Arial"/>
              </a:endParaRPr>
            </a:p>
          </p:txBody>
        </p:sp>
        <p:sp>
          <p:nvSpPr>
            <p:cNvPr id="395" name="Google Shape;395;p60"/>
            <p:cNvSpPr/>
            <p:nvPr/>
          </p:nvSpPr>
          <p:spPr>
            <a:xfrm>
              <a:off x="7599600" y="5268600"/>
              <a:ext cx="6243840" cy="809280"/>
            </a:xfrm>
            <a:prstGeom prst="rect">
              <a:avLst/>
            </a:prstGeom>
            <a:noFill/>
            <a:ln>
              <a:noFill/>
            </a:ln>
          </p:spPr>
          <p:txBody>
            <a:bodyPr anchorCtr="0" anchor="t" bIns="0" lIns="0" spcFirstLastPara="1" rIns="0" wrap="square" tIns="0">
              <a:noAutofit/>
            </a:bodyPr>
            <a:lstStyle/>
            <a:p>
              <a:pPr indent="-342720" lvl="0" marL="343080" marR="0" rtl="0" algn="l">
                <a:lnSpc>
                  <a:spcPct val="162000"/>
                </a:lnSpc>
                <a:spcBef>
                  <a:spcPts val="0"/>
                </a:spcBef>
                <a:spcAft>
                  <a:spcPts val="0"/>
                </a:spcAft>
                <a:buClr>
                  <a:srgbClr val="272525"/>
                </a:buClr>
                <a:buSzPts val="2350"/>
                <a:buFont typeface="Inter"/>
                <a:buChar char="•"/>
              </a:pPr>
              <a:r>
                <a:rPr b="0" i="0" lang="en-US" sz="2350" u="none" cap="none" strike="noStrike">
                  <a:solidFill>
                    <a:srgbClr val="272525"/>
                  </a:solidFill>
                  <a:latin typeface="Inter"/>
                  <a:ea typeface="Inter"/>
                  <a:cs typeface="Inter"/>
                  <a:sym typeface="Inter"/>
                </a:rPr>
                <a:t>Better support for complex queries</a:t>
              </a:r>
              <a:endParaRPr b="0" i="0" sz="2350" u="none" cap="none" strike="noStrike">
                <a:latin typeface="Arial"/>
                <a:ea typeface="Arial"/>
                <a:cs typeface="Arial"/>
                <a:sym typeface="Arial"/>
              </a:endParaRPr>
            </a:p>
          </p:txBody>
        </p:sp>
        <p:sp>
          <p:nvSpPr>
            <p:cNvPr id="396" name="Google Shape;396;p60"/>
            <p:cNvSpPr/>
            <p:nvPr/>
          </p:nvSpPr>
          <p:spPr>
            <a:xfrm>
              <a:off x="7599600" y="6255720"/>
              <a:ext cx="6243840" cy="809280"/>
            </a:xfrm>
            <a:prstGeom prst="rect">
              <a:avLst/>
            </a:prstGeom>
            <a:noFill/>
            <a:ln>
              <a:noFill/>
            </a:ln>
          </p:spPr>
          <p:txBody>
            <a:bodyPr anchorCtr="0" anchor="t" bIns="0" lIns="0" spcFirstLastPara="1" rIns="0" wrap="square" tIns="0">
              <a:noAutofit/>
            </a:bodyPr>
            <a:lstStyle/>
            <a:p>
              <a:pPr indent="-342720" lvl="0" marL="343080" marR="0" rtl="0" algn="l">
                <a:lnSpc>
                  <a:spcPct val="162000"/>
                </a:lnSpc>
                <a:spcBef>
                  <a:spcPts val="0"/>
                </a:spcBef>
                <a:spcAft>
                  <a:spcPts val="0"/>
                </a:spcAft>
                <a:buClr>
                  <a:srgbClr val="272525"/>
                </a:buClr>
                <a:buSzPts val="2350"/>
                <a:buFont typeface="Inter"/>
                <a:buChar char="•"/>
              </a:pPr>
              <a:r>
                <a:rPr b="0" i="0" lang="en-US" sz="2350" u="none" cap="none" strike="noStrike">
                  <a:solidFill>
                    <a:srgbClr val="272525"/>
                  </a:solidFill>
                  <a:latin typeface="Inter"/>
                  <a:ea typeface="Inter"/>
                  <a:cs typeface="Inter"/>
                  <a:sym typeface="Inter"/>
                </a:rPr>
                <a:t>Facilitation of knowledge discovery</a:t>
              </a:r>
              <a:endParaRPr b="0" i="0" sz="2350" u="none" cap="none" strike="noStrike">
                <a:latin typeface="Arial"/>
                <a:ea typeface="Arial"/>
                <a:cs typeface="Arial"/>
                <a:sym typeface="Arial"/>
              </a:endParaRPr>
            </a:p>
          </p:txBody>
        </p:sp>
      </p:grpSp>
      <p:grpSp>
        <p:nvGrpSpPr>
          <p:cNvPr id="397" name="Google Shape;397;p60"/>
          <p:cNvGrpSpPr/>
          <p:nvPr/>
        </p:nvGrpSpPr>
        <p:grpSpPr>
          <a:xfrm>
            <a:off x="13783680" y="0"/>
            <a:ext cx="846360" cy="968400"/>
            <a:chOff x="13783680" y="0"/>
            <a:chExt cx="846360" cy="968400"/>
          </a:xfrm>
        </p:grpSpPr>
        <p:sp>
          <p:nvSpPr>
            <p:cNvPr id="398" name="Google Shape;398;p60"/>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9" name="Google Shape;399;p60"/>
            <p:cNvGrpSpPr/>
            <p:nvPr/>
          </p:nvGrpSpPr>
          <p:grpSpPr>
            <a:xfrm>
              <a:off x="13838760" y="0"/>
              <a:ext cx="791280" cy="968400"/>
              <a:chOff x="13838760" y="0"/>
              <a:chExt cx="791280" cy="968400"/>
            </a:xfrm>
          </p:grpSpPr>
          <p:pic>
            <p:nvPicPr>
              <p:cNvPr id="400" name="Google Shape;400;p60"/>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401" name="Google Shape;401;p60"/>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pic>
        <p:nvPicPr>
          <p:cNvPr id="407" name="Google Shape;407;p61"/>
          <p:cNvPicPr preferRelativeResize="0"/>
          <p:nvPr/>
        </p:nvPicPr>
        <p:blipFill rotWithShape="1">
          <a:blip r:embed="rId3">
            <a:alphaModFix/>
          </a:blip>
          <a:srcRect b="0" l="0" r="0" t="0"/>
          <a:stretch/>
        </p:blipFill>
        <p:spPr>
          <a:xfrm>
            <a:off x="0" y="0"/>
            <a:ext cx="5485680" cy="8228880"/>
          </a:xfrm>
          <a:prstGeom prst="rect">
            <a:avLst/>
          </a:prstGeom>
          <a:noFill/>
          <a:ln>
            <a:noFill/>
          </a:ln>
        </p:spPr>
      </p:pic>
      <p:sp>
        <p:nvSpPr>
          <p:cNvPr id="408" name="Google Shape;408;p61"/>
          <p:cNvSpPr/>
          <p:nvPr/>
        </p:nvSpPr>
        <p:spPr>
          <a:xfrm>
            <a:off x="6280200" y="850680"/>
            <a:ext cx="5953320" cy="743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Service Mapping</a:t>
            </a:r>
            <a:endParaRPr b="0" i="0" sz="4650" u="none" cap="none" strike="noStrike">
              <a:latin typeface="Arial"/>
              <a:ea typeface="Arial"/>
              <a:cs typeface="Arial"/>
              <a:sym typeface="Arial"/>
            </a:endParaRPr>
          </a:p>
        </p:txBody>
      </p:sp>
      <p:pic>
        <p:nvPicPr>
          <p:cNvPr id="409" name="Google Shape;409;p61"/>
          <p:cNvPicPr preferRelativeResize="0"/>
          <p:nvPr/>
        </p:nvPicPr>
        <p:blipFill rotWithShape="1">
          <a:blip r:embed="rId4">
            <a:alphaModFix/>
          </a:blip>
          <a:srcRect b="0" l="0" r="0" t="0"/>
          <a:stretch/>
        </p:blipFill>
        <p:spPr>
          <a:xfrm>
            <a:off x="6280200" y="1935360"/>
            <a:ext cx="1133280" cy="1813680"/>
          </a:xfrm>
          <a:prstGeom prst="rect">
            <a:avLst/>
          </a:prstGeom>
          <a:noFill/>
          <a:ln>
            <a:noFill/>
          </a:ln>
        </p:spPr>
      </p:pic>
      <p:sp>
        <p:nvSpPr>
          <p:cNvPr id="410" name="Google Shape;410;p61"/>
          <p:cNvSpPr/>
          <p:nvPr/>
        </p:nvSpPr>
        <p:spPr>
          <a:xfrm>
            <a:off x="7754400" y="216216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Service Definition</a:t>
            </a:r>
            <a:endParaRPr b="0" i="0" sz="2300" u="none" cap="none" strike="noStrike">
              <a:latin typeface="Arial"/>
              <a:ea typeface="Arial"/>
              <a:cs typeface="Arial"/>
              <a:sym typeface="Arial"/>
            </a:endParaRPr>
          </a:p>
        </p:txBody>
      </p:sp>
      <p:sp>
        <p:nvSpPr>
          <p:cNvPr id="411" name="Google Shape;411;p61"/>
          <p:cNvSpPr/>
          <p:nvPr/>
        </p:nvSpPr>
        <p:spPr>
          <a:xfrm>
            <a:off x="7754400" y="2670120"/>
            <a:ext cx="608148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Define the service within the context of Technical, Operational, or Business categories.</a:t>
            </a:r>
            <a:endParaRPr b="0" i="0" sz="1750" u="none" cap="none" strike="noStrike">
              <a:latin typeface="Arial"/>
              <a:ea typeface="Arial"/>
              <a:cs typeface="Arial"/>
              <a:sym typeface="Arial"/>
            </a:endParaRPr>
          </a:p>
        </p:txBody>
      </p:sp>
      <p:pic>
        <p:nvPicPr>
          <p:cNvPr id="412" name="Google Shape;412;p61"/>
          <p:cNvPicPr preferRelativeResize="0"/>
          <p:nvPr/>
        </p:nvPicPr>
        <p:blipFill rotWithShape="1">
          <a:blip r:embed="rId5">
            <a:alphaModFix/>
          </a:blip>
          <a:srcRect b="0" l="0" r="0" t="0"/>
          <a:stretch/>
        </p:blipFill>
        <p:spPr>
          <a:xfrm>
            <a:off x="6280200" y="3749760"/>
            <a:ext cx="1133280" cy="1813680"/>
          </a:xfrm>
          <a:prstGeom prst="rect">
            <a:avLst/>
          </a:prstGeom>
          <a:noFill/>
          <a:ln>
            <a:noFill/>
          </a:ln>
        </p:spPr>
      </p:pic>
      <p:sp>
        <p:nvSpPr>
          <p:cNvPr id="413" name="Google Shape;413;p61"/>
          <p:cNvSpPr/>
          <p:nvPr/>
        </p:nvSpPr>
        <p:spPr>
          <a:xfrm>
            <a:off x="7754400" y="397656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Project Mapping</a:t>
            </a:r>
            <a:endParaRPr b="0" i="0" sz="2300" u="none" cap="none" strike="noStrike">
              <a:latin typeface="Arial"/>
              <a:ea typeface="Arial"/>
              <a:cs typeface="Arial"/>
              <a:sym typeface="Arial"/>
            </a:endParaRPr>
          </a:p>
        </p:txBody>
      </p:sp>
      <p:sp>
        <p:nvSpPr>
          <p:cNvPr id="414" name="Google Shape;414;p61"/>
          <p:cNvSpPr/>
          <p:nvPr/>
        </p:nvSpPr>
        <p:spPr>
          <a:xfrm>
            <a:off x="7754400" y="4484880"/>
            <a:ext cx="608148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Map the service to a project that is currently being built or developed.</a:t>
            </a:r>
            <a:endParaRPr b="0" i="0" sz="1750" u="none" cap="none" strike="noStrike">
              <a:latin typeface="Arial"/>
              <a:ea typeface="Arial"/>
              <a:cs typeface="Arial"/>
              <a:sym typeface="Arial"/>
            </a:endParaRPr>
          </a:p>
        </p:txBody>
      </p:sp>
      <p:pic>
        <p:nvPicPr>
          <p:cNvPr id="415" name="Google Shape;415;p61"/>
          <p:cNvPicPr preferRelativeResize="0"/>
          <p:nvPr/>
        </p:nvPicPr>
        <p:blipFill rotWithShape="1">
          <a:blip r:embed="rId6">
            <a:alphaModFix/>
          </a:blip>
          <a:srcRect b="0" l="0" r="0" t="0"/>
          <a:stretch/>
        </p:blipFill>
        <p:spPr>
          <a:xfrm>
            <a:off x="6280200" y="5564160"/>
            <a:ext cx="1133280" cy="1813680"/>
          </a:xfrm>
          <a:prstGeom prst="rect">
            <a:avLst/>
          </a:prstGeom>
          <a:noFill/>
          <a:ln>
            <a:noFill/>
          </a:ln>
        </p:spPr>
      </p:pic>
      <p:sp>
        <p:nvSpPr>
          <p:cNvPr id="416" name="Google Shape;416;p61"/>
          <p:cNvSpPr/>
          <p:nvPr/>
        </p:nvSpPr>
        <p:spPr>
          <a:xfrm>
            <a:off x="7754400" y="579096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Service Delivery</a:t>
            </a:r>
            <a:endParaRPr b="0" i="0" sz="2300" u="none" cap="none" strike="noStrike">
              <a:latin typeface="Arial"/>
              <a:ea typeface="Arial"/>
              <a:cs typeface="Arial"/>
              <a:sym typeface="Arial"/>
            </a:endParaRPr>
          </a:p>
        </p:txBody>
      </p:sp>
      <p:sp>
        <p:nvSpPr>
          <p:cNvPr id="417" name="Google Shape;417;p61"/>
          <p:cNvSpPr/>
          <p:nvPr/>
        </p:nvSpPr>
        <p:spPr>
          <a:xfrm>
            <a:off x="7754400" y="6299280"/>
            <a:ext cx="608148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Map the service to an existing service that is being delivered to users or customers.</a:t>
            </a:r>
            <a:endParaRPr b="0" i="0" sz="1750" u="none" cap="none" strike="noStrike">
              <a:latin typeface="Arial"/>
              <a:ea typeface="Arial"/>
              <a:cs typeface="Arial"/>
              <a:sym typeface="Arial"/>
            </a:endParaRPr>
          </a:p>
        </p:txBody>
      </p:sp>
      <p:grpSp>
        <p:nvGrpSpPr>
          <p:cNvPr id="418" name="Google Shape;418;p61"/>
          <p:cNvGrpSpPr/>
          <p:nvPr/>
        </p:nvGrpSpPr>
        <p:grpSpPr>
          <a:xfrm>
            <a:off x="13783680" y="0"/>
            <a:ext cx="846360" cy="968400"/>
            <a:chOff x="13783680" y="0"/>
            <a:chExt cx="846360" cy="968400"/>
          </a:xfrm>
        </p:grpSpPr>
        <p:sp>
          <p:nvSpPr>
            <p:cNvPr id="419" name="Google Shape;419;p61"/>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0" name="Google Shape;420;p61"/>
            <p:cNvGrpSpPr/>
            <p:nvPr/>
          </p:nvGrpSpPr>
          <p:grpSpPr>
            <a:xfrm>
              <a:off x="13838760" y="0"/>
              <a:ext cx="791280" cy="968400"/>
              <a:chOff x="13838760" y="0"/>
              <a:chExt cx="791280" cy="968400"/>
            </a:xfrm>
          </p:grpSpPr>
          <p:pic>
            <p:nvPicPr>
              <p:cNvPr id="421" name="Google Shape;421;p61"/>
              <p:cNvPicPr preferRelativeResize="0"/>
              <p:nvPr/>
            </p:nvPicPr>
            <p:blipFill rotWithShape="1">
              <a:blip r:embed="rId7">
                <a:alphaModFix/>
              </a:blip>
              <a:srcRect b="0" l="20669" r="9844" t="0"/>
              <a:stretch/>
            </p:blipFill>
            <p:spPr>
              <a:xfrm>
                <a:off x="13838760" y="0"/>
                <a:ext cx="756360" cy="756360"/>
              </a:xfrm>
              <a:prstGeom prst="rect">
                <a:avLst/>
              </a:prstGeom>
              <a:noFill/>
              <a:ln>
                <a:noFill/>
              </a:ln>
            </p:spPr>
          </p:pic>
          <p:sp>
            <p:nvSpPr>
              <p:cNvPr id="422" name="Google Shape;422;p61"/>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pic>
        <p:nvPicPr>
          <p:cNvPr id="428" name="Google Shape;428;p62"/>
          <p:cNvPicPr preferRelativeResize="0"/>
          <p:nvPr/>
        </p:nvPicPr>
        <p:blipFill rotWithShape="1">
          <a:blip r:embed="rId3">
            <a:alphaModFix/>
          </a:blip>
          <a:srcRect b="0" l="0" r="0" t="0"/>
          <a:stretch/>
        </p:blipFill>
        <p:spPr>
          <a:xfrm>
            <a:off x="10972800" y="0"/>
            <a:ext cx="3656880" cy="8228880"/>
          </a:xfrm>
          <a:prstGeom prst="rect">
            <a:avLst/>
          </a:prstGeom>
          <a:noFill/>
          <a:ln>
            <a:noFill/>
          </a:ln>
        </p:spPr>
      </p:pic>
      <p:sp>
        <p:nvSpPr>
          <p:cNvPr id="429" name="Google Shape;429;p62"/>
          <p:cNvSpPr/>
          <p:nvPr/>
        </p:nvSpPr>
        <p:spPr>
          <a:xfrm>
            <a:off x="793800" y="1023120"/>
            <a:ext cx="7360920" cy="743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Search Context Integration</a:t>
            </a:r>
            <a:endParaRPr b="0" i="0" sz="4650" u="none" cap="none" strike="noStrike">
              <a:latin typeface="Arial"/>
              <a:ea typeface="Arial"/>
              <a:cs typeface="Arial"/>
              <a:sym typeface="Arial"/>
            </a:endParaRPr>
          </a:p>
        </p:txBody>
      </p:sp>
      <p:pic>
        <p:nvPicPr>
          <p:cNvPr id="430" name="Google Shape;430;p62"/>
          <p:cNvPicPr preferRelativeResize="0"/>
          <p:nvPr/>
        </p:nvPicPr>
        <p:blipFill rotWithShape="1">
          <a:blip r:embed="rId4">
            <a:alphaModFix/>
          </a:blip>
          <a:srcRect b="0" l="0" r="0" t="0"/>
          <a:stretch/>
        </p:blipFill>
        <p:spPr>
          <a:xfrm>
            <a:off x="793800" y="2107440"/>
            <a:ext cx="566280" cy="566280"/>
          </a:xfrm>
          <a:prstGeom prst="rect">
            <a:avLst/>
          </a:prstGeom>
          <a:noFill/>
          <a:ln>
            <a:noFill/>
          </a:ln>
        </p:spPr>
      </p:pic>
      <p:sp>
        <p:nvSpPr>
          <p:cNvPr id="431" name="Google Shape;431;p62"/>
          <p:cNvSpPr/>
          <p:nvPr/>
        </p:nvSpPr>
        <p:spPr>
          <a:xfrm>
            <a:off x="793800" y="290124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User Context</a:t>
            </a:r>
            <a:endParaRPr b="0" i="0" sz="2300" u="none" cap="none" strike="noStrike">
              <a:latin typeface="Arial"/>
              <a:ea typeface="Arial"/>
              <a:cs typeface="Arial"/>
              <a:sym typeface="Arial"/>
            </a:endParaRPr>
          </a:p>
        </p:txBody>
      </p:sp>
      <p:sp>
        <p:nvSpPr>
          <p:cNvPr id="432" name="Google Shape;432;p62"/>
          <p:cNvSpPr/>
          <p:nvPr/>
        </p:nvSpPr>
        <p:spPr>
          <a:xfrm>
            <a:off x="793800" y="3409560"/>
            <a:ext cx="4521600" cy="108792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Incorporates user-specific information such as preferences, history, and behavior.</a:t>
            </a:r>
            <a:endParaRPr b="0" i="0" sz="1750" u="none" cap="none" strike="noStrike">
              <a:latin typeface="Arial"/>
              <a:ea typeface="Arial"/>
              <a:cs typeface="Arial"/>
              <a:sym typeface="Arial"/>
            </a:endParaRPr>
          </a:p>
        </p:txBody>
      </p:sp>
      <p:pic>
        <p:nvPicPr>
          <p:cNvPr id="433" name="Google Shape;433;p62"/>
          <p:cNvPicPr preferRelativeResize="0"/>
          <p:nvPr/>
        </p:nvPicPr>
        <p:blipFill rotWithShape="1">
          <a:blip r:embed="rId5">
            <a:alphaModFix/>
          </a:blip>
          <a:srcRect b="0" l="0" r="0" t="0"/>
          <a:stretch/>
        </p:blipFill>
        <p:spPr>
          <a:xfrm>
            <a:off x="5656320" y="2107440"/>
            <a:ext cx="566280" cy="566280"/>
          </a:xfrm>
          <a:prstGeom prst="rect">
            <a:avLst/>
          </a:prstGeom>
          <a:noFill/>
          <a:ln>
            <a:noFill/>
          </a:ln>
        </p:spPr>
      </p:pic>
      <p:sp>
        <p:nvSpPr>
          <p:cNvPr id="434" name="Google Shape;434;p62"/>
          <p:cNvSpPr/>
          <p:nvPr/>
        </p:nvSpPr>
        <p:spPr>
          <a:xfrm>
            <a:off x="5656320" y="2901240"/>
            <a:ext cx="317052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Organizational Context</a:t>
            </a:r>
            <a:endParaRPr b="0" i="0" sz="2300" u="none" cap="none" strike="noStrike">
              <a:latin typeface="Arial"/>
              <a:ea typeface="Arial"/>
              <a:cs typeface="Arial"/>
              <a:sym typeface="Arial"/>
            </a:endParaRPr>
          </a:p>
        </p:txBody>
      </p:sp>
      <p:sp>
        <p:nvSpPr>
          <p:cNvPr id="435" name="Google Shape;435;p62"/>
          <p:cNvSpPr/>
          <p:nvPr/>
        </p:nvSpPr>
        <p:spPr>
          <a:xfrm>
            <a:off x="5656320" y="3409560"/>
            <a:ext cx="4521960" cy="108792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Considers the user's role within their organization and relevant business processes.</a:t>
            </a:r>
            <a:endParaRPr b="0" i="0" sz="1750" u="none" cap="none" strike="noStrike">
              <a:latin typeface="Arial"/>
              <a:ea typeface="Arial"/>
              <a:cs typeface="Arial"/>
              <a:sym typeface="Arial"/>
            </a:endParaRPr>
          </a:p>
        </p:txBody>
      </p:sp>
      <p:pic>
        <p:nvPicPr>
          <p:cNvPr id="436" name="Google Shape;436;p62"/>
          <p:cNvPicPr preferRelativeResize="0"/>
          <p:nvPr/>
        </p:nvPicPr>
        <p:blipFill rotWithShape="1">
          <a:blip r:embed="rId6">
            <a:alphaModFix/>
          </a:blip>
          <a:srcRect b="0" l="0" r="0" t="0"/>
          <a:stretch/>
        </p:blipFill>
        <p:spPr>
          <a:xfrm>
            <a:off x="793800" y="5178600"/>
            <a:ext cx="566280" cy="566280"/>
          </a:xfrm>
          <a:prstGeom prst="rect">
            <a:avLst/>
          </a:prstGeom>
          <a:noFill/>
          <a:ln>
            <a:noFill/>
          </a:ln>
        </p:spPr>
      </p:pic>
      <p:sp>
        <p:nvSpPr>
          <p:cNvPr id="437" name="Google Shape;437;p62"/>
          <p:cNvSpPr/>
          <p:nvPr/>
        </p:nvSpPr>
        <p:spPr>
          <a:xfrm>
            <a:off x="793800" y="5972400"/>
            <a:ext cx="302940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Goal-oriented Context</a:t>
            </a:r>
            <a:endParaRPr b="0" i="0" sz="2300" u="none" cap="none" strike="noStrike">
              <a:latin typeface="Arial"/>
              <a:ea typeface="Arial"/>
              <a:cs typeface="Arial"/>
              <a:sym typeface="Arial"/>
            </a:endParaRPr>
          </a:p>
        </p:txBody>
      </p:sp>
      <p:sp>
        <p:nvSpPr>
          <p:cNvPr id="438" name="Google Shape;438;p62"/>
          <p:cNvSpPr/>
          <p:nvPr/>
        </p:nvSpPr>
        <p:spPr>
          <a:xfrm>
            <a:off x="793800" y="6480720"/>
            <a:ext cx="452160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Aligns search results with the user's specific goals and objectives.</a:t>
            </a:r>
            <a:endParaRPr b="0" i="0" sz="1750" u="none" cap="none" strike="noStrike">
              <a:latin typeface="Arial"/>
              <a:ea typeface="Arial"/>
              <a:cs typeface="Arial"/>
              <a:sym typeface="Arial"/>
            </a:endParaRPr>
          </a:p>
        </p:txBody>
      </p:sp>
      <p:pic>
        <p:nvPicPr>
          <p:cNvPr id="439" name="Google Shape;439;p62"/>
          <p:cNvPicPr preferRelativeResize="0"/>
          <p:nvPr/>
        </p:nvPicPr>
        <p:blipFill rotWithShape="1">
          <a:blip r:embed="rId7">
            <a:alphaModFix/>
          </a:blip>
          <a:srcRect b="0" l="0" r="0" t="0"/>
          <a:stretch/>
        </p:blipFill>
        <p:spPr>
          <a:xfrm>
            <a:off x="5656320" y="5178600"/>
            <a:ext cx="566280" cy="566280"/>
          </a:xfrm>
          <a:prstGeom prst="rect">
            <a:avLst/>
          </a:prstGeom>
          <a:noFill/>
          <a:ln>
            <a:noFill/>
          </a:ln>
        </p:spPr>
      </p:pic>
      <p:sp>
        <p:nvSpPr>
          <p:cNvPr id="440" name="Google Shape;440;p62"/>
          <p:cNvSpPr/>
          <p:nvPr/>
        </p:nvSpPr>
        <p:spPr>
          <a:xfrm>
            <a:off x="5656320" y="5972400"/>
            <a:ext cx="319500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300" u="none" cap="none" strike="noStrike">
                <a:solidFill>
                  <a:srgbClr val="272525"/>
                </a:solidFill>
                <a:latin typeface="Petrona"/>
                <a:ea typeface="Petrona"/>
                <a:cs typeface="Petrona"/>
                <a:sym typeface="Petrona"/>
              </a:rPr>
              <a:t>Environmental Context</a:t>
            </a:r>
            <a:endParaRPr b="0" i="0" sz="2300" u="none" cap="none" strike="noStrike">
              <a:latin typeface="Arial"/>
              <a:ea typeface="Arial"/>
              <a:cs typeface="Arial"/>
              <a:sym typeface="Arial"/>
            </a:endParaRPr>
          </a:p>
        </p:txBody>
      </p:sp>
      <p:sp>
        <p:nvSpPr>
          <p:cNvPr id="441" name="Google Shape;441;p62"/>
          <p:cNvSpPr/>
          <p:nvPr/>
        </p:nvSpPr>
        <p:spPr>
          <a:xfrm>
            <a:off x="5656320" y="6480720"/>
            <a:ext cx="4521960" cy="725040"/>
          </a:xfrm>
          <a:prstGeom prst="rect">
            <a:avLst/>
          </a:prstGeom>
          <a:noFill/>
          <a:ln>
            <a:noFill/>
          </a:ln>
        </p:spPr>
        <p:txBody>
          <a:bodyPr anchorCtr="0" anchor="t" bIns="0" lIns="0" spcFirstLastPara="1" rIns="0" wrap="square" tIns="0">
            <a:noAutofit/>
          </a:bodyPr>
          <a:lstStyle/>
          <a:p>
            <a:pPr indent="0" lvl="0" marL="0" marR="0" rtl="0" algn="l">
              <a:lnSpc>
                <a:spcPct val="162000"/>
              </a:lnSpc>
              <a:spcBef>
                <a:spcPts val="0"/>
              </a:spcBef>
              <a:spcAft>
                <a:spcPts val="0"/>
              </a:spcAft>
              <a:buNone/>
            </a:pPr>
            <a:r>
              <a:rPr b="0" i="0" lang="en-US" sz="1750" u="none" cap="none" strike="noStrike">
                <a:solidFill>
                  <a:srgbClr val="272525"/>
                </a:solidFill>
                <a:latin typeface="Inter"/>
                <a:ea typeface="Inter"/>
                <a:cs typeface="Inter"/>
                <a:sym typeface="Inter"/>
              </a:rPr>
              <a:t>Takes into account external factors such as location, time, and industry trends.</a:t>
            </a:r>
            <a:endParaRPr b="0" i="0" sz="1750" u="none" cap="none" strike="noStrike">
              <a:latin typeface="Arial"/>
              <a:ea typeface="Arial"/>
              <a:cs typeface="Arial"/>
              <a:sym typeface="Arial"/>
            </a:endParaRPr>
          </a:p>
        </p:txBody>
      </p:sp>
      <p:sp>
        <p:nvSpPr>
          <p:cNvPr id="442" name="Google Shape;442;p62"/>
          <p:cNvSpPr/>
          <p:nvPr/>
        </p:nvSpPr>
        <p:spPr>
          <a:xfrm>
            <a:off x="3506400" y="1779840"/>
            <a:ext cx="10251360" cy="39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3" name="Google Shape;443;p62"/>
          <p:cNvGrpSpPr/>
          <p:nvPr/>
        </p:nvGrpSpPr>
        <p:grpSpPr>
          <a:xfrm>
            <a:off x="13783680" y="0"/>
            <a:ext cx="846360" cy="968400"/>
            <a:chOff x="13783680" y="0"/>
            <a:chExt cx="846360" cy="968400"/>
          </a:xfrm>
        </p:grpSpPr>
        <p:sp>
          <p:nvSpPr>
            <p:cNvPr id="444" name="Google Shape;444;p62"/>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45" name="Google Shape;445;p62"/>
            <p:cNvGrpSpPr/>
            <p:nvPr/>
          </p:nvGrpSpPr>
          <p:grpSpPr>
            <a:xfrm>
              <a:off x="13838760" y="0"/>
              <a:ext cx="791280" cy="968400"/>
              <a:chOff x="13838760" y="0"/>
              <a:chExt cx="791280" cy="968400"/>
            </a:xfrm>
          </p:grpSpPr>
          <p:pic>
            <p:nvPicPr>
              <p:cNvPr id="446" name="Google Shape;446;p62"/>
              <p:cNvPicPr preferRelativeResize="0"/>
              <p:nvPr/>
            </p:nvPicPr>
            <p:blipFill rotWithShape="1">
              <a:blip r:embed="rId8">
                <a:alphaModFix/>
              </a:blip>
              <a:srcRect b="0" l="20669" r="9844" t="0"/>
              <a:stretch/>
            </p:blipFill>
            <p:spPr>
              <a:xfrm>
                <a:off x="13838760" y="0"/>
                <a:ext cx="756360" cy="756360"/>
              </a:xfrm>
              <a:prstGeom prst="rect">
                <a:avLst/>
              </a:prstGeom>
              <a:noFill/>
              <a:ln>
                <a:noFill/>
              </a:ln>
            </p:spPr>
          </p:pic>
          <p:sp>
            <p:nvSpPr>
              <p:cNvPr id="447" name="Google Shape;447;p62"/>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63"/>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System Architecture Overview</a:t>
            </a:r>
            <a:endParaRPr b="0" i="0" sz="4450" u="none" cap="none" strike="noStrike">
              <a:latin typeface="Arial"/>
              <a:ea typeface="Arial"/>
              <a:cs typeface="Arial"/>
              <a:sym typeface="Arial"/>
            </a:endParaRPr>
          </a:p>
        </p:txBody>
      </p:sp>
      <p:sp>
        <p:nvSpPr>
          <p:cNvPr id="454" name="Google Shape;454;p63"/>
          <p:cNvSpPr/>
          <p:nvPr/>
        </p:nvSpPr>
        <p:spPr>
          <a:xfrm>
            <a:off x="758520" y="5788800"/>
            <a:ext cx="2844720" cy="35496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Core Components</a:t>
            </a:r>
            <a:endParaRPr b="0" i="0" sz="2200" u="none" cap="none" strike="noStrike">
              <a:latin typeface="Arial"/>
              <a:ea typeface="Arial"/>
              <a:cs typeface="Arial"/>
              <a:sym typeface="Arial"/>
            </a:endParaRPr>
          </a:p>
        </p:txBody>
      </p:sp>
      <p:sp>
        <p:nvSpPr>
          <p:cNvPr id="455" name="Google Shape;455;p63"/>
          <p:cNvSpPr/>
          <p:nvPr/>
        </p:nvSpPr>
        <p:spPr>
          <a:xfrm>
            <a:off x="758520" y="6274440"/>
            <a:ext cx="6393240" cy="1386720"/>
          </a:xfrm>
          <a:prstGeom prst="rect">
            <a:avLst/>
          </a:prstGeom>
          <a:noFill/>
          <a:ln>
            <a:noFill/>
          </a:ln>
        </p:spPr>
        <p:txBody>
          <a:bodyPr anchorCtr="0" anchor="t" bIns="0" lIns="0" spcFirstLastPara="1" rIns="0" wrap="square" tIns="0">
            <a:noAutofit/>
          </a:bodyPr>
          <a:lstStyle/>
          <a:p>
            <a:pPr indent="0" lvl="0" marL="0" marR="0" rtl="0" algn="l">
              <a:lnSpc>
                <a:spcPct val="158000"/>
              </a:lnSpc>
              <a:spcBef>
                <a:spcPts val="0"/>
              </a:spcBef>
              <a:spcAft>
                <a:spcPts val="0"/>
              </a:spcAft>
              <a:buNone/>
            </a:pPr>
            <a:r>
              <a:rPr b="0" i="0" lang="en-US" sz="1700" u="none" cap="none" strike="noStrike">
                <a:solidFill>
                  <a:srgbClr val="272525"/>
                </a:solidFill>
                <a:latin typeface="Inter"/>
                <a:ea typeface="Inter"/>
                <a:cs typeface="Inter"/>
                <a:sym typeface="Inter"/>
              </a:rPr>
              <a:t>The system architecture integrates various components including search engines, AI agents, knowledge graphs, and user interfaces to provide a comprehensive Search as a Service solution.</a:t>
            </a:r>
            <a:endParaRPr b="0" i="0" sz="1700" u="none" cap="none" strike="noStrike">
              <a:latin typeface="Arial"/>
              <a:ea typeface="Arial"/>
              <a:cs typeface="Arial"/>
              <a:sym typeface="Arial"/>
            </a:endParaRPr>
          </a:p>
        </p:txBody>
      </p:sp>
      <p:sp>
        <p:nvSpPr>
          <p:cNvPr id="456" name="Google Shape;456;p63"/>
          <p:cNvSpPr/>
          <p:nvPr/>
        </p:nvSpPr>
        <p:spPr>
          <a:xfrm>
            <a:off x="7477560" y="5788800"/>
            <a:ext cx="2844720" cy="35496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Data Flow</a:t>
            </a:r>
            <a:endParaRPr b="0" i="0" sz="2200" u="none" cap="none" strike="noStrike">
              <a:latin typeface="Arial"/>
              <a:ea typeface="Arial"/>
              <a:cs typeface="Arial"/>
              <a:sym typeface="Arial"/>
            </a:endParaRPr>
          </a:p>
        </p:txBody>
      </p:sp>
      <p:sp>
        <p:nvSpPr>
          <p:cNvPr id="457" name="Google Shape;457;p63"/>
          <p:cNvSpPr/>
          <p:nvPr/>
        </p:nvSpPr>
        <p:spPr>
          <a:xfrm>
            <a:off x="7477560" y="6274440"/>
            <a:ext cx="6393240" cy="1039680"/>
          </a:xfrm>
          <a:prstGeom prst="rect">
            <a:avLst/>
          </a:prstGeom>
          <a:noFill/>
          <a:ln>
            <a:noFill/>
          </a:ln>
        </p:spPr>
        <p:txBody>
          <a:bodyPr anchorCtr="0" anchor="t" bIns="0" lIns="0" spcFirstLastPara="1" rIns="0" wrap="square" tIns="0">
            <a:noAutofit/>
          </a:bodyPr>
          <a:lstStyle/>
          <a:p>
            <a:pPr indent="0" lvl="0" marL="0" marR="0" rtl="0" algn="l">
              <a:lnSpc>
                <a:spcPct val="158000"/>
              </a:lnSpc>
              <a:spcBef>
                <a:spcPts val="0"/>
              </a:spcBef>
              <a:spcAft>
                <a:spcPts val="0"/>
              </a:spcAft>
              <a:buNone/>
            </a:pPr>
            <a:r>
              <a:rPr b="0" i="0" lang="en-US" sz="1700" u="none" cap="none" strike="noStrike">
                <a:solidFill>
                  <a:srgbClr val="272525"/>
                </a:solidFill>
                <a:latin typeface="Inter"/>
                <a:ea typeface="Inter"/>
                <a:cs typeface="Inter"/>
                <a:sym typeface="Inter"/>
              </a:rPr>
              <a:t>The architecture ensures efficient data flow from ingestion and processing to retrieval and presentation, enabling fast and accurate search results across all search scenarios.</a:t>
            </a:r>
            <a:endParaRPr b="0" i="0" sz="1700" u="none" cap="none" strike="noStrike">
              <a:latin typeface="Arial"/>
              <a:ea typeface="Arial"/>
              <a:cs typeface="Arial"/>
              <a:sym typeface="Arial"/>
            </a:endParaRPr>
          </a:p>
        </p:txBody>
      </p:sp>
      <p:sp>
        <p:nvSpPr>
          <p:cNvPr id="458" name="Google Shape;458;p63"/>
          <p:cNvSpPr/>
          <p:nvPr/>
        </p:nvSpPr>
        <p:spPr>
          <a:xfrm>
            <a:off x="670500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Query</a:t>
            </a:r>
            <a:endParaRPr b="0" i="0" sz="1400" u="none" cap="none" strike="noStrike">
              <a:latin typeface="Arial"/>
              <a:ea typeface="Arial"/>
              <a:cs typeface="Arial"/>
              <a:sym typeface="Arial"/>
            </a:endParaRPr>
          </a:p>
        </p:txBody>
      </p:sp>
      <p:sp>
        <p:nvSpPr>
          <p:cNvPr id="459" name="Google Shape;459;p63"/>
          <p:cNvSpPr/>
          <p:nvPr/>
        </p:nvSpPr>
        <p:spPr>
          <a:xfrm>
            <a:off x="818748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Pre - Processor</a:t>
            </a:r>
            <a:endParaRPr b="0" i="0" sz="1400" u="none" cap="none" strike="noStrike">
              <a:latin typeface="Arial"/>
              <a:ea typeface="Arial"/>
              <a:cs typeface="Arial"/>
              <a:sym typeface="Arial"/>
            </a:endParaRPr>
          </a:p>
        </p:txBody>
      </p:sp>
      <p:cxnSp>
        <p:nvCxnSpPr>
          <p:cNvPr id="460" name="Google Shape;460;p63"/>
          <p:cNvCxnSpPr/>
          <p:nvPr/>
        </p:nvCxnSpPr>
        <p:spPr>
          <a:xfrm>
            <a:off x="7848360" y="3235680"/>
            <a:ext cx="338700" cy="600"/>
          </a:xfrm>
          <a:prstGeom prst="curvedConnector3">
            <a:avLst>
              <a:gd fmla="val 50021" name="adj1"/>
            </a:avLst>
          </a:prstGeom>
          <a:noFill/>
          <a:ln cap="flat" cmpd="sng" w="9525">
            <a:solidFill>
              <a:srgbClr val="1F497D"/>
            </a:solidFill>
            <a:prstDash val="solid"/>
            <a:round/>
            <a:headEnd len="sm" w="sm" type="none"/>
            <a:tailEnd len="sm" w="sm" type="none"/>
          </a:ln>
        </p:spPr>
      </p:cxnSp>
      <p:sp>
        <p:nvSpPr>
          <p:cNvPr id="461" name="Google Shape;461;p63"/>
          <p:cNvSpPr/>
          <p:nvPr/>
        </p:nvSpPr>
        <p:spPr>
          <a:xfrm>
            <a:off x="9954720" y="160020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Taxonomies</a:t>
            </a:r>
            <a:endParaRPr b="0" i="0" sz="1400" u="none" cap="none" strike="noStrike">
              <a:latin typeface="Arial"/>
              <a:ea typeface="Arial"/>
              <a:cs typeface="Arial"/>
              <a:sym typeface="Arial"/>
            </a:endParaRPr>
          </a:p>
        </p:txBody>
      </p:sp>
      <p:cxnSp>
        <p:nvCxnSpPr>
          <p:cNvPr id="462" name="Google Shape;462;p63"/>
          <p:cNvCxnSpPr/>
          <p:nvPr/>
        </p:nvCxnSpPr>
        <p:spPr>
          <a:xfrm rot="-5400000">
            <a:off x="9009360" y="3555960"/>
            <a:ext cx="1264800" cy="624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463" name="Google Shape;463;p63"/>
          <p:cNvSpPr/>
          <p:nvPr/>
        </p:nvSpPr>
        <p:spPr>
          <a:xfrm>
            <a:off x="1000296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Ontologies</a:t>
            </a:r>
            <a:endParaRPr b="0" i="0" sz="1400" u="none" cap="none" strike="noStrike">
              <a:latin typeface="Arial"/>
              <a:ea typeface="Arial"/>
              <a:cs typeface="Arial"/>
              <a:sym typeface="Arial"/>
            </a:endParaRPr>
          </a:p>
        </p:txBody>
      </p:sp>
      <p:cxnSp>
        <p:nvCxnSpPr>
          <p:cNvPr id="464" name="Google Shape;464;p63"/>
          <p:cNvCxnSpPr/>
          <p:nvPr/>
        </p:nvCxnSpPr>
        <p:spPr>
          <a:xfrm>
            <a:off x="9330840" y="3235680"/>
            <a:ext cx="672000" cy="600"/>
          </a:xfrm>
          <a:prstGeom prst="curvedConnector3">
            <a:avLst>
              <a:gd fmla="val 50000" name="adj1"/>
            </a:avLst>
          </a:prstGeom>
          <a:noFill/>
          <a:ln cap="flat" cmpd="sng" w="9525">
            <a:solidFill>
              <a:srgbClr val="1F497D"/>
            </a:solidFill>
            <a:prstDash val="solid"/>
            <a:round/>
            <a:headEnd len="sm" w="sm" type="none"/>
            <a:tailEnd len="sm" w="sm" type="none"/>
          </a:ln>
        </p:spPr>
      </p:cxnSp>
      <p:sp>
        <p:nvSpPr>
          <p:cNvPr id="465" name="Google Shape;465;p63"/>
          <p:cNvSpPr/>
          <p:nvPr/>
        </p:nvSpPr>
        <p:spPr>
          <a:xfrm>
            <a:off x="10002960" y="4130280"/>
            <a:ext cx="134928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Federated Graph Query</a:t>
            </a:r>
            <a:endParaRPr b="0" i="0" sz="1400" u="none" cap="none" strike="noStrike">
              <a:latin typeface="Arial"/>
              <a:ea typeface="Arial"/>
              <a:cs typeface="Arial"/>
              <a:sym typeface="Arial"/>
            </a:endParaRPr>
          </a:p>
        </p:txBody>
      </p:sp>
      <p:cxnSp>
        <p:nvCxnSpPr>
          <p:cNvPr id="466" name="Google Shape;466;p63"/>
          <p:cNvCxnSpPr/>
          <p:nvPr/>
        </p:nvCxnSpPr>
        <p:spPr>
          <a:xfrm flipH="1" rot="-5400000">
            <a:off x="9034440" y="3532080"/>
            <a:ext cx="1264800" cy="672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467" name="Google Shape;467;p63"/>
          <p:cNvSpPr/>
          <p:nvPr/>
        </p:nvSpPr>
        <p:spPr>
          <a:xfrm>
            <a:off x="11621160" y="2865240"/>
            <a:ext cx="11977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Inferencing</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(AI Agents)</a:t>
            </a:r>
            <a:endParaRPr b="0" i="0" sz="1400" u="none" cap="none" strike="noStrike">
              <a:latin typeface="Arial"/>
              <a:ea typeface="Arial"/>
              <a:cs typeface="Arial"/>
              <a:sym typeface="Arial"/>
            </a:endParaRPr>
          </a:p>
        </p:txBody>
      </p:sp>
      <p:cxnSp>
        <p:nvCxnSpPr>
          <p:cNvPr id="468" name="Google Shape;468;p63"/>
          <p:cNvCxnSpPr/>
          <p:nvPr/>
        </p:nvCxnSpPr>
        <p:spPr>
          <a:xfrm>
            <a:off x="11194200" y="1970640"/>
            <a:ext cx="1025700" cy="894300"/>
          </a:xfrm>
          <a:prstGeom prst="curvedConnector2">
            <a:avLst/>
          </a:prstGeom>
          <a:noFill/>
          <a:ln cap="flat" cmpd="sng" w="9525">
            <a:solidFill>
              <a:srgbClr val="1F497D"/>
            </a:solidFill>
            <a:prstDash val="solid"/>
            <a:round/>
            <a:headEnd len="sm" w="sm" type="none"/>
            <a:tailEnd len="sm" w="sm" type="none"/>
          </a:ln>
        </p:spPr>
      </p:cxnSp>
      <p:cxnSp>
        <p:nvCxnSpPr>
          <p:cNvPr id="469" name="Google Shape;469;p63"/>
          <p:cNvCxnSpPr/>
          <p:nvPr/>
        </p:nvCxnSpPr>
        <p:spPr>
          <a:xfrm rot="-5400000">
            <a:off x="11338020" y="4514160"/>
            <a:ext cx="894300" cy="867300"/>
          </a:xfrm>
          <a:prstGeom prst="curvedConnector2">
            <a:avLst/>
          </a:prstGeom>
          <a:noFill/>
          <a:ln cap="flat" cmpd="sng" w="9525">
            <a:solidFill>
              <a:srgbClr val="1F497D"/>
            </a:solidFill>
            <a:prstDash val="solid"/>
            <a:round/>
            <a:headEnd len="sm" w="sm" type="none"/>
            <a:tailEnd len="sm" w="sm" type="none"/>
          </a:ln>
        </p:spPr>
      </p:cxnSp>
      <p:cxnSp>
        <p:nvCxnSpPr>
          <p:cNvPr id="470" name="Google Shape;470;p63"/>
          <p:cNvCxnSpPr/>
          <p:nvPr/>
        </p:nvCxnSpPr>
        <p:spPr>
          <a:xfrm>
            <a:off x="11146320" y="3235680"/>
            <a:ext cx="474600" cy="600"/>
          </a:xfrm>
          <a:prstGeom prst="curvedConnector3">
            <a:avLst>
              <a:gd fmla="val 49987" name="adj1"/>
            </a:avLst>
          </a:prstGeom>
          <a:noFill/>
          <a:ln cap="flat" cmpd="sng" w="9525">
            <a:solidFill>
              <a:srgbClr val="1F497D"/>
            </a:solidFill>
            <a:prstDash val="solid"/>
            <a:round/>
            <a:headEnd len="sm" w="sm" type="none"/>
            <a:tailEnd len="sm" w="sm" type="none"/>
          </a:ln>
        </p:spPr>
      </p:cxnSp>
      <p:sp>
        <p:nvSpPr>
          <p:cNvPr id="471" name="Google Shape;471;p63"/>
          <p:cNvSpPr/>
          <p:nvPr/>
        </p:nvSpPr>
        <p:spPr>
          <a:xfrm>
            <a:off x="1316160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Results</a:t>
            </a:r>
            <a:endParaRPr b="0" i="0" sz="14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personalized</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Relevant</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Precise</a:t>
            </a:r>
            <a:endParaRPr b="0" i="0" sz="900" u="none" cap="none" strike="noStrike">
              <a:latin typeface="Arial"/>
              <a:ea typeface="Arial"/>
              <a:cs typeface="Arial"/>
              <a:sym typeface="Arial"/>
            </a:endParaRPr>
          </a:p>
        </p:txBody>
      </p:sp>
      <p:cxnSp>
        <p:nvCxnSpPr>
          <p:cNvPr id="472" name="Google Shape;472;p63"/>
          <p:cNvCxnSpPr/>
          <p:nvPr/>
        </p:nvCxnSpPr>
        <p:spPr>
          <a:xfrm>
            <a:off x="12819240" y="3235680"/>
            <a:ext cx="342000" cy="600"/>
          </a:xfrm>
          <a:prstGeom prst="curvedConnector3">
            <a:avLst>
              <a:gd fmla="val 50001" name="adj1"/>
            </a:avLst>
          </a:prstGeom>
          <a:noFill/>
          <a:ln cap="flat" cmpd="sng" w="9525">
            <a:solidFill>
              <a:srgbClr val="1F497D"/>
            </a:solidFill>
            <a:prstDash val="solid"/>
            <a:round/>
            <a:headEnd len="sm" w="sm" type="none"/>
            <a:tailEnd len="sm" w="sm" type="none"/>
          </a:ln>
        </p:spPr>
      </p:cxnSp>
      <p:sp>
        <p:nvSpPr>
          <p:cNvPr id="473" name="Google Shape;473;p63"/>
          <p:cNvSpPr/>
          <p:nvPr/>
        </p:nvSpPr>
        <p:spPr>
          <a:xfrm>
            <a:off x="1292400" y="1600200"/>
            <a:ext cx="2945160" cy="740520"/>
          </a:xfrm>
          <a:prstGeom prst="flowChartPredefinedProcess">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Presentation Layer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UX (APIs)</a:t>
            </a:r>
            <a:endParaRPr b="0" i="0" sz="1400" u="none" cap="none" strike="noStrike">
              <a:latin typeface="Arial"/>
              <a:ea typeface="Arial"/>
              <a:cs typeface="Arial"/>
              <a:sym typeface="Arial"/>
            </a:endParaRPr>
          </a:p>
        </p:txBody>
      </p:sp>
      <p:sp>
        <p:nvSpPr>
          <p:cNvPr id="474" name="Google Shape;474;p63"/>
          <p:cNvSpPr/>
          <p:nvPr/>
        </p:nvSpPr>
        <p:spPr>
          <a:xfrm>
            <a:off x="2204280" y="2549160"/>
            <a:ext cx="3018240" cy="740520"/>
          </a:xfrm>
          <a:prstGeom prst="flowChartPredefinedProcess">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App / Logic Layer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Services, AI Agents, BI Agents)</a:t>
            </a:r>
            <a:endParaRPr b="0" i="0" sz="1400" u="none" cap="none" strike="noStrike">
              <a:latin typeface="Arial"/>
              <a:ea typeface="Arial"/>
              <a:cs typeface="Arial"/>
              <a:sym typeface="Arial"/>
            </a:endParaRPr>
          </a:p>
        </p:txBody>
      </p:sp>
      <p:sp>
        <p:nvSpPr>
          <p:cNvPr id="475" name="Google Shape;475;p63"/>
          <p:cNvSpPr/>
          <p:nvPr/>
        </p:nvSpPr>
        <p:spPr>
          <a:xfrm>
            <a:off x="295560" y="3497760"/>
            <a:ext cx="3264840" cy="740520"/>
          </a:xfrm>
          <a:prstGeom prst="flowChartPredefinedProcess">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Semantic Knowledge Layer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(Taxonomies, Ontologies, Graphs)</a:t>
            </a:r>
            <a:endParaRPr b="0" i="0" sz="1400" u="none" cap="none" strike="noStrike">
              <a:latin typeface="Arial"/>
              <a:ea typeface="Arial"/>
              <a:cs typeface="Arial"/>
              <a:sym typeface="Arial"/>
            </a:endParaRPr>
          </a:p>
        </p:txBody>
      </p:sp>
      <p:sp>
        <p:nvSpPr>
          <p:cNvPr id="476" name="Google Shape;476;p63"/>
          <p:cNvSpPr/>
          <p:nvPr/>
        </p:nvSpPr>
        <p:spPr>
          <a:xfrm>
            <a:off x="3760200" y="4000680"/>
            <a:ext cx="2601360" cy="740520"/>
          </a:xfrm>
          <a:prstGeom prst="flowChartPredefinedProcess">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Integration Layer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(Data, BI, AI, Semantic Services)</a:t>
            </a:r>
            <a:endParaRPr b="0" i="0" sz="1400" u="none" cap="none" strike="noStrike">
              <a:latin typeface="Arial"/>
              <a:ea typeface="Arial"/>
              <a:cs typeface="Arial"/>
              <a:sym typeface="Arial"/>
            </a:endParaRPr>
          </a:p>
        </p:txBody>
      </p:sp>
      <p:sp>
        <p:nvSpPr>
          <p:cNvPr id="477" name="Google Shape;477;p63"/>
          <p:cNvSpPr/>
          <p:nvPr/>
        </p:nvSpPr>
        <p:spPr>
          <a:xfrm>
            <a:off x="874080" y="4820760"/>
            <a:ext cx="3307680" cy="740520"/>
          </a:xfrm>
          <a:prstGeom prst="flowChartPredefinedProcess">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Persistence Layer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(GraphDB, Relational DBs, Non-Relational DBs)</a:t>
            </a:r>
            <a:endParaRPr b="0" i="0" sz="1400" u="none" cap="none" strike="noStrike">
              <a:latin typeface="Arial"/>
              <a:ea typeface="Arial"/>
              <a:cs typeface="Arial"/>
              <a:sym typeface="Arial"/>
            </a:endParaRPr>
          </a:p>
        </p:txBody>
      </p:sp>
      <p:grpSp>
        <p:nvGrpSpPr>
          <p:cNvPr id="478" name="Google Shape;478;p63"/>
          <p:cNvGrpSpPr/>
          <p:nvPr/>
        </p:nvGrpSpPr>
        <p:grpSpPr>
          <a:xfrm>
            <a:off x="13783680" y="0"/>
            <a:ext cx="846360" cy="968400"/>
            <a:chOff x="13783680" y="0"/>
            <a:chExt cx="846360" cy="968400"/>
          </a:xfrm>
        </p:grpSpPr>
        <p:sp>
          <p:nvSpPr>
            <p:cNvPr id="479" name="Google Shape;479;p63"/>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80" name="Google Shape;480;p63"/>
            <p:cNvGrpSpPr/>
            <p:nvPr/>
          </p:nvGrpSpPr>
          <p:grpSpPr>
            <a:xfrm>
              <a:off x="13838760" y="0"/>
              <a:ext cx="791280" cy="968400"/>
              <a:chOff x="13838760" y="0"/>
              <a:chExt cx="791280" cy="968400"/>
            </a:xfrm>
          </p:grpSpPr>
          <p:pic>
            <p:nvPicPr>
              <p:cNvPr id="481" name="Google Shape;481;p63"/>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482" name="Google Shape;482;p63"/>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64"/>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System Design Components</a:t>
            </a:r>
            <a:endParaRPr b="0" i="0" sz="4450" u="none" cap="none" strike="noStrike">
              <a:latin typeface="Arial"/>
              <a:ea typeface="Arial"/>
              <a:cs typeface="Arial"/>
              <a:sym typeface="Arial"/>
            </a:endParaRPr>
          </a:p>
        </p:txBody>
      </p:sp>
      <p:sp>
        <p:nvSpPr>
          <p:cNvPr id="489" name="Google Shape;489;p64"/>
          <p:cNvSpPr/>
          <p:nvPr/>
        </p:nvSpPr>
        <p:spPr>
          <a:xfrm>
            <a:off x="342360" y="1970640"/>
            <a:ext cx="35143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Search Pre-Processor</a:t>
            </a:r>
            <a:endParaRPr b="0" i="0" sz="2200" u="none" cap="none" strike="noStrike">
              <a:latin typeface="Arial"/>
              <a:ea typeface="Arial"/>
              <a:cs typeface="Arial"/>
              <a:sym typeface="Arial"/>
            </a:endParaRPr>
          </a:p>
        </p:txBody>
      </p:sp>
      <p:sp>
        <p:nvSpPr>
          <p:cNvPr id="490" name="Google Shape;490;p64"/>
          <p:cNvSpPr/>
          <p:nvPr/>
        </p:nvSpPr>
        <p:spPr>
          <a:xfrm>
            <a:off x="342360" y="2460600"/>
            <a:ext cx="6168240" cy="5423040"/>
          </a:xfrm>
          <a:prstGeom prst="rect">
            <a:avLst/>
          </a:prstGeom>
          <a:noFill/>
          <a:ln>
            <a:noFill/>
          </a:ln>
        </p:spPr>
        <p:txBody>
          <a:bodyPr anchorCtr="0" anchor="t" bIns="0" lIns="0" spcFirstLastPara="1" rIns="0" wrap="square" tIns="0">
            <a:noAutofit/>
          </a:bodyPr>
          <a:lstStyle/>
          <a:p>
            <a:pPr indent="-323640" lvl="0" marL="4572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Personalization - captured during login. used to frame the context around WHAT is relevant to the individual using a Unified Persona Model. The UPM is more than attributes and prior experiences. This is a rich fabric of graphs about a Job Executor, Jobs they perform, the Desired Outcomes they want to achieve with the processes / services / systems they interact with when they perform each job. </a:t>
            </a:r>
            <a:endParaRPr b="0" i="0" sz="1500" u="none" cap="none" strike="noStrike">
              <a:latin typeface="Arial"/>
              <a:ea typeface="Arial"/>
              <a:cs typeface="Arial"/>
              <a:sym typeface="Arial"/>
            </a:endParaRPr>
          </a:p>
          <a:p>
            <a:pPr indent="-323640" lvl="0" marL="4572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Contextual Relevancy - captured from the prompt (input field and/or handoff from AI Prompt. This is preparatory towards conversational interaction. </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Reverse engineer the words &amp; phrases from the prompt and map to the services and/or process(es) within a given domain so we can identify relevant context for selection. </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Identify relevant data sources for downstream query via orchestration (TBD) to generate output for consumer.</a:t>
            </a:r>
            <a:endParaRPr b="0" i="0" sz="1500" u="none" cap="none" strike="noStrike">
              <a:latin typeface="Arial"/>
              <a:ea typeface="Arial"/>
              <a:cs typeface="Arial"/>
              <a:sym typeface="Arial"/>
            </a:endParaRPr>
          </a:p>
        </p:txBody>
      </p:sp>
      <p:sp>
        <p:nvSpPr>
          <p:cNvPr id="491" name="Google Shape;491;p64"/>
          <p:cNvSpPr/>
          <p:nvPr/>
        </p:nvSpPr>
        <p:spPr>
          <a:xfrm>
            <a:off x="668628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Query</a:t>
            </a:r>
            <a:endParaRPr b="0" i="0" sz="1400" u="none" cap="none" strike="noStrike">
              <a:latin typeface="Arial"/>
              <a:ea typeface="Arial"/>
              <a:cs typeface="Arial"/>
              <a:sym typeface="Arial"/>
            </a:endParaRPr>
          </a:p>
        </p:txBody>
      </p:sp>
      <p:sp>
        <p:nvSpPr>
          <p:cNvPr id="492" name="Google Shape;492;p64"/>
          <p:cNvSpPr/>
          <p:nvPr/>
        </p:nvSpPr>
        <p:spPr>
          <a:xfrm>
            <a:off x="818748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Pre - Processor</a:t>
            </a:r>
            <a:endParaRPr b="0" i="0" sz="1400" u="none" cap="none" strike="noStrike">
              <a:latin typeface="Arial"/>
              <a:ea typeface="Arial"/>
              <a:cs typeface="Arial"/>
              <a:sym typeface="Arial"/>
            </a:endParaRPr>
          </a:p>
        </p:txBody>
      </p:sp>
      <p:cxnSp>
        <p:nvCxnSpPr>
          <p:cNvPr id="493" name="Google Shape;493;p64"/>
          <p:cNvCxnSpPr/>
          <p:nvPr/>
        </p:nvCxnSpPr>
        <p:spPr>
          <a:xfrm flipH="1" rot="10800000">
            <a:off x="7828560" y="3248280"/>
            <a:ext cx="357600" cy="12600"/>
          </a:xfrm>
          <a:prstGeom prst="curvedConnector3">
            <a:avLst>
              <a:gd fmla="val 49993" name="adj1"/>
            </a:avLst>
          </a:prstGeom>
          <a:noFill/>
          <a:ln cap="flat" cmpd="sng" w="9525">
            <a:solidFill>
              <a:srgbClr val="1F497D"/>
            </a:solidFill>
            <a:prstDash val="solid"/>
            <a:round/>
            <a:headEnd len="sm" w="sm" type="none"/>
            <a:tailEnd len="sm" w="sm" type="none"/>
          </a:ln>
        </p:spPr>
      </p:cxnSp>
      <p:sp>
        <p:nvSpPr>
          <p:cNvPr id="494" name="Google Shape;494;p64"/>
          <p:cNvSpPr/>
          <p:nvPr/>
        </p:nvSpPr>
        <p:spPr>
          <a:xfrm>
            <a:off x="9954720" y="160020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Taxonomies</a:t>
            </a:r>
            <a:endParaRPr b="0" i="0" sz="1400" u="none" cap="none" strike="noStrike">
              <a:latin typeface="Arial"/>
              <a:ea typeface="Arial"/>
              <a:cs typeface="Arial"/>
              <a:sym typeface="Arial"/>
            </a:endParaRPr>
          </a:p>
        </p:txBody>
      </p:sp>
      <p:cxnSp>
        <p:nvCxnSpPr>
          <p:cNvPr id="495" name="Google Shape;495;p64"/>
          <p:cNvCxnSpPr/>
          <p:nvPr/>
        </p:nvCxnSpPr>
        <p:spPr>
          <a:xfrm rot="-5400000">
            <a:off x="9009360" y="3555960"/>
            <a:ext cx="1264800" cy="624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496" name="Google Shape;496;p64"/>
          <p:cNvSpPr/>
          <p:nvPr/>
        </p:nvSpPr>
        <p:spPr>
          <a:xfrm>
            <a:off x="1000296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Ontologies</a:t>
            </a:r>
            <a:endParaRPr b="0" i="0" sz="1400" u="none" cap="none" strike="noStrike">
              <a:latin typeface="Arial"/>
              <a:ea typeface="Arial"/>
              <a:cs typeface="Arial"/>
              <a:sym typeface="Arial"/>
            </a:endParaRPr>
          </a:p>
        </p:txBody>
      </p:sp>
      <p:cxnSp>
        <p:nvCxnSpPr>
          <p:cNvPr id="497" name="Google Shape;497;p64"/>
          <p:cNvCxnSpPr/>
          <p:nvPr/>
        </p:nvCxnSpPr>
        <p:spPr>
          <a:xfrm>
            <a:off x="9330840" y="3235680"/>
            <a:ext cx="672000" cy="600"/>
          </a:xfrm>
          <a:prstGeom prst="curvedConnector3">
            <a:avLst>
              <a:gd fmla="val 50000" name="adj1"/>
            </a:avLst>
          </a:prstGeom>
          <a:noFill/>
          <a:ln cap="flat" cmpd="sng" w="9525">
            <a:solidFill>
              <a:srgbClr val="1F497D"/>
            </a:solidFill>
            <a:prstDash val="solid"/>
            <a:round/>
            <a:headEnd len="sm" w="sm" type="none"/>
            <a:tailEnd len="sm" w="sm" type="none"/>
          </a:ln>
        </p:spPr>
      </p:cxnSp>
      <p:sp>
        <p:nvSpPr>
          <p:cNvPr id="498" name="Google Shape;498;p64"/>
          <p:cNvSpPr/>
          <p:nvPr/>
        </p:nvSpPr>
        <p:spPr>
          <a:xfrm>
            <a:off x="10002960" y="4130280"/>
            <a:ext cx="133524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Federated Graph Query</a:t>
            </a:r>
            <a:endParaRPr b="0" i="0" sz="1400" u="none" cap="none" strike="noStrike">
              <a:latin typeface="Arial"/>
              <a:ea typeface="Arial"/>
              <a:cs typeface="Arial"/>
              <a:sym typeface="Arial"/>
            </a:endParaRPr>
          </a:p>
        </p:txBody>
      </p:sp>
      <p:cxnSp>
        <p:nvCxnSpPr>
          <p:cNvPr id="499" name="Google Shape;499;p64"/>
          <p:cNvCxnSpPr/>
          <p:nvPr/>
        </p:nvCxnSpPr>
        <p:spPr>
          <a:xfrm flipH="1" rot="-5400000">
            <a:off x="9034440" y="3532080"/>
            <a:ext cx="1264800" cy="672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500" name="Google Shape;500;p64"/>
          <p:cNvSpPr/>
          <p:nvPr/>
        </p:nvSpPr>
        <p:spPr>
          <a:xfrm>
            <a:off x="11628000" y="2877840"/>
            <a:ext cx="119088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Inferencing</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(AI Agents)</a:t>
            </a:r>
            <a:endParaRPr b="0" i="0" sz="1400" u="none" cap="none" strike="noStrike">
              <a:latin typeface="Arial"/>
              <a:ea typeface="Arial"/>
              <a:cs typeface="Arial"/>
              <a:sym typeface="Arial"/>
            </a:endParaRPr>
          </a:p>
        </p:txBody>
      </p:sp>
      <p:cxnSp>
        <p:nvCxnSpPr>
          <p:cNvPr id="501" name="Google Shape;501;p64"/>
          <p:cNvCxnSpPr/>
          <p:nvPr/>
        </p:nvCxnSpPr>
        <p:spPr>
          <a:xfrm>
            <a:off x="11194200" y="1970640"/>
            <a:ext cx="1029300" cy="906900"/>
          </a:xfrm>
          <a:prstGeom prst="curvedConnector2">
            <a:avLst/>
          </a:prstGeom>
          <a:noFill/>
          <a:ln cap="flat" cmpd="sng" w="9525">
            <a:solidFill>
              <a:srgbClr val="1F497D"/>
            </a:solidFill>
            <a:prstDash val="solid"/>
            <a:round/>
            <a:headEnd len="sm" w="sm" type="none"/>
            <a:tailEnd len="sm" w="sm" type="none"/>
          </a:ln>
        </p:spPr>
      </p:cxnSp>
      <p:cxnSp>
        <p:nvCxnSpPr>
          <p:cNvPr id="502" name="Google Shape;502;p64"/>
          <p:cNvCxnSpPr/>
          <p:nvPr/>
        </p:nvCxnSpPr>
        <p:spPr>
          <a:xfrm flipH="1" rot="10800000">
            <a:off x="11338920" y="4500720"/>
            <a:ext cx="885000" cy="882000"/>
          </a:xfrm>
          <a:prstGeom prst="curvedConnector2">
            <a:avLst/>
          </a:prstGeom>
          <a:noFill/>
          <a:ln cap="flat" cmpd="sng" w="9525">
            <a:solidFill>
              <a:srgbClr val="1F497D"/>
            </a:solidFill>
            <a:prstDash val="solid"/>
            <a:round/>
            <a:headEnd len="sm" w="sm" type="none"/>
            <a:tailEnd len="sm" w="sm" type="none"/>
          </a:ln>
        </p:spPr>
      </p:cxnSp>
      <p:cxnSp>
        <p:nvCxnSpPr>
          <p:cNvPr id="503" name="Google Shape;503;p64"/>
          <p:cNvCxnSpPr/>
          <p:nvPr/>
        </p:nvCxnSpPr>
        <p:spPr>
          <a:xfrm>
            <a:off x="11146320" y="3235680"/>
            <a:ext cx="481200" cy="12300"/>
          </a:xfrm>
          <a:prstGeom prst="curvedConnector3">
            <a:avLst>
              <a:gd fmla="val 50017" name="adj1"/>
            </a:avLst>
          </a:prstGeom>
          <a:noFill/>
          <a:ln cap="flat" cmpd="sng" w="9525">
            <a:solidFill>
              <a:srgbClr val="1F497D"/>
            </a:solidFill>
            <a:prstDash val="solid"/>
            <a:round/>
            <a:headEnd len="sm" w="sm" type="none"/>
            <a:tailEnd len="sm" w="sm" type="none"/>
          </a:ln>
        </p:spPr>
      </p:cxnSp>
      <p:sp>
        <p:nvSpPr>
          <p:cNvPr id="504" name="Google Shape;504;p64"/>
          <p:cNvSpPr/>
          <p:nvPr/>
        </p:nvSpPr>
        <p:spPr>
          <a:xfrm>
            <a:off x="1316160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Results</a:t>
            </a:r>
            <a:endParaRPr b="0" i="0" sz="14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personalized</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Relevant</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Precise</a:t>
            </a:r>
            <a:endParaRPr b="0" i="0" sz="900" u="none" cap="none" strike="noStrike">
              <a:latin typeface="Arial"/>
              <a:ea typeface="Arial"/>
              <a:cs typeface="Arial"/>
              <a:sym typeface="Arial"/>
            </a:endParaRPr>
          </a:p>
        </p:txBody>
      </p:sp>
      <p:cxnSp>
        <p:nvCxnSpPr>
          <p:cNvPr id="505" name="Google Shape;505;p64"/>
          <p:cNvCxnSpPr/>
          <p:nvPr/>
        </p:nvCxnSpPr>
        <p:spPr>
          <a:xfrm>
            <a:off x="12819240" y="3248280"/>
            <a:ext cx="342000" cy="600"/>
          </a:xfrm>
          <a:prstGeom prst="curvedConnector3">
            <a:avLst>
              <a:gd fmla="val 49986" name="adj1"/>
            </a:avLst>
          </a:prstGeom>
          <a:noFill/>
          <a:ln cap="flat" cmpd="sng" w="9525">
            <a:solidFill>
              <a:srgbClr val="1F497D"/>
            </a:solidFill>
            <a:prstDash val="solid"/>
            <a:round/>
            <a:headEnd len="sm" w="sm" type="none"/>
            <a:tailEnd len="sm" w="sm" type="none"/>
          </a:ln>
        </p:spPr>
      </p:cxnSp>
      <p:sp>
        <p:nvSpPr>
          <p:cNvPr id="506" name="Google Shape;506;p64"/>
          <p:cNvSpPr/>
          <p:nvPr/>
        </p:nvSpPr>
        <p:spPr>
          <a:xfrm>
            <a:off x="8004600" y="2409120"/>
            <a:ext cx="1433520" cy="1652760"/>
          </a:xfrm>
          <a:prstGeom prst="roundRect">
            <a:avLst>
              <a:gd fmla="val 16667" name="adj"/>
            </a:avLst>
          </a:prstGeom>
          <a:noFill/>
          <a:ln cap="flat" cmpd="sng" w="284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7" name="Google Shape;507;p64"/>
          <p:cNvGrpSpPr/>
          <p:nvPr/>
        </p:nvGrpSpPr>
        <p:grpSpPr>
          <a:xfrm>
            <a:off x="13783680" y="0"/>
            <a:ext cx="846360" cy="968400"/>
            <a:chOff x="13783680" y="0"/>
            <a:chExt cx="846360" cy="968400"/>
          </a:xfrm>
        </p:grpSpPr>
        <p:sp>
          <p:nvSpPr>
            <p:cNvPr id="508" name="Google Shape;508;p64"/>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09" name="Google Shape;509;p64"/>
            <p:cNvGrpSpPr/>
            <p:nvPr/>
          </p:nvGrpSpPr>
          <p:grpSpPr>
            <a:xfrm>
              <a:off x="13838760" y="0"/>
              <a:ext cx="791280" cy="968400"/>
              <a:chOff x="13838760" y="0"/>
              <a:chExt cx="791280" cy="968400"/>
            </a:xfrm>
          </p:grpSpPr>
          <p:pic>
            <p:nvPicPr>
              <p:cNvPr id="510" name="Google Shape;510;p64"/>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511" name="Google Shape;511;p64"/>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65"/>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System Design Components</a:t>
            </a:r>
            <a:endParaRPr b="0" i="0" sz="4450" u="none" cap="none" strike="noStrike">
              <a:latin typeface="Arial"/>
              <a:ea typeface="Arial"/>
              <a:cs typeface="Arial"/>
              <a:sym typeface="Arial"/>
            </a:endParaRPr>
          </a:p>
        </p:txBody>
      </p:sp>
      <p:sp>
        <p:nvSpPr>
          <p:cNvPr id="518" name="Google Shape;518;p65"/>
          <p:cNvSpPr/>
          <p:nvPr/>
        </p:nvSpPr>
        <p:spPr>
          <a:xfrm>
            <a:off x="342360" y="1970640"/>
            <a:ext cx="35143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Federated Graph Query</a:t>
            </a:r>
            <a:endParaRPr b="0" i="0" sz="2200" u="none" cap="none" strike="noStrike">
              <a:latin typeface="Arial"/>
              <a:ea typeface="Arial"/>
              <a:cs typeface="Arial"/>
              <a:sym typeface="Arial"/>
            </a:endParaRPr>
          </a:p>
        </p:txBody>
      </p:sp>
      <p:sp>
        <p:nvSpPr>
          <p:cNvPr id="519" name="Google Shape;519;p65"/>
          <p:cNvSpPr/>
          <p:nvPr/>
        </p:nvSpPr>
        <p:spPr>
          <a:xfrm>
            <a:off x="342360" y="2460600"/>
            <a:ext cx="6269400" cy="5423040"/>
          </a:xfrm>
          <a:prstGeom prst="rect">
            <a:avLst/>
          </a:prstGeom>
          <a:noFill/>
          <a:ln>
            <a:noFill/>
          </a:ln>
        </p:spPr>
        <p:txBody>
          <a:bodyPr anchorCtr="0" anchor="t" bIns="0" lIns="0" spcFirstLastPara="1" rIns="0" wrap="square" tIns="0">
            <a:noAutofit/>
          </a:bodyPr>
          <a:lstStyle/>
          <a:p>
            <a:pPr indent="-323640" lvl="0" marL="4572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Contextual Framing - Generate multiple SPARQL queries with SHACL (constraints) to navigate to the appropriate graphs (domain-specific graphs &gt;&gt; mapping graphs &gt;&gt; RDB graphs)</a:t>
            </a:r>
            <a:r>
              <a:rPr b="0" i="0" lang="en-US" sz="1500" u="none" cap="none" strike="noStrike">
                <a:solidFill>
                  <a:srgbClr val="4F81BD"/>
                </a:solidFill>
                <a:latin typeface="Inter"/>
                <a:ea typeface="Inter"/>
                <a:cs typeface="Inter"/>
                <a:sym typeface="Inter"/>
              </a:rPr>
              <a:t>*</a:t>
            </a:r>
            <a:r>
              <a:rPr b="0" i="0" lang="en-US" sz="1500" u="none" cap="none" strike="noStrike">
                <a:solidFill>
                  <a:srgbClr val="272525"/>
                </a:solidFill>
                <a:latin typeface="Inter"/>
                <a:ea typeface="Inter"/>
                <a:cs typeface="Inter"/>
                <a:sym typeface="Inter"/>
              </a:rPr>
              <a:t> to generate a list of nodes, relations, attributes, and Content sources (digital assets). </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Need the ability to map words &amp; phrases directly (match using primary labels and/or alternate labels in our taxonomies)</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Need the ability to traverse taxonomies and derive lineage to one or more ontologies and the relevant (filtered list) of mapping graphs down to the Content sources.</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Leverage Metaphactory to convert context inputs (from above) to generate SPARQL queries against the knowledge fabric (scaffold of graphs).</a:t>
            </a:r>
            <a:endParaRPr b="0" i="0" sz="1500" u="none" cap="none" strike="noStrike">
              <a:latin typeface="Arial"/>
              <a:ea typeface="Arial"/>
              <a:cs typeface="Arial"/>
              <a:sym typeface="Arial"/>
            </a:endParaRPr>
          </a:p>
          <a:p>
            <a:pPr indent="-323640" lvl="1" marL="914400" marR="0" rtl="0" algn="l">
              <a:lnSpc>
                <a:spcPct val="158000"/>
              </a:lnSpc>
              <a:spcBef>
                <a:spcPts val="0"/>
              </a:spcBef>
              <a:spcAft>
                <a:spcPts val="0"/>
              </a:spcAft>
              <a:buClr>
                <a:srgbClr val="272525"/>
              </a:buClr>
              <a:buSzPts val="1500"/>
              <a:buFont typeface="Inter"/>
              <a:buChar char="○"/>
            </a:pPr>
            <a:r>
              <a:rPr b="0" i="0" lang="en-US" sz="1500" u="none" cap="none" strike="noStrike">
                <a:solidFill>
                  <a:srgbClr val="272525"/>
                </a:solidFill>
                <a:latin typeface="Inter"/>
                <a:ea typeface="Inter"/>
                <a:cs typeface="Inter"/>
                <a:sym typeface="Inter"/>
              </a:rPr>
              <a:t>Generate list of entities, conditional logic, &amp; constraints for downstream consumption for querying sources.</a:t>
            </a:r>
            <a:endParaRPr b="0" i="0" sz="1500" u="none" cap="none" strike="noStrike">
              <a:latin typeface="Arial"/>
              <a:ea typeface="Arial"/>
              <a:cs typeface="Arial"/>
              <a:sym typeface="Arial"/>
            </a:endParaRPr>
          </a:p>
        </p:txBody>
      </p:sp>
      <p:sp>
        <p:nvSpPr>
          <p:cNvPr id="520" name="Google Shape;520;p65"/>
          <p:cNvSpPr/>
          <p:nvPr/>
        </p:nvSpPr>
        <p:spPr>
          <a:xfrm>
            <a:off x="668628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Query</a:t>
            </a:r>
            <a:endParaRPr b="0" i="0" sz="1400" u="none" cap="none" strike="noStrike">
              <a:latin typeface="Arial"/>
              <a:ea typeface="Arial"/>
              <a:cs typeface="Arial"/>
              <a:sym typeface="Arial"/>
            </a:endParaRPr>
          </a:p>
        </p:txBody>
      </p:sp>
      <p:sp>
        <p:nvSpPr>
          <p:cNvPr id="521" name="Google Shape;521;p65"/>
          <p:cNvSpPr/>
          <p:nvPr/>
        </p:nvSpPr>
        <p:spPr>
          <a:xfrm>
            <a:off x="818748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Pre - Processor</a:t>
            </a:r>
            <a:endParaRPr b="0" i="0" sz="1400" u="none" cap="none" strike="noStrike">
              <a:latin typeface="Arial"/>
              <a:ea typeface="Arial"/>
              <a:cs typeface="Arial"/>
              <a:sym typeface="Arial"/>
            </a:endParaRPr>
          </a:p>
        </p:txBody>
      </p:sp>
      <p:cxnSp>
        <p:nvCxnSpPr>
          <p:cNvPr id="522" name="Google Shape;522;p65"/>
          <p:cNvCxnSpPr/>
          <p:nvPr/>
        </p:nvCxnSpPr>
        <p:spPr>
          <a:xfrm flipH="1" rot="10800000">
            <a:off x="7828560" y="3248280"/>
            <a:ext cx="357600" cy="12600"/>
          </a:xfrm>
          <a:prstGeom prst="curvedConnector3">
            <a:avLst>
              <a:gd fmla="val 49993" name="adj1"/>
            </a:avLst>
          </a:prstGeom>
          <a:noFill/>
          <a:ln cap="flat" cmpd="sng" w="9525">
            <a:solidFill>
              <a:srgbClr val="1F497D"/>
            </a:solidFill>
            <a:prstDash val="solid"/>
            <a:round/>
            <a:headEnd len="sm" w="sm" type="none"/>
            <a:tailEnd len="sm" w="sm" type="none"/>
          </a:ln>
        </p:spPr>
      </p:cxnSp>
      <p:sp>
        <p:nvSpPr>
          <p:cNvPr id="523" name="Google Shape;523;p65"/>
          <p:cNvSpPr/>
          <p:nvPr/>
        </p:nvSpPr>
        <p:spPr>
          <a:xfrm>
            <a:off x="9954720" y="160020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Taxonomies</a:t>
            </a:r>
            <a:endParaRPr b="0" i="0" sz="1400" u="none" cap="none" strike="noStrike">
              <a:latin typeface="Arial"/>
              <a:ea typeface="Arial"/>
              <a:cs typeface="Arial"/>
              <a:sym typeface="Arial"/>
            </a:endParaRPr>
          </a:p>
        </p:txBody>
      </p:sp>
      <p:cxnSp>
        <p:nvCxnSpPr>
          <p:cNvPr id="524" name="Google Shape;524;p65"/>
          <p:cNvCxnSpPr/>
          <p:nvPr/>
        </p:nvCxnSpPr>
        <p:spPr>
          <a:xfrm rot="-5400000">
            <a:off x="9009360" y="3555960"/>
            <a:ext cx="1264800" cy="624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525" name="Google Shape;525;p65"/>
          <p:cNvSpPr/>
          <p:nvPr/>
        </p:nvSpPr>
        <p:spPr>
          <a:xfrm>
            <a:off x="1000296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Ontologies</a:t>
            </a:r>
            <a:endParaRPr b="0" i="0" sz="1400" u="none" cap="none" strike="noStrike">
              <a:latin typeface="Arial"/>
              <a:ea typeface="Arial"/>
              <a:cs typeface="Arial"/>
              <a:sym typeface="Arial"/>
            </a:endParaRPr>
          </a:p>
        </p:txBody>
      </p:sp>
      <p:cxnSp>
        <p:nvCxnSpPr>
          <p:cNvPr id="526" name="Google Shape;526;p65"/>
          <p:cNvCxnSpPr/>
          <p:nvPr/>
        </p:nvCxnSpPr>
        <p:spPr>
          <a:xfrm>
            <a:off x="9330840" y="3235680"/>
            <a:ext cx="672000" cy="600"/>
          </a:xfrm>
          <a:prstGeom prst="curvedConnector3">
            <a:avLst>
              <a:gd fmla="val 50000" name="adj1"/>
            </a:avLst>
          </a:prstGeom>
          <a:noFill/>
          <a:ln cap="flat" cmpd="sng" w="9525">
            <a:solidFill>
              <a:srgbClr val="1F497D"/>
            </a:solidFill>
            <a:prstDash val="solid"/>
            <a:round/>
            <a:headEnd len="sm" w="sm" type="none"/>
            <a:tailEnd len="sm" w="sm" type="none"/>
          </a:ln>
        </p:spPr>
      </p:cxnSp>
      <p:sp>
        <p:nvSpPr>
          <p:cNvPr id="527" name="Google Shape;527;p65"/>
          <p:cNvSpPr/>
          <p:nvPr/>
        </p:nvSpPr>
        <p:spPr>
          <a:xfrm>
            <a:off x="10002960" y="4130280"/>
            <a:ext cx="133524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Federated Graph Query</a:t>
            </a:r>
            <a:endParaRPr b="0" i="0" sz="1400" u="none" cap="none" strike="noStrike">
              <a:latin typeface="Arial"/>
              <a:ea typeface="Arial"/>
              <a:cs typeface="Arial"/>
              <a:sym typeface="Arial"/>
            </a:endParaRPr>
          </a:p>
        </p:txBody>
      </p:sp>
      <p:cxnSp>
        <p:nvCxnSpPr>
          <p:cNvPr id="528" name="Google Shape;528;p65"/>
          <p:cNvCxnSpPr/>
          <p:nvPr/>
        </p:nvCxnSpPr>
        <p:spPr>
          <a:xfrm flipH="1" rot="-5400000">
            <a:off x="9034440" y="3532080"/>
            <a:ext cx="1264800" cy="672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529" name="Google Shape;529;p65"/>
          <p:cNvSpPr/>
          <p:nvPr/>
        </p:nvSpPr>
        <p:spPr>
          <a:xfrm>
            <a:off x="11579760" y="287784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Inferencing</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(AI Agents)</a:t>
            </a:r>
            <a:endParaRPr b="0" i="0" sz="1400" u="none" cap="none" strike="noStrike">
              <a:latin typeface="Arial"/>
              <a:ea typeface="Arial"/>
              <a:cs typeface="Arial"/>
              <a:sym typeface="Arial"/>
            </a:endParaRPr>
          </a:p>
        </p:txBody>
      </p:sp>
      <p:cxnSp>
        <p:nvCxnSpPr>
          <p:cNvPr id="530" name="Google Shape;530;p65"/>
          <p:cNvCxnSpPr/>
          <p:nvPr/>
        </p:nvCxnSpPr>
        <p:spPr>
          <a:xfrm>
            <a:off x="11194200" y="1970640"/>
            <a:ext cx="1005000" cy="906900"/>
          </a:xfrm>
          <a:prstGeom prst="curvedConnector2">
            <a:avLst/>
          </a:prstGeom>
          <a:noFill/>
          <a:ln cap="flat" cmpd="sng" w="9525">
            <a:solidFill>
              <a:srgbClr val="1F497D"/>
            </a:solidFill>
            <a:prstDash val="solid"/>
            <a:round/>
            <a:headEnd len="sm" w="sm" type="none"/>
            <a:tailEnd len="sm" w="sm" type="none"/>
          </a:ln>
        </p:spPr>
      </p:cxnSp>
      <p:cxnSp>
        <p:nvCxnSpPr>
          <p:cNvPr id="531" name="Google Shape;531;p65"/>
          <p:cNvCxnSpPr/>
          <p:nvPr/>
        </p:nvCxnSpPr>
        <p:spPr>
          <a:xfrm rot="-5400000">
            <a:off x="11326470" y="4511370"/>
            <a:ext cx="882000" cy="860700"/>
          </a:xfrm>
          <a:prstGeom prst="curvedConnector2">
            <a:avLst/>
          </a:prstGeom>
          <a:noFill/>
          <a:ln cap="flat" cmpd="sng" w="9525">
            <a:solidFill>
              <a:srgbClr val="1F497D"/>
            </a:solidFill>
            <a:prstDash val="solid"/>
            <a:round/>
            <a:headEnd len="sm" w="sm" type="none"/>
            <a:tailEnd len="sm" w="sm" type="none"/>
          </a:ln>
        </p:spPr>
      </p:cxnSp>
      <p:cxnSp>
        <p:nvCxnSpPr>
          <p:cNvPr id="532" name="Google Shape;532;p65"/>
          <p:cNvCxnSpPr/>
          <p:nvPr/>
        </p:nvCxnSpPr>
        <p:spPr>
          <a:xfrm>
            <a:off x="11146320" y="3235680"/>
            <a:ext cx="433500" cy="12300"/>
          </a:xfrm>
          <a:prstGeom prst="curvedConnector3">
            <a:avLst>
              <a:gd fmla="val 49984" name="adj1"/>
            </a:avLst>
          </a:prstGeom>
          <a:noFill/>
          <a:ln cap="flat" cmpd="sng" w="9525">
            <a:solidFill>
              <a:srgbClr val="1F497D"/>
            </a:solidFill>
            <a:prstDash val="solid"/>
            <a:round/>
            <a:headEnd len="sm" w="sm" type="none"/>
            <a:tailEnd len="sm" w="sm" type="none"/>
          </a:ln>
        </p:spPr>
      </p:cxnSp>
      <p:sp>
        <p:nvSpPr>
          <p:cNvPr id="533" name="Google Shape;533;p65"/>
          <p:cNvSpPr/>
          <p:nvPr/>
        </p:nvSpPr>
        <p:spPr>
          <a:xfrm>
            <a:off x="1316160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Results</a:t>
            </a:r>
            <a:endParaRPr b="0" i="0" sz="14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personalized</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Relevant</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Precise</a:t>
            </a:r>
            <a:endParaRPr b="0" i="0" sz="900" u="none" cap="none" strike="noStrike">
              <a:latin typeface="Arial"/>
              <a:ea typeface="Arial"/>
              <a:cs typeface="Arial"/>
              <a:sym typeface="Arial"/>
            </a:endParaRPr>
          </a:p>
        </p:txBody>
      </p:sp>
      <p:cxnSp>
        <p:nvCxnSpPr>
          <p:cNvPr id="534" name="Google Shape;534;p65"/>
          <p:cNvCxnSpPr/>
          <p:nvPr/>
        </p:nvCxnSpPr>
        <p:spPr>
          <a:xfrm>
            <a:off x="12819240" y="3248280"/>
            <a:ext cx="342000" cy="600"/>
          </a:xfrm>
          <a:prstGeom prst="curvedConnector3">
            <a:avLst>
              <a:gd fmla="val 50004" name="adj1"/>
            </a:avLst>
          </a:prstGeom>
          <a:noFill/>
          <a:ln cap="flat" cmpd="sng" w="9525">
            <a:solidFill>
              <a:srgbClr val="1F497D"/>
            </a:solidFill>
            <a:prstDash val="solid"/>
            <a:round/>
            <a:headEnd len="sm" w="sm" type="none"/>
            <a:tailEnd len="sm" w="sm" type="none"/>
          </a:ln>
        </p:spPr>
      </p:cxnSp>
      <p:sp>
        <p:nvSpPr>
          <p:cNvPr id="535" name="Google Shape;535;p65"/>
          <p:cNvSpPr/>
          <p:nvPr/>
        </p:nvSpPr>
        <p:spPr>
          <a:xfrm>
            <a:off x="9777240" y="3826080"/>
            <a:ext cx="1857600" cy="1348920"/>
          </a:xfrm>
          <a:prstGeom prst="roundRect">
            <a:avLst>
              <a:gd fmla="val 16667" name="adj"/>
            </a:avLst>
          </a:prstGeom>
          <a:noFill/>
          <a:ln cap="flat" cmpd="sng" w="284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65"/>
          <p:cNvSpPr/>
          <p:nvPr/>
        </p:nvSpPr>
        <p:spPr>
          <a:xfrm>
            <a:off x="9527040" y="6015960"/>
            <a:ext cx="2999520" cy="903240"/>
          </a:xfrm>
          <a:prstGeom prst="rect">
            <a:avLst/>
          </a:prstGeom>
          <a:noFill/>
          <a:ln cap="flat" cmpd="sng" w="19075">
            <a:solidFill>
              <a:srgbClr val="4F81BD"/>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58000"/>
              </a:lnSpc>
              <a:spcBef>
                <a:spcPts val="0"/>
              </a:spcBef>
              <a:spcAft>
                <a:spcPts val="0"/>
              </a:spcAft>
              <a:buNone/>
            </a:pPr>
            <a:r>
              <a:rPr b="0" i="0" lang="en-US" sz="1500" u="none" cap="none" strike="noStrike">
                <a:solidFill>
                  <a:srgbClr val="4F81BD"/>
                </a:solidFill>
                <a:latin typeface="Inter"/>
                <a:ea typeface="Inter"/>
                <a:cs typeface="Inter"/>
                <a:sym typeface="Inter"/>
              </a:rPr>
              <a:t>* See next slide for overview of Knowledge Fabric design</a:t>
            </a:r>
            <a:endParaRPr b="0" i="0" sz="1500" u="none" cap="none" strike="noStrike">
              <a:latin typeface="Arial"/>
              <a:ea typeface="Arial"/>
              <a:cs typeface="Arial"/>
              <a:sym typeface="Arial"/>
            </a:endParaRPr>
          </a:p>
        </p:txBody>
      </p:sp>
      <p:grpSp>
        <p:nvGrpSpPr>
          <p:cNvPr id="537" name="Google Shape;537;p65"/>
          <p:cNvGrpSpPr/>
          <p:nvPr/>
        </p:nvGrpSpPr>
        <p:grpSpPr>
          <a:xfrm>
            <a:off x="13783680" y="0"/>
            <a:ext cx="846360" cy="968400"/>
            <a:chOff x="13783680" y="0"/>
            <a:chExt cx="846360" cy="968400"/>
          </a:xfrm>
        </p:grpSpPr>
        <p:sp>
          <p:nvSpPr>
            <p:cNvPr id="538" name="Google Shape;538;p65"/>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39" name="Google Shape;539;p65"/>
            <p:cNvGrpSpPr/>
            <p:nvPr/>
          </p:nvGrpSpPr>
          <p:grpSpPr>
            <a:xfrm>
              <a:off x="13838760" y="0"/>
              <a:ext cx="791280" cy="968400"/>
              <a:chOff x="13838760" y="0"/>
              <a:chExt cx="791280" cy="968400"/>
            </a:xfrm>
          </p:grpSpPr>
          <p:pic>
            <p:nvPicPr>
              <p:cNvPr id="540" name="Google Shape;540;p65"/>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541" name="Google Shape;541;p65"/>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5" name="Shape 545"/>
        <p:cNvGrpSpPr/>
        <p:nvPr/>
      </p:nvGrpSpPr>
      <p:grpSpPr>
        <a:xfrm>
          <a:off x="0" y="0"/>
          <a:ext cx="0" cy="0"/>
          <a:chOff x="0" y="0"/>
          <a:chExt cx="0" cy="0"/>
        </a:xfrm>
      </p:grpSpPr>
      <p:sp>
        <p:nvSpPr>
          <p:cNvPr id="546" name="Google Shape;546;p66"/>
          <p:cNvSpPr/>
          <p:nvPr/>
        </p:nvSpPr>
        <p:spPr>
          <a:xfrm>
            <a:off x="625320" y="996840"/>
            <a:ext cx="13246920" cy="4178520"/>
          </a:xfrm>
          <a:prstGeom prst="rect">
            <a:avLst/>
          </a:prstGeom>
          <a:noFill/>
          <a:ln cap="flat" cmpd="sng" w="19075">
            <a:solidFill>
              <a:srgbClr val="777777"/>
            </a:solidFill>
            <a:prstDash val="dashDot"/>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66"/>
          <p:cNvSpPr/>
          <p:nvPr/>
        </p:nvSpPr>
        <p:spPr>
          <a:xfrm>
            <a:off x="7847640" y="5778000"/>
            <a:ext cx="1487160" cy="1089720"/>
          </a:xfrm>
          <a:prstGeom prst="can">
            <a:avLst>
              <a:gd fmla="val 25000" name="adj"/>
            </a:avLst>
          </a:prstGeom>
          <a:solidFill>
            <a:srgbClr val="E6B8AF"/>
          </a:solidFill>
          <a:ln cap="flat" cmpd="sng" w="9525">
            <a:solidFill>
              <a:srgbClr val="F50A23"/>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800" u="none" cap="none" strike="noStrike">
                <a:solidFill>
                  <a:srgbClr val="000000"/>
                </a:solidFill>
                <a:latin typeface="Arial"/>
                <a:ea typeface="Arial"/>
                <a:cs typeface="Arial"/>
                <a:sym typeface="Arial"/>
              </a:rPr>
              <a:t>Postgres</a:t>
            </a:r>
            <a:endParaRPr b="0" i="0" sz="18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800" u="none" cap="none" strike="noStrike">
                <a:solidFill>
                  <a:srgbClr val="000000"/>
                </a:solidFill>
                <a:latin typeface="Arial"/>
                <a:ea typeface="Arial"/>
                <a:cs typeface="Arial"/>
                <a:sym typeface="Arial"/>
              </a:rPr>
              <a:t>(Data)</a:t>
            </a:r>
            <a:endParaRPr b="0" i="0" sz="1800" u="none" cap="none" strike="noStrike">
              <a:latin typeface="Arial"/>
              <a:ea typeface="Arial"/>
              <a:cs typeface="Arial"/>
              <a:sym typeface="Arial"/>
            </a:endParaRPr>
          </a:p>
        </p:txBody>
      </p:sp>
      <p:sp>
        <p:nvSpPr>
          <p:cNvPr id="548" name="Google Shape;548;p66"/>
          <p:cNvSpPr/>
          <p:nvPr/>
        </p:nvSpPr>
        <p:spPr>
          <a:xfrm>
            <a:off x="7070040" y="1340280"/>
            <a:ext cx="2842920" cy="3548520"/>
          </a:xfrm>
          <a:prstGeom prst="roundRect">
            <a:avLst>
              <a:gd fmla="val 16667" name="adj"/>
            </a:avLst>
          </a:prstGeom>
          <a:noFill/>
          <a:ln cap="flat" cmpd="sng" w="38150">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66"/>
          <p:cNvSpPr/>
          <p:nvPr/>
        </p:nvSpPr>
        <p:spPr>
          <a:xfrm>
            <a:off x="10548000" y="1380600"/>
            <a:ext cx="2929320" cy="3548520"/>
          </a:xfrm>
          <a:prstGeom prst="roundRect">
            <a:avLst>
              <a:gd fmla="val 16667" name="adj"/>
            </a:avLst>
          </a:prstGeom>
          <a:noFill/>
          <a:ln cap="flat" cmpd="sng" w="38150">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66"/>
          <p:cNvSpPr/>
          <p:nvPr/>
        </p:nvSpPr>
        <p:spPr>
          <a:xfrm>
            <a:off x="3842280" y="1380600"/>
            <a:ext cx="2574000" cy="3548520"/>
          </a:xfrm>
          <a:prstGeom prst="roundRect">
            <a:avLst>
              <a:gd fmla="val 16667" name="adj"/>
            </a:avLst>
          </a:prstGeom>
          <a:noFill/>
          <a:ln cap="flat" cmpd="sng" w="38150">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66"/>
          <p:cNvSpPr/>
          <p:nvPr/>
        </p:nvSpPr>
        <p:spPr>
          <a:xfrm>
            <a:off x="1145520" y="1380600"/>
            <a:ext cx="2428560" cy="3548520"/>
          </a:xfrm>
          <a:prstGeom prst="roundRect">
            <a:avLst>
              <a:gd fmla="val 16667" name="adj"/>
            </a:avLst>
          </a:prstGeom>
          <a:noFill/>
          <a:ln cap="flat" cmpd="sng" w="38150">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66"/>
          <p:cNvSpPr/>
          <p:nvPr/>
        </p:nvSpPr>
        <p:spPr>
          <a:xfrm>
            <a:off x="1480320" y="1587600"/>
            <a:ext cx="1841400" cy="878040"/>
          </a:xfrm>
          <a:prstGeom prst="roundRect">
            <a:avLst>
              <a:gd fmla="val 16667" name="adj"/>
            </a:avLst>
          </a:prstGeom>
          <a:solidFill>
            <a:srgbClr val="FFFFFF"/>
          </a:solidFill>
          <a:ln cap="flat" cmpd="sng" w="28425">
            <a:solidFill>
              <a:srgbClr val="0089EC"/>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Ontology</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Network Domain</a:t>
            </a:r>
            <a:endParaRPr b="0" i="0" sz="1400" u="none" cap="none" strike="noStrike">
              <a:latin typeface="Arial"/>
              <a:ea typeface="Arial"/>
              <a:cs typeface="Arial"/>
              <a:sym typeface="Arial"/>
            </a:endParaRPr>
          </a:p>
        </p:txBody>
      </p:sp>
      <p:sp>
        <p:nvSpPr>
          <p:cNvPr id="553" name="Google Shape;553;p66"/>
          <p:cNvSpPr/>
          <p:nvPr/>
        </p:nvSpPr>
        <p:spPr>
          <a:xfrm flipH="1" rot="10800000">
            <a:off x="3321000" y="3566520"/>
            <a:ext cx="757080" cy="18000"/>
          </a:xfrm>
          <a:custGeom>
            <a:rect b="b" l="l" r="r" t="t"/>
            <a:pathLst>
              <a:path extrusionOk="0" h="21600" w="21600">
                <a:moveTo>
                  <a:pt x="0" y="0"/>
                </a:moveTo>
                <a:lnTo>
                  <a:pt x="21600" y="21600"/>
                </a:lnTo>
              </a:path>
            </a:pathLst>
          </a:custGeom>
          <a:noFill/>
          <a:ln cap="flat" cmpd="sng" w="9525">
            <a:solidFill>
              <a:srgbClr val="0089EC"/>
            </a:solidFill>
            <a:prstDash val="solid"/>
            <a:round/>
            <a:headEnd len="sm" w="sm" type="none"/>
            <a:tailEnd len="med" w="med" type="triangle"/>
          </a:ln>
        </p:spPr>
      </p:sp>
      <p:sp>
        <p:nvSpPr>
          <p:cNvPr id="554" name="Google Shape;554;p66"/>
          <p:cNvSpPr/>
          <p:nvPr/>
        </p:nvSpPr>
        <p:spPr>
          <a:xfrm rot="10800000">
            <a:off x="8591040" y="4078800"/>
            <a:ext cx="360" cy="1699200"/>
          </a:xfrm>
          <a:custGeom>
            <a:rect b="b" l="l" r="r" t="t"/>
            <a:pathLst>
              <a:path extrusionOk="0" h="21600" w="21600">
                <a:moveTo>
                  <a:pt x="0" y="0"/>
                </a:moveTo>
                <a:lnTo>
                  <a:pt x="21600" y="21600"/>
                </a:lnTo>
              </a:path>
            </a:pathLst>
          </a:custGeom>
          <a:noFill/>
          <a:ln cap="flat" cmpd="sng" w="9525">
            <a:solidFill>
              <a:srgbClr val="0089EC"/>
            </a:solidFill>
            <a:prstDash val="solid"/>
            <a:round/>
            <a:headEnd len="sm" w="sm" type="none"/>
            <a:tailEnd len="med" w="med" type="triangle"/>
          </a:ln>
        </p:spPr>
      </p:sp>
      <p:sp>
        <p:nvSpPr>
          <p:cNvPr id="555" name="Google Shape;555;p66"/>
          <p:cNvSpPr/>
          <p:nvPr/>
        </p:nvSpPr>
        <p:spPr>
          <a:xfrm>
            <a:off x="130680" y="154440"/>
            <a:ext cx="2057040" cy="47880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777777"/>
                </a:solidFill>
                <a:latin typeface="Arial"/>
                <a:ea typeface="Arial"/>
                <a:cs typeface="Arial"/>
                <a:sym typeface="Arial"/>
              </a:rPr>
              <a:t>Knowledge Fabric</a:t>
            </a:r>
            <a:endParaRPr b="0" i="0" sz="1400" u="none" cap="none" strike="noStrike">
              <a:latin typeface="Arial"/>
              <a:ea typeface="Arial"/>
              <a:cs typeface="Arial"/>
              <a:sym typeface="Arial"/>
            </a:endParaRPr>
          </a:p>
        </p:txBody>
      </p:sp>
      <p:sp>
        <p:nvSpPr>
          <p:cNvPr id="556" name="Google Shape;556;p66"/>
          <p:cNvSpPr/>
          <p:nvPr/>
        </p:nvSpPr>
        <p:spPr>
          <a:xfrm>
            <a:off x="1145520" y="5379840"/>
            <a:ext cx="4462200" cy="1824480"/>
          </a:xfrm>
          <a:prstGeom prst="rect">
            <a:avLst/>
          </a:prstGeom>
          <a:noFill/>
          <a:ln cap="flat" cmpd="sng" w="28425">
            <a:solidFill>
              <a:srgbClr val="F3EDE0"/>
            </a:solidFill>
            <a:prstDash val="solid"/>
            <a:round/>
            <a:headEnd len="sm" w="sm" type="none"/>
            <a:tailEnd len="sm" w="sm" type="none"/>
          </a:ln>
        </p:spPr>
        <p:txBody>
          <a:bodyPr anchorCtr="0" anchor="t" bIns="146150" lIns="146150" spcFirstLastPara="1" rIns="146150" wrap="square" tIns="146150">
            <a:noAutofit/>
          </a:bodyPr>
          <a:lstStyle/>
          <a:p>
            <a:pPr indent="0" lvl="0" marL="0" marR="0" rtl="0" algn="l">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Incremental Build Plan for Knowledge Fabric:</a:t>
            </a:r>
            <a:endParaRPr b="0" i="0" sz="14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latin typeface="Arial"/>
              <a:ea typeface="Arial"/>
              <a:cs typeface="Arial"/>
              <a:sym typeface="Arial"/>
            </a:endParaRPr>
          </a:p>
          <a:p>
            <a:pPr indent="-456840" lvl="0" marL="736560" marR="0" rtl="0" algn="l">
              <a:lnSpc>
                <a:spcPct val="100000"/>
              </a:lnSpc>
              <a:spcBef>
                <a:spcPts val="0"/>
              </a:spcBef>
              <a:spcAft>
                <a:spcPts val="0"/>
              </a:spcAft>
              <a:buClr>
                <a:srgbClr val="000000"/>
              </a:buClr>
              <a:buSzPts val="1400"/>
              <a:buFont typeface="Noto Sans Symbols"/>
              <a:buAutoNum type="arabicPeriod"/>
            </a:pPr>
            <a:r>
              <a:rPr b="0" i="0" lang="en-US" sz="1400" u="none" cap="none" strike="noStrike">
                <a:solidFill>
                  <a:srgbClr val="000000"/>
                </a:solidFill>
                <a:latin typeface="Arial"/>
                <a:ea typeface="Arial"/>
                <a:cs typeface="Arial"/>
                <a:sym typeface="Arial"/>
              </a:rPr>
              <a:t>Create RDF Structure RAN RDB </a:t>
            </a:r>
            <a:endParaRPr b="0" i="0" sz="1400" u="none" cap="none" strike="noStrike">
              <a:latin typeface="Arial"/>
              <a:ea typeface="Arial"/>
              <a:cs typeface="Arial"/>
              <a:sym typeface="Arial"/>
            </a:endParaRPr>
          </a:p>
          <a:p>
            <a:pPr indent="-456840" lvl="0" marL="736560" marR="0" rtl="0" algn="l">
              <a:lnSpc>
                <a:spcPct val="100000"/>
              </a:lnSpc>
              <a:spcBef>
                <a:spcPts val="0"/>
              </a:spcBef>
              <a:spcAft>
                <a:spcPts val="0"/>
              </a:spcAft>
              <a:buClr>
                <a:srgbClr val="000000"/>
              </a:buClr>
              <a:buSzPts val="1400"/>
              <a:buFont typeface="Noto Sans Symbols"/>
              <a:buAutoNum type="arabicPeriod"/>
            </a:pPr>
            <a:r>
              <a:rPr b="0" i="0" lang="en-US" sz="1400" u="none" cap="none" strike="noStrike">
                <a:solidFill>
                  <a:srgbClr val="000000"/>
                </a:solidFill>
                <a:latin typeface="Arial"/>
                <a:ea typeface="Arial"/>
                <a:cs typeface="Arial"/>
                <a:sym typeface="Arial"/>
              </a:rPr>
              <a:t>Map RDF to RDB structure (visual)</a:t>
            </a:r>
            <a:endParaRPr b="0" i="0" sz="1400" u="none" cap="none" strike="noStrike">
              <a:latin typeface="Arial"/>
              <a:ea typeface="Arial"/>
              <a:cs typeface="Arial"/>
              <a:sym typeface="Arial"/>
            </a:endParaRPr>
          </a:p>
          <a:p>
            <a:pPr indent="-456840" lvl="0" marL="736560" marR="0" rtl="0" algn="l">
              <a:lnSpc>
                <a:spcPct val="100000"/>
              </a:lnSpc>
              <a:spcBef>
                <a:spcPts val="0"/>
              </a:spcBef>
              <a:spcAft>
                <a:spcPts val="0"/>
              </a:spcAft>
              <a:buClr>
                <a:srgbClr val="000000"/>
              </a:buClr>
              <a:buSzPts val="1400"/>
              <a:buFont typeface="Noto Sans Symbols"/>
              <a:buAutoNum type="arabicPeriod"/>
            </a:pPr>
            <a:r>
              <a:rPr b="0" i="0" lang="en-US" sz="1400" u="none" cap="none" strike="noStrike">
                <a:solidFill>
                  <a:srgbClr val="000000"/>
                </a:solidFill>
                <a:latin typeface="Arial"/>
                <a:ea typeface="Arial"/>
                <a:cs typeface="Arial"/>
                <a:sym typeface="Arial"/>
              </a:rPr>
              <a:t>Generate R2RML script (manual)</a:t>
            </a:r>
            <a:endParaRPr b="0" i="0" sz="1400" u="none" cap="none" strike="noStrike">
              <a:latin typeface="Arial"/>
              <a:ea typeface="Arial"/>
              <a:cs typeface="Arial"/>
              <a:sym typeface="Arial"/>
            </a:endParaRPr>
          </a:p>
          <a:p>
            <a:pPr indent="-456840" lvl="0" marL="736560" marR="0" rtl="0" algn="l">
              <a:lnSpc>
                <a:spcPct val="100000"/>
              </a:lnSpc>
              <a:spcBef>
                <a:spcPts val="0"/>
              </a:spcBef>
              <a:spcAft>
                <a:spcPts val="0"/>
              </a:spcAft>
              <a:buClr>
                <a:srgbClr val="000000"/>
              </a:buClr>
              <a:buSzPts val="1400"/>
              <a:buFont typeface="Noto Sans Symbols"/>
              <a:buAutoNum type="arabicPeriod"/>
            </a:pPr>
            <a:r>
              <a:rPr b="0" i="0" lang="en-US" sz="1400" u="none" cap="none" strike="noStrike">
                <a:solidFill>
                  <a:srgbClr val="000000"/>
                </a:solidFill>
                <a:latin typeface="Arial"/>
                <a:ea typeface="Arial"/>
                <a:cs typeface="Arial"/>
                <a:sym typeface="Arial"/>
              </a:rPr>
              <a:t>Build KG using Mappings &amp; Sample Data </a:t>
            </a:r>
            <a:endParaRPr b="0" i="0" sz="1400" u="none" cap="none" strike="noStrike">
              <a:latin typeface="Arial"/>
              <a:ea typeface="Arial"/>
              <a:cs typeface="Arial"/>
              <a:sym typeface="Arial"/>
            </a:endParaRPr>
          </a:p>
          <a:p>
            <a:pPr indent="-456840" lvl="0" marL="736560" marR="0" rtl="0" algn="l">
              <a:lnSpc>
                <a:spcPct val="100000"/>
              </a:lnSpc>
              <a:spcBef>
                <a:spcPts val="0"/>
              </a:spcBef>
              <a:spcAft>
                <a:spcPts val="0"/>
              </a:spcAft>
              <a:buClr>
                <a:srgbClr val="000000"/>
              </a:buClr>
              <a:buSzPts val="1400"/>
              <a:buFont typeface="Noto Sans Symbols"/>
              <a:buAutoNum type="arabicPeriod"/>
            </a:pPr>
            <a:r>
              <a:rPr b="0" i="0" lang="en-US" sz="1400" u="none" cap="none" strike="noStrike">
                <a:solidFill>
                  <a:srgbClr val="000000"/>
                </a:solidFill>
                <a:latin typeface="Arial"/>
                <a:ea typeface="Arial"/>
                <a:cs typeface="Arial"/>
                <a:sym typeface="Arial"/>
              </a:rPr>
              <a:t>Build Search App </a:t>
            </a:r>
            <a:endParaRPr b="0" i="0" sz="1400" u="none" cap="none" strike="noStrike">
              <a:latin typeface="Arial"/>
              <a:ea typeface="Arial"/>
              <a:cs typeface="Arial"/>
              <a:sym typeface="Arial"/>
            </a:endParaRPr>
          </a:p>
        </p:txBody>
      </p:sp>
      <p:sp>
        <p:nvSpPr>
          <p:cNvPr id="557" name="Google Shape;557;p66"/>
          <p:cNvSpPr/>
          <p:nvPr/>
        </p:nvSpPr>
        <p:spPr>
          <a:xfrm>
            <a:off x="1480320" y="3017880"/>
            <a:ext cx="1841400" cy="1096920"/>
          </a:xfrm>
          <a:prstGeom prst="roundRect">
            <a:avLst>
              <a:gd fmla="val 16667" name="adj"/>
            </a:avLst>
          </a:prstGeom>
          <a:solidFill>
            <a:srgbClr val="FFFFFF"/>
          </a:solidFill>
          <a:ln cap="flat" cmpd="sng" w="28425">
            <a:solidFill>
              <a:srgbClr val="0089EC"/>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Ontology</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Network Domain</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Wireless</a:t>
            </a:r>
            <a:endParaRPr b="0" i="0" sz="1400" u="none" cap="none" strike="noStrike">
              <a:latin typeface="Arial"/>
              <a:ea typeface="Arial"/>
              <a:cs typeface="Arial"/>
              <a:sym typeface="Arial"/>
            </a:endParaRPr>
          </a:p>
        </p:txBody>
      </p:sp>
      <p:sp>
        <p:nvSpPr>
          <p:cNvPr id="558" name="Google Shape;558;p66"/>
          <p:cNvSpPr/>
          <p:nvPr/>
        </p:nvSpPr>
        <p:spPr>
          <a:xfrm>
            <a:off x="2401200" y="2466000"/>
            <a:ext cx="360" cy="551520"/>
          </a:xfrm>
          <a:custGeom>
            <a:rect b="b" l="l" r="r" t="t"/>
            <a:pathLst>
              <a:path extrusionOk="0" h="21600" w="21600">
                <a:moveTo>
                  <a:pt x="0" y="0"/>
                </a:moveTo>
                <a:lnTo>
                  <a:pt x="21600" y="21600"/>
                </a:lnTo>
              </a:path>
            </a:pathLst>
          </a:custGeom>
          <a:noFill/>
          <a:ln cap="flat" cmpd="sng" w="9525">
            <a:solidFill>
              <a:srgbClr val="0089EC"/>
            </a:solidFill>
            <a:prstDash val="solid"/>
            <a:round/>
            <a:headEnd len="sm" w="sm" type="none"/>
            <a:tailEnd len="med" w="med" type="triangle"/>
          </a:ln>
        </p:spPr>
      </p:sp>
      <p:sp>
        <p:nvSpPr>
          <p:cNvPr id="559" name="Google Shape;559;p66"/>
          <p:cNvSpPr/>
          <p:nvPr/>
        </p:nvSpPr>
        <p:spPr>
          <a:xfrm>
            <a:off x="4079160" y="3017880"/>
            <a:ext cx="2119680" cy="1060560"/>
          </a:xfrm>
          <a:prstGeom prst="roundRect">
            <a:avLst>
              <a:gd fmla="val 16667" name="adj"/>
            </a:avLst>
          </a:prstGeom>
          <a:solidFill>
            <a:srgbClr val="FFFFFF"/>
          </a:solidFill>
          <a:ln cap="flat" cmpd="sng" w="28425">
            <a:solidFill>
              <a:srgbClr val="0089EC"/>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R2R Mapping</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Ontology Classes </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2 </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RDF Structure</a:t>
            </a:r>
            <a:endParaRPr b="0" i="0" sz="1400" u="none" cap="none" strike="noStrike">
              <a:latin typeface="Arial"/>
              <a:ea typeface="Arial"/>
              <a:cs typeface="Arial"/>
              <a:sym typeface="Arial"/>
            </a:endParaRPr>
          </a:p>
        </p:txBody>
      </p:sp>
      <p:sp>
        <p:nvSpPr>
          <p:cNvPr id="560" name="Google Shape;560;p66"/>
          <p:cNvSpPr/>
          <p:nvPr/>
        </p:nvSpPr>
        <p:spPr>
          <a:xfrm>
            <a:off x="10841760" y="2702520"/>
            <a:ext cx="2475000" cy="1707120"/>
          </a:xfrm>
          <a:prstGeom prst="roundRect">
            <a:avLst>
              <a:gd fmla="val 16667" name="adj"/>
            </a:avLst>
          </a:prstGeom>
          <a:solidFill>
            <a:srgbClr val="FFFFFF"/>
          </a:solidFill>
          <a:ln cap="flat" cmpd="sng" w="28425">
            <a:solidFill>
              <a:srgbClr val="F50A23"/>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KG </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(Context + Content)</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RAN (RDB Snapshot) 1:1</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RAN (Schema + Data)</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(Transient)</a:t>
            </a:r>
            <a:endParaRPr b="0" i="0" sz="1400" u="none" cap="none" strike="noStrike">
              <a:latin typeface="Arial"/>
              <a:ea typeface="Arial"/>
              <a:cs typeface="Arial"/>
              <a:sym typeface="Arial"/>
            </a:endParaRPr>
          </a:p>
        </p:txBody>
      </p:sp>
      <p:sp>
        <p:nvSpPr>
          <p:cNvPr id="561" name="Google Shape;561;p66"/>
          <p:cNvSpPr/>
          <p:nvPr/>
        </p:nvSpPr>
        <p:spPr>
          <a:xfrm>
            <a:off x="2909520" y="1639080"/>
            <a:ext cx="366840" cy="26532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t>
            </a:r>
            <a:endParaRPr b="0" i="0" sz="1400" u="none" cap="none" strike="noStrike">
              <a:latin typeface="Arial"/>
              <a:ea typeface="Arial"/>
              <a:cs typeface="Arial"/>
              <a:sym typeface="Arial"/>
            </a:endParaRPr>
          </a:p>
        </p:txBody>
      </p:sp>
      <p:sp>
        <p:nvSpPr>
          <p:cNvPr id="562" name="Google Shape;562;p66"/>
          <p:cNvSpPr/>
          <p:nvPr/>
        </p:nvSpPr>
        <p:spPr>
          <a:xfrm>
            <a:off x="2909520" y="3223800"/>
            <a:ext cx="366840" cy="26532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t>
            </a:r>
            <a:endParaRPr b="0" i="0" sz="1400" u="none" cap="none" strike="noStrike">
              <a:latin typeface="Arial"/>
              <a:ea typeface="Arial"/>
              <a:cs typeface="Arial"/>
              <a:sym typeface="Arial"/>
            </a:endParaRPr>
          </a:p>
        </p:txBody>
      </p:sp>
      <p:sp>
        <p:nvSpPr>
          <p:cNvPr id="563" name="Google Shape;563;p66"/>
          <p:cNvSpPr/>
          <p:nvPr/>
        </p:nvSpPr>
        <p:spPr>
          <a:xfrm>
            <a:off x="8407800" y="5778000"/>
            <a:ext cx="366840" cy="26532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t>
            </a:r>
            <a:endParaRPr b="0" i="0" sz="1400" u="none" cap="none" strike="noStrike">
              <a:latin typeface="Arial"/>
              <a:ea typeface="Arial"/>
              <a:cs typeface="Arial"/>
              <a:sym typeface="Arial"/>
            </a:endParaRPr>
          </a:p>
        </p:txBody>
      </p:sp>
      <p:sp>
        <p:nvSpPr>
          <p:cNvPr id="564" name="Google Shape;564;p66"/>
          <p:cNvSpPr/>
          <p:nvPr/>
        </p:nvSpPr>
        <p:spPr>
          <a:xfrm>
            <a:off x="1703880" y="1130040"/>
            <a:ext cx="1450080" cy="20376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000" u="none" cap="none" strike="noStrike">
                <a:solidFill>
                  <a:srgbClr val="777777"/>
                </a:solidFill>
                <a:latin typeface="Arial"/>
                <a:ea typeface="Arial"/>
                <a:cs typeface="Arial"/>
                <a:sym typeface="Arial"/>
              </a:rPr>
              <a:t>Named Graphs</a:t>
            </a:r>
            <a:endParaRPr b="0" i="0" sz="1000" u="none" cap="none" strike="noStrike">
              <a:latin typeface="Arial"/>
              <a:ea typeface="Arial"/>
              <a:cs typeface="Arial"/>
              <a:sym typeface="Arial"/>
            </a:endParaRPr>
          </a:p>
        </p:txBody>
      </p:sp>
      <p:sp>
        <p:nvSpPr>
          <p:cNvPr id="565" name="Google Shape;565;p66"/>
          <p:cNvSpPr/>
          <p:nvPr/>
        </p:nvSpPr>
        <p:spPr>
          <a:xfrm>
            <a:off x="11230200" y="1486080"/>
            <a:ext cx="1666080" cy="709920"/>
          </a:xfrm>
          <a:prstGeom prst="rect">
            <a:avLst/>
          </a:prstGeom>
          <a:solidFill>
            <a:srgbClr val="F3EDE0"/>
          </a:solidFill>
          <a:ln>
            <a:noFill/>
          </a:ln>
        </p:spPr>
        <p:txBody>
          <a:bodyPr anchorCtr="0" anchor="t" bIns="146150" lIns="146150" spcFirstLastPara="1" rIns="146150" wrap="square" tIns="146150">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Build KG with Sample Data</a:t>
            </a:r>
            <a:endParaRPr b="0" i="0" sz="1400" u="none" cap="none" strike="noStrike">
              <a:latin typeface="Arial"/>
              <a:ea typeface="Arial"/>
              <a:cs typeface="Arial"/>
              <a:sym typeface="Arial"/>
            </a:endParaRPr>
          </a:p>
        </p:txBody>
      </p:sp>
      <p:sp>
        <p:nvSpPr>
          <p:cNvPr id="566" name="Google Shape;566;p66"/>
          <p:cNvSpPr/>
          <p:nvPr/>
        </p:nvSpPr>
        <p:spPr>
          <a:xfrm>
            <a:off x="11966760" y="5306760"/>
            <a:ext cx="2153160" cy="82116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0" i="0" lang="en-US" sz="1000" u="none" cap="none" strike="noStrike">
                <a:solidFill>
                  <a:srgbClr val="000000"/>
                </a:solidFill>
                <a:latin typeface="Arial"/>
                <a:ea typeface="Arial"/>
                <a:cs typeface="Arial"/>
                <a:sym typeface="Arial"/>
              </a:rPr>
              <a:t>IRI Mappings </a:t>
            </a:r>
            <a:endParaRPr b="0" i="0" sz="10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000" u="none" cap="none" strike="noStrike">
                <a:solidFill>
                  <a:srgbClr val="000000"/>
                </a:solidFill>
                <a:latin typeface="Arial"/>
                <a:ea typeface="Arial"/>
                <a:cs typeface="Arial"/>
                <a:sym typeface="Arial"/>
              </a:rPr>
              <a:t>RAN DB Classes to: </a:t>
            </a:r>
            <a:endParaRPr b="0" i="0" sz="10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000" u="none" cap="none" strike="noStrike">
                <a:solidFill>
                  <a:srgbClr val="000000"/>
                </a:solidFill>
                <a:latin typeface="Arial"/>
                <a:ea typeface="Arial"/>
                <a:cs typeface="Arial"/>
                <a:sym typeface="Arial"/>
              </a:rPr>
              <a:t>(1) Schema Instances</a:t>
            </a:r>
            <a:endParaRPr b="0" i="0" sz="10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000" u="none" cap="none" strike="noStrike">
                <a:solidFill>
                  <a:srgbClr val="000000"/>
                </a:solidFill>
                <a:latin typeface="Arial"/>
                <a:ea typeface="Arial"/>
                <a:cs typeface="Arial"/>
                <a:sym typeface="Arial"/>
              </a:rPr>
              <a:t>(2) Data Instances</a:t>
            </a:r>
            <a:endParaRPr b="0" i="0" sz="1000" u="none" cap="none" strike="noStrike">
              <a:latin typeface="Arial"/>
              <a:ea typeface="Arial"/>
              <a:cs typeface="Arial"/>
              <a:sym typeface="Arial"/>
            </a:endParaRPr>
          </a:p>
        </p:txBody>
      </p:sp>
      <p:sp>
        <p:nvSpPr>
          <p:cNvPr id="567" name="Google Shape;567;p66"/>
          <p:cNvSpPr/>
          <p:nvPr/>
        </p:nvSpPr>
        <p:spPr>
          <a:xfrm>
            <a:off x="4427640" y="1130040"/>
            <a:ext cx="1274760" cy="20376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000" u="none" cap="none" strike="noStrike">
                <a:solidFill>
                  <a:srgbClr val="777777"/>
                </a:solidFill>
                <a:latin typeface="Arial"/>
                <a:ea typeface="Arial"/>
                <a:cs typeface="Arial"/>
                <a:sym typeface="Arial"/>
              </a:rPr>
              <a:t>Named Graphs</a:t>
            </a:r>
            <a:endParaRPr b="0" i="0" sz="1000" u="none" cap="none" strike="noStrike">
              <a:latin typeface="Arial"/>
              <a:ea typeface="Arial"/>
              <a:cs typeface="Arial"/>
              <a:sym typeface="Arial"/>
            </a:endParaRPr>
          </a:p>
        </p:txBody>
      </p:sp>
      <p:sp>
        <p:nvSpPr>
          <p:cNvPr id="568" name="Google Shape;568;p66"/>
          <p:cNvSpPr/>
          <p:nvPr/>
        </p:nvSpPr>
        <p:spPr>
          <a:xfrm>
            <a:off x="7909920" y="1072800"/>
            <a:ext cx="1362240" cy="20376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000" u="none" cap="none" strike="noStrike">
                <a:solidFill>
                  <a:srgbClr val="777777"/>
                </a:solidFill>
                <a:latin typeface="Arial"/>
                <a:ea typeface="Arial"/>
                <a:cs typeface="Arial"/>
                <a:sym typeface="Arial"/>
              </a:rPr>
              <a:t>Named Graphs</a:t>
            </a:r>
            <a:endParaRPr b="0" i="0" sz="1000" u="none" cap="none" strike="noStrike">
              <a:latin typeface="Arial"/>
              <a:ea typeface="Arial"/>
              <a:cs typeface="Arial"/>
              <a:sym typeface="Arial"/>
            </a:endParaRPr>
          </a:p>
        </p:txBody>
      </p:sp>
      <p:sp>
        <p:nvSpPr>
          <p:cNvPr id="569" name="Google Shape;569;p66"/>
          <p:cNvSpPr/>
          <p:nvPr/>
        </p:nvSpPr>
        <p:spPr>
          <a:xfrm>
            <a:off x="11457720" y="1130040"/>
            <a:ext cx="1450080" cy="203760"/>
          </a:xfrm>
          <a:prstGeom prst="rect">
            <a:avLst/>
          </a:prstGeom>
          <a:no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000" u="none" cap="none" strike="noStrike">
                <a:solidFill>
                  <a:srgbClr val="777777"/>
                </a:solidFill>
                <a:latin typeface="Arial"/>
                <a:ea typeface="Arial"/>
                <a:cs typeface="Arial"/>
                <a:sym typeface="Arial"/>
              </a:rPr>
              <a:t>Named Graphs</a:t>
            </a:r>
            <a:endParaRPr b="0" i="0" sz="1000" u="none" cap="none" strike="noStrike">
              <a:latin typeface="Arial"/>
              <a:ea typeface="Arial"/>
              <a:cs typeface="Arial"/>
              <a:sym typeface="Arial"/>
            </a:endParaRPr>
          </a:p>
        </p:txBody>
      </p:sp>
      <p:sp>
        <p:nvSpPr>
          <p:cNvPr id="570" name="Google Shape;570;p66"/>
          <p:cNvSpPr/>
          <p:nvPr/>
        </p:nvSpPr>
        <p:spPr>
          <a:xfrm>
            <a:off x="302760" y="953640"/>
            <a:ext cx="1197360" cy="339480"/>
          </a:xfrm>
          <a:prstGeom prst="rect">
            <a:avLst/>
          </a:prstGeom>
          <a:solidFill>
            <a:srgbClr val="FFFFFF"/>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300" u="none" cap="none" strike="noStrike">
                <a:solidFill>
                  <a:srgbClr val="777777"/>
                </a:solidFill>
                <a:latin typeface="Arial"/>
                <a:ea typeface="Arial"/>
                <a:cs typeface="Arial"/>
                <a:sym typeface="Arial"/>
              </a:rPr>
              <a:t>GraphDB</a:t>
            </a:r>
            <a:endParaRPr b="0" i="0" sz="1300" u="none" cap="none" strike="noStrike">
              <a:latin typeface="Arial"/>
              <a:ea typeface="Arial"/>
              <a:cs typeface="Arial"/>
              <a:sym typeface="Arial"/>
            </a:endParaRPr>
          </a:p>
        </p:txBody>
      </p:sp>
      <p:sp>
        <p:nvSpPr>
          <p:cNvPr id="571" name="Google Shape;571;p66"/>
          <p:cNvSpPr/>
          <p:nvPr/>
        </p:nvSpPr>
        <p:spPr>
          <a:xfrm>
            <a:off x="9650160" y="6542280"/>
            <a:ext cx="2428560" cy="709920"/>
          </a:xfrm>
          <a:prstGeom prst="rect">
            <a:avLst/>
          </a:prstGeom>
          <a:solidFill>
            <a:srgbClr val="F3EDE0"/>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Build KG with Sample Data for validating each Knowledge Extension</a:t>
            </a:r>
            <a:endParaRPr b="0" i="0" sz="1400" u="none" cap="none" strike="noStrike">
              <a:latin typeface="Arial"/>
              <a:ea typeface="Arial"/>
              <a:cs typeface="Arial"/>
              <a:sym typeface="Arial"/>
            </a:endParaRPr>
          </a:p>
        </p:txBody>
      </p:sp>
      <p:cxnSp>
        <p:nvCxnSpPr>
          <p:cNvPr id="572" name="Google Shape;572;p66"/>
          <p:cNvCxnSpPr/>
          <p:nvPr/>
        </p:nvCxnSpPr>
        <p:spPr>
          <a:xfrm flipH="1" rot="10800000">
            <a:off x="9335520" y="6322980"/>
            <a:ext cx="2743800" cy="1913100"/>
          </a:xfrm>
          <a:prstGeom prst="bentConnector2">
            <a:avLst/>
          </a:prstGeom>
          <a:noFill/>
          <a:ln cap="flat" cmpd="sng" w="28425">
            <a:solidFill>
              <a:srgbClr val="F50A23"/>
            </a:solidFill>
            <a:prstDash val="dashDot"/>
            <a:round/>
            <a:headEnd len="sm" w="sm" type="none"/>
            <a:tailEnd len="med" w="med" type="triangle"/>
          </a:ln>
        </p:spPr>
      </p:cxnSp>
      <p:sp>
        <p:nvSpPr>
          <p:cNvPr id="573" name="Google Shape;573;p66"/>
          <p:cNvSpPr/>
          <p:nvPr/>
        </p:nvSpPr>
        <p:spPr>
          <a:xfrm>
            <a:off x="7562880" y="3017880"/>
            <a:ext cx="2057040" cy="1060560"/>
          </a:xfrm>
          <a:prstGeom prst="roundRect">
            <a:avLst>
              <a:gd fmla="val 16667" name="adj"/>
            </a:avLst>
          </a:prstGeom>
          <a:solidFill>
            <a:srgbClr val="FFFFFF"/>
          </a:solidFill>
          <a:ln cap="flat" cmpd="sng" w="28425">
            <a:solidFill>
              <a:srgbClr val="0089EC"/>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400" u="none" cap="none" strike="noStrike">
                <a:solidFill>
                  <a:srgbClr val="000000"/>
                </a:solidFill>
                <a:latin typeface="Arial"/>
                <a:ea typeface="Arial"/>
                <a:cs typeface="Arial"/>
                <a:sym typeface="Arial"/>
              </a:rPr>
              <a:t>RDF Structure</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Ontology for</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RDB Snapshot</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(Autogenerated)</a:t>
            </a:r>
            <a:endParaRPr b="0" i="0" sz="1400" u="none" cap="none" strike="noStrike">
              <a:latin typeface="Arial"/>
              <a:ea typeface="Arial"/>
              <a:cs typeface="Arial"/>
              <a:sym typeface="Arial"/>
            </a:endParaRPr>
          </a:p>
        </p:txBody>
      </p:sp>
      <p:sp>
        <p:nvSpPr>
          <p:cNvPr id="574" name="Google Shape;574;p66"/>
          <p:cNvSpPr/>
          <p:nvPr/>
        </p:nvSpPr>
        <p:spPr>
          <a:xfrm>
            <a:off x="7611840" y="5306760"/>
            <a:ext cx="548280" cy="203760"/>
          </a:xfrm>
          <a:prstGeom prst="rect">
            <a:avLst/>
          </a:prstGeom>
          <a:solidFill>
            <a:srgbClr val="FFFFFF"/>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300" u="none" cap="none" strike="noStrike">
                <a:solidFill>
                  <a:srgbClr val="777777"/>
                </a:solidFill>
                <a:latin typeface="Arial"/>
                <a:ea typeface="Arial"/>
                <a:cs typeface="Arial"/>
                <a:sym typeface="Arial"/>
              </a:rPr>
              <a:t>1:1</a:t>
            </a:r>
            <a:endParaRPr b="0" i="0" sz="1300" u="none" cap="none" strike="noStrike">
              <a:latin typeface="Arial"/>
              <a:ea typeface="Arial"/>
              <a:cs typeface="Arial"/>
              <a:sym typeface="Arial"/>
            </a:endParaRPr>
          </a:p>
        </p:txBody>
      </p:sp>
      <p:cxnSp>
        <p:nvCxnSpPr>
          <p:cNvPr id="575" name="Google Shape;575;p66"/>
          <p:cNvCxnSpPr/>
          <p:nvPr/>
        </p:nvCxnSpPr>
        <p:spPr>
          <a:xfrm>
            <a:off x="6199560" y="3548160"/>
            <a:ext cx="1362900" cy="600"/>
          </a:xfrm>
          <a:prstGeom prst="bentConnector3">
            <a:avLst>
              <a:gd fmla="val 50003" name="adj1"/>
            </a:avLst>
          </a:prstGeom>
          <a:noFill/>
          <a:ln cap="flat" cmpd="sng" w="9525">
            <a:solidFill>
              <a:srgbClr val="0089EC"/>
            </a:solidFill>
            <a:prstDash val="solid"/>
            <a:round/>
            <a:headEnd len="sm" w="sm" type="none"/>
            <a:tailEnd len="med" w="med" type="triangle"/>
          </a:ln>
        </p:spPr>
      </p:cxnSp>
      <p:sp>
        <p:nvSpPr>
          <p:cNvPr id="576" name="Google Shape;576;p66"/>
          <p:cNvSpPr/>
          <p:nvPr/>
        </p:nvSpPr>
        <p:spPr>
          <a:xfrm>
            <a:off x="6469200" y="3254760"/>
            <a:ext cx="548280" cy="265320"/>
          </a:xfrm>
          <a:prstGeom prst="rect">
            <a:avLst/>
          </a:prstGeom>
          <a:solidFill>
            <a:srgbClr val="FFFFFF"/>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300" u="none" cap="none" strike="noStrike">
                <a:solidFill>
                  <a:srgbClr val="777777"/>
                </a:solidFill>
                <a:latin typeface="Arial"/>
                <a:ea typeface="Arial"/>
                <a:cs typeface="Arial"/>
                <a:sym typeface="Arial"/>
              </a:rPr>
              <a:t>1:1 </a:t>
            </a:r>
            <a:endParaRPr b="0" i="0" sz="1300" u="none" cap="none" strike="noStrike">
              <a:latin typeface="Arial"/>
              <a:ea typeface="Arial"/>
              <a:cs typeface="Arial"/>
              <a:sym typeface="Arial"/>
            </a:endParaRPr>
          </a:p>
        </p:txBody>
      </p:sp>
      <p:sp>
        <p:nvSpPr>
          <p:cNvPr id="577" name="Google Shape;577;p66"/>
          <p:cNvSpPr/>
          <p:nvPr/>
        </p:nvSpPr>
        <p:spPr>
          <a:xfrm>
            <a:off x="9620280" y="3548160"/>
            <a:ext cx="1221120" cy="7920"/>
          </a:xfrm>
          <a:custGeom>
            <a:rect b="b" l="l" r="r" t="t"/>
            <a:pathLst>
              <a:path extrusionOk="0" h="21600" w="21600">
                <a:moveTo>
                  <a:pt x="0" y="0"/>
                </a:moveTo>
                <a:lnTo>
                  <a:pt x="21600" y="21600"/>
                </a:lnTo>
              </a:path>
            </a:pathLst>
          </a:custGeom>
          <a:noFill/>
          <a:ln cap="flat" cmpd="sng" w="9525">
            <a:solidFill>
              <a:srgbClr val="0089EC"/>
            </a:solidFill>
            <a:prstDash val="solid"/>
            <a:round/>
            <a:headEnd len="sm" w="sm" type="none"/>
            <a:tailEnd len="med" w="med" type="triangle"/>
          </a:ln>
        </p:spPr>
      </p:sp>
      <p:sp>
        <p:nvSpPr>
          <p:cNvPr id="578" name="Google Shape;578;p66"/>
          <p:cNvSpPr/>
          <p:nvPr/>
        </p:nvSpPr>
        <p:spPr>
          <a:xfrm>
            <a:off x="9956520" y="3285720"/>
            <a:ext cx="548280" cy="203760"/>
          </a:xfrm>
          <a:prstGeom prst="rect">
            <a:avLst/>
          </a:prstGeom>
          <a:solidFill>
            <a:srgbClr val="FFFFFF"/>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300" u="none" cap="none" strike="noStrike">
                <a:solidFill>
                  <a:srgbClr val="777777"/>
                </a:solidFill>
                <a:latin typeface="Arial"/>
                <a:ea typeface="Arial"/>
                <a:cs typeface="Arial"/>
                <a:sym typeface="Arial"/>
              </a:rPr>
              <a:t>1:1</a:t>
            </a:r>
            <a:endParaRPr b="0" i="0" sz="1300" u="none" cap="none" strike="noStrike">
              <a:latin typeface="Arial"/>
              <a:ea typeface="Arial"/>
              <a:cs typeface="Arial"/>
              <a:sym typeface="Arial"/>
            </a:endParaRPr>
          </a:p>
        </p:txBody>
      </p:sp>
      <p:cxnSp>
        <p:nvCxnSpPr>
          <p:cNvPr id="579" name="Google Shape;579;p66"/>
          <p:cNvCxnSpPr/>
          <p:nvPr/>
        </p:nvCxnSpPr>
        <p:spPr>
          <a:xfrm flipH="1" rot="10800000">
            <a:off x="2401200" y="2703240"/>
            <a:ext cx="9678000" cy="315000"/>
          </a:xfrm>
          <a:prstGeom prst="curvedConnector3">
            <a:avLst>
              <a:gd fmla="val 0" name="adj1"/>
            </a:avLst>
          </a:prstGeom>
          <a:noFill/>
          <a:ln cap="flat" cmpd="sng" w="28425">
            <a:solidFill>
              <a:srgbClr val="00B845"/>
            </a:solidFill>
            <a:prstDash val="dashDot"/>
            <a:round/>
            <a:headEnd len="sm" w="sm" type="none"/>
            <a:tailEnd len="med" w="med" type="triangle"/>
          </a:ln>
        </p:spPr>
      </p:cxnSp>
      <p:sp>
        <p:nvSpPr>
          <p:cNvPr id="580" name="Google Shape;580;p66"/>
          <p:cNvSpPr/>
          <p:nvPr/>
        </p:nvSpPr>
        <p:spPr>
          <a:xfrm>
            <a:off x="7611840" y="1787400"/>
            <a:ext cx="1541520" cy="478800"/>
          </a:xfrm>
          <a:prstGeom prst="rect">
            <a:avLst/>
          </a:prstGeom>
          <a:solidFill>
            <a:srgbClr val="FFFFFF"/>
          </a:solidFill>
          <a:ln>
            <a:noFill/>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1300" u="none" cap="none" strike="noStrike">
                <a:solidFill>
                  <a:srgbClr val="00B845"/>
                </a:solidFill>
                <a:latin typeface="Arial"/>
                <a:ea typeface="Arial"/>
                <a:cs typeface="Arial"/>
                <a:sym typeface="Arial"/>
              </a:rPr>
              <a:t>Demo </a:t>
            </a:r>
            <a:endParaRPr b="0" i="0" sz="13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1" i="0" lang="en-US" sz="1000" u="none" cap="none" strike="noStrike">
                <a:solidFill>
                  <a:srgbClr val="00B845"/>
                </a:solidFill>
                <a:latin typeface="Arial"/>
                <a:ea typeface="Arial"/>
                <a:cs typeface="Arial"/>
                <a:sym typeface="Arial"/>
              </a:rPr>
              <a:t>(Visual + SPARQL)</a:t>
            </a:r>
            <a:endParaRPr b="0" i="0" sz="1000" u="none" cap="none" strike="noStrike">
              <a:latin typeface="Arial"/>
              <a:ea typeface="Arial"/>
              <a:cs typeface="Arial"/>
              <a:sym typeface="Arial"/>
            </a:endParaRPr>
          </a:p>
        </p:txBody>
      </p:sp>
      <p:sp>
        <p:nvSpPr>
          <p:cNvPr id="581" name="Google Shape;581;p66"/>
          <p:cNvSpPr/>
          <p:nvPr/>
        </p:nvSpPr>
        <p:spPr>
          <a:xfrm>
            <a:off x="4466160" y="229680"/>
            <a:ext cx="1197360" cy="622080"/>
          </a:xfrm>
          <a:prstGeom prst="downArrowCallout">
            <a:avLst>
              <a:gd fmla="val 25000" name="adj1"/>
              <a:gd fmla="val 25000" name="adj2"/>
              <a:gd fmla="val 25000" name="adj3"/>
              <a:gd fmla="val 64977" name="adj4"/>
            </a:avLst>
          </a:prstGeom>
          <a:solidFill>
            <a:srgbClr val="FF7F7F"/>
          </a:solidFill>
          <a:ln cap="flat" cmpd="sng" w="19075">
            <a:solidFill>
              <a:srgbClr val="FF7F7F"/>
            </a:solidFill>
            <a:prstDash val="solid"/>
            <a:round/>
            <a:headEnd len="sm" w="sm" type="none"/>
            <a:tailEnd len="sm" w="sm" type="none"/>
          </a:ln>
        </p:spPr>
        <p:txBody>
          <a:bodyPr anchorCtr="0" anchor="ctr" bIns="146150" lIns="146150" spcFirstLastPara="1" rIns="146150" wrap="square" tIns="14615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Arial"/>
                <a:ea typeface="Arial"/>
                <a:cs typeface="Arial"/>
                <a:sym typeface="Arial"/>
              </a:rPr>
              <a:t>Inference Engine (Graph LLM)</a:t>
            </a:r>
            <a:endParaRPr b="0" i="0" sz="800" u="none" cap="none" strike="noStrike">
              <a:latin typeface="Arial"/>
              <a:ea typeface="Arial"/>
              <a:cs typeface="Arial"/>
              <a:sym typeface="Arial"/>
            </a:endParaRPr>
          </a:p>
        </p:txBody>
      </p:sp>
      <p:grpSp>
        <p:nvGrpSpPr>
          <p:cNvPr id="582" name="Google Shape;582;p66"/>
          <p:cNvGrpSpPr/>
          <p:nvPr/>
        </p:nvGrpSpPr>
        <p:grpSpPr>
          <a:xfrm>
            <a:off x="13783680" y="0"/>
            <a:ext cx="846360" cy="968400"/>
            <a:chOff x="13783680" y="0"/>
            <a:chExt cx="846360" cy="968400"/>
          </a:xfrm>
        </p:grpSpPr>
        <p:sp>
          <p:nvSpPr>
            <p:cNvPr id="583" name="Google Shape;583;p66"/>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84" name="Google Shape;584;p66"/>
            <p:cNvGrpSpPr/>
            <p:nvPr/>
          </p:nvGrpSpPr>
          <p:grpSpPr>
            <a:xfrm>
              <a:off x="13838760" y="0"/>
              <a:ext cx="791280" cy="968400"/>
              <a:chOff x="13838760" y="0"/>
              <a:chExt cx="791280" cy="968400"/>
            </a:xfrm>
          </p:grpSpPr>
          <p:pic>
            <p:nvPicPr>
              <p:cNvPr id="585" name="Google Shape;585;p66"/>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586" name="Google Shape;586;p66"/>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sp>
        <p:nvSpPr>
          <p:cNvPr id="592" name="Google Shape;592;p67"/>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System Design Components</a:t>
            </a:r>
            <a:endParaRPr b="0" i="0" sz="4450" u="none" cap="none" strike="noStrike">
              <a:latin typeface="Arial"/>
              <a:ea typeface="Arial"/>
              <a:cs typeface="Arial"/>
              <a:sym typeface="Arial"/>
            </a:endParaRPr>
          </a:p>
        </p:txBody>
      </p:sp>
      <p:sp>
        <p:nvSpPr>
          <p:cNvPr id="593" name="Google Shape;593;p67"/>
          <p:cNvSpPr/>
          <p:nvPr/>
        </p:nvSpPr>
        <p:spPr>
          <a:xfrm>
            <a:off x="342360" y="1970640"/>
            <a:ext cx="35143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Inferencing (AI Agents)</a:t>
            </a:r>
            <a:endParaRPr b="0" i="0" sz="2200" u="none" cap="none" strike="noStrike">
              <a:latin typeface="Arial"/>
              <a:ea typeface="Arial"/>
              <a:cs typeface="Arial"/>
              <a:sym typeface="Arial"/>
            </a:endParaRPr>
          </a:p>
        </p:txBody>
      </p:sp>
      <p:sp>
        <p:nvSpPr>
          <p:cNvPr id="594" name="Google Shape;594;p67"/>
          <p:cNvSpPr/>
          <p:nvPr/>
        </p:nvSpPr>
        <p:spPr>
          <a:xfrm>
            <a:off x="342360" y="2460600"/>
            <a:ext cx="6269400" cy="5423040"/>
          </a:xfrm>
          <a:prstGeom prst="rect">
            <a:avLst/>
          </a:prstGeom>
          <a:noFill/>
          <a:ln>
            <a:noFill/>
          </a:ln>
        </p:spPr>
        <p:txBody>
          <a:bodyPr anchorCtr="0" anchor="t" bIns="0" lIns="0" spcFirstLastPara="1" rIns="0" wrap="square" tIns="0">
            <a:noAutofit/>
          </a:bodyPr>
          <a:lstStyle/>
          <a:p>
            <a:pPr indent="-317160" lvl="0" marL="4572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Precision Results - Introducing SLMs (small language models) that are domain specific aligns with the component model used to build out the Knowledge Fabric (taxonomies, ontologies, mapping graphs, and RDB graphs)*. </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The SLMs are part of a larger agentic design pattern that supports parallel inferencing across graphs to arrive at an optimize result. </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These agents will need to collaborate on the separate domain-specific queries using the prompt input for Search to harmonize and consolidate the outputs into a concise set of results that can be presented for downstream orchestration (extract, transform, analyze, and perhaps visualize) to meet the desired outcomes of the Search customer.  </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Initial rollout will be using a single AI agent built using a graph LLM to generate the result sets for querying GCP.</a:t>
            </a:r>
            <a:endParaRPr b="0" i="0" sz="1400" u="none" cap="none" strike="noStrike">
              <a:latin typeface="Arial"/>
              <a:ea typeface="Arial"/>
              <a:cs typeface="Arial"/>
              <a:sym typeface="Arial"/>
            </a:endParaRPr>
          </a:p>
        </p:txBody>
      </p:sp>
      <p:sp>
        <p:nvSpPr>
          <p:cNvPr id="595" name="Google Shape;595;p67"/>
          <p:cNvSpPr/>
          <p:nvPr/>
        </p:nvSpPr>
        <p:spPr>
          <a:xfrm>
            <a:off x="668628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Query</a:t>
            </a:r>
            <a:endParaRPr b="0" i="0" sz="1400" u="none" cap="none" strike="noStrike">
              <a:latin typeface="Arial"/>
              <a:ea typeface="Arial"/>
              <a:cs typeface="Arial"/>
              <a:sym typeface="Arial"/>
            </a:endParaRPr>
          </a:p>
        </p:txBody>
      </p:sp>
      <p:sp>
        <p:nvSpPr>
          <p:cNvPr id="596" name="Google Shape;596;p67"/>
          <p:cNvSpPr/>
          <p:nvPr/>
        </p:nvSpPr>
        <p:spPr>
          <a:xfrm>
            <a:off x="818748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Search Pre - Processor</a:t>
            </a:r>
            <a:endParaRPr b="0" i="0" sz="1400" u="none" cap="none" strike="noStrike">
              <a:latin typeface="Arial"/>
              <a:ea typeface="Arial"/>
              <a:cs typeface="Arial"/>
              <a:sym typeface="Arial"/>
            </a:endParaRPr>
          </a:p>
        </p:txBody>
      </p:sp>
      <p:cxnSp>
        <p:nvCxnSpPr>
          <p:cNvPr id="597" name="Google Shape;597;p67"/>
          <p:cNvCxnSpPr/>
          <p:nvPr/>
        </p:nvCxnSpPr>
        <p:spPr>
          <a:xfrm flipH="1" rot="10800000">
            <a:off x="7828560" y="3248280"/>
            <a:ext cx="357600" cy="12600"/>
          </a:xfrm>
          <a:prstGeom prst="curvedConnector3">
            <a:avLst>
              <a:gd fmla="val 49993" name="adj1"/>
            </a:avLst>
          </a:prstGeom>
          <a:noFill/>
          <a:ln cap="flat" cmpd="sng" w="9525">
            <a:solidFill>
              <a:srgbClr val="1F497D"/>
            </a:solidFill>
            <a:prstDash val="solid"/>
            <a:round/>
            <a:headEnd len="sm" w="sm" type="none"/>
            <a:tailEnd len="sm" w="sm" type="none"/>
          </a:ln>
        </p:spPr>
      </p:cxnSp>
      <p:sp>
        <p:nvSpPr>
          <p:cNvPr id="598" name="Google Shape;598;p67"/>
          <p:cNvSpPr/>
          <p:nvPr/>
        </p:nvSpPr>
        <p:spPr>
          <a:xfrm>
            <a:off x="9954720" y="160020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Taxonomies</a:t>
            </a:r>
            <a:endParaRPr b="0" i="0" sz="1400" u="none" cap="none" strike="noStrike">
              <a:latin typeface="Arial"/>
              <a:ea typeface="Arial"/>
              <a:cs typeface="Arial"/>
              <a:sym typeface="Arial"/>
            </a:endParaRPr>
          </a:p>
        </p:txBody>
      </p:sp>
      <p:cxnSp>
        <p:nvCxnSpPr>
          <p:cNvPr id="599" name="Google Shape;599;p67"/>
          <p:cNvCxnSpPr/>
          <p:nvPr/>
        </p:nvCxnSpPr>
        <p:spPr>
          <a:xfrm rot="-5400000">
            <a:off x="9009360" y="3555960"/>
            <a:ext cx="1264800" cy="624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600" name="Google Shape;600;p67"/>
          <p:cNvSpPr/>
          <p:nvPr/>
        </p:nvSpPr>
        <p:spPr>
          <a:xfrm>
            <a:off x="10002960" y="286524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Ontologies</a:t>
            </a:r>
            <a:endParaRPr b="0" i="0" sz="1400" u="none" cap="none" strike="noStrike">
              <a:latin typeface="Arial"/>
              <a:ea typeface="Arial"/>
              <a:cs typeface="Arial"/>
              <a:sym typeface="Arial"/>
            </a:endParaRPr>
          </a:p>
        </p:txBody>
      </p:sp>
      <p:cxnSp>
        <p:nvCxnSpPr>
          <p:cNvPr id="601" name="Google Shape;601;p67"/>
          <p:cNvCxnSpPr/>
          <p:nvPr/>
        </p:nvCxnSpPr>
        <p:spPr>
          <a:xfrm>
            <a:off x="9330840" y="3235680"/>
            <a:ext cx="672000" cy="600"/>
          </a:xfrm>
          <a:prstGeom prst="curvedConnector3">
            <a:avLst>
              <a:gd fmla="val 50000" name="adj1"/>
            </a:avLst>
          </a:prstGeom>
          <a:noFill/>
          <a:ln cap="flat" cmpd="sng" w="9525">
            <a:solidFill>
              <a:srgbClr val="1F497D"/>
            </a:solidFill>
            <a:prstDash val="solid"/>
            <a:round/>
            <a:headEnd len="sm" w="sm" type="none"/>
            <a:tailEnd len="sm" w="sm" type="none"/>
          </a:ln>
        </p:spPr>
      </p:cxnSp>
      <p:sp>
        <p:nvSpPr>
          <p:cNvPr id="602" name="Google Shape;602;p67"/>
          <p:cNvSpPr/>
          <p:nvPr/>
        </p:nvSpPr>
        <p:spPr>
          <a:xfrm>
            <a:off x="10002960" y="4130280"/>
            <a:ext cx="133524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Federated Graph Query</a:t>
            </a:r>
            <a:endParaRPr b="0" i="0" sz="1400" u="none" cap="none" strike="noStrike">
              <a:latin typeface="Arial"/>
              <a:ea typeface="Arial"/>
              <a:cs typeface="Arial"/>
              <a:sym typeface="Arial"/>
            </a:endParaRPr>
          </a:p>
        </p:txBody>
      </p:sp>
      <p:cxnSp>
        <p:nvCxnSpPr>
          <p:cNvPr id="603" name="Google Shape;603;p67"/>
          <p:cNvCxnSpPr/>
          <p:nvPr/>
        </p:nvCxnSpPr>
        <p:spPr>
          <a:xfrm flipH="1" rot="-5400000">
            <a:off x="9034440" y="3532080"/>
            <a:ext cx="1264800" cy="672000"/>
          </a:xfrm>
          <a:prstGeom prst="curvedConnector3">
            <a:avLst>
              <a:gd fmla="val 0" name="adj1"/>
            </a:avLst>
          </a:prstGeom>
          <a:noFill/>
          <a:ln cap="flat" cmpd="sng" w="9525">
            <a:solidFill>
              <a:srgbClr val="1F497D"/>
            </a:solidFill>
            <a:prstDash val="solid"/>
            <a:round/>
            <a:headEnd len="sm" w="sm" type="none"/>
            <a:tailEnd len="sm" w="sm" type="none"/>
          </a:ln>
        </p:spPr>
      </p:cxnSp>
      <p:sp>
        <p:nvSpPr>
          <p:cNvPr id="604" name="Google Shape;604;p67"/>
          <p:cNvSpPr/>
          <p:nvPr/>
        </p:nvSpPr>
        <p:spPr>
          <a:xfrm>
            <a:off x="11579760" y="2877840"/>
            <a:ext cx="123912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Inferencing</a:t>
            </a:r>
            <a:endParaRPr b="0" i="0" sz="140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(AI Agents)</a:t>
            </a:r>
            <a:endParaRPr b="0" i="0" sz="1400" u="none" cap="none" strike="noStrike">
              <a:latin typeface="Arial"/>
              <a:ea typeface="Arial"/>
              <a:cs typeface="Arial"/>
              <a:sym typeface="Arial"/>
            </a:endParaRPr>
          </a:p>
        </p:txBody>
      </p:sp>
      <p:cxnSp>
        <p:nvCxnSpPr>
          <p:cNvPr id="605" name="Google Shape;605;p67"/>
          <p:cNvCxnSpPr/>
          <p:nvPr/>
        </p:nvCxnSpPr>
        <p:spPr>
          <a:xfrm>
            <a:off x="11194200" y="1970640"/>
            <a:ext cx="1005000" cy="906900"/>
          </a:xfrm>
          <a:prstGeom prst="curvedConnector2">
            <a:avLst/>
          </a:prstGeom>
          <a:noFill/>
          <a:ln cap="flat" cmpd="sng" w="9525">
            <a:solidFill>
              <a:srgbClr val="1F497D"/>
            </a:solidFill>
            <a:prstDash val="solid"/>
            <a:round/>
            <a:headEnd len="sm" w="sm" type="none"/>
            <a:tailEnd len="sm" w="sm" type="none"/>
          </a:ln>
        </p:spPr>
      </p:cxnSp>
      <p:cxnSp>
        <p:nvCxnSpPr>
          <p:cNvPr id="606" name="Google Shape;606;p67"/>
          <p:cNvCxnSpPr/>
          <p:nvPr/>
        </p:nvCxnSpPr>
        <p:spPr>
          <a:xfrm rot="-5400000">
            <a:off x="11326470" y="4511370"/>
            <a:ext cx="882000" cy="860700"/>
          </a:xfrm>
          <a:prstGeom prst="curvedConnector2">
            <a:avLst/>
          </a:prstGeom>
          <a:noFill/>
          <a:ln cap="flat" cmpd="sng" w="9525">
            <a:solidFill>
              <a:srgbClr val="1F497D"/>
            </a:solidFill>
            <a:prstDash val="solid"/>
            <a:round/>
            <a:headEnd len="sm" w="sm" type="none"/>
            <a:tailEnd len="sm" w="sm" type="none"/>
          </a:ln>
        </p:spPr>
      </p:cxnSp>
      <p:cxnSp>
        <p:nvCxnSpPr>
          <p:cNvPr id="607" name="Google Shape;607;p67"/>
          <p:cNvCxnSpPr/>
          <p:nvPr/>
        </p:nvCxnSpPr>
        <p:spPr>
          <a:xfrm>
            <a:off x="11146320" y="3235680"/>
            <a:ext cx="433500" cy="12300"/>
          </a:xfrm>
          <a:prstGeom prst="curvedConnector3">
            <a:avLst>
              <a:gd fmla="val 49984" name="adj1"/>
            </a:avLst>
          </a:prstGeom>
          <a:noFill/>
          <a:ln cap="flat" cmpd="sng" w="9525">
            <a:solidFill>
              <a:srgbClr val="1F497D"/>
            </a:solidFill>
            <a:prstDash val="solid"/>
            <a:round/>
            <a:headEnd len="sm" w="sm" type="none"/>
            <a:tailEnd len="sm" w="sm" type="none"/>
          </a:ln>
        </p:spPr>
      </p:cxnSp>
      <p:sp>
        <p:nvSpPr>
          <p:cNvPr id="608" name="Google Shape;608;p67"/>
          <p:cNvSpPr/>
          <p:nvPr/>
        </p:nvSpPr>
        <p:spPr>
          <a:xfrm>
            <a:off x="13161600" y="2878200"/>
            <a:ext cx="1143000" cy="740520"/>
          </a:xfrm>
          <a:prstGeom prst="roundRect">
            <a:avLst>
              <a:gd fmla="val 16667" name="adj"/>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0" i="0" lang="en-US" sz="1400" u="none" cap="none" strike="noStrike">
                <a:solidFill>
                  <a:srgbClr val="000000"/>
                </a:solidFill>
                <a:latin typeface="Arial"/>
                <a:ea typeface="Arial"/>
                <a:cs typeface="Arial"/>
                <a:sym typeface="Arial"/>
              </a:rPr>
              <a:t>Results</a:t>
            </a:r>
            <a:endParaRPr b="0" i="0" sz="14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personalized</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Relevant</a:t>
            </a:r>
            <a:endParaRPr b="0" i="0" sz="900" u="none" cap="none" strike="noStrike">
              <a:latin typeface="Arial"/>
              <a:ea typeface="Arial"/>
              <a:cs typeface="Arial"/>
              <a:sym typeface="Arial"/>
            </a:endParaRPr>
          </a:p>
          <a:p>
            <a:pPr indent="-171000" lvl="0" marL="171360" marR="0" rtl="0" algn="ctr">
              <a:lnSpc>
                <a:spcPct val="100000"/>
              </a:lnSpc>
              <a:spcBef>
                <a:spcPts val="0"/>
              </a:spcBef>
              <a:spcAft>
                <a:spcPts val="0"/>
              </a:spcAft>
              <a:buClr>
                <a:srgbClr val="000000"/>
              </a:buClr>
              <a:buSzPts val="900"/>
              <a:buFont typeface="Arial"/>
              <a:buChar char="●"/>
            </a:pPr>
            <a:r>
              <a:rPr b="0" i="0" lang="en-US" sz="900" u="none" cap="none" strike="noStrike">
                <a:solidFill>
                  <a:srgbClr val="000000"/>
                </a:solidFill>
                <a:latin typeface="Arial"/>
                <a:ea typeface="Arial"/>
                <a:cs typeface="Arial"/>
                <a:sym typeface="Arial"/>
              </a:rPr>
              <a:t>Precise</a:t>
            </a:r>
            <a:endParaRPr b="0" i="0" sz="900" u="none" cap="none" strike="noStrike">
              <a:latin typeface="Arial"/>
              <a:ea typeface="Arial"/>
              <a:cs typeface="Arial"/>
              <a:sym typeface="Arial"/>
            </a:endParaRPr>
          </a:p>
        </p:txBody>
      </p:sp>
      <p:cxnSp>
        <p:nvCxnSpPr>
          <p:cNvPr id="609" name="Google Shape;609;p67"/>
          <p:cNvCxnSpPr/>
          <p:nvPr/>
        </p:nvCxnSpPr>
        <p:spPr>
          <a:xfrm>
            <a:off x="12786120" y="3241440"/>
            <a:ext cx="342000" cy="600"/>
          </a:xfrm>
          <a:prstGeom prst="curvedConnector3">
            <a:avLst>
              <a:gd fmla="val 50000" name="adj1"/>
            </a:avLst>
          </a:prstGeom>
          <a:noFill/>
          <a:ln cap="flat" cmpd="sng" w="9525">
            <a:solidFill>
              <a:srgbClr val="1F497D"/>
            </a:solidFill>
            <a:prstDash val="solid"/>
            <a:round/>
            <a:headEnd len="sm" w="sm" type="none"/>
            <a:tailEnd len="sm" w="sm" type="none"/>
          </a:ln>
        </p:spPr>
      </p:cxnSp>
      <p:sp>
        <p:nvSpPr>
          <p:cNvPr id="610" name="Google Shape;610;p67"/>
          <p:cNvSpPr/>
          <p:nvPr/>
        </p:nvSpPr>
        <p:spPr>
          <a:xfrm>
            <a:off x="9527040" y="6015960"/>
            <a:ext cx="2999520" cy="903240"/>
          </a:xfrm>
          <a:prstGeom prst="rect">
            <a:avLst/>
          </a:prstGeom>
          <a:noFill/>
          <a:ln cap="flat" cmpd="sng" w="19075">
            <a:solidFill>
              <a:srgbClr val="4F81BD"/>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58000"/>
              </a:lnSpc>
              <a:spcBef>
                <a:spcPts val="0"/>
              </a:spcBef>
              <a:spcAft>
                <a:spcPts val="0"/>
              </a:spcAft>
              <a:buNone/>
            </a:pPr>
            <a:r>
              <a:rPr b="0" i="0" lang="en-US" sz="1500" u="none" cap="none" strike="noStrike">
                <a:solidFill>
                  <a:srgbClr val="4F81BD"/>
                </a:solidFill>
                <a:latin typeface="Inter"/>
                <a:ea typeface="Inter"/>
                <a:cs typeface="Inter"/>
                <a:sym typeface="Inter"/>
              </a:rPr>
              <a:t>* See prior slide for overview of Knowledge Fabric design</a:t>
            </a:r>
            <a:endParaRPr b="0" i="0" sz="1500" u="none" cap="none" strike="noStrike">
              <a:latin typeface="Arial"/>
              <a:ea typeface="Arial"/>
              <a:cs typeface="Arial"/>
              <a:sym typeface="Arial"/>
            </a:endParaRPr>
          </a:p>
        </p:txBody>
      </p:sp>
      <p:sp>
        <p:nvSpPr>
          <p:cNvPr id="611" name="Google Shape;611;p67"/>
          <p:cNvSpPr/>
          <p:nvPr/>
        </p:nvSpPr>
        <p:spPr>
          <a:xfrm>
            <a:off x="11418840" y="2584080"/>
            <a:ext cx="1543680" cy="1264680"/>
          </a:xfrm>
          <a:prstGeom prst="roundRect">
            <a:avLst>
              <a:gd fmla="val 16667" name="adj"/>
            </a:avLst>
          </a:prstGeom>
          <a:noFill/>
          <a:ln cap="flat" cmpd="sng" w="284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12" name="Google Shape;612;p67"/>
          <p:cNvGrpSpPr/>
          <p:nvPr/>
        </p:nvGrpSpPr>
        <p:grpSpPr>
          <a:xfrm>
            <a:off x="13783680" y="0"/>
            <a:ext cx="846360" cy="968400"/>
            <a:chOff x="13783680" y="0"/>
            <a:chExt cx="846360" cy="968400"/>
          </a:xfrm>
        </p:grpSpPr>
        <p:sp>
          <p:nvSpPr>
            <p:cNvPr id="613" name="Google Shape;613;p67"/>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14" name="Google Shape;614;p67"/>
            <p:cNvGrpSpPr/>
            <p:nvPr/>
          </p:nvGrpSpPr>
          <p:grpSpPr>
            <a:xfrm>
              <a:off x="13838760" y="0"/>
              <a:ext cx="791280" cy="968400"/>
              <a:chOff x="13838760" y="0"/>
              <a:chExt cx="791280" cy="968400"/>
            </a:xfrm>
          </p:grpSpPr>
          <p:pic>
            <p:nvPicPr>
              <p:cNvPr id="615" name="Google Shape;615;p67"/>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616" name="Google Shape;616;p67"/>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1" name="Shape 621"/>
        <p:cNvGrpSpPr/>
        <p:nvPr/>
      </p:nvGrpSpPr>
      <p:grpSpPr>
        <a:xfrm>
          <a:off x="0" y="0"/>
          <a:ext cx="0" cy="0"/>
          <a:chOff x="0" y="0"/>
          <a:chExt cx="0" cy="0"/>
        </a:xfrm>
      </p:grpSpPr>
      <p:sp>
        <p:nvSpPr>
          <p:cNvPr id="622" name="Google Shape;622;p68"/>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Solution Design</a:t>
            </a:r>
            <a:endParaRPr b="0" i="0" sz="4450" u="none" cap="none" strike="noStrike">
              <a:latin typeface="Arial"/>
              <a:ea typeface="Arial"/>
              <a:cs typeface="Arial"/>
              <a:sym typeface="Arial"/>
            </a:endParaRPr>
          </a:p>
        </p:txBody>
      </p:sp>
      <p:sp>
        <p:nvSpPr>
          <p:cNvPr id="623" name="Google Shape;623;p68"/>
          <p:cNvSpPr/>
          <p:nvPr/>
        </p:nvSpPr>
        <p:spPr>
          <a:xfrm>
            <a:off x="342360" y="1970640"/>
            <a:ext cx="35143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Inferencing (AI Agents)</a:t>
            </a:r>
            <a:endParaRPr b="0" i="0" sz="2200" u="none" cap="none" strike="noStrike">
              <a:latin typeface="Arial"/>
              <a:ea typeface="Arial"/>
              <a:cs typeface="Arial"/>
              <a:sym typeface="Arial"/>
            </a:endParaRPr>
          </a:p>
        </p:txBody>
      </p:sp>
      <p:sp>
        <p:nvSpPr>
          <p:cNvPr id="624" name="Google Shape;624;p68"/>
          <p:cNvSpPr/>
          <p:nvPr/>
        </p:nvSpPr>
        <p:spPr>
          <a:xfrm>
            <a:off x="342360" y="5103360"/>
            <a:ext cx="12437280" cy="2883960"/>
          </a:xfrm>
          <a:prstGeom prst="rect">
            <a:avLst/>
          </a:prstGeom>
          <a:noFill/>
          <a:ln>
            <a:noFill/>
          </a:ln>
        </p:spPr>
        <p:txBody>
          <a:bodyPr anchorCtr="0" anchor="t" bIns="0" lIns="0" spcFirstLastPara="1" rIns="0" wrap="square" tIns="0">
            <a:noAutofit/>
          </a:bodyPr>
          <a:lstStyle/>
          <a:p>
            <a:pPr indent="-317160" lvl="0" marL="4572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The above diagram is a simplified End-2-End Flow showing where the Semantic Services will be deployed. The flow shows two sets of semantic services:</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Search &amp; Discover </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Knowledge Expansion</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The flow touches on some of the downstream orchestration</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Data services (extract, transform, load, map, merge)</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BI services (aggregation, metrics, trending, analysis, insights, visualization) </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AI services (inferencing, summarizing, projection, generate, explain)</a:t>
            </a:r>
            <a:endParaRPr b="0" i="0" sz="1400" u="none" cap="none" strike="noStrike">
              <a:latin typeface="Arial"/>
              <a:ea typeface="Arial"/>
              <a:cs typeface="Arial"/>
              <a:sym typeface="Arial"/>
            </a:endParaRPr>
          </a:p>
        </p:txBody>
      </p:sp>
      <p:pic>
        <p:nvPicPr>
          <p:cNvPr id="625" name="Google Shape;625;p68"/>
          <p:cNvPicPr preferRelativeResize="0"/>
          <p:nvPr/>
        </p:nvPicPr>
        <p:blipFill rotWithShape="1">
          <a:blip r:embed="rId3">
            <a:alphaModFix/>
          </a:blip>
          <a:srcRect b="0" l="0" r="0" t="0"/>
          <a:stretch/>
        </p:blipFill>
        <p:spPr>
          <a:xfrm>
            <a:off x="0" y="1459440"/>
            <a:ext cx="14477760" cy="3562560"/>
          </a:xfrm>
          <a:prstGeom prst="rect">
            <a:avLst/>
          </a:prstGeom>
          <a:noFill/>
          <a:ln>
            <a:noFill/>
          </a:ln>
        </p:spPr>
      </p:pic>
      <p:grpSp>
        <p:nvGrpSpPr>
          <p:cNvPr id="626" name="Google Shape;626;p68"/>
          <p:cNvGrpSpPr/>
          <p:nvPr/>
        </p:nvGrpSpPr>
        <p:grpSpPr>
          <a:xfrm>
            <a:off x="13783680" y="0"/>
            <a:ext cx="846360" cy="968400"/>
            <a:chOff x="13783680" y="0"/>
            <a:chExt cx="846360" cy="968400"/>
          </a:xfrm>
        </p:grpSpPr>
        <p:sp>
          <p:nvSpPr>
            <p:cNvPr id="627" name="Google Shape;627;p68"/>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28" name="Google Shape;628;p68"/>
            <p:cNvGrpSpPr/>
            <p:nvPr/>
          </p:nvGrpSpPr>
          <p:grpSpPr>
            <a:xfrm>
              <a:off x="13838760" y="0"/>
              <a:ext cx="791280" cy="968400"/>
              <a:chOff x="13838760" y="0"/>
              <a:chExt cx="791280" cy="968400"/>
            </a:xfrm>
          </p:grpSpPr>
          <p:pic>
            <p:nvPicPr>
              <p:cNvPr id="629" name="Google Shape;629;p68"/>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630" name="Google Shape;630;p68"/>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69"/>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Solution Design</a:t>
            </a:r>
            <a:endParaRPr b="0" i="0" sz="4450" u="none" cap="none" strike="noStrike">
              <a:latin typeface="Arial"/>
              <a:ea typeface="Arial"/>
              <a:cs typeface="Arial"/>
              <a:sym typeface="Arial"/>
            </a:endParaRPr>
          </a:p>
        </p:txBody>
      </p:sp>
      <p:sp>
        <p:nvSpPr>
          <p:cNvPr id="637" name="Google Shape;637;p69"/>
          <p:cNvSpPr/>
          <p:nvPr/>
        </p:nvSpPr>
        <p:spPr>
          <a:xfrm>
            <a:off x="342360" y="1970640"/>
            <a:ext cx="35143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Key Components</a:t>
            </a:r>
            <a:endParaRPr b="0" i="0" sz="2200" u="none" cap="none" strike="noStrike">
              <a:latin typeface="Arial"/>
              <a:ea typeface="Arial"/>
              <a:cs typeface="Arial"/>
              <a:sym typeface="Arial"/>
            </a:endParaRPr>
          </a:p>
        </p:txBody>
      </p:sp>
      <p:sp>
        <p:nvSpPr>
          <p:cNvPr id="638" name="Google Shape;638;p69"/>
          <p:cNvSpPr/>
          <p:nvPr/>
        </p:nvSpPr>
        <p:spPr>
          <a:xfrm>
            <a:off x="342360" y="2460600"/>
            <a:ext cx="6269400" cy="5423040"/>
          </a:xfrm>
          <a:prstGeom prst="rect">
            <a:avLst/>
          </a:prstGeom>
          <a:noFill/>
          <a:ln>
            <a:noFill/>
          </a:ln>
        </p:spPr>
        <p:txBody>
          <a:bodyPr anchorCtr="0" anchor="t" bIns="0" lIns="0" spcFirstLastPara="1" rIns="0" wrap="square" tIns="0">
            <a:noAutofit/>
          </a:bodyPr>
          <a:lstStyle/>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Prompt Engineering -</a:t>
            </a:r>
            <a:r>
              <a:rPr b="0" i="0" lang="en-US" sz="1400" u="none" cap="none" strike="noStrike">
                <a:solidFill>
                  <a:srgbClr val="272525"/>
                </a:solidFill>
                <a:latin typeface="Inter"/>
                <a:ea typeface="Inter"/>
                <a:cs typeface="Inter"/>
                <a:sym typeface="Inter"/>
              </a:rPr>
              <a:t> Captures user inputs (words, phrases, and questions) and translates them into structured queries.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Semantic Knowledge -</a:t>
            </a:r>
            <a:r>
              <a:rPr b="0" i="0" lang="en-US" sz="1400" u="none" cap="none" strike="noStrike">
                <a:solidFill>
                  <a:srgbClr val="272525"/>
                </a:solidFill>
                <a:latin typeface="Inter"/>
                <a:ea typeface="Inter"/>
                <a:cs typeface="Inter"/>
                <a:sym typeface="Inter"/>
              </a:rPr>
              <a:t> Utilizes consumer persona models and inputs to generate SPARQL and SHACL queries for knowledge graph access.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Semantic Services -</a:t>
            </a:r>
            <a:r>
              <a:rPr b="0" i="0" lang="en-US" sz="1400" u="none" cap="none" strike="noStrike">
                <a:solidFill>
                  <a:srgbClr val="272525"/>
                </a:solidFill>
                <a:latin typeface="Inter"/>
                <a:ea typeface="Inter"/>
                <a:cs typeface="Inter"/>
                <a:sym typeface="Inter"/>
              </a:rPr>
              <a:t> A set of microservices that interact with Metaphactory APIs to query RDF stores and generate outputs for downstream processing.</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Orchestration -</a:t>
            </a:r>
            <a:r>
              <a:rPr b="0" i="0" lang="en-US" sz="1400" u="none" cap="none" strike="noStrike">
                <a:solidFill>
                  <a:srgbClr val="272525"/>
                </a:solidFill>
                <a:latin typeface="Inter"/>
                <a:ea typeface="Inter"/>
                <a:cs typeface="Inter"/>
                <a:sym typeface="Inter"/>
              </a:rPr>
              <a:t> Applies conditional logic and constraints to guide downstream microservices, BI agents, and AI agents.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Analytics and Visualization - </a:t>
            </a:r>
            <a:r>
              <a:rPr b="0" i="0" lang="en-US" sz="1400" u="none" cap="none" strike="noStrike">
                <a:solidFill>
                  <a:srgbClr val="272525"/>
                </a:solidFill>
                <a:latin typeface="Inter"/>
                <a:ea typeface="Inter"/>
                <a:cs typeface="Inter"/>
                <a:sym typeface="Inter"/>
              </a:rPr>
              <a:t>Extracts, transforms, and applies analytics and visualizations to the data.</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Explanation Generation - </a:t>
            </a:r>
            <a:r>
              <a:rPr b="0" i="0" lang="en-US" sz="1400" u="none" cap="none" strike="noStrike">
                <a:solidFill>
                  <a:srgbClr val="272525"/>
                </a:solidFill>
                <a:latin typeface="Inter"/>
                <a:ea typeface="Inter"/>
                <a:cs typeface="Inter"/>
                <a:sym typeface="Inter"/>
              </a:rPr>
              <a:t>Generates contextual explanations for the results.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Dynamic Semantic Expansion - </a:t>
            </a:r>
            <a:r>
              <a:rPr b="0" i="0" lang="en-US" sz="1400" u="none" cap="none" strike="noStrike">
                <a:solidFill>
                  <a:srgbClr val="272525"/>
                </a:solidFill>
                <a:latin typeface="Inter"/>
                <a:ea typeface="Inter"/>
                <a:cs typeface="Inter"/>
                <a:sym typeface="Inter"/>
              </a:rPr>
              <a:t>Expands the semantic knowledge layer with enterprise and domain-specific contexts.</a:t>
            </a:r>
            <a:endParaRPr b="0" i="0" sz="1400" u="none" cap="none" strike="noStrike">
              <a:latin typeface="Arial"/>
              <a:ea typeface="Arial"/>
              <a:cs typeface="Arial"/>
              <a:sym typeface="Arial"/>
            </a:endParaRPr>
          </a:p>
        </p:txBody>
      </p:sp>
      <p:pic>
        <p:nvPicPr>
          <p:cNvPr id="639" name="Google Shape;639;p69"/>
          <p:cNvPicPr preferRelativeResize="0"/>
          <p:nvPr/>
        </p:nvPicPr>
        <p:blipFill rotWithShape="1">
          <a:blip r:embed="rId3">
            <a:alphaModFix/>
          </a:blip>
          <a:srcRect b="0" l="0" r="0" t="0"/>
          <a:stretch/>
        </p:blipFill>
        <p:spPr>
          <a:xfrm>
            <a:off x="7795800" y="2293920"/>
            <a:ext cx="6149160" cy="1513080"/>
          </a:xfrm>
          <a:prstGeom prst="rect">
            <a:avLst/>
          </a:prstGeom>
          <a:noFill/>
          <a:ln>
            <a:noFill/>
          </a:ln>
        </p:spPr>
      </p:pic>
      <p:grpSp>
        <p:nvGrpSpPr>
          <p:cNvPr id="640" name="Google Shape;640;p69"/>
          <p:cNvGrpSpPr/>
          <p:nvPr/>
        </p:nvGrpSpPr>
        <p:grpSpPr>
          <a:xfrm>
            <a:off x="13783680" y="0"/>
            <a:ext cx="846360" cy="968400"/>
            <a:chOff x="13783680" y="0"/>
            <a:chExt cx="846360" cy="968400"/>
          </a:xfrm>
        </p:grpSpPr>
        <p:sp>
          <p:nvSpPr>
            <p:cNvPr id="641" name="Google Shape;641;p69"/>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42" name="Google Shape;642;p69"/>
            <p:cNvGrpSpPr/>
            <p:nvPr/>
          </p:nvGrpSpPr>
          <p:grpSpPr>
            <a:xfrm>
              <a:off x="13838760" y="0"/>
              <a:ext cx="791280" cy="968400"/>
              <a:chOff x="13838760" y="0"/>
              <a:chExt cx="791280" cy="968400"/>
            </a:xfrm>
          </p:grpSpPr>
          <p:pic>
            <p:nvPicPr>
              <p:cNvPr id="643" name="Google Shape;643;p69"/>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644" name="Google Shape;644;p69"/>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sp>
        <p:nvSpPr>
          <p:cNvPr id="650" name="Google Shape;650;p70"/>
          <p:cNvSpPr/>
          <p:nvPr/>
        </p:nvSpPr>
        <p:spPr>
          <a:xfrm>
            <a:off x="758520" y="596160"/>
            <a:ext cx="7839720" cy="7106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450" u="none" cap="none" strike="noStrike">
                <a:solidFill>
                  <a:srgbClr val="000000"/>
                </a:solidFill>
                <a:latin typeface="Petrona"/>
                <a:ea typeface="Petrona"/>
                <a:cs typeface="Petrona"/>
                <a:sym typeface="Petrona"/>
              </a:rPr>
              <a:t>Solution Design</a:t>
            </a:r>
            <a:endParaRPr b="0" i="0" sz="4450" u="none" cap="none" strike="noStrike">
              <a:latin typeface="Arial"/>
              <a:ea typeface="Arial"/>
              <a:cs typeface="Arial"/>
              <a:sym typeface="Arial"/>
            </a:endParaRPr>
          </a:p>
        </p:txBody>
      </p:sp>
      <p:sp>
        <p:nvSpPr>
          <p:cNvPr id="651" name="Google Shape;651;p70"/>
          <p:cNvSpPr/>
          <p:nvPr/>
        </p:nvSpPr>
        <p:spPr>
          <a:xfrm>
            <a:off x="342360" y="1970640"/>
            <a:ext cx="5562720" cy="363240"/>
          </a:xfrm>
          <a:prstGeom prst="rect">
            <a:avLst/>
          </a:prstGeom>
          <a:noFill/>
          <a:ln>
            <a:noFill/>
          </a:ln>
        </p:spPr>
        <p:txBody>
          <a:bodyPr anchorCtr="0" anchor="t" bIns="0" lIns="0" spcFirstLastPara="1" rIns="0" wrap="square" tIns="0">
            <a:noAutofit/>
          </a:bodyPr>
          <a:lstStyle/>
          <a:p>
            <a:pPr indent="0" lvl="0" marL="0" marR="0" rtl="0" algn="l">
              <a:lnSpc>
                <a:spcPct val="127000"/>
              </a:lnSpc>
              <a:spcBef>
                <a:spcPts val="0"/>
              </a:spcBef>
              <a:spcAft>
                <a:spcPts val="0"/>
              </a:spcAft>
              <a:buNone/>
            </a:pPr>
            <a:r>
              <a:rPr b="1" i="0" lang="en-US" sz="2200" u="none" cap="none" strike="noStrike">
                <a:solidFill>
                  <a:srgbClr val="272525"/>
                </a:solidFill>
                <a:latin typeface="Petrona"/>
                <a:ea typeface="Petrona"/>
                <a:cs typeface="Petrona"/>
                <a:sym typeface="Petrona"/>
              </a:rPr>
              <a:t>Key Components (Functional Breakdown)</a:t>
            </a:r>
            <a:endParaRPr b="0" i="0" sz="2200" u="none" cap="none" strike="noStrike">
              <a:latin typeface="Arial"/>
              <a:ea typeface="Arial"/>
              <a:cs typeface="Arial"/>
              <a:sym typeface="Arial"/>
            </a:endParaRPr>
          </a:p>
        </p:txBody>
      </p:sp>
      <p:sp>
        <p:nvSpPr>
          <p:cNvPr id="652" name="Google Shape;652;p70"/>
          <p:cNvSpPr/>
          <p:nvPr/>
        </p:nvSpPr>
        <p:spPr>
          <a:xfrm>
            <a:off x="342360" y="2460600"/>
            <a:ext cx="6269400" cy="5540400"/>
          </a:xfrm>
          <a:prstGeom prst="rect">
            <a:avLst/>
          </a:prstGeom>
          <a:noFill/>
          <a:ln>
            <a:noFill/>
          </a:ln>
        </p:spPr>
        <p:txBody>
          <a:bodyPr anchorCtr="0" anchor="t" bIns="0" lIns="0" spcFirstLastPara="1" rIns="0" wrap="square" tIns="0">
            <a:noAutofit/>
          </a:bodyPr>
          <a:lstStyle/>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Prompt Engineering</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Capture user inputs (words, phrases, and questions) via a natural language interface.</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Parse and normalize inputs to generate structured queries.</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Map user inputs to consumer persona models for contextual relevance.</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Semantic Knowledge</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Use consumer persona models to contextualize queries.</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Generate SPARQL queries to retrieve data from RDF stores.</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Use SHACL to validate and constrain query results based on business rules.</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Integrate with Metaphactory APIs to access knowledge graphs.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Semantic Services</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Provide microservices to:</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Query RDF stores using SPARQL.</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Validate and constrain results using SHACL.</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Dynamically expand the semantic knowledge layer with enterprise and domain-specific contexts.</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Expose APIs for downstream services to consume query results.</a:t>
            </a:r>
            <a:endParaRPr b="0" i="0" sz="1400" u="none" cap="none" strike="noStrike">
              <a:latin typeface="Arial"/>
              <a:ea typeface="Arial"/>
              <a:cs typeface="Arial"/>
              <a:sym typeface="Arial"/>
            </a:endParaRPr>
          </a:p>
        </p:txBody>
      </p:sp>
      <p:pic>
        <p:nvPicPr>
          <p:cNvPr id="653" name="Google Shape;653;p70"/>
          <p:cNvPicPr preferRelativeResize="0"/>
          <p:nvPr/>
        </p:nvPicPr>
        <p:blipFill rotWithShape="1">
          <a:blip r:embed="rId3">
            <a:alphaModFix/>
          </a:blip>
          <a:srcRect b="0" l="0" r="0" t="0"/>
          <a:stretch/>
        </p:blipFill>
        <p:spPr>
          <a:xfrm>
            <a:off x="7782120" y="416520"/>
            <a:ext cx="6149160" cy="1513080"/>
          </a:xfrm>
          <a:prstGeom prst="rect">
            <a:avLst/>
          </a:prstGeom>
          <a:noFill/>
          <a:ln>
            <a:noFill/>
          </a:ln>
        </p:spPr>
      </p:pic>
      <p:sp>
        <p:nvSpPr>
          <p:cNvPr id="654" name="Google Shape;654;p70"/>
          <p:cNvSpPr/>
          <p:nvPr/>
        </p:nvSpPr>
        <p:spPr>
          <a:xfrm>
            <a:off x="7553880" y="2460600"/>
            <a:ext cx="6269400" cy="5656320"/>
          </a:xfrm>
          <a:prstGeom prst="rect">
            <a:avLst/>
          </a:prstGeom>
          <a:noFill/>
          <a:ln>
            <a:noFill/>
          </a:ln>
        </p:spPr>
        <p:txBody>
          <a:bodyPr anchorCtr="0" anchor="t" bIns="0" lIns="0" spcFirstLastPara="1" rIns="0" wrap="square" tIns="0">
            <a:noAutofit/>
          </a:bodyPr>
          <a:lstStyle/>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Orchestration</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Apply conditional logic and constraints to guide downstream microservices, BI agents, and AI agents.</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Ensure seamless integration between semantic services and downstream processing.</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Analytics and Visualization</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Extract and transform data from query results.</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Apply analytics to generate insights.</a:t>
            </a:r>
            <a:endParaRPr b="0" i="0" sz="1400" u="none" cap="none" strike="noStrike">
              <a:latin typeface="Arial"/>
              <a:ea typeface="Arial"/>
              <a:cs typeface="Arial"/>
              <a:sym typeface="Arial"/>
            </a:endParaRPr>
          </a:p>
          <a:p>
            <a:pPr indent="-317160" lvl="2" marL="13716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Create visualizations (e.g., charts, graphs, dashboards) for presentation.</a:t>
            </a:r>
            <a:endParaRPr b="0" i="0" sz="1400" u="none" cap="none" strike="noStrike">
              <a:latin typeface="Arial"/>
              <a:ea typeface="Arial"/>
              <a:cs typeface="Arial"/>
              <a:sym typeface="Arial"/>
            </a:endParaRPr>
          </a:p>
          <a:p>
            <a:pPr indent="-317160" lvl="0" marL="457200" marR="0" rtl="0" algn="l">
              <a:lnSpc>
                <a:spcPct val="158000"/>
              </a:lnSpc>
              <a:spcBef>
                <a:spcPts val="1001"/>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Explanation Generation</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Generate natural language explanations for query results.</a:t>
            </a:r>
            <a:endParaRPr b="0" i="0" sz="1400" u="none" cap="none" strike="noStrike">
              <a:latin typeface="Arial"/>
              <a:ea typeface="Arial"/>
              <a:cs typeface="Arial"/>
              <a:sym typeface="Arial"/>
            </a:endParaRPr>
          </a:p>
          <a:p>
            <a:pPr indent="-317160" lvl="1" marL="914400" marR="0" rtl="0" algn="l">
              <a:lnSpc>
                <a:spcPct val="158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Provide contextual insights based on consumer persona models.</a:t>
            </a:r>
            <a:endParaRPr b="0" i="0" sz="1400" u="none" cap="none" strike="noStrike">
              <a:latin typeface="Arial"/>
              <a:ea typeface="Arial"/>
              <a:cs typeface="Arial"/>
              <a:sym typeface="Arial"/>
            </a:endParaRPr>
          </a:p>
          <a:p>
            <a:pPr indent="-317160" lvl="0" marL="457200" marR="0" rtl="0" algn="l">
              <a:lnSpc>
                <a:spcPct val="158000"/>
              </a:lnSpc>
              <a:spcBef>
                <a:spcPts val="0"/>
              </a:spcBef>
              <a:spcAft>
                <a:spcPts val="0"/>
              </a:spcAft>
              <a:buClr>
                <a:srgbClr val="272525"/>
              </a:buClr>
              <a:buSzPts val="1400"/>
              <a:buFont typeface="Inter"/>
              <a:buChar char="●"/>
            </a:pPr>
            <a:r>
              <a:rPr b="1" i="0" lang="en-US" sz="1400" u="none" cap="none" strike="noStrike">
                <a:solidFill>
                  <a:srgbClr val="272525"/>
                </a:solidFill>
                <a:latin typeface="Inter"/>
                <a:ea typeface="Inter"/>
                <a:cs typeface="Inter"/>
                <a:sym typeface="Inter"/>
              </a:rPr>
              <a:t>Dynamic Semantic Expansion</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Dynamically expand the semantic knowledge layer with:</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Enterprise context (vocabularies, taxonomies, and ontologies).</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Domain-specific context (vocabularies, taxonomies, and ontologies).</a:t>
            </a:r>
            <a:endParaRPr b="0" i="0" sz="1400" u="none" cap="none" strike="noStrike">
              <a:latin typeface="Arial"/>
              <a:ea typeface="Arial"/>
              <a:cs typeface="Arial"/>
              <a:sym typeface="Arial"/>
            </a:endParaRPr>
          </a:p>
          <a:p>
            <a:pPr indent="-317160" lvl="1" marL="914400" marR="0" rtl="0" algn="l">
              <a:lnSpc>
                <a:spcPct val="100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Ensure the system adapts to evolving business and domain requirements.</a:t>
            </a:r>
            <a:endParaRPr b="0" i="0" sz="1400" u="none" cap="none" strike="noStrike">
              <a:latin typeface="Arial"/>
              <a:ea typeface="Arial"/>
              <a:cs typeface="Arial"/>
              <a:sym typeface="Arial"/>
            </a:endParaRPr>
          </a:p>
        </p:txBody>
      </p:sp>
      <p:grpSp>
        <p:nvGrpSpPr>
          <p:cNvPr id="655" name="Google Shape;655;p70"/>
          <p:cNvGrpSpPr/>
          <p:nvPr/>
        </p:nvGrpSpPr>
        <p:grpSpPr>
          <a:xfrm>
            <a:off x="13783680" y="0"/>
            <a:ext cx="846360" cy="968400"/>
            <a:chOff x="13783680" y="0"/>
            <a:chExt cx="846360" cy="968400"/>
          </a:xfrm>
        </p:grpSpPr>
        <p:sp>
          <p:nvSpPr>
            <p:cNvPr id="656" name="Google Shape;656;p70"/>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57" name="Google Shape;657;p70"/>
            <p:cNvGrpSpPr/>
            <p:nvPr/>
          </p:nvGrpSpPr>
          <p:grpSpPr>
            <a:xfrm>
              <a:off x="13838760" y="0"/>
              <a:ext cx="791280" cy="968400"/>
              <a:chOff x="13838760" y="0"/>
              <a:chExt cx="791280" cy="968400"/>
            </a:xfrm>
          </p:grpSpPr>
          <p:pic>
            <p:nvPicPr>
              <p:cNvPr id="658" name="Google Shape;658;p70"/>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659" name="Google Shape;659;p70"/>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4" name="Shape 664"/>
        <p:cNvGrpSpPr/>
        <p:nvPr/>
      </p:nvGrpSpPr>
      <p:grpSpPr>
        <a:xfrm>
          <a:off x="0" y="0"/>
          <a:ext cx="0" cy="0"/>
          <a:chOff x="0" y="0"/>
          <a:chExt cx="0" cy="0"/>
        </a:xfrm>
      </p:grpSpPr>
      <p:sp>
        <p:nvSpPr>
          <p:cNvPr id="665" name="Google Shape;665;p71"/>
          <p:cNvSpPr/>
          <p:nvPr/>
        </p:nvSpPr>
        <p:spPr>
          <a:xfrm>
            <a:off x="793800" y="1023120"/>
            <a:ext cx="959220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Pilot (Goals)</a:t>
            </a:r>
            <a:endParaRPr b="0" i="0" sz="4650" u="none" cap="none" strike="noStrike">
              <a:latin typeface="Arial"/>
              <a:ea typeface="Arial"/>
              <a:cs typeface="Arial"/>
              <a:sym typeface="Arial"/>
            </a:endParaRPr>
          </a:p>
        </p:txBody>
      </p:sp>
      <p:sp>
        <p:nvSpPr>
          <p:cNvPr id="666" name="Google Shape;666;p71"/>
          <p:cNvSpPr/>
          <p:nvPr/>
        </p:nvSpPr>
        <p:spPr>
          <a:xfrm>
            <a:off x="793800" y="2028600"/>
            <a:ext cx="13135320" cy="3967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900" u="none" cap="none" strike="noStrike">
                <a:solidFill>
                  <a:srgbClr val="000000"/>
                </a:solidFill>
                <a:latin typeface="Arial"/>
                <a:ea typeface="Arial"/>
                <a:cs typeface="Arial"/>
                <a:sym typeface="Arial"/>
              </a:rPr>
              <a:t>Goals for enabling phase 1 Semantic Search</a:t>
            </a:r>
            <a:endParaRPr b="0" i="0" sz="19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900" u="none" cap="none" strike="noStrike">
              <a:latin typeface="Arial"/>
              <a:ea typeface="Arial"/>
              <a:cs typeface="Arial"/>
              <a:sym typeface="Arial"/>
            </a:endParaRPr>
          </a:p>
          <a:p>
            <a:pPr indent="-348840" lvl="0" marL="457200" marR="0" rtl="0" algn="l">
              <a:lnSpc>
                <a:spcPct val="100000"/>
              </a:lnSpc>
              <a:spcBef>
                <a:spcPts val="0"/>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Define, Design, and Deliver initial set of Semantic Services (microservices to wrapper API calls to Metaphactory)</a:t>
            </a:r>
            <a:endParaRPr b="0" i="0" sz="1900" u="none" cap="none" strike="noStrike">
              <a:latin typeface="Arial"/>
              <a:ea typeface="Arial"/>
              <a:cs typeface="Arial"/>
              <a:sym typeface="Arial"/>
            </a:endParaRPr>
          </a:p>
          <a:p>
            <a:pPr indent="-348840" lvl="1" marL="9144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leverage their federated graph query APIs as an accelerator</a:t>
            </a:r>
            <a:endParaRPr b="0" i="0" sz="1900" u="none" cap="none" strike="noStrike">
              <a:latin typeface="Arial"/>
              <a:ea typeface="Arial"/>
              <a:cs typeface="Arial"/>
              <a:sym typeface="Arial"/>
            </a:endParaRPr>
          </a:p>
          <a:p>
            <a:pPr indent="-348840" lvl="0" marL="4572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Showcase Unified Persona Model to refine and optimize Search Relevancy </a:t>
            </a:r>
            <a:endParaRPr b="0" i="0" sz="1900" u="none" cap="none" strike="noStrike">
              <a:latin typeface="Arial"/>
              <a:ea typeface="Arial"/>
              <a:cs typeface="Arial"/>
              <a:sym typeface="Arial"/>
            </a:endParaRPr>
          </a:p>
          <a:p>
            <a:pPr indent="-348840" lvl="0" marL="4572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Demonstrate simplified UX by implementing a backplane of Semantic Services</a:t>
            </a:r>
            <a:endParaRPr b="0" i="0" sz="1900" u="none" cap="none" strike="noStrike">
              <a:latin typeface="Arial"/>
              <a:ea typeface="Arial"/>
              <a:cs typeface="Arial"/>
              <a:sym typeface="Arial"/>
            </a:endParaRPr>
          </a:p>
          <a:p>
            <a:pPr indent="-348840" lvl="0" marL="4572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Generate a set of federated queries for digital assets</a:t>
            </a:r>
            <a:endParaRPr b="0" i="0" sz="1900" u="none" cap="none" strike="noStrike">
              <a:latin typeface="Arial"/>
              <a:ea typeface="Arial"/>
              <a:cs typeface="Arial"/>
              <a:sym typeface="Arial"/>
            </a:endParaRPr>
          </a:p>
          <a:p>
            <a:pPr indent="-348840" lvl="1" marL="9144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assume these assets will be stored in GCP</a:t>
            </a:r>
            <a:endParaRPr b="0" i="0" sz="1900" u="none" cap="none" strike="noStrike">
              <a:latin typeface="Arial"/>
              <a:ea typeface="Arial"/>
              <a:cs typeface="Arial"/>
              <a:sym typeface="Arial"/>
            </a:endParaRPr>
          </a:p>
          <a:p>
            <a:pPr indent="-348840" lvl="1" marL="9144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assume Semantic Services will deliver a set of queries to Orchestration Engine</a:t>
            </a:r>
            <a:endParaRPr b="0" i="0" sz="1900" u="none" cap="none" strike="noStrike">
              <a:latin typeface="Arial"/>
              <a:ea typeface="Arial"/>
              <a:cs typeface="Arial"/>
              <a:sym typeface="Arial"/>
            </a:endParaRPr>
          </a:p>
          <a:p>
            <a:pPr indent="-348840" lvl="1" marL="914400" marR="0" rtl="0" algn="l">
              <a:lnSpc>
                <a:spcPct val="100000"/>
              </a:lnSpc>
              <a:spcBef>
                <a:spcPts val="1001"/>
              </a:spcBef>
              <a:spcAft>
                <a:spcPts val="0"/>
              </a:spcAft>
              <a:buClr>
                <a:srgbClr val="000000"/>
              </a:buClr>
              <a:buSzPts val="1900"/>
              <a:buFont typeface="Arial"/>
              <a:buChar char="○"/>
            </a:pPr>
            <a:r>
              <a:rPr b="0" i="0" lang="en-US" sz="1900" u="none" cap="none" strike="noStrike">
                <a:solidFill>
                  <a:srgbClr val="000000"/>
                </a:solidFill>
                <a:latin typeface="Arial"/>
                <a:ea typeface="Arial"/>
                <a:cs typeface="Arial"/>
                <a:sym typeface="Arial"/>
              </a:rPr>
              <a:t>Note: EA has defined a direction for an Orchestration Engine (TBD)</a:t>
            </a:r>
            <a:endParaRPr b="0" i="0" sz="1900" u="none" cap="none" strike="noStrike">
              <a:latin typeface="Arial"/>
              <a:ea typeface="Arial"/>
              <a:cs typeface="Arial"/>
              <a:sym typeface="Arial"/>
            </a:endParaRPr>
          </a:p>
        </p:txBody>
      </p:sp>
      <p:grpSp>
        <p:nvGrpSpPr>
          <p:cNvPr id="667" name="Google Shape;667;p71"/>
          <p:cNvGrpSpPr/>
          <p:nvPr/>
        </p:nvGrpSpPr>
        <p:grpSpPr>
          <a:xfrm>
            <a:off x="13783680" y="0"/>
            <a:ext cx="846360" cy="968400"/>
            <a:chOff x="13783680" y="0"/>
            <a:chExt cx="846360" cy="968400"/>
          </a:xfrm>
        </p:grpSpPr>
        <p:sp>
          <p:nvSpPr>
            <p:cNvPr id="668" name="Google Shape;668;p71"/>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69" name="Google Shape;669;p71"/>
            <p:cNvGrpSpPr/>
            <p:nvPr/>
          </p:nvGrpSpPr>
          <p:grpSpPr>
            <a:xfrm>
              <a:off x="13838760" y="0"/>
              <a:ext cx="791280" cy="968400"/>
              <a:chOff x="13838760" y="0"/>
              <a:chExt cx="791280" cy="968400"/>
            </a:xfrm>
          </p:grpSpPr>
          <p:pic>
            <p:nvPicPr>
              <p:cNvPr id="670" name="Google Shape;670;p71"/>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671" name="Google Shape;671;p71"/>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6" name="Shape 676"/>
        <p:cNvGrpSpPr/>
        <p:nvPr/>
      </p:nvGrpSpPr>
      <p:grpSpPr>
        <a:xfrm>
          <a:off x="0" y="0"/>
          <a:ext cx="0" cy="0"/>
          <a:chOff x="0" y="0"/>
          <a:chExt cx="0" cy="0"/>
        </a:xfrm>
      </p:grpSpPr>
      <p:sp>
        <p:nvSpPr>
          <p:cNvPr id="677" name="Google Shape;677;p72"/>
          <p:cNvSpPr/>
          <p:nvPr/>
        </p:nvSpPr>
        <p:spPr>
          <a:xfrm>
            <a:off x="793800" y="1023120"/>
            <a:ext cx="959220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Pilot (Scope)</a:t>
            </a:r>
            <a:endParaRPr b="0" i="0" sz="4650" u="none" cap="none" strike="noStrike">
              <a:latin typeface="Arial"/>
              <a:ea typeface="Arial"/>
              <a:cs typeface="Arial"/>
              <a:sym typeface="Arial"/>
            </a:endParaRPr>
          </a:p>
        </p:txBody>
      </p:sp>
      <p:sp>
        <p:nvSpPr>
          <p:cNvPr id="678" name="Google Shape;678;p72"/>
          <p:cNvSpPr/>
          <p:nvPr/>
        </p:nvSpPr>
        <p:spPr>
          <a:xfrm>
            <a:off x="793800" y="2028600"/>
            <a:ext cx="13135320" cy="511524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Scope for initial pilot:</a:t>
            </a:r>
            <a:endParaRPr b="0" i="0" sz="1600" u="none" cap="none" strike="noStrike">
              <a:latin typeface="Arial"/>
              <a:ea typeface="Arial"/>
              <a:cs typeface="Arial"/>
              <a:sym typeface="Arial"/>
            </a:endParaRPr>
          </a:p>
          <a:p>
            <a:pPr indent="-329760" lvl="0" marL="4572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Leverage Semantic Pilot work </a:t>
            </a:r>
            <a:endParaRPr b="0" i="0" sz="1600" u="none" cap="none" strike="noStrike">
              <a:latin typeface="Arial"/>
              <a:ea typeface="Arial"/>
              <a:cs typeface="Arial"/>
              <a:sym typeface="Arial"/>
            </a:endParaRPr>
          </a:p>
          <a:p>
            <a:pPr indent="-329760" lvl="1" marL="9144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Search will focus on one Data Product (TBD), which we have setup for basic search of concepts in Metaphactory</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Note: We may want to focus on some new Data Products which have significant visibility </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If we introduce new Data Products, then the Knowledge Engineering team may need to build / extend Domain Ontologies</a:t>
            </a:r>
            <a:endParaRPr b="0" i="0" sz="1600" u="none" cap="none" strike="noStrike">
              <a:latin typeface="Arial"/>
              <a:ea typeface="Arial"/>
              <a:cs typeface="Arial"/>
              <a:sym typeface="Arial"/>
            </a:endParaRPr>
          </a:p>
          <a:p>
            <a:pPr indent="-329760" lvl="1" marL="9144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Currently, we do not have a centralized location for Persona data. We may want to bootstrap a </a:t>
            </a:r>
            <a:r>
              <a:rPr b="0" i="0" lang="en-US" sz="1600" u="sng" cap="none" strike="noStrike">
                <a:solidFill>
                  <a:schemeClr val="hlink"/>
                </a:solidFill>
                <a:latin typeface="Arial"/>
                <a:ea typeface="Arial"/>
                <a:cs typeface="Arial"/>
                <a:sym typeface="Arial"/>
                <a:hlinkClick r:id="rId3"/>
              </a:rPr>
              <a:t>simple schema</a:t>
            </a:r>
            <a:r>
              <a:rPr b="0" i="0" lang="en-US" sz="1600" u="none" cap="none" strike="noStrike">
                <a:solidFill>
                  <a:srgbClr val="000000"/>
                </a:solidFill>
                <a:latin typeface="Arial"/>
                <a:ea typeface="Arial"/>
                <a:cs typeface="Arial"/>
                <a:sym typeface="Arial"/>
              </a:rPr>
              <a:t> in Postgres (in our DEV environment for Metaphactory)</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We will need to source Persona data from existing systems and available materials (docs, etc.)</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We will need a design to support scale for capturing and warehousing Persona data in advance of launch</a:t>
            </a:r>
            <a:endParaRPr b="0" i="0" sz="1600" u="none" cap="none" strike="noStrike">
              <a:latin typeface="Arial"/>
              <a:ea typeface="Arial"/>
              <a:cs typeface="Arial"/>
              <a:sym typeface="Arial"/>
            </a:endParaRPr>
          </a:p>
          <a:p>
            <a:pPr indent="-329760" lvl="1" marL="9144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Basic Search will consist of a few scenarios:</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Token Based Search (select list of data elements) - may or may not match business terms in the Catalog or GCP Columns</a:t>
            </a:r>
            <a:endParaRPr b="0" i="0" sz="1600" u="none" cap="none" strike="noStrike">
              <a:latin typeface="Arial"/>
              <a:ea typeface="Arial"/>
              <a:cs typeface="Arial"/>
              <a:sym typeface="Arial"/>
            </a:endParaRPr>
          </a:p>
          <a:p>
            <a:pPr indent="-329760" lvl="2" marL="13716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Marketplace Search using InfoVision (natural language) </a:t>
            </a:r>
            <a:endParaRPr b="0" i="0" sz="1600" u="none" cap="none" strike="noStrike">
              <a:latin typeface="Arial"/>
              <a:ea typeface="Arial"/>
              <a:cs typeface="Arial"/>
              <a:sym typeface="Arial"/>
            </a:endParaRPr>
          </a:p>
          <a:p>
            <a:pPr indent="-329760" lvl="1" marL="9144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Both scenarios will facilitate handoffs to Semantic Services through Marketplace and VDIL</a:t>
            </a:r>
            <a:endParaRPr b="0" i="0" sz="1600" u="none" cap="none" strike="noStrike">
              <a:latin typeface="Arial"/>
              <a:ea typeface="Arial"/>
              <a:cs typeface="Arial"/>
              <a:sym typeface="Arial"/>
            </a:endParaRPr>
          </a:p>
          <a:p>
            <a:pPr indent="-329760" lvl="0" marL="457200" marR="0" rtl="0" algn="l">
              <a:lnSpc>
                <a:spcPct val="100000"/>
              </a:lnSpc>
              <a:spcBef>
                <a:spcPts val="1001"/>
              </a:spcBef>
              <a:spcAft>
                <a:spcPts val="0"/>
              </a:spcAft>
              <a:buClr>
                <a:srgbClr val="000000"/>
              </a:buClr>
              <a:buSzPts val="1600"/>
              <a:buFont typeface="Arial"/>
              <a:buChar char="●"/>
            </a:pPr>
            <a:r>
              <a:rPr b="0" i="0" lang="en-US" sz="1600" u="none" cap="none" strike="noStrike">
                <a:solidFill>
                  <a:srgbClr val="000000"/>
                </a:solidFill>
                <a:latin typeface="Arial"/>
                <a:ea typeface="Arial"/>
                <a:cs typeface="Arial"/>
                <a:sym typeface="Arial"/>
              </a:rPr>
              <a:t>Downstream orchestration can be introduced in Phase 2</a:t>
            </a:r>
            <a:endParaRPr b="0" i="0" sz="1600" u="none" cap="none" strike="noStrike">
              <a:latin typeface="Arial"/>
              <a:ea typeface="Arial"/>
              <a:cs typeface="Arial"/>
              <a:sym typeface="Arial"/>
            </a:endParaRPr>
          </a:p>
        </p:txBody>
      </p:sp>
      <p:grpSp>
        <p:nvGrpSpPr>
          <p:cNvPr id="679" name="Google Shape;679;p72"/>
          <p:cNvGrpSpPr/>
          <p:nvPr/>
        </p:nvGrpSpPr>
        <p:grpSpPr>
          <a:xfrm>
            <a:off x="13783680" y="0"/>
            <a:ext cx="846360" cy="968400"/>
            <a:chOff x="13783680" y="0"/>
            <a:chExt cx="846360" cy="968400"/>
          </a:xfrm>
        </p:grpSpPr>
        <p:sp>
          <p:nvSpPr>
            <p:cNvPr id="680" name="Google Shape;680;p72"/>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81" name="Google Shape;681;p72"/>
            <p:cNvGrpSpPr/>
            <p:nvPr/>
          </p:nvGrpSpPr>
          <p:grpSpPr>
            <a:xfrm>
              <a:off x="13838760" y="0"/>
              <a:ext cx="791280" cy="968400"/>
              <a:chOff x="13838760" y="0"/>
              <a:chExt cx="791280" cy="968400"/>
            </a:xfrm>
          </p:grpSpPr>
          <p:pic>
            <p:nvPicPr>
              <p:cNvPr id="682" name="Google Shape;682;p72"/>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683" name="Google Shape;683;p72"/>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p73"/>
          <p:cNvSpPr/>
          <p:nvPr/>
        </p:nvSpPr>
        <p:spPr>
          <a:xfrm>
            <a:off x="4007520" y="2202480"/>
            <a:ext cx="8114040" cy="4623120"/>
          </a:xfrm>
          <a:prstGeom prst="rect">
            <a:avLst/>
          </a:prstGeom>
          <a:solidFill>
            <a:srgbClr val="98AED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73"/>
          <p:cNvSpPr/>
          <p:nvPr/>
        </p:nvSpPr>
        <p:spPr>
          <a:xfrm>
            <a:off x="3053520" y="2175840"/>
            <a:ext cx="953640" cy="4649760"/>
          </a:xfrm>
          <a:prstGeom prst="rect">
            <a:avLst/>
          </a:prstGeom>
          <a:solidFill>
            <a:srgbClr val="A5A5A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73"/>
          <p:cNvSpPr/>
          <p:nvPr/>
        </p:nvSpPr>
        <p:spPr>
          <a:xfrm>
            <a:off x="3002760" y="3421440"/>
            <a:ext cx="9112680" cy="36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691" name="Google Shape;691;p73"/>
          <p:cNvSpPr/>
          <p:nvPr/>
        </p:nvSpPr>
        <p:spPr>
          <a:xfrm>
            <a:off x="3002760" y="4838760"/>
            <a:ext cx="9112680" cy="36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692" name="Google Shape;692;p73"/>
          <p:cNvSpPr/>
          <p:nvPr/>
        </p:nvSpPr>
        <p:spPr>
          <a:xfrm>
            <a:off x="3341880" y="2747160"/>
            <a:ext cx="306000" cy="20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00000"/>
                </a:solidFill>
                <a:latin typeface="Calibri"/>
                <a:ea typeface="Calibri"/>
                <a:cs typeface="Calibri"/>
                <a:sym typeface="Calibri"/>
              </a:rPr>
              <a:t>Plan</a:t>
            </a:r>
            <a:endParaRPr b="0" i="0" sz="1300" u="none" cap="none" strike="noStrike">
              <a:latin typeface="Arial"/>
              <a:ea typeface="Arial"/>
              <a:cs typeface="Arial"/>
              <a:sym typeface="Arial"/>
            </a:endParaRPr>
          </a:p>
        </p:txBody>
      </p:sp>
      <p:sp>
        <p:nvSpPr>
          <p:cNvPr id="693" name="Google Shape;693;p73"/>
          <p:cNvSpPr/>
          <p:nvPr/>
        </p:nvSpPr>
        <p:spPr>
          <a:xfrm>
            <a:off x="3203640" y="4023720"/>
            <a:ext cx="569880" cy="20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00000"/>
                </a:solidFill>
                <a:latin typeface="Calibri"/>
                <a:ea typeface="Calibri"/>
                <a:cs typeface="Calibri"/>
                <a:sym typeface="Calibri"/>
              </a:rPr>
              <a:t>Manage</a:t>
            </a:r>
            <a:endParaRPr b="0" i="0" sz="1300" u="none" cap="none" strike="noStrike">
              <a:latin typeface="Arial"/>
              <a:ea typeface="Arial"/>
              <a:cs typeface="Arial"/>
              <a:sym typeface="Arial"/>
            </a:endParaRPr>
          </a:p>
        </p:txBody>
      </p:sp>
      <p:sp>
        <p:nvSpPr>
          <p:cNvPr id="694" name="Google Shape;694;p73"/>
          <p:cNvSpPr/>
          <p:nvPr/>
        </p:nvSpPr>
        <p:spPr>
          <a:xfrm>
            <a:off x="3193560" y="5599080"/>
            <a:ext cx="549720" cy="20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00000"/>
                </a:solidFill>
                <a:latin typeface="Calibri"/>
                <a:ea typeface="Calibri"/>
                <a:cs typeface="Calibri"/>
                <a:sym typeface="Calibri"/>
              </a:rPr>
              <a:t>Execute</a:t>
            </a:r>
            <a:endParaRPr b="0" i="0" sz="1300" u="none" cap="none" strike="noStrike">
              <a:latin typeface="Arial"/>
              <a:ea typeface="Arial"/>
              <a:cs typeface="Arial"/>
              <a:sym typeface="Arial"/>
            </a:endParaRPr>
          </a:p>
        </p:txBody>
      </p:sp>
      <p:sp>
        <p:nvSpPr>
          <p:cNvPr id="695" name="Google Shape;695;p73"/>
          <p:cNvSpPr/>
          <p:nvPr/>
        </p:nvSpPr>
        <p:spPr>
          <a:xfrm>
            <a:off x="4052160" y="1686240"/>
            <a:ext cx="8069400" cy="515880"/>
          </a:xfrm>
          <a:prstGeom prst="rect">
            <a:avLst/>
          </a:prstGeom>
          <a:solidFill>
            <a:srgbClr val="AEABA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73"/>
          <p:cNvSpPr/>
          <p:nvPr/>
        </p:nvSpPr>
        <p:spPr>
          <a:xfrm>
            <a:off x="4342320" y="1754640"/>
            <a:ext cx="979920" cy="365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Product </a:t>
            </a:r>
            <a:endParaRPr b="0" i="0" sz="1300" u="none" cap="none" strike="noStrike">
              <a:latin typeface="Arial"/>
              <a:ea typeface="Arial"/>
              <a:cs typeface="Arial"/>
              <a:sym typeface="Arial"/>
            </a:endParaRPr>
          </a:p>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Management</a:t>
            </a:r>
            <a:r>
              <a:rPr b="0" i="0" lang="en-US" sz="1300" u="none" cap="none" strike="noStrike">
                <a:solidFill>
                  <a:srgbClr val="000000"/>
                </a:solidFill>
                <a:latin typeface="Calibri"/>
                <a:ea typeface="Calibri"/>
                <a:cs typeface="Calibri"/>
                <a:sym typeface="Calibri"/>
              </a:rPr>
              <a:t> </a:t>
            </a:r>
            <a:endParaRPr b="0" i="0" sz="1300" u="none" cap="none" strike="noStrike">
              <a:latin typeface="Arial"/>
              <a:ea typeface="Arial"/>
              <a:cs typeface="Arial"/>
              <a:sym typeface="Arial"/>
            </a:endParaRPr>
          </a:p>
        </p:txBody>
      </p:sp>
      <p:sp>
        <p:nvSpPr>
          <p:cNvPr id="697" name="Google Shape;697;p73"/>
          <p:cNvSpPr/>
          <p:nvPr/>
        </p:nvSpPr>
        <p:spPr>
          <a:xfrm>
            <a:off x="5911200" y="1754640"/>
            <a:ext cx="878400" cy="365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Customer</a:t>
            </a:r>
            <a:endParaRPr b="0" i="0" sz="1300" u="none" cap="none" strike="noStrike">
              <a:latin typeface="Arial"/>
              <a:ea typeface="Arial"/>
              <a:cs typeface="Arial"/>
              <a:sym typeface="Arial"/>
            </a:endParaRPr>
          </a:p>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Relationship</a:t>
            </a:r>
            <a:endParaRPr b="0" i="0" sz="1300" u="none" cap="none" strike="noStrike">
              <a:latin typeface="Arial"/>
              <a:ea typeface="Arial"/>
              <a:cs typeface="Arial"/>
              <a:sym typeface="Arial"/>
            </a:endParaRPr>
          </a:p>
        </p:txBody>
      </p:sp>
      <p:sp>
        <p:nvSpPr>
          <p:cNvPr id="698" name="Google Shape;698;p73"/>
          <p:cNvSpPr/>
          <p:nvPr/>
        </p:nvSpPr>
        <p:spPr>
          <a:xfrm>
            <a:off x="7468200" y="1743120"/>
            <a:ext cx="1191600" cy="306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Network Operations</a:t>
            </a:r>
            <a:endParaRPr b="0" i="0" sz="1300" u="none" cap="none" strike="noStrike">
              <a:latin typeface="Arial"/>
              <a:ea typeface="Arial"/>
              <a:cs typeface="Arial"/>
              <a:sym typeface="Arial"/>
            </a:endParaRPr>
          </a:p>
        </p:txBody>
      </p:sp>
      <p:sp>
        <p:nvSpPr>
          <p:cNvPr id="699" name="Google Shape;699;p73"/>
          <p:cNvSpPr/>
          <p:nvPr/>
        </p:nvSpPr>
        <p:spPr>
          <a:xfrm>
            <a:off x="9055080" y="1754640"/>
            <a:ext cx="1067400" cy="365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Supply Chain &amp;</a:t>
            </a:r>
            <a:endParaRPr b="0" i="0" sz="1300" u="none" cap="none" strike="noStrike">
              <a:latin typeface="Arial"/>
              <a:ea typeface="Arial"/>
              <a:cs typeface="Arial"/>
              <a:sym typeface="Arial"/>
            </a:endParaRPr>
          </a:p>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Distribution</a:t>
            </a:r>
            <a:endParaRPr b="0" i="0" sz="1300" u="none" cap="none" strike="noStrike">
              <a:latin typeface="Arial"/>
              <a:ea typeface="Arial"/>
              <a:cs typeface="Arial"/>
              <a:sym typeface="Arial"/>
            </a:endParaRPr>
          </a:p>
        </p:txBody>
      </p:sp>
      <p:sp>
        <p:nvSpPr>
          <p:cNvPr id="700" name="Google Shape;700;p73"/>
          <p:cNvSpPr/>
          <p:nvPr/>
        </p:nvSpPr>
        <p:spPr>
          <a:xfrm>
            <a:off x="10699200" y="1754640"/>
            <a:ext cx="1056960" cy="3654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Business</a:t>
            </a:r>
            <a:endParaRPr b="0" i="0" sz="1300" u="none" cap="none" strike="noStrike">
              <a:latin typeface="Arial"/>
              <a:ea typeface="Arial"/>
              <a:cs typeface="Arial"/>
              <a:sym typeface="Arial"/>
            </a:endParaRPr>
          </a:p>
          <a:p>
            <a:pPr indent="0" lvl="0" marL="0" marR="0" rtl="0" algn="l">
              <a:lnSpc>
                <a:spcPct val="90000"/>
              </a:lnSpc>
              <a:spcBef>
                <a:spcPts val="0"/>
              </a:spcBef>
              <a:spcAft>
                <a:spcPts val="0"/>
              </a:spcAft>
              <a:buNone/>
            </a:pPr>
            <a:r>
              <a:rPr b="1" i="0" lang="en-US" sz="1300" u="none" cap="none" strike="noStrike">
                <a:solidFill>
                  <a:srgbClr val="000000"/>
                </a:solidFill>
                <a:latin typeface="Calibri"/>
                <a:ea typeface="Calibri"/>
                <a:cs typeface="Calibri"/>
                <a:sym typeface="Calibri"/>
              </a:rPr>
              <a:t>Administration</a:t>
            </a:r>
            <a:endParaRPr b="0" i="0" sz="1300" u="none" cap="none" strike="noStrike">
              <a:latin typeface="Arial"/>
              <a:ea typeface="Arial"/>
              <a:cs typeface="Arial"/>
              <a:sym typeface="Arial"/>
            </a:endParaRPr>
          </a:p>
        </p:txBody>
      </p:sp>
      <p:sp>
        <p:nvSpPr>
          <p:cNvPr id="701" name="Google Shape;701;p73"/>
          <p:cNvSpPr/>
          <p:nvPr/>
        </p:nvSpPr>
        <p:spPr>
          <a:xfrm rot="10800000">
            <a:off x="5636880" y="1680840"/>
            <a:ext cx="360" cy="514512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2" name="Google Shape;702;p73"/>
          <p:cNvSpPr/>
          <p:nvPr/>
        </p:nvSpPr>
        <p:spPr>
          <a:xfrm rot="10800000">
            <a:off x="7258680" y="1677240"/>
            <a:ext cx="360" cy="514872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3" name="Google Shape;703;p73"/>
          <p:cNvSpPr/>
          <p:nvPr/>
        </p:nvSpPr>
        <p:spPr>
          <a:xfrm rot="10800000">
            <a:off x="8890560" y="1679040"/>
            <a:ext cx="360" cy="514692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4" name="Google Shape;704;p73"/>
          <p:cNvSpPr/>
          <p:nvPr/>
        </p:nvSpPr>
        <p:spPr>
          <a:xfrm rot="10800000">
            <a:off x="10501920" y="1680840"/>
            <a:ext cx="360" cy="514512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5" name="Google Shape;705;p73"/>
          <p:cNvSpPr/>
          <p:nvPr/>
        </p:nvSpPr>
        <p:spPr>
          <a:xfrm>
            <a:off x="3041280" y="2179440"/>
            <a:ext cx="9112680" cy="36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6" name="Google Shape;706;p73"/>
          <p:cNvSpPr/>
          <p:nvPr/>
        </p:nvSpPr>
        <p:spPr>
          <a:xfrm rot="10800000">
            <a:off x="4008240" y="1676880"/>
            <a:ext cx="13680" cy="5211720"/>
          </a:xfrm>
          <a:custGeom>
            <a:rect b="b" l="l" r="r" t="t"/>
            <a:pathLst>
              <a:path extrusionOk="0" h="21600" w="21600">
                <a:moveTo>
                  <a:pt x="0" y="0"/>
                </a:moveTo>
                <a:lnTo>
                  <a:pt x="21600" y="21600"/>
                </a:lnTo>
              </a:path>
            </a:pathLst>
          </a:custGeom>
          <a:noFill/>
          <a:ln cap="flat" cmpd="sng" w="38150">
            <a:solidFill>
              <a:srgbClr val="FFFFFF"/>
            </a:solidFill>
            <a:prstDash val="solid"/>
            <a:miter lim="8000"/>
            <a:headEnd len="sm" w="sm" type="none"/>
            <a:tailEnd len="sm" w="sm" type="none"/>
          </a:ln>
        </p:spPr>
      </p:sp>
      <p:sp>
        <p:nvSpPr>
          <p:cNvPr id="707" name="Google Shape;707;p73"/>
          <p:cNvSpPr/>
          <p:nvPr/>
        </p:nvSpPr>
        <p:spPr>
          <a:xfrm>
            <a:off x="4094640" y="2273040"/>
            <a:ext cx="1479240" cy="5389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Category/Brand </a:t>
            </a:r>
            <a:br>
              <a:rPr b="0" i="0" lang="en-US" sz="1800" u="none" cap="none" strike="noStrike">
                <a:latin typeface="Arial"/>
                <a:ea typeface="Arial"/>
                <a:cs typeface="Arial"/>
                <a:sym typeface="Arial"/>
              </a:rPr>
            </a:br>
            <a:r>
              <a:rPr b="0" i="0" lang="en-US" sz="1000" u="none" cap="none" strike="noStrike">
                <a:solidFill>
                  <a:srgbClr val="000000"/>
                </a:solidFill>
                <a:latin typeface="Calibri"/>
                <a:ea typeface="Calibri"/>
                <a:cs typeface="Calibri"/>
                <a:sym typeface="Calibri"/>
              </a:rPr>
              <a:t>Strategy</a:t>
            </a:r>
            <a:endParaRPr b="0" i="0" sz="1000" u="none" cap="none" strike="noStrike">
              <a:latin typeface="Arial"/>
              <a:ea typeface="Arial"/>
              <a:cs typeface="Arial"/>
              <a:sym typeface="Arial"/>
            </a:endParaRPr>
          </a:p>
        </p:txBody>
      </p:sp>
      <p:sp>
        <p:nvSpPr>
          <p:cNvPr id="708" name="Google Shape;708;p73"/>
          <p:cNvSpPr/>
          <p:nvPr/>
        </p:nvSpPr>
        <p:spPr>
          <a:xfrm>
            <a:off x="4094640" y="3461760"/>
            <a:ext cx="1479240" cy="37116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Brand P&amp;L </a:t>
            </a:r>
            <a:endParaRPr b="0" i="0" sz="1000" u="none" cap="none" strike="noStrike">
              <a:latin typeface="Arial"/>
              <a:ea typeface="Arial"/>
              <a:cs typeface="Arial"/>
              <a:sym typeface="Arial"/>
            </a:endParaRPr>
          </a:p>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Management</a:t>
            </a:r>
            <a:endParaRPr b="0" i="0" sz="1000" u="none" cap="none" strike="noStrike">
              <a:latin typeface="Arial"/>
              <a:ea typeface="Arial"/>
              <a:cs typeface="Arial"/>
              <a:sym typeface="Arial"/>
            </a:endParaRPr>
          </a:p>
        </p:txBody>
      </p:sp>
      <p:sp>
        <p:nvSpPr>
          <p:cNvPr id="709" name="Google Shape;709;p73"/>
          <p:cNvSpPr/>
          <p:nvPr/>
        </p:nvSpPr>
        <p:spPr>
          <a:xfrm>
            <a:off x="4094640" y="3852000"/>
            <a:ext cx="1479240" cy="36936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Matching Supply </a:t>
            </a:r>
            <a:br>
              <a:rPr b="0" i="0" lang="en-US" sz="1800" u="none" cap="none" strike="noStrike">
                <a:latin typeface="Arial"/>
                <a:ea typeface="Arial"/>
                <a:cs typeface="Arial"/>
                <a:sym typeface="Arial"/>
              </a:rPr>
            </a:br>
            <a:r>
              <a:rPr b="0" i="0" lang="en-US" sz="1000" u="none" cap="none" strike="noStrike">
                <a:solidFill>
                  <a:srgbClr val="000000"/>
                </a:solidFill>
                <a:latin typeface="Calibri"/>
                <a:ea typeface="Calibri"/>
                <a:cs typeface="Calibri"/>
                <a:sym typeface="Calibri"/>
              </a:rPr>
              <a:t>and Demand</a:t>
            </a:r>
            <a:endParaRPr b="0" i="0" sz="1000" u="none" cap="none" strike="noStrike">
              <a:latin typeface="Arial"/>
              <a:ea typeface="Arial"/>
              <a:cs typeface="Arial"/>
              <a:sym typeface="Arial"/>
            </a:endParaRPr>
          </a:p>
        </p:txBody>
      </p:sp>
      <p:sp>
        <p:nvSpPr>
          <p:cNvPr id="710" name="Google Shape;710;p73"/>
          <p:cNvSpPr/>
          <p:nvPr/>
        </p:nvSpPr>
        <p:spPr>
          <a:xfrm>
            <a:off x="4094640" y="4240800"/>
            <a:ext cx="1479240" cy="37116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Marketing Development &amp; Effectiveness</a:t>
            </a:r>
            <a:endParaRPr b="0" i="0" sz="1000" u="none" cap="none" strike="noStrike">
              <a:latin typeface="Arial"/>
              <a:ea typeface="Arial"/>
              <a:cs typeface="Arial"/>
              <a:sym typeface="Arial"/>
            </a:endParaRPr>
          </a:p>
        </p:txBody>
      </p:sp>
      <p:sp>
        <p:nvSpPr>
          <p:cNvPr id="711" name="Google Shape;711;p73"/>
          <p:cNvSpPr/>
          <p:nvPr/>
        </p:nvSpPr>
        <p:spPr>
          <a:xfrm>
            <a:off x="4094640" y="4631400"/>
            <a:ext cx="1479240" cy="37296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Product Ideation</a:t>
            </a:r>
            <a:endParaRPr b="0" i="0" sz="1000" u="none" cap="none" strike="noStrike">
              <a:latin typeface="Arial"/>
              <a:ea typeface="Arial"/>
              <a:cs typeface="Arial"/>
              <a:sym typeface="Arial"/>
            </a:endParaRPr>
          </a:p>
        </p:txBody>
      </p:sp>
      <p:sp>
        <p:nvSpPr>
          <p:cNvPr id="712" name="Google Shape;712;p73"/>
          <p:cNvSpPr/>
          <p:nvPr/>
        </p:nvSpPr>
        <p:spPr>
          <a:xfrm>
            <a:off x="4094640" y="5900040"/>
            <a:ext cx="1479240" cy="27216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Marketing Execution</a:t>
            </a:r>
            <a:endParaRPr b="0" i="0" sz="1000" u="none" cap="none" strike="noStrike">
              <a:latin typeface="Arial"/>
              <a:ea typeface="Arial"/>
              <a:cs typeface="Arial"/>
              <a:sym typeface="Arial"/>
            </a:endParaRPr>
          </a:p>
        </p:txBody>
      </p:sp>
      <p:sp>
        <p:nvSpPr>
          <p:cNvPr id="713" name="Google Shape;713;p73"/>
          <p:cNvSpPr/>
          <p:nvPr/>
        </p:nvSpPr>
        <p:spPr>
          <a:xfrm>
            <a:off x="4094640" y="6484680"/>
            <a:ext cx="1479240" cy="27216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Product Directory</a:t>
            </a:r>
            <a:endParaRPr b="0" i="0" sz="1000" u="none" cap="none" strike="noStrike">
              <a:latin typeface="Arial"/>
              <a:ea typeface="Arial"/>
              <a:cs typeface="Arial"/>
              <a:sym typeface="Arial"/>
            </a:endParaRPr>
          </a:p>
        </p:txBody>
      </p:sp>
      <p:sp>
        <p:nvSpPr>
          <p:cNvPr id="714" name="Google Shape;714;p73"/>
          <p:cNvSpPr/>
          <p:nvPr/>
        </p:nvSpPr>
        <p:spPr>
          <a:xfrm>
            <a:off x="4094640" y="2840400"/>
            <a:ext cx="1479240" cy="5407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Category/Brand </a:t>
            </a:r>
            <a:endParaRPr b="0" i="0" sz="1000" u="none" cap="none" strike="noStrike">
              <a:latin typeface="Arial"/>
              <a:ea typeface="Arial"/>
              <a:cs typeface="Arial"/>
              <a:sym typeface="Arial"/>
            </a:endParaRPr>
          </a:p>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Planning</a:t>
            </a:r>
            <a:endParaRPr b="0" i="0" sz="1000" u="none" cap="none" strike="noStrike">
              <a:latin typeface="Arial"/>
              <a:ea typeface="Arial"/>
              <a:cs typeface="Arial"/>
              <a:sym typeface="Arial"/>
            </a:endParaRPr>
          </a:p>
        </p:txBody>
      </p:sp>
      <p:sp>
        <p:nvSpPr>
          <p:cNvPr id="715" name="Google Shape;715;p73"/>
          <p:cNvSpPr/>
          <p:nvPr/>
        </p:nvSpPr>
        <p:spPr>
          <a:xfrm>
            <a:off x="5712480" y="3461760"/>
            <a:ext cx="1479240" cy="39024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Assessing Customer Satisfaction</a:t>
            </a:r>
            <a:endParaRPr b="0" i="0" sz="1000" u="none" cap="none" strike="noStrike">
              <a:latin typeface="Arial"/>
              <a:ea typeface="Arial"/>
              <a:cs typeface="Arial"/>
              <a:sym typeface="Arial"/>
            </a:endParaRPr>
          </a:p>
        </p:txBody>
      </p:sp>
      <p:sp>
        <p:nvSpPr>
          <p:cNvPr id="716" name="Google Shape;716;p73"/>
          <p:cNvSpPr/>
          <p:nvPr/>
        </p:nvSpPr>
        <p:spPr>
          <a:xfrm>
            <a:off x="5712480" y="3878640"/>
            <a:ext cx="1479240" cy="388440"/>
          </a:xfrm>
          <a:prstGeom prst="rect">
            <a:avLst/>
          </a:prstGeom>
          <a:solidFill>
            <a:srgbClr val="EA9999"/>
          </a:solidFill>
          <a:ln cap="flat" cmpd="sng" w="9525">
            <a:solidFill>
              <a:srgbClr val="ED7D31"/>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Insights</a:t>
            </a:r>
            <a:endParaRPr b="0" i="0" sz="1000" u="none" cap="none" strike="noStrike">
              <a:latin typeface="Arial"/>
              <a:ea typeface="Arial"/>
              <a:cs typeface="Arial"/>
              <a:sym typeface="Arial"/>
            </a:endParaRPr>
          </a:p>
        </p:txBody>
      </p:sp>
      <p:sp>
        <p:nvSpPr>
          <p:cNvPr id="717" name="Google Shape;717;p73"/>
          <p:cNvSpPr/>
          <p:nvPr/>
        </p:nvSpPr>
        <p:spPr>
          <a:xfrm>
            <a:off x="5712480" y="4295880"/>
            <a:ext cx="1479240" cy="71388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Account Management</a:t>
            </a:r>
            <a:endParaRPr b="0" i="0" sz="1000" u="none" cap="none" strike="noStrike">
              <a:latin typeface="Arial"/>
              <a:ea typeface="Arial"/>
              <a:cs typeface="Arial"/>
              <a:sym typeface="Arial"/>
            </a:endParaRPr>
          </a:p>
        </p:txBody>
      </p:sp>
      <p:sp>
        <p:nvSpPr>
          <p:cNvPr id="718" name="Google Shape;718;p73"/>
          <p:cNvSpPr/>
          <p:nvPr/>
        </p:nvSpPr>
        <p:spPr>
          <a:xfrm>
            <a:off x="5712480" y="5056200"/>
            <a:ext cx="1479240" cy="3121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Value-Added Services</a:t>
            </a:r>
            <a:endParaRPr b="0" i="0" sz="1000" u="none" cap="none" strike="noStrike">
              <a:latin typeface="Arial"/>
              <a:ea typeface="Arial"/>
              <a:cs typeface="Arial"/>
              <a:sym typeface="Arial"/>
            </a:endParaRPr>
          </a:p>
        </p:txBody>
      </p:sp>
      <p:sp>
        <p:nvSpPr>
          <p:cNvPr id="719" name="Google Shape;719;p73"/>
          <p:cNvSpPr/>
          <p:nvPr/>
        </p:nvSpPr>
        <p:spPr>
          <a:xfrm>
            <a:off x="5712480" y="5402880"/>
            <a:ext cx="1479240" cy="312120"/>
          </a:xfrm>
          <a:prstGeom prst="rect">
            <a:avLst/>
          </a:prstGeom>
          <a:solidFill>
            <a:srgbClr val="EA9999"/>
          </a:solidFill>
          <a:ln cap="flat" cmpd="sng" w="9525">
            <a:solidFill>
              <a:srgbClr val="44546A"/>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Account Servicing</a:t>
            </a:r>
            <a:endParaRPr b="0" i="0" sz="1000" u="none" cap="none" strike="noStrike">
              <a:latin typeface="Arial"/>
              <a:ea typeface="Arial"/>
              <a:cs typeface="Arial"/>
              <a:sym typeface="Arial"/>
            </a:endParaRPr>
          </a:p>
        </p:txBody>
      </p:sp>
      <p:sp>
        <p:nvSpPr>
          <p:cNvPr id="720" name="Google Shape;720;p73"/>
          <p:cNvSpPr/>
          <p:nvPr/>
        </p:nvSpPr>
        <p:spPr>
          <a:xfrm>
            <a:off x="5712480" y="5751360"/>
            <a:ext cx="1479240" cy="3103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Retail Marketing Execution</a:t>
            </a:r>
            <a:endParaRPr b="0" i="0" sz="1000" u="none" cap="none" strike="noStrike">
              <a:latin typeface="Arial"/>
              <a:ea typeface="Arial"/>
              <a:cs typeface="Arial"/>
              <a:sym typeface="Arial"/>
            </a:endParaRPr>
          </a:p>
        </p:txBody>
      </p:sp>
      <p:sp>
        <p:nvSpPr>
          <p:cNvPr id="721" name="Google Shape;721;p73"/>
          <p:cNvSpPr/>
          <p:nvPr/>
        </p:nvSpPr>
        <p:spPr>
          <a:xfrm>
            <a:off x="5712480" y="6444720"/>
            <a:ext cx="1479240" cy="3121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Directory</a:t>
            </a:r>
            <a:endParaRPr b="0" i="0" sz="1000" u="none" cap="none" strike="noStrike">
              <a:latin typeface="Arial"/>
              <a:ea typeface="Arial"/>
              <a:cs typeface="Arial"/>
              <a:sym typeface="Arial"/>
            </a:endParaRPr>
          </a:p>
        </p:txBody>
      </p:sp>
      <p:sp>
        <p:nvSpPr>
          <p:cNvPr id="722" name="Google Shape;722;p73"/>
          <p:cNvSpPr/>
          <p:nvPr/>
        </p:nvSpPr>
        <p:spPr>
          <a:xfrm>
            <a:off x="7338240" y="2270880"/>
            <a:ext cx="1479240" cy="35028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Network Architecture</a:t>
            </a:r>
            <a:endParaRPr b="0" i="0" sz="1000" u="none" cap="none" strike="noStrike">
              <a:latin typeface="Arial"/>
              <a:ea typeface="Arial"/>
              <a:cs typeface="Arial"/>
              <a:sym typeface="Arial"/>
            </a:endParaRPr>
          </a:p>
        </p:txBody>
      </p:sp>
      <p:sp>
        <p:nvSpPr>
          <p:cNvPr id="723" name="Google Shape;723;p73"/>
          <p:cNvSpPr/>
          <p:nvPr/>
        </p:nvSpPr>
        <p:spPr>
          <a:xfrm>
            <a:off x="7338240" y="2659680"/>
            <a:ext cx="1479240" cy="4795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Capacity Planning</a:t>
            </a:r>
            <a:endParaRPr b="0" i="0" sz="1000" u="none" cap="none" strike="noStrike">
              <a:latin typeface="Arial"/>
              <a:ea typeface="Arial"/>
              <a:cs typeface="Arial"/>
              <a:sym typeface="Arial"/>
            </a:endParaRPr>
          </a:p>
        </p:txBody>
      </p:sp>
      <p:sp>
        <p:nvSpPr>
          <p:cNvPr id="724" name="Google Shape;724;p73"/>
          <p:cNvSpPr/>
          <p:nvPr/>
        </p:nvSpPr>
        <p:spPr>
          <a:xfrm>
            <a:off x="7338240" y="3177720"/>
            <a:ext cx="1479240" cy="5846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Project Planning &amp; </a:t>
            </a:r>
            <a:endParaRPr b="0" i="0" sz="1000" u="none" cap="none" strike="noStrike">
              <a:latin typeface="Arial"/>
              <a:ea typeface="Arial"/>
              <a:cs typeface="Arial"/>
              <a:sym typeface="Arial"/>
            </a:endParaRPr>
          </a:p>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Field Services</a:t>
            </a:r>
            <a:endParaRPr b="0" i="0" sz="1000" u="none" cap="none" strike="noStrike">
              <a:latin typeface="Arial"/>
              <a:ea typeface="Arial"/>
              <a:cs typeface="Arial"/>
              <a:sym typeface="Arial"/>
            </a:endParaRPr>
          </a:p>
        </p:txBody>
      </p:sp>
      <p:sp>
        <p:nvSpPr>
          <p:cNvPr id="725" name="Google Shape;725;p73"/>
          <p:cNvSpPr/>
          <p:nvPr/>
        </p:nvSpPr>
        <p:spPr>
          <a:xfrm>
            <a:off x="7338240" y="3802680"/>
            <a:ext cx="1479240" cy="613080"/>
          </a:xfrm>
          <a:prstGeom prst="rect">
            <a:avLst/>
          </a:prstGeom>
          <a:solidFill>
            <a:srgbClr val="EA9999"/>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Wireless Service Delivery</a:t>
            </a:r>
            <a:endParaRPr b="0" i="0" sz="1000" u="none" cap="none" strike="noStrike">
              <a:latin typeface="Arial"/>
              <a:ea typeface="Arial"/>
              <a:cs typeface="Arial"/>
              <a:sym typeface="Arial"/>
            </a:endParaRPr>
          </a:p>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(Includes FWA)</a:t>
            </a:r>
            <a:endParaRPr b="0" i="0" sz="1000" u="none" cap="none" strike="noStrike">
              <a:latin typeface="Arial"/>
              <a:ea typeface="Arial"/>
              <a:cs typeface="Arial"/>
              <a:sym typeface="Arial"/>
            </a:endParaRPr>
          </a:p>
        </p:txBody>
      </p:sp>
      <p:sp>
        <p:nvSpPr>
          <p:cNvPr id="726" name="Google Shape;726;p73"/>
          <p:cNvSpPr/>
          <p:nvPr/>
        </p:nvSpPr>
        <p:spPr>
          <a:xfrm>
            <a:off x="7338240" y="4454280"/>
            <a:ext cx="1479240" cy="35028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Supplier Control</a:t>
            </a:r>
            <a:endParaRPr b="0" i="0" sz="1000" u="none" cap="none" strike="noStrike">
              <a:latin typeface="Arial"/>
              <a:ea typeface="Arial"/>
              <a:cs typeface="Arial"/>
              <a:sym typeface="Arial"/>
            </a:endParaRPr>
          </a:p>
        </p:txBody>
      </p:sp>
      <p:sp>
        <p:nvSpPr>
          <p:cNvPr id="727" name="Google Shape;727;p73"/>
          <p:cNvSpPr/>
          <p:nvPr/>
        </p:nvSpPr>
        <p:spPr>
          <a:xfrm>
            <a:off x="7338240" y="4876920"/>
            <a:ext cx="1479240" cy="33120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Wireline Service Delivery</a:t>
            </a:r>
            <a:endParaRPr b="0" i="0" sz="1000" u="none" cap="none" strike="noStrike">
              <a:latin typeface="Arial"/>
              <a:ea typeface="Arial"/>
              <a:cs typeface="Arial"/>
              <a:sym typeface="Arial"/>
            </a:endParaRPr>
          </a:p>
        </p:txBody>
      </p:sp>
      <p:sp>
        <p:nvSpPr>
          <p:cNvPr id="728" name="Google Shape;728;p73"/>
          <p:cNvSpPr/>
          <p:nvPr/>
        </p:nvSpPr>
        <p:spPr>
          <a:xfrm>
            <a:off x="7338240" y="5688720"/>
            <a:ext cx="1479240" cy="42444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Inventory Management</a:t>
            </a:r>
            <a:endParaRPr b="0" i="0" sz="1000" u="none" cap="none" strike="noStrike">
              <a:latin typeface="Arial"/>
              <a:ea typeface="Arial"/>
              <a:cs typeface="Arial"/>
              <a:sym typeface="Arial"/>
            </a:endParaRPr>
          </a:p>
        </p:txBody>
      </p:sp>
      <p:sp>
        <p:nvSpPr>
          <p:cNvPr id="729" name="Google Shape;729;p73"/>
          <p:cNvSpPr/>
          <p:nvPr/>
        </p:nvSpPr>
        <p:spPr>
          <a:xfrm>
            <a:off x="7338240" y="6151320"/>
            <a:ext cx="1479240" cy="6055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Procurement</a:t>
            </a:r>
            <a:endParaRPr b="0" i="0" sz="1000" u="none" cap="none" strike="noStrike">
              <a:latin typeface="Arial"/>
              <a:ea typeface="Arial"/>
              <a:cs typeface="Arial"/>
              <a:sym typeface="Arial"/>
            </a:endParaRPr>
          </a:p>
        </p:txBody>
      </p:sp>
      <p:sp>
        <p:nvSpPr>
          <p:cNvPr id="730" name="Google Shape;730;p73"/>
          <p:cNvSpPr/>
          <p:nvPr/>
        </p:nvSpPr>
        <p:spPr>
          <a:xfrm>
            <a:off x="7338240" y="5246640"/>
            <a:ext cx="1479240" cy="40176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Support</a:t>
            </a:r>
            <a:endParaRPr b="0" i="0" sz="1000" u="none" cap="none" strike="noStrike">
              <a:latin typeface="Arial"/>
              <a:ea typeface="Arial"/>
              <a:cs typeface="Arial"/>
              <a:sym typeface="Arial"/>
            </a:endParaRPr>
          </a:p>
        </p:txBody>
      </p:sp>
      <p:sp>
        <p:nvSpPr>
          <p:cNvPr id="731" name="Google Shape;731;p73"/>
          <p:cNvSpPr/>
          <p:nvPr/>
        </p:nvSpPr>
        <p:spPr>
          <a:xfrm>
            <a:off x="8953920" y="3463560"/>
            <a:ext cx="1479240" cy="4795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Distribution Oversight</a:t>
            </a:r>
            <a:endParaRPr b="0" i="0" sz="1000" u="none" cap="none" strike="noStrike">
              <a:latin typeface="Arial"/>
              <a:ea typeface="Arial"/>
              <a:cs typeface="Arial"/>
              <a:sym typeface="Arial"/>
            </a:endParaRPr>
          </a:p>
        </p:txBody>
      </p:sp>
      <p:sp>
        <p:nvSpPr>
          <p:cNvPr id="732" name="Google Shape;732;p73"/>
          <p:cNvSpPr/>
          <p:nvPr/>
        </p:nvSpPr>
        <p:spPr>
          <a:xfrm>
            <a:off x="8953920" y="5145480"/>
            <a:ext cx="1479240" cy="6206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Distribution Center Operations</a:t>
            </a:r>
            <a:endParaRPr b="0" i="0" sz="1000" u="none" cap="none" strike="noStrike">
              <a:latin typeface="Arial"/>
              <a:ea typeface="Arial"/>
              <a:cs typeface="Arial"/>
              <a:sym typeface="Arial"/>
            </a:endParaRPr>
          </a:p>
        </p:txBody>
      </p:sp>
      <p:sp>
        <p:nvSpPr>
          <p:cNvPr id="733" name="Google Shape;733;p73"/>
          <p:cNvSpPr/>
          <p:nvPr/>
        </p:nvSpPr>
        <p:spPr>
          <a:xfrm>
            <a:off x="8953920" y="5795280"/>
            <a:ext cx="1479240" cy="4586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Transportation Resources</a:t>
            </a:r>
            <a:endParaRPr b="0" i="0" sz="1000" u="none" cap="none" strike="noStrike">
              <a:latin typeface="Arial"/>
              <a:ea typeface="Arial"/>
              <a:cs typeface="Arial"/>
              <a:sym typeface="Arial"/>
            </a:endParaRPr>
          </a:p>
        </p:txBody>
      </p:sp>
      <p:sp>
        <p:nvSpPr>
          <p:cNvPr id="734" name="Google Shape;734;p73"/>
          <p:cNvSpPr/>
          <p:nvPr/>
        </p:nvSpPr>
        <p:spPr>
          <a:xfrm>
            <a:off x="8953920" y="6284880"/>
            <a:ext cx="1479240" cy="4586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En route Inventory  Management</a:t>
            </a:r>
            <a:endParaRPr b="0" i="0" sz="1000" u="none" cap="none" strike="noStrike">
              <a:latin typeface="Arial"/>
              <a:ea typeface="Arial"/>
              <a:cs typeface="Arial"/>
              <a:sym typeface="Arial"/>
            </a:endParaRPr>
          </a:p>
        </p:txBody>
      </p:sp>
      <p:sp>
        <p:nvSpPr>
          <p:cNvPr id="735" name="Google Shape;735;p73"/>
          <p:cNvSpPr/>
          <p:nvPr/>
        </p:nvSpPr>
        <p:spPr>
          <a:xfrm>
            <a:off x="8953920" y="3974040"/>
            <a:ext cx="728280" cy="11444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In-bound Logistics</a:t>
            </a:r>
            <a:endParaRPr b="0" i="0" sz="1000" u="none" cap="none" strike="noStrike">
              <a:latin typeface="Arial"/>
              <a:ea typeface="Arial"/>
              <a:cs typeface="Arial"/>
              <a:sym typeface="Arial"/>
            </a:endParaRPr>
          </a:p>
        </p:txBody>
      </p:sp>
      <p:sp>
        <p:nvSpPr>
          <p:cNvPr id="736" name="Google Shape;736;p73"/>
          <p:cNvSpPr/>
          <p:nvPr/>
        </p:nvSpPr>
        <p:spPr>
          <a:xfrm>
            <a:off x="10581480" y="2265120"/>
            <a:ext cx="1479240" cy="2624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Corporate Strategy</a:t>
            </a:r>
            <a:endParaRPr b="0" i="0" sz="1000" u="none" cap="none" strike="noStrike">
              <a:latin typeface="Arial"/>
              <a:ea typeface="Arial"/>
              <a:cs typeface="Arial"/>
              <a:sym typeface="Arial"/>
            </a:endParaRPr>
          </a:p>
        </p:txBody>
      </p:sp>
      <p:sp>
        <p:nvSpPr>
          <p:cNvPr id="737" name="Google Shape;737;p73"/>
          <p:cNvSpPr/>
          <p:nvPr/>
        </p:nvSpPr>
        <p:spPr>
          <a:xfrm>
            <a:off x="10581480" y="2821680"/>
            <a:ext cx="1479240" cy="2624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Alliance Management</a:t>
            </a:r>
            <a:endParaRPr b="0" i="0" sz="1000" u="none" cap="none" strike="noStrike">
              <a:latin typeface="Arial"/>
              <a:ea typeface="Arial"/>
              <a:cs typeface="Arial"/>
              <a:sym typeface="Arial"/>
            </a:endParaRPr>
          </a:p>
        </p:txBody>
      </p:sp>
      <p:sp>
        <p:nvSpPr>
          <p:cNvPr id="738" name="Google Shape;738;p73"/>
          <p:cNvSpPr/>
          <p:nvPr/>
        </p:nvSpPr>
        <p:spPr>
          <a:xfrm>
            <a:off x="10581480" y="3101400"/>
            <a:ext cx="1479240" cy="2606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Line of Business Planning</a:t>
            </a:r>
            <a:endParaRPr b="0" i="0" sz="1000" u="none" cap="none" strike="noStrike">
              <a:latin typeface="Arial"/>
              <a:ea typeface="Arial"/>
              <a:cs typeface="Arial"/>
              <a:sym typeface="Arial"/>
            </a:endParaRPr>
          </a:p>
        </p:txBody>
      </p:sp>
      <p:sp>
        <p:nvSpPr>
          <p:cNvPr id="739" name="Google Shape;739;p73"/>
          <p:cNvSpPr/>
          <p:nvPr/>
        </p:nvSpPr>
        <p:spPr>
          <a:xfrm>
            <a:off x="10581480" y="3456000"/>
            <a:ext cx="1479240" cy="3121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Business Performance Management</a:t>
            </a:r>
            <a:endParaRPr b="0" i="0" sz="1000" u="none" cap="none" strike="noStrike">
              <a:latin typeface="Arial"/>
              <a:ea typeface="Arial"/>
              <a:cs typeface="Arial"/>
              <a:sym typeface="Arial"/>
            </a:endParaRPr>
          </a:p>
        </p:txBody>
      </p:sp>
      <p:sp>
        <p:nvSpPr>
          <p:cNvPr id="740" name="Google Shape;740;p73"/>
          <p:cNvSpPr/>
          <p:nvPr/>
        </p:nvSpPr>
        <p:spPr>
          <a:xfrm>
            <a:off x="10581480" y="3798720"/>
            <a:ext cx="1479240" cy="3121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External Market </a:t>
            </a:r>
            <a:br>
              <a:rPr b="0" i="0" lang="en-US" sz="1800" u="none" cap="none" strike="noStrike">
                <a:latin typeface="Arial"/>
                <a:ea typeface="Arial"/>
                <a:cs typeface="Arial"/>
                <a:sym typeface="Arial"/>
              </a:rPr>
            </a:br>
            <a:r>
              <a:rPr b="0" i="0" lang="en-US" sz="1000" u="none" cap="none" strike="noStrike">
                <a:solidFill>
                  <a:srgbClr val="000000"/>
                </a:solidFill>
                <a:latin typeface="Calibri"/>
                <a:ea typeface="Calibri"/>
                <a:cs typeface="Calibri"/>
                <a:sym typeface="Calibri"/>
              </a:rPr>
              <a:t>Analysis</a:t>
            </a:r>
            <a:endParaRPr b="0" i="0" sz="1000" u="none" cap="none" strike="noStrike">
              <a:latin typeface="Arial"/>
              <a:ea typeface="Arial"/>
              <a:cs typeface="Arial"/>
              <a:sym typeface="Arial"/>
            </a:endParaRPr>
          </a:p>
        </p:txBody>
      </p:sp>
      <p:sp>
        <p:nvSpPr>
          <p:cNvPr id="741" name="Google Shape;741;p73"/>
          <p:cNvSpPr/>
          <p:nvPr/>
        </p:nvSpPr>
        <p:spPr>
          <a:xfrm>
            <a:off x="10581480" y="4143600"/>
            <a:ext cx="1479240" cy="3103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Organization and Process Design</a:t>
            </a:r>
            <a:endParaRPr b="0" i="0" sz="1000" u="none" cap="none" strike="noStrike">
              <a:latin typeface="Arial"/>
              <a:ea typeface="Arial"/>
              <a:cs typeface="Arial"/>
              <a:sym typeface="Arial"/>
            </a:endParaRPr>
          </a:p>
        </p:txBody>
      </p:sp>
      <p:sp>
        <p:nvSpPr>
          <p:cNvPr id="742" name="Google Shape;742;p73"/>
          <p:cNvSpPr/>
          <p:nvPr/>
        </p:nvSpPr>
        <p:spPr>
          <a:xfrm>
            <a:off x="10581480" y="4486320"/>
            <a:ext cx="1479240" cy="3121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Legal and Regulatory Compliance</a:t>
            </a:r>
            <a:endParaRPr b="0" i="0" sz="1000" u="none" cap="none" strike="noStrike">
              <a:latin typeface="Arial"/>
              <a:ea typeface="Arial"/>
              <a:cs typeface="Arial"/>
              <a:sym typeface="Arial"/>
            </a:endParaRPr>
          </a:p>
        </p:txBody>
      </p:sp>
      <p:sp>
        <p:nvSpPr>
          <p:cNvPr id="743" name="Google Shape;743;p73"/>
          <p:cNvSpPr/>
          <p:nvPr/>
        </p:nvSpPr>
        <p:spPr>
          <a:xfrm>
            <a:off x="10581480" y="4894200"/>
            <a:ext cx="1479240" cy="2912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Treasury and Risk Management</a:t>
            </a:r>
            <a:endParaRPr b="0" i="0" sz="1000" u="none" cap="none" strike="noStrike">
              <a:latin typeface="Arial"/>
              <a:ea typeface="Arial"/>
              <a:cs typeface="Arial"/>
              <a:sym typeface="Arial"/>
            </a:endParaRPr>
          </a:p>
        </p:txBody>
      </p:sp>
      <p:sp>
        <p:nvSpPr>
          <p:cNvPr id="744" name="Google Shape;744;p73"/>
          <p:cNvSpPr/>
          <p:nvPr/>
        </p:nvSpPr>
        <p:spPr>
          <a:xfrm>
            <a:off x="10581480" y="5821920"/>
            <a:ext cx="1479240" cy="2930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Facilities and Equipment Management</a:t>
            </a:r>
            <a:endParaRPr b="0" i="0" sz="1000" u="none" cap="none" strike="noStrike">
              <a:latin typeface="Arial"/>
              <a:ea typeface="Arial"/>
              <a:cs typeface="Arial"/>
              <a:sym typeface="Arial"/>
            </a:endParaRPr>
          </a:p>
        </p:txBody>
      </p:sp>
      <p:sp>
        <p:nvSpPr>
          <p:cNvPr id="745" name="Google Shape;745;p73"/>
          <p:cNvSpPr/>
          <p:nvPr/>
        </p:nvSpPr>
        <p:spPr>
          <a:xfrm>
            <a:off x="10581480" y="6442920"/>
            <a:ext cx="1479240" cy="2912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IT Systems and Operations</a:t>
            </a:r>
            <a:endParaRPr b="0" i="0" sz="1000" u="none" cap="none" strike="noStrike">
              <a:latin typeface="Arial"/>
              <a:ea typeface="Arial"/>
              <a:cs typeface="Arial"/>
              <a:sym typeface="Arial"/>
            </a:endParaRPr>
          </a:p>
        </p:txBody>
      </p:sp>
      <p:sp>
        <p:nvSpPr>
          <p:cNvPr id="746" name="Google Shape;746;p73"/>
          <p:cNvSpPr/>
          <p:nvPr/>
        </p:nvSpPr>
        <p:spPr>
          <a:xfrm>
            <a:off x="10581480" y="6132240"/>
            <a:ext cx="1479240" cy="2930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HR Administration</a:t>
            </a:r>
            <a:endParaRPr b="0" i="0" sz="1000" u="none" cap="none" strike="noStrike">
              <a:latin typeface="Arial"/>
              <a:ea typeface="Arial"/>
              <a:cs typeface="Arial"/>
              <a:sym typeface="Arial"/>
            </a:endParaRPr>
          </a:p>
        </p:txBody>
      </p:sp>
      <p:sp>
        <p:nvSpPr>
          <p:cNvPr id="747" name="Google Shape;747;p73"/>
          <p:cNvSpPr/>
          <p:nvPr/>
        </p:nvSpPr>
        <p:spPr>
          <a:xfrm>
            <a:off x="5712480" y="2270880"/>
            <a:ext cx="1479240" cy="5389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Relationship Strategy</a:t>
            </a:r>
            <a:endParaRPr b="0" i="0" sz="1000" u="none" cap="none" strike="noStrike">
              <a:latin typeface="Arial"/>
              <a:ea typeface="Arial"/>
              <a:cs typeface="Arial"/>
              <a:sym typeface="Arial"/>
            </a:endParaRPr>
          </a:p>
        </p:txBody>
      </p:sp>
      <p:sp>
        <p:nvSpPr>
          <p:cNvPr id="748" name="Google Shape;748;p73"/>
          <p:cNvSpPr/>
          <p:nvPr/>
        </p:nvSpPr>
        <p:spPr>
          <a:xfrm>
            <a:off x="5712480" y="2840400"/>
            <a:ext cx="1479240" cy="53892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Customer Relationship Planning</a:t>
            </a:r>
            <a:endParaRPr b="0" i="0" sz="1000" u="none" cap="none" strike="noStrike">
              <a:latin typeface="Arial"/>
              <a:ea typeface="Arial"/>
              <a:cs typeface="Arial"/>
              <a:sym typeface="Arial"/>
            </a:endParaRPr>
          </a:p>
        </p:txBody>
      </p:sp>
      <p:sp>
        <p:nvSpPr>
          <p:cNvPr id="749" name="Google Shape;749;p73"/>
          <p:cNvSpPr/>
          <p:nvPr/>
        </p:nvSpPr>
        <p:spPr>
          <a:xfrm>
            <a:off x="8953920" y="2265120"/>
            <a:ext cx="1479240" cy="5407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Supply Chain Strategy</a:t>
            </a:r>
            <a:endParaRPr b="0" i="0" sz="1000" u="none" cap="none" strike="noStrike">
              <a:latin typeface="Arial"/>
              <a:ea typeface="Arial"/>
              <a:cs typeface="Arial"/>
              <a:sym typeface="Arial"/>
            </a:endParaRPr>
          </a:p>
        </p:txBody>
      </p:sp>
      <p:sp>
        <p:nvSpPr>
          <p:cNvPr id="750" name="Google Shape;750;p73"/>
          <p:cNvSpPr/>
          <p:nvPr/>
        </p:nvSpPr>
        <p:spPr>
          <a:xfrm>
            <a:off x="8953920" y="2835000"/>
            <a:ext cx="1479240" cy="5407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Supply Chain Planning</a:t>
            </a:r>
            <a:endParaRPr b="0" i="0" sz="1000" u="none" cap="none" strike="noStrike">
              <a:latin typeface="Arial"/>
              <a:ea typeface="Arial"/>
              <a:cs typeface="Arial"/>
              <a:sym typeface="Arial"/>
            </a:endParaRPr>
          </a:p>
        </p:txBody>
      </p:sp>
      <p:sp>
        <p:nvSpPr>
          <p:cNvPr id="751" name="Google Shape;751;p73"/>
          <p:cNvSpPr/>
          <p:nvPr/>
        </p:nvSpPr>
        <p:spPr>
          <a:xfrm>
            <a:off x="9702720" y="3974040"/>
            <a:ext cx="730440" cy="114660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Out-bound Logistics</a:t>
            </a:r>
            <a:endParaRPr b="0" i="0" sz="1000" u="none" cap="none" strike="noStrike">
              <a:latin typeface="Arial"/>
              <a:ea typeface="Arial"/>
              <a:cs typeface="Arial"/>
              <a:sym typeface="Arial"/>
            </a:endParaRPr>
          </a:p>
        </p:txBody>
      </p:sp>
      <p:sp>
        <p:nvSpPr>
          <p:cNvPr id="752" name="Google Shape;752;p73"/>
          <p:cNvSpPr/>
          <p:nvPr/>
        </p:nvSpPr>
        <p:spPr>
          <a:xfrm>
            <a:off x="10581480" y="5200920"/>
            <a:ext cx="1479240" cy="2930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Accounting and GL</a:t>
            </a:r>
            <a:endParaRPr b="0" i="0" sz="1000" u="none" cap="none" strike="noStrike">
              <a:latin typeface="Arial"/>
              <a:ea typeface="Arial"/>
              <a:cs typeface="Arial"/>
              <a:sym typeface="Arial"/>
            </a:endParaRPr>
          </a:p>
        </p:txBody>
      </p:sp>
      <p:sp>
        <p:nvSpPr>
          <p:cNvPr id="753" name="Google Shape;753;p73"/>
          <p:cNvSpPr/>
          <p:nvPr/>
        </p:nvSpPr>
        <p:spPr>
          <a:xfrm>
            <a:off x="10581480" y="5511240"/>
            <a:ext cx="1479240" cy="2930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Indirect  Procurement</a:t>
            </a:r>
            <a:endParaRPr b="0" i="0" sz="1000" u="none" cap="none" strike="noStrike">
              <a:latin typeface="Arial"/>
              <a:ea typeface="Arial"/>
              <a:cs typeface="Arial"/>
              <a:sym typeface="Arial"/>
            </a:endParaRPr>
          </a:p>
        </p:txBody>
      </p:sp>
      <p:sp>
        <p:nvSpPr>
          <p:cNvPr id="754" name="Google Shape;754;p73"/>
          <p:cNvSpPr/>
          <p:nvPr/>
        </p:nvSpPr>
        <p:spPr>
          <a:xfrm>
            <a:off x="10581480" y="2543400"/>
            <a:ext cx="1479240" cy="26244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Corporate Planning</a:t>
            </a:r>
            <a:endParaRPr b="0" i="0" sz="1000" u="none" cap="none" strike="noStrike">
              <a:latin typeface="Arial"/>
              <a:ea typeface="Arial"/>
              <a:cs typeface="Arial"/>
              <a:sym typeface="Arial"/>
            </a:endParaRPr>
          </a:p>
        </p:txBody>
      </p:sp>
      <p:sp>
        <p:nvSpPr>
          <p:cNvPr id="755" name="Google Shape;755;p73"/>
          <p:cNvSpPr/>
          <p:nvPr/>
        </p:nvSpPr>
        <p:spPr>
          <a:xfrm>
            <a:off x="4094640" y="5023800"/>
            <a:ext cx="1479240" cy="27216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Concept/Product Testing</a:t>
            </a:r>
            <a:endParaRPr b="0" i="0" sz="1000" u="none" cap="none" strike="noStrike">
              <a:latin typeface="Arial"/>
              <a:ea typeface="Arial"/>
              <a:cs typeface="Arial"/>
              <a:sym typeface="Arial"/>
            </a:endParaRPr>
          </a:p>
        </p:txBody>
      </p:sp>
      <p:sp>
        <p:nvSpPr>
          <p:cNvPr id="756" name="Google Shape;756;p73"/>
          <p:cNvSpPr/>
          <p:nvPr/>
        </p:nvSpPr>
        <p:spPr>
          <a:xfrm>
            <a:off x="4094640" y="5317200"/>
            <a:ext cx="1479240" cy="27216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Product Development</a:t>
            </a:r>
            <a:endParaRPr b="0" i="0" sz="1000" u="none" cap="none" strike="noStrike">
              <a:latin typeface="Arial"/>
              <a:ea typeface="Arial"/>
              <a:cs typeface="Arial"/>
              <a:sym typeface="Arial"/>
            </a:endParaRPr>
          </a:p>
        </p:txBody>
      </p:sp>
      <p:sp>
        <p:nvSpPr>
          <p:cNvPr id="757" name="Google Shape;757;p73"/>
          <p:cNvSpPr/>
          <p:nvPr/>
        </p:nvSpPr>
        <p:spPr>
          <a:xfrm>
            <a:off x="4094640" y="5608440"/>
            <a:ext cx="1479240" cy="272160"/>
          </a:xfrm>
          <a:prstGeom prst="rect">
            <a:avLst/>
          </a:prstGeom>
          <a:solidFill>
            <a:srgbClr val="E7E6E6"/>
          </a:solidFill>
          <a:ln cap="flat" cmpd="sng" w="1260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Product Management</a:t>
            </a:r>
            <a:endParaRPr b="0" i="0" sz="1000" u="none" cap="none" strike="noStrike">
              <a:latin typeface="Arial"/>
              <a:ea typeface="Arial"/>
              <a:cs typeface="Arial"/>
              <a:sym typeface="Arial"/>
            </a:endParaRPr>
          </a:p>
        </p:txBody>
      </p:sp>
      <p:sp>
        <p:nvSpPr>
          <p:cNvPr id="758" name="Google Shape;758;p73"/>
          <p:cNvSpPr/>
          <p:nvPr/>
        </p:nvSpPr>
        <p:spPr>
          <a:xfrm>
            <a:off x="4094640" y="6191640"/>
            <a:ext cx="1479240" cy="272160"/>
          </a:xfrm>
          <a:prstGeom prst="rect">
            <a:avLst/>
          </a:prstGeom>
          <a:solidFill>
            <a:srgbClr val="E7E6E6"/>
          </a:solidFill>
          <a:ln cap="flat" cmpd="sng" w="9525">
            <a:solidFill>
              <a:srgbClr val="44546A"/>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Consumer Service</a:t>
            </a:r>
            <a:endParaRPr b="0" i="0" sz="1000" u="none" cap="none" strike="noStrike">
              <a:latin typeface="Arial"/>
              <a:ea typeface="Arial"/>
              <a:cs typeface="Arial"/>
              <a:sym typeface="Arial"/>
            </a:endParaRPr>
          </a:p>
        </p:txBody>
      </p:sp>
      <p:sp>
        <p:nvSpPr>
          <p:cNvPr id="759" name="Google Shape;759;p73"/>
          <p:cNvSpPr/>
          <p:nvPr/>
        </p:nvSpPr>
        <p:spPr>
          <a:xfrm>
            <a:off x="5712480" y="6098040"/>
            <a:ext cx="1479240" cy="312120"/>
          </a:xfrm>
          <a:prstGeom prst="rect">
            <a:avLst/>
          </a:prstGeom>
          <a:solidFill>
            <a:srgbClr val="E7E6E6"/>
          </a:solidFill>
          <a:ln cap="flat" cmpd="sng" w="11150">
            <a:solidFill>
              <a:srgbClr val="000000"/>
            </a:solidFill>
            <a:prstDash val="solid"/>
            <a:miter lim="8000"/>
            <a:headEnd len="sm" w="sm" type="none"/>
            <a:tailEnd len="sm" w="sm" type="none"/>
          </a:ln>
        </p:spPr>
        <p:txBody>
          <a:bodyPr anchorCtr="1" anchor="ctr" bIns="54700" lIns="0" spcFirstLastPara="1" rIns="0" wrap="square" tIns="54700">
            <a:noAutofit/>
          </a:bodyPr>
          <a:lstStyle/>
          <a:p>
            <a:pPr indent="0" lvl="0" marL="0" marR="0" rtl="0" algn="l">
              <a:lnSpc>
                <a:spcPct val="90000"/>
              </a:lnSpc>
              <a:spcBef>
                <a:spcPts val="0"/>
              </a:spcBef>
              <a:spcAft>
                <a:spcPts val="0"/>
              </a:spcAft>
              <a:buNone/>
            </a:pPr>
            <a:r>
              <a:rPr b="0" i="0" lang="en-US" sz="1000" u="none" cap="none" strike="noStrike">
                <a:solidFill>
                  <a:srgbClr val="000000"/>
                </a:solidFill>
                <a:latin typeface="Calibri"/>
                <a:ea typeface="Calibri"/>
                <a:cs typeface="Calibri"/>
                <a:sym typeface="Calibri"/>
              </a:rPr>
              <a:t>Device Management</a:t>
            </a:r>
            <a:endParaRPr b="0" i="0" sz="1000" u="none" cap="none" strike="noStrike">
              <a:latin typeface="Arial"/>
              <a:ea typeface="Arial"/>
              <a:cs typeface="Arial"/>
              <a:sym typeface="Arial"/>
            </a:endParaRPr>
          </a:p>
        </p:txBody>
      </p:sp>
      <p:sp>
        <p:nvSpPr>
          <p:cNvPr id="760" name="Google Shape;760;p73"/>
          <p:cNvSpPr/>
          <p:nvPr/>
        </p:nvSpPr>
        <p:spPr>
          <a:xfrm>
            <a:off x="4052160" y="1314720"/>
            <a:ext cx="8069400" cy="319680"/>
          </a:xfrm>
          <a:prstGeom prst="rect">
            <a:avLst/>
          </a:prstGeom>
          <a:solidFill>
            <a:srgbClr val="AEABAB"/>
          </a:solidFill>
          <a:ln>
            <a:noFill/>
          </a:ln>
        </p:spPr>
        <p:txBody>
          <a:bodyPr anchorCtr="0" anchor="ctr" bIns="54700" lIns="109800" spcFirstLastPara="1" rIns="109800" wrap="square" tIns="54700">
            <a:noAutofit/>
          </a:bodyPr>
          <a:lstStyle/>
          <a:p>
            <a:pPr indent="0" lvl="0" marL="0" marR="0" rtl="0" algn="ctr">
              <a:lnSpc>
                <a:spcPct val="100000"/>
              </a:lnSpc>
              <a:spcBef>
                <a:spcPts val="0"/>
              </a:spcBef>
              <a:spcAft>
                <a:spcPts val="0"/>
              </a:spcAft>
              <a:buNone/>
            </a:pPr>
            <a:r>
              <a:rPr b="1" i="0" lang="en-US" sz="1700" u="none" cap="none" strike="noStrike">
                <a:solidFill>
                  <a:srgbClr val="000000"/>
                </a:solidFill>
                <a:latin typeface="Arial"/>
                <a:ea typeface="Arial"/>
                <a:cs typeface="Arial"/>
                <a:sym typeface="Arial"/>
              </a:rPr>
              <a:t>Functional Areas</a:t>
            </a:r>
            <a:endParaRPr b="0" i="0" sz="1700" u="none" cap="none" strike="noStrike">
              <a:latin typeface="Arial"/>
              <a:ea typeface="Arial"/>
              <a:cs typeface="Arial"/>
              <a:sym typeface="Arial"/>
            </a:endParaRPr>
          </a:p>
        </p:txBody>
      </p:sp>
      <p:sp>
        <p:nvSpPr>
          <p:cNvPr id="761" name="Google Shape;761;p73"/>
          <p:cNvSpPr/>
          <p:nvPr/>
        </p:nvSpPr>
        <p:spPr>
          <a:xfrm rot="-5400000">
            <a:off x="416160" y="4256280"/>
            <a:ext cx="4649760" cy="489240"/>
          </a:xfrm>
          <a:prstGeom prst="rect">
            <a:avLst/>
          </a:prstGeom>
          <a:solidFill>
            <a:srgbClr val="A5A5A5"/>
          </a:solidFill>
          <a:ln>
            <a:noFill/>
          </a:ln>
        </p:spPr>
        <p:txBody>
          <a:bodyPr anchorCtr="0" anchor="ctr" bIns="54700" lIns="109800" spcFirstLastPara="1" rIns="109800" wrap="square" tIns="54700">
            <a:noAutofit/>
          </a:bodyPr>
          <a:lstStyle/>
          <a:p>
            <a:pPr indent="0" lvl="0" marL="0" marR="0" rtl="0" algn="ctr">
              <a:lnSpc>
                <a:spcPct val="100000"/>
              </a:lnSpc>
              <a:spcBef>
                <a:spcPts val="0"/>
              </a:spcBef>
              <a:spcAft>
                <a:spcPts val="0"/>
              </a:spcAft>
              <a:buNone/>
            </a:pPr>
            <a:r>
              <a:rPr b="0" i="0" lang="en-US" sz="1600" u="none" cap="none" strike="noStrike">
                <a:solidFill>
                  <a:srgbClr val="000000"/>
                </a:solidFill>
                <a:latin typeface="Arial"/>
                <a:ea typeface="Arial"/>
                <a:cs typeface="Arial"/>
                <a:sym typeface="Arial"/>
              </a:rPr>
              <a:t>Component Service Categories</a:t>
            </a:r>
            <a:endParaRPr b="0" i="0" sz="1600" u="none" cap="none" strike="noStrike">
              <a:latin typeface="Arial"/>
              <a:ea typeface="Arial"/>
              <a:cs typeface="Arial"/>
              <a:sym typeface="Arial"/>
            </a:endParaRPr>
          </a:p>
        </p:txBody>
      </p:sp>
      <p:grpSp>
        <p:nvGrpSpPr>
          <p:cNvPr id="762" name="Google Shape;762;p73"/>
          <p:cNvGrpSpPr/>
          <p:nvPr/>
        </p:nvGrpSpPr>
        <p:grpSpPr>
          <a:xfrm>
            <a:off x="5048640" y="7122960"/>
            <a:ext cx="6076440" cy="292320"/>
            <a:chOff x="5048640" y="7122960"/>
            <a:chExt cx="6076440" cy="292320"/>
          </a:xfrm>
        </p:grpSpPr>
        <p:sp>
          <p:nvSpPr>
            <p:cNvPr id="763" name="Google Shape;763;p73"/>
            <p:cNvSpPr/>
            <p:nvPr/>
          </p:nvSpPr>
          <p:spPr>
            <a:xfrm>
              <a:off x="5048640" y="7122960"/>
              <a:ext cx="1518840" cy="292320"/>
            </a:xfrm>
            <a:prstGeom prst="rect">
              <a:avLst/>
            </a:prstGeom>
            <a:solidFill>
              <a:srgbClr val="D8D8D8"/>
            </a:solidFill>
            <a:ln cap="flat" cmpd="sng" w="12600">
              <a:solidFill>
                <a:srgbClr val="000000"/>
              </a:solidFill>
              <a:prstDash val="solid"/>
              <a:miter lim="8000"/>
              <a:headEnd len="sm" w="sm" type="none"/>
              <a:tailEnd len="sm" w="sm" type="none"/>
            </a:ln>
          </p:spPr>
          <p:txBody>
            <a:bodyPr anchorCtr="0" anchor="t" bIns="54700" lIns="109800" spcFirstLastPara="1" rIns="109800" wrap="square" tIns="54700">
              <a:noAutofit/>
            </a:bodyPr>
            <a:lstStyle/>
            <a:p>
              <a:pPr indent="0" lvl="0" marL="0" marR="0" rtl="0" algn="l">
                <a:lnSpc>
                  <a:spcPct val="100000"/>
                </a:lnSpc>
                <a:spcBef>
                  <a:spcPts val="0"/>
                </a:spcBef>
                <a:spcAft>
                  <a:spcPts val="0"/>
                </a:spcAft>
                <a:buNone/>
              </a:pPr>
              <a:r>
                <a:rPr b="0" i="0" lang="en-US" sz="1200" u="none" cap="none" strike="noStrike">
                  <a:solidFill>
                    <a:srgbClr val="000000"/>
                  </a:solidFill>
                  <a:latin typeface="Calibri"/>
                  <a:ea typeface="Calibri"/>
                  <a:cs typeface="Calibri"/>
                  <a:sym typeface="Calibri"/>
                </a:rPr>
                <a:t>No Priority</a:t>
              </a:r>
              <a:endParaRPr b="0" i="0" sz="1200" u="none" cap="none" strike="noStrike">
                <a:latin typeface="Arial"/>
                <a:ea typeface="Arial"/>
                <a:cs typeface="Arial"/>
                <a:sym typeface="Arial"/>
              </a:endParaRPr>
            </a:p>
          </p:txBody>
        </p:sp>
        <p:sp>
          <p:nvSpPr>
            <p:cNvPr id="764" name="Google Shape;764;p73"/>
            <p:cNvSpPr/>
            <p:nvPr/>
          </p:nvSpPr>
          <p:spPr>
            <a:xfrm>
              <a:off x="6567840" y="7122960"/>
              <a:ext cx="1518840" cy="292320"/>
            </a:xfrm>
            <a:prstGeom prst="rect">
              <a:avLst/>
            </a:prstGeom>
            <a:solidFill>
              <a:srgbClr val="EA9999"/>
            </a:solidFill>
            <a:ln cap="flat" cmpd="sng" w="12600">
              <a:solidFill>
                <a:srgbClr val="000000"/>
              </a:solidFill>
              <a:prstDash val="solid"/>
              <a:miter lim="8000"/>
              <a:headEnd len="sm" w="sm" type="none"/>
              <a:tailEnd len="sm" w="sm" type="none"/>
            </a:ln>
          </p:spPr>
          <p:txBody>
            <a:bodyPr anchorCtr="0" anchor="t" bIns="54700" lIns="109800" spcFirstLastPara="1" rIns="109800" wrap="square" tIns="54700">
              <a:noAutofit/>
            </a:bodyPr>
            <a:lstStyle/>
            <a:p>
              <a:pPr indent="0" lvl="0" marL="0" marR="0" rtl="0" algn="l">
                <a:lnSpc>
                  <a:spcPct val="100000"/>
                </a:lnSpc>
                <a:spcBef>
                  <a:spcPts val="0"/>
                </a:spcBef>
                <a:spcAft>
                  <a:spcPts val="0"/>
                </a:spcAft>
                <a:buNone/>
              </a:pPr>
              <a:r>
                <a:rPr b="0" i="0" lang="en-US" sz="1200" u="none" cap="none" strike="noStrike">
                  <a:solidFill>
                    <a:srgbClr val="000000"/>
                  </a:solidFill>
                  <a:latin typeface="Calibri"/>
                  <a:ea typeface="Calibri"/>
                  <a:cs typeface="Calibri"/>
                  <a:sym typeface="Calibri"/>
                </a:rPr>
                <a:t>Tier One</a:t>
              </a:r>
              <a:endParaRPr b="0" i="0" sz="1200" u="none" cap="none" strike="noStrike">
                <a:latin typeface="Arial"/>
                <a:ea typeface="Arial"/>
                <a:cs typeface="Arial"/>
                <a:sym typeface="Arial"/>
              </a:endParaRPr>
            </a:p>
          </p:txBody>
        </p:sp>
        <p:sp>
          <p:nvSpPr>
            <p:cNvPr id="765" name="Google Shape;765;p73"/>
            <p:cNvSpPr/>
            <p:nvPr/>
          </p:nvSpPr>
          <p:spPr>
            <a:xfrm>
              <a:off x="8087040" y="7122960"/>
              <a:ext cx="1518840" cy="292320"/>
            </a:xfrm>
            <a:prstGeom prst="rect">
              <a:avLst/>
            </a:prstGeom>
            <a:solidFill>
              <a:srgbClr val="FFFF00"/>
            </a:solidFill>
            <a:ln cap="flat" cmpd="sng" w="12600">
              <a:solidFill>
                <a:srgbClr val="000000"/>
              </a:solidFill>
              <a:prstDash val="solid"/>
              <a:miter lim="8000"/>
              <a:headEnd len="sm" w="sm" type="none"/>
              <a:tailEnd len="sm" w="sm" type="none"/>
            </a:ln>
          </p:spPr>
          <p:txBody>
            <a:bodyPr anchorCtr="0" anchor="t" bIns="54700" lIns="109800" spcFirstLastPara="1" rIns="109800" wrap="square" tIns="54700">
              <a:noAutofit/>
            </a:bodyPr>
            <a:lstStyle/>
            <a:p>
              <a:pPr indent="0" lvl="0" marL="0" marR="0" rtl="0" algn="l">
                <a:lnSpc>
                  <a:spcPct val="100000"/>
                </a:lnSpc>
                <a:spcBef>
                  <a:spcPts val="0"/>
                </a:spcBef>
                <a:spcAft>
                  <a:spcPts val="0"/>
                </a:spcAft>
                <a:buNone/>
              </a:pPr>
              <a:r>
                <a:rPr b="0" i="0" lang="en-US" sz="1200" u="none" cap="none" strike="noStrike">
                  <a:solidFill>
                    <a:srgbClr val="000000"/>
                  </a:solidFill>
                  <a:latin typeface="Calibri"/>
                  <a:ea typeface="Calibri"/>
                  <a:cs typeface="Calibri"/>
                  <a:sym typeface="Calibri"/>
                </a:rPr>
                <a:t>Tier Two</a:t>
              </a:r>
              <a:endParaRPr b="0" i="0" sz="1200" u="none" cap="none" strike="noStrike">
                <a:latin typeface="Arial"/>
                <a:ea typeface="Arial"/>
                <a:cs typeface="Arial"/>
                <a:sym typeface="Arial"/>
              </a:endParaRPr>
            </a:p>
          </p:txBody>
        </p:sp>
        <p:sp>
          <p:nvSpPr>
            <p:cNvPr id="766" name="Google Shape;766;p73"/>
            <p:cNvSpPr/>
            <p:nvPr/>
          </p:nvSpPr>
          <p:spPr>
            <a:xfrm>
              <a:off x="9606240" y="7122960"/>
              <a:ext cx="1518840" cy="292320"/>
            </a:xfrm>
            <a:prstGeom prst="rect">
              <a:avLst/>
            </a:prstGeom>
            <a:solidFill>
              <a:srgbClr val="00B050"/>
            </a:solidFill>
            <a:ln cap="flat" cmpd="sng" w="12600">
              <a:solidFill>
                <a:srgbClr val="000000"/>
              </a:solidFill>
              <a:prstDash val="solid"/>
              <a:miter lim="8000"/>
              <a:headEnd len="sm" w="sm" type="none"/>
              <a:tailEnd len="sm" w="sm" type="none"/>
            </a:ln>
          </p:spPr>
          <p:txBody>
            <a:bodyPr anchorCtr="0" anchor="t" bIns="54700" lIns="109800" spcFirstLastPara="1" rIns="109800" wrap="square" tIns="54700">
              <a:noAutofit/>
            </a:bodyPr>
            <a:lstStyle/>
            <a:p>
              <a:pPr indent="0" lvl="0" marL="0" marR="0" rtl="0" algn="l">
                <a:lnSpc>
                  <a:spcPct val="100000"/>
                </a:lnSpc>
                <a:spcBef>
                  <a:spcPts val="0"/>
                </a:spcBef>
                <a:spcAft>
                  <a:spcPts val="0"/>
                </a:spcAft>
                <a:buNone/>
              </a:pPr>
              <a:r>
                <a:rPr b="0" i="0" lang="en-US" sz="1200" u="none" cap="none" strike="noStrike">
                  <a:solidFill>
                    <a:srgbClr val="000000"/>
                  </a:solidFill>
                  <a:latin typeface="Calibri"/>
                  <a:ea typeface="Calibri"/>
                  <a:cs typeface="Calibri"/>
                  <a:sym typeface="Calibri"/>
                </a:rPr>
                <a:t>Tier Three</a:t>
              </a:r>
              <a:endParaRPr b="0" i="0" sz="1200" u="none" cap="none" strike="noStrike">
                <a:latin typeface="Arial"/>
                <a:ea typeface="Arial"/>
                <a:cs typeface="Arial"/>
                <a:sym typeface="Arial"/>
              </a:endParaRPr>
            </a:p>
          </p:txBody>
        </p:sp>
      </p:grpSp>
      <p:sp>
        <p:nvSpPr>
          <p:cNvPr id="767" name="Google Shape;767;p73"/>
          <p:cNvSpPr/>
          <p:nvPr/>
        </p:nvSpPr>
        <p:spPr>
          <a:xfrm>
            <a:off x="2496600" y="7128360"/>
            <a:ext cx="2495880" cy="292320"/>
          </a:xfrm>
          <a:prstGeom prst="rect">
            <a:avLst/>
          </a:prstGeom>
          <a:noFill/>
          <a:ln>
            <a:noFill/>
          </a:ln>
        </p:spPr>
        <p:txBody>
          <a:bodyPr anchorCtr="0" anchor="t" bIns="54700" lIns="109800" spcFirstLastPara="1" rIns="109800" wrap="square" tIns="54700">
            <a:noAutofit/>
          </a:bodyPr>
          <a:lstStyle/>
          <a:p>
            <a:pPr indent="0" lvl="0" marL="0" marR="0" rtl="0" algn="r">
              <a:lnSpc>
                <a:spcPct val="100000"/>
              </a:lnSpc>
              <a:spcBef>
                <a:spcPts val="0"/>
              </a:spcBef>
              <a:spcAft>
                <a:spcPts val="0"/>
              </a:spcAft>
              <a:buNone/>
            </a:pPr>
            <a:r>
              <a:rPr b="0" i="0" lang="en-US" sz="1200" u="none" cap="none" strike="noStrike">
                <a:solidFill>
                  <a:srgbClr val="000000"/>
                </a:solidFill>
                <a:latin typeface="Calibri"/>
                <a:ea typeface="Calibri"/>
                <a:cs typeface="Calibri"/>
                <a:sym typeface="Calibri"/>
              </a:rPr>
              <a:t>Legend: Capability Heat Map</a:t>
            </a:r>
            <a:endParaRPr b="0" i="0" sz="1200" u="none" cap="none" strike="noStrike">
              <a:latin typeface="Arial"/>
              <a:ea typeface="Arial"/>
              <a:cs typeface="Arial"/>
              <a:sym typeface="Arial"/>
            </a:endParaRPr>
          </a:p>
        </p:txBody>
      </p:sp>
      <p:sp>
        <p:nvSpPr>
          <p:cNvPr id="768" name="Google Shape;768;p73"/>
          <p:cNvSpPr txBox="1"/>
          <p:nvPr/>
        </p:nvSpPr>
        <p:spPr>
          <a:xfrm>
            <a:off x="510120" y="217800"/>
            <a:ext cx="12618360" cy="1096560"/>
          </a:xfrm>
          <a:prstGeom prst="rect">
            <a:avLst/>
          </a:prstGeom>
          <a:noFill/>
          <a:ln>
            <a:noFill/>
          </a:ln>
        </p:spPr>
        <p:txBody>
          <a:bodyPr anchorCtr="0" anchor="ctr" bIns="54700" lIns="109800" spcFirstLastPara="1" rIns="109800" wrap="square" tIns="54700">
            <a:normAutofit/>
          </a:bodyPr>
          <a:lstStyle/>
          <a:p>
            <a:pPr indent="0" lvl="0" marL="0" marR="0" rtl="0" algn="l">
              <a:lnSpc>
                <a:spcPct val="90000"/>
              </a:lnSpc>
              <a:spcBef>
                <a:spcPts val="0"/>
              </a:spcBef>
              <a:spcAft>
                <a:spcPts val="0"/>
              </a:spcAft>
              <a:buNone/>
            </a:pPr>
            <a:r>
              <a:rPr b="0" i="0" lang="en-US" sz="5300" u="none" cap="none" strike="noStrike">
                <a:solidFill>
                  <a:srgbClr val="833C0B"/>
                </a:solidFill>
                <a:latin typeface="Calibri"/>
                <a:ea typeface="Calibri"/>
                <a:cs typeface="Calibri"/>
                <a:sym typeface="Calibri"/>
              </a:rPr>
              <a:t>Capability Heat Map</a:t>
            </a:r>
            <a:br>
              <a:rPr b="0" i="0" lang="en-US" sz="1800" u="none" cap="none" strike="noStrike"/>
            </a:br>
            <a:r>
              <a:rPr b="0" i="0" lang="en-US" sz="2200" u="none" cap="none" strike="noStrike">
                <a:solidFill>
                  <a:srgbClr val="757070"/>
                </a:solidFill>
                <a:latin typeface="Calibri"/>
                <a:ea typeface="Calibri"/>
                <a:cs typeface="Calibri"/>
                <a:sym typeface="Calibri"/>
              </a:rPr>
              <a:t>Items in RED are priority one</a:t>
            </a:r>
            <a:endParaRPr b="0" i="0" sz="2200" u="none" cap="none" strike="noStrike">
              <a:solidFill>
                <a:srgbClr val="000000"/>
              </a:solidFill>
              <a:latin typeface="Arial"/>
              <a:ea typeface="Arial"/>
              <a:cs typeface="Arial"/>
              <a:sym typeface="Arial"/>
            </a:endParaRPr>
          </a:p>
        </p:txBody>
      </p:sp>
      <p:grpSp>
        <p:nvGrpSpPr>
          <p:cNvPr id="769" name="Google Shape;769;p73"/>
          <p:cNvGrpSpPr/>
          <p:nvPr/>
        </p:nvGrpSpPr>
        <p:grpSpPr>
          <a:xfrm>
            <a:off x="13783680" y="0"/>
            <a:ext cx="846360" cy="968400"/>
            <a:chOff x="13783680" y="0"/>
            <a:chExt cx="846360" cy="968400"/>
          </a:xfrm>
        </p:grpSpPr>
        <p:sp>
          <p:nvSpPr>
            <p:cNvPr id="770" name="Google Shape;770;p73"/>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1" name="Google Shape;771;p73"/>
            <p:cNvGrpSpPr/>
            <p:nvPr/>
          </p:nvGrpSpPr>
          <p:grpSpPr>
            <a:xfrm>
              <a:off x="13838760" y="0"/>
              <a:ext cx="791280" cy="968400"/>
              <a:chOff x="13838760" y="0"/>
              <a:chExt cx="791280" cy="968400"/>
            </a:xfrm>
          </p:grpSpPr>
          <p:pic>
            <p:nvPicPr>
              <p:cNvPr id="772" name="Google Shape;772;p73"/>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773" name="Google Shape;773;p73"/>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74"/>
          <p:cNvSpPr/>
          <p:nvPr/>
        </p:nvSpPr>
        <p:spPr>
          <a:xfrm>
            <a:off x="8795880" y="1028880"/>
            <a:ext cx="5313240" cy="7434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Domains</a:t>
            </a:r>
            <a:endParaRPr b="0" i="0" sz="4650" u="none" cap="none" strike="noStrike">
              <a:latin typeface="Arial"/>
              <a:ea typeface="Arial"/>
              <a:cs typeface="Arial"/>
              <a:sym typeface="Arial"/>
            </a:endParaRPr>
          </a:p>
        </p:txBody>
      </p:sp>
      <p:pic>
        <p:nvPicPr>
          <p:cNvPr id="780" name="Google Shape;780;p74"/>
          <p:cNvPicPr preferRelativeResize="0"/>
          <p:nvPr/>
        </p:nvPicPr>
        <p:blipFill rotWithShape="1">
          <a:blip r:embed="rId3">
            <a:alphaModFix/>
          </a:blip>
          <a:srcRect b="0" l="0" r="0" t="0"/>
          <a:stretch/>
        </p:blipFill>
        <p:spPr>
          <a:xfrm>
            <a:off x="8489880" y="1935360"/>
            <a:ext cx="1133280" cy="1813680"/>
          </a:xfrm>
          <a:prstGeom prst="rect">
            <a:avLst/>
          </a:prstGeom>
          <a:noFill/>
          <a:ln>
            <a:noFill/>
          </a:ln>
        </p:spPr>
      </p:pic>
      <p:sp>
        <p:nvSpPr>
          <p:cNvPr id="781" name="Google Shape;781;p74"/>
          <p:cNvSpPr/>
          <p:nvPr/>
        </p:nvSpPr>
        <p:spPr>
          <a:xfrm>
            <a:off x="9964080" y="2162160"/>
            <a:ext cx="383112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000" u="none" cap="none" strike="noStrike">
                <a:solidFill>
                  <a:srgbClr val="272525"/>
                </a:solidFill>
                <a:latin typeface="Petrona"/>
                <a:ea typeface="Petrona"/>
                <a:cs typeface="Petrona"/>
                <a:sym typeface="Petrona"/>
              </a:rPr>
              <a:t>Commercial Operations</a:t>
            </a:r>
            <a:endParaRPr b="0" i="0" sz="2000" u="none" cap="none" strike="noStrike">
              <a:latin typeface="Arial"/>
              <a:ea typeface="Arial"/>
              <a:cs typeface="Arial"/>
              <a:sym typeface="Arial"/>
            </a:endParaRPr>
          </a:p>
        </p:txBody>
      </p:sp>
      <p:sp>
        <p:nvSpPr>
          <p:cNvPr id="782" name="Google Shape;782;p74"/>
          <p:cNvSpPr/>
          <p:nvPr/>
        </p:nvSpPr>
        <p:spPr>
          <a:xfrm>
            <a:off x="9964080" y="2670120"/>
            <a:ext cx="4089960" cy="1078920"/>
          </a:xfrm>
          <a:prstGeom prst="rect">
            <a:avLst/>
          </a:prstGeom>
          <a:noFill/>
          <a:ln>
            <a:noFill/>
          </a:ln>
        </p:spPr>
        <p:txBody>
          <a:bodyPr anchorCtr="0" anchor="t" bIns="0" lIns="0" spcFirstLastPara="1" rIns="0" wrap="square" tIns="0">
            <a:noAutofit/>
          </a:bodyPr>
          <a:lstStyle/>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Retail Sales</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Sales Operations</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Marketing Operations</a:t>
            </a:r>
            <a:endParaRPr b="0" i="0" sz="1400" u="none" cap="none" strike="noStrike">
              <a:latin typeface="Arial"/>
              <a:ea typeface="Arial"/>
              <a:cs typeface="Arial"/>
              <a:sym typeface="Arial"/>
            </a:endParaRPr>
          </a:p>
        </p:txBody>
      </p:sp>
      <p:pic>
        <p:nvPicPr>
          <p:cNvPr id="783" name="Google Shape;783;p74"/>
          <p:cNvPicPr preferRelativeResize="0"/>
          <p:nvPr/>
        </p:nvPicPr>
        <p:blipFill rotWithShape="1">
          <a:blip r:embed="rId4">
            <a:alphaModFix/>
          </a:blip>
          <a:srcRect b="0" l="0" r="0" t="0"/>
          <a:stretch/>
        </p:blipFill>
        <p:spPr>
          <a:xfrm>
            <a:off x="8489880" y="3749760"/>
            <a:ext cx="1133280" cy="1813680"/>
          </a:xfrm>
          <a:prstGeom prst="rect">
            <a:avLst/>
          </a:prstGeom>
          <a:noFill/>
          <a:ln>
            <a:noFill/>
          </a:ln>
        </p:spPr>
      </p:pic>
      <p:sp>
        <p:nvSpPr>
          <p:cNvPr id="784" name="Google Shape;784;p74"/>
          <p:cNvSpPr/>
          <p:nvPr/>
        </p:nvSpPr>
        <p:spPr>
          <a:xfrm>
            <a:off x="9964080" y="397656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000" u="none" cap="none" strike="noStrike">
                <a:solidFill>
                  <a:srgbClr val="272525"/>
                </a:solidFill>
                <a:latin typeface="Petrona"/>
                <a:ea typeface="Petrona"/>
                <a:cs typeface="Petrona"/>
                <a:sym typeface="Petrona"/>
              </a:rPr>
              <a:t>Corporate Operations</a:t>
            </a:r>
            <a:endParaRPr b="0" i="0" sz="2000" u="none" cap="none" strike="noStrike">
              <a:latin typeface="Arial"/>
              <a:ea typeface="Arial"/>
              <a:cs typeface="Arial"/>
              <a:sym typeface="Arial"/>
            </a:endParaRPr>
          </a:p>
        </p:txBody>
      </p:sp>
      <p:sp>
        <p:nvSpPr>
          <p:cNvPr id="785" name="Google Shape;785;p74"/>
          <p:cNvSpPr/>
          <p:nvPr/>
        </p:nvSpPr>
        <p:spPr>
          <a:xfrm>
            <a:off x="9964080" y="4484880"/>
            <a:ext cx="4089960" cy="1078920"/>
          </a:xfrm>
          <a:prstGeom prst="rect">
            <a:avLst/>
          </a:prstGeom>
          <a:noFill/>
          <a:ln>
            <a:noFill/>
          </a:ln>
        </p:spPr>
        <p:txBody>
          <a:bodyPr anchorCtr="0" anchor="t" bIns="0" lIns="0" spcFirstLastPara="1" rIns="0" wrap="square" tIns="0">
            <a:noAutofit/>
          </a:bodyPr>
          <a:lstStyle/>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Contract Management</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Real Estate</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Energy &amp; Power Management</a:t>
            </a:r>
            <a:endParaRPr b="0" i="0" sz="1400" u="none" cap="none" strike="noStrike">
              <a:latin typeface="Arial"/>
              <a:ea typeface="Arial"/>
              <a:cs typeface="Arial"/>
              <a:sym typeface="Arial"/>
            </a:endParaRPr>
          </a:p>
        </p:txBody>
      </p:sp>
      <p:pic>
        <p:nvPicPr>
          <p:cNvPr id="786" name="Google Shape;786;p74"/>
          <p:cNvPicPr preferRelativeResize="0"/>
          <p:nvPr/>
        </p:nvPicPr>
        <p:blipFill rotWithShape="1">
          <a:blip r:embed="rId5">
            <a:alphaModFix/>
          </a:blip>
          <a:srcRect b="0" l="0" r="0" t="0"/>
          <a:stretch/>
        </p:blipFill>
        <p:spPr>
          <a:xfrm>
            <a:off x="8489880" y="5564160"/>
            <a:ext cx="1133280" cy="1813680"/>
          </a:xfrm>
          <a:prstGeom prst="rect">
            <a:avLst/>
          </a:prstGeom>
          <a:noFill/>
          <a:ln>
            <a:noFill/>
          </a:ln>
        </p:spPr>
      </p:pic>
      <p:sp>
        <p:nvSpPr>
          <p:cNvPr id="787" name="Google Shape;787;p74"/>
          <p:cNvSpPr/>
          <p:nvPr/>
        </p:nvSpPr>
        <p:spPr>
          <a:xfrm>
            <a:off x="9964080" y="5790960"/>
            <a:ext cx="2976480" cy="371520"/>
          </a:xfrm>
          <a:prstGeom prst="rect">
            <a:avLst/>
          </a:prstGeom>
          <a:noFill/>
          <a:ln>
            <a:noFill/>
          </a:ln>
        </p:spPr>
        <p:txBody>
          <a:bodyPr anchorCtr="0" anchor="t" bIns="0" lIns="0" spcFirstLastPara="1" rIns="0" wrap="square" tIns="0">
            <a:noAutofit/>
          </a:bodyPr>
          <a:lstStyle/>
          <a:p>
            <a:pPr indent="0" lvl="0" marL="0" marR="0" rtl="0" algn="l">
              <a:lnSpc>
                <a:spcPct val="126000"/>
              </a:lnSpc>
              <a:spcBef>
                <a:spcPts val="0"/>
              </a:spcBef>
              <a:spcAft>
                <a:spcPts val="0"/>
              </a:spcAft>
              <a:buNone/>
            </a:pPr>
            <a:r>
              <a:rPr b="1" i="0" lang="en-US" sz="2000" u="none" cap="none" strike="noStrike">
                <a:solidFill>
                  <a:srgbClr val="272525"/>
                </a:solidFill>
                <a:latin typeface="Petrona"/>
                <a:ea typeface="Petrona"/>
                <a:cs typeface="Petrona"/>
                <a:sym typeface="Petrona"/>
              </a:rPr>
              <a:t>Network Operations</a:t>
            </a:r>
            <a:endParaRPr b="0" i="0" sz="2000" u="none" cap="none" strike="noStrike">
              <a:latin typeface="Arial"/>
              <a:ea typeface="Arial"/>
              <a:cs typeface="Arial"/>
              <a:sym typeface="Arial"/>
            </a:endParaRPr>
          </a:p>
        </p:txBody>
      </p:sp>
      <p:sp>
        <p:nvSpPr>
          <p:cNvPr id="788" name="Google Shape;788;p74"/>
          <p:cNvSpPr/>
          <p:nvPr/>
        </p:nvSpPr>
        <p:spPr>
          <a:xfrm>
            <a:off x="9964080" y="6299280"/>
            <a:ext cx="4089960" cy="1274760"/>
          </a:xfrm>
          <a:prstGeom prst="rect">
            <a:avLst/>
          </a:prstGeom>
          <a:noFill/>
          <a:ln>
            <a:noFill/>
          </a:ln>
        </p:spPr>
        <p:txBody>
          <a:bodyPr anchorCtr="0" anchor="t" bIns="0" lIns="0" spcFirstLastPara="1" rIns="0" wrap="square" tIns="0">
            <a:noAutofit/>
          </a:bodyPr>
          <a:lstStyle/>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Wireless Services</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Wireline Services</a:t>
            </a:r>
            <a:endParaRPr b="0" i="0" sz="1400" u="none" cap="none" strike="noStrike">
              <a:latin typeface="Arial"/>
              <a:ea typeface="Arial"/>
              <a:cs typeface="Arial"/>
              <a:sym typeface="Arial"/>
            </a:endParaRPr>
          </a:p>
          <a:p>
            <a:pPr indent="-317160" lvl="0" marL="457200" marR="0" rtl="0" algn="l">
              <a:lnSpc>
                <a:spcPct val="162000"/>
              </a:lnSpc>
              <a:spcBef>
                <a:spcPts val="0"/>
              </a:spcBef>
              <a:spcAft>
                <a:spcPts val="0"/>
              </a:spcAft>
              <a:buClr>
                <a:srgbClr val="272525"/>
              </a:buClr>
              <a:buSzPts val="1400"/>
              <a:buFont typeface="Inter"/>
              <a:buChar char="●"/>
            </a:pPr>
            <a:r>
              <a:rPr b="0" i="0" lang="en-US" sz="1400" u="none" cap="none" strike="noStrike">
                <a:solidFill>
                  <a:srgbClr val="272525"/>
                </a:solidFill>
                <a:latin typeface="Inter"/>
                <a:ea typeface="Inter"/>
                <a:cs typeface="Inter"/>
                <a:sym typeface="Inter"/>
              </a:rPr>
              <a:t>Customer Support</a:t>
            </a:r>
            <a:endParaRPr b="0" i="0" sz="1400" u="none" cap="none" strike="noStrike">
              <a:latin typeface="Arial"/>
              <a:ea typeface="Arial"/>
              <a:cs typeface="Arial"/>
              <a:sym typeface="Arial"/>
            </a:endParaRPr>
          </a:p>
        </p:txBody>
      </p:sp>
      <p:pic>
        <p:nvPicPr>
          <p:cNvPr id="789" name="Google Shape;789;p74"/>
          <p:cNvPicPr preferRelativeResize="0"/>
          <p:nvPr/>
        </p:nvPicPr>
        <p:blipFill rotWithShape="1">
          <a:blip r:embed="rId6">
            <a:alphaModFix/>
          </a:blip>
          <a:srcRect b="0" l="0" r="0" t="0"/>
          <a:stretch/>
        </p:blipFill>
        <p:spPr>
          <a:xfrm>
            <a:off x="1326600" y="4853520"/>
            <a:ext cx="5313240" cy="2027880"/>
          </a:xfrm>
          <a:prstGeom prst="rect">
            <a:avLst/>
          </a:prstGeom>
          <a:noFill/>
          <a:ln>
            <a:noFill/>
          </a:ln>
        </p:spPr>
      </p:pic>
      <p:sp>
        <p:nvSpPr>
          <p:cNvPr id="790" name="Google Shape;790;p74"/>
          <p:cNvSpPr/>
          <p:nvPr/>
        </p:nvSpPr>
        <p:spPr>
          <a:xfrm>
            <a:off x="534960" y="650880"/>
            <a:ext cx="7411320" cy="94104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(Scope)</a:t>
            </a:r>
            <a:endParaRPr b="0" i="0" sz="4650" u="none" cap="none" strike="noStrike">
              <a:latin typeface="Arial"/>
              <a:ea typeface="Arial"/>
              <a:cs typeface="Arial"/>
              <a:sym typeface="Arial"/>
            </a:endParaRPr>
          </a:p>
        </p:txBody>
      </p:sp>
      <p:pic>
        <p:nvPicPr>
          <p:cNvPr id="791" name="Google Shape;791;p74"/>
          <p:cNvPicPr preferRelativeResize="0"/>
          <p:nvPr/>
        </p:nvPicPr>
        <p:blipFill rotWithShape="1">
          <a:blip r:embed="rId7">
            <a:alphaModFix/>
          </a:blip>
          <a:srcRect b="0" l="0" r="0" t="0"/>
          <a:stretch/>
        </p:blipFill>
        <p:spPr>
          <a:xfrm>
            <a:off x="1931760" y="1744560"/>
            <a:ext cx="4288320" cy="2451240"/>
          </a:xfrm>
          <a:prstGeom prst="rect">
            <a:avLst/>
          </a:prstGeom>
          <a:noFill/>
          <a:ln>
            <a:noFill/>
          </a:ln>
        </p:spPr>
      </p:pic>
      <p:sp>
        <p:nvSpPr>
          <p:cNvPr id="792" name="Google Shape;792;p74"/>
          <p:cNvSpPr/>
          <p:nvPr/>
        </p:nvSpPr>
        <p:spPr>
          <a:xfrm>
            <a:off x="4015080" y="4363920"/>
            <a:ext cx="324360" cy="371520"/>
          </a:xfrm>
          <a:prstGeom prst="downArrow">
            <a:avLst>
              <a:gd fmla="val 50000" name="adj1"/>
              <a:gd fmla="val 50000" name="adj2"/>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74"/>
          <p:cNvSpPr/>
          <p:nvPr/>
        </p:nvSpPr>
        <p:spPr>
          <a:xfrm>
            <a:off x="7212960" y="5681520"/>
            <a:ext cx="504720" cy="371520"/>
          </a:xfrm>
          <a:prstGeom prst="rightArrow">
            <a:avLst>
              <a:gd fmla="val 50000" name="adj1"/>
              <a:gd fmla="val 50000" name="adj2"/>
            </a:avLst>
          </a:prstGeom>
          <a:solidFill>
            <a:srgbClr val="EEECE1"/>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4" name="Google Shape;794;p74"/>
          <p:cNvGrpSpPr/>
          <p:nvPr/>
        </p:nvGrpSpPr>
        <p:grpSpPr>
          <a:xfrm>
            <a:off x="13783680" y="0"/>
            <a:ext cx="846360" cy="968400"/>
            <a:chOff x="13783680" y="0"/>
            <a:chExt cx="846360" cy="968400"/>
          </a:xfrm>
        </p:grpSpPr>
        <p:sp>
          <p:nvSpPr>
            <p:cNvPr id="795" name="Google Shape;795;p74"/>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96" name="Google Shape;796;p74"/>
            <p:cNvGrpSpPr/>
            <p:nvPr/>
          </p:nvGrpSpPr>
          <p:grpSpPr>
            <a:xfrm>
              <a:off x="13838760" y="0"/>
              <a:ext cx="791280" cy="968400"/>
              <a:chOff x="13838760" y="0"/>
              <a:chExt cx="791280" cy="968400"/>
            </a:xfrm>
          </p:grpSpPr>
          <p:pic>
            <p:nvPicPr>
              <p:cNvPr id="797" name="Google Shape;797;p74"/>
              <p:cNvPicPr preferRelativeResize="0"/>
              <p:nvPr/>
            </p:nvPicPr>
            <p:blipFill rotWithShape="1">
              <a:blip r:embed="rId8">
                <a:alphaModFix/>
              </a:blip>
              <a:srcRect b="0" l="20669" r="9844" t="0"/>
              <a:stretch/>
            </p:blipFill>
            <p:spPr>
              <a:xfrm>
                <a:off x="13838760" y="0"/>
                <a:ext cx="756360" cy="756360"/>
              </a:xfrm>
              <a:prstGeom prst="rect">
                <a:avLst/>
              </a:prstGeom>
              <a:noFill/>
              <a:ln>
                <a:noFill/>
              </a:ln>
            </p:spPr>
          </p:pic>
          <p:sp>
            <p:nvSpPr>
              <p:cNvPr id="798" name="Google Shape;798;p74"/>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3" name="Shape 803"/>
        <p:cNvGrpSpPr/>
        <p:nvPr/>
      </p:nvGrpSpPr>
      <p:grpSpPr>
        <a:xfrm>
          <a:off x="0" y="0"/>
          <a:ext cx="0" cy="0"/>
          <a:chOff x="0" y="0"/>
          <a:chExt cx="0" cy="0"/>
        </a:xfrm>
      </p:grpSpPr>
      <p:sp>
        <p:nvSpPr>
          <p:cNvPr id="804" name="Google Shape;804;p75"/>
          <p:cNvSpPr/>
          <p:nvPr/>
        </p:nvSpPr>
        <p:spPr>
          <a:xfrm>
            <a:off x="793800" y="1023120"/>
            <a:ext cx="959220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a:t>
            </a:r>
            <a:endParaRPr b="0" i="0" sz="4650" u="none" cap="none" strike="noStrike">
              <a:latin typeface="Arial"/>
              <a:ea typeface="Arial"/>
              <a:cs typeface="Arial"/>
              <a:sym typeface="Arial"/>
            </a:endParaRPr>
          </a:p>
        </p:txBody>
      </p:sp>
      <p:sp>
        <p:nvSpPr>
          <p:cNvPr id="805" name="Google Shape;805;p75"/>
          <p:cNvSpPr/>
          <p:nvPr/>
        </p:nvSpPr>
        <p:spPr>
          <a:xfrm>
            <a:off x="793800" y="2028600"/>
            <a:ext cx="6512760" cy="527472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7160" lvl="0" marL="45720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1: </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Persona: Data Engineer in Marketing (SOW)</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A: Searching for table name where upgrades for Perks were added</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B: Can someone explain what VZW-EROES' channel ID means?</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7160" lvl="0" marL="4572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2: </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Persona: Data Scientist in Sales</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A: Search for tables where device returns are captured in device payment plan (DPPs)</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B: Search for reasons why someone previously upgraded through a DPP loan and also has a contract</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C: Are there any tables that store the the actual Content of the communication (text/ emails)  for Wireline customers</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p:txBody>
      </p:sp>
      <p:sp>
        <p:nvSpPr>
          <p:cNvPr id="806" name="Google Shape;806;p75"/>
          <p:cNvSpPr/>
          <p:nvPr/>
        </p:nvSpPr>
        <p:spPr>
          <a:xfrm>
            <a:off x="7705440" y="2028600"/>
            <a:ext cx="6512760" cy="56559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7160" lvl="0" marL="45720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3: </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Persona: BI Analyst in Customer Experience</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A: Find the list of tables that power the </a:t>
            </a:r>
            <a:r>
              <a:rPr b="0" i="0" lang="en-US" sz="1400" u="sng" cap="none" strike="noStrike">
                <a:solidFill>
                  <a:schemeClr val="hlink"/>
                </a:solidFill>
                <a:latin typeface="Arial"/>
                <a:ea typeface="Arial"/>
                <a:cs typeface="Arial"/>
                <a:sym typeface="Arial"/>
                <a:hlinkClick r:id="rId3"/>
              </a:rPr>
              <a:t>FWA dashboard</a:t>
            </a:r>
            <a:r>
              <a:rPr b="0" i="0" lang="en-US" sz="1400" u="none" cap="none" strike="noStrike">
                <a:solidFill>
                  <a:srgbClr val="000000"/>
                </a:solidFill>
                <a:latin typeface="Arial"/>
                <a:ea typeface="Arial"/>
                <a:cs typeface="Arial"/>
                <a:sym typeface="Arial"/>
              </a:rPr>
              <a:t>: </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7160" lvl="0" marL="4572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4</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Persona: Sr Analyst in CS Strategy, Experience</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A: Find a table / logic / or PoC for credit risk assessment.  IE what factors are used to determine a customer’s credit risk CD</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7160" lvl="0" marL="4572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5: </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Persona: BI Analyst in Marketing</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A: Find table(s) with Fios Voice Agent Assistant data</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Scenario B: Find an indicator to determine if a CUST_ID / ACCT_NUM is within the FiOS footprint</a:t>
            </a:r>
            <a:endParaRPr b="0" i="0" sz="1400" u="none" cap="none" strike="noStrike">
              <a:latin typeface="Arial"/>
              <a:ea typeface="Arial"/>
              <a:cs typeface="Arial"/>
              <a:sym typeface="Arial"/>
            </a:endParaRPr>
          </a:p>
          <a:p>
            <a:pPr indent="-317160" lvl="1" marL="914400" marR="0" rtl="0" algn="l">
              <a:lnSpc>
                <a:spcPct val="100000"/>
              </a:lnSpc>
              <a:spcBef>
                <a:spcPts val="1001"/>
              </a:spcBef>
              <a:spcAft>
                <a:spcPts val="0"/>
              </a:spcAft>
              <a:buClr>
                <a:srgbClr val="000000"/>
              </a:buClr>
              <a:buSzPts val="1400"/>
              <a:buFont typeface="Arial"/>
              <a:buChar char="○"/>
            </a:pPr>
            <a:r>
              <a:rPr b="0"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400" u="none" cap="none" strike="noStrike">
              <a:latin typeface="Arial"/>
              <a:ea typeface="Arial"/>
              <a:cs typeface="Arial"/>
              <a:sym typeface="Arial"/>
            </a:endParaRPr>
          </a:p>
        </p:txBody>
      </p:sp>
      <p:sp>
        <p:nvSpPr>
          <p:cNvPr id="807" name="Google Shape;807;p75"/>
          <p:cNvSpPr/>
          <p:nvPr/>
        </p:nvSpPr>
        <p:spPr>
          <a:xfrm>
            <a:off x="892440" y="7657560"/>
            <a:ext cx="6228360" cy="239400"/>
          </a:xfrm>
          <a:prstGeom prst="rect">
            <a:avLst/>
          </a:prstGeom>
          <a:solidFill>
            <a:srgbClr val="FFFF00"/>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1" i="0" lang="en-US" sz="1300" u="none" cap="none" strike="noStrike">
                <a:solidFill>
                  <a:srgbClr val="4F81BD"/>
                </a:solidFill>
                <a:latin typeface="Arial"/>
                <a:ea typeface="Arial"/>
                <a:cs typeface="Arial"/>
                <a:sym typeface="Arial"/>
              </a:rPr>
              <a:t>Note: These are just a sample pulled from vz-data-discovery Slack Channel</a:t>
            </a:r>
            <a:endParaRPr b="0" i="0" sz="1300" u="none" cap="none" strike="noStrike">
              <a:latin typeface="Arial"/>
              <a:ea typeface="Arial"/>
              <a:cs typeface="Arial"/>
              <a:sym typeface="Arial"/>
            </a:endParaRPr>
          </a:p>
        </p:txBody>
      </p:sp>
      <p:sp>
        <p:nvSpPr>
          <p:cNvPr id="808" name="Google Shape;808;p75"/>
          <p:cNvSpPr/>
          <p:nvPr/>
        </p:nvSpPr>
        <p:spPr>
          <a:xfrm>
            <a:off x="10095840" y="418320"/>
            <a:ext cx="3238560" cy="743760"/>
          </a:xfrm>
          <a:prstGeom prst="horizontalScroll">
            <a:avLst>
              <a:gd fmla="val 12500" name="adj"/>
            </a:avLst>
          </a:prstGeom>
          <a:solidFill>
            <a:srgbClr val="00B050"/>
          </a:solidFill>
          <a:ln cap="flat" cmpd="sng" w="9525">
            <a:solidFill>
              <a:srgbClr val="1F497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None/>
            </a:pPr>
            <a:r>
              <a:rPr b="1" i="0" lang="en-US" sz="2000" u="none" cap="none" strike="noStrike">
                <a:solidFill>
                  <a:srgbClr val="FFFFFF"/>
                </a:solidFill>
                <a:latin typeface="Arial"/>
                <a:ea typeface="Arial"/>
                <a:cs typeface="Arial"/>
                <a:sym typeface="Arial"/>
              </a:rPr>
              <a:t>Success Criteria</a:t>
            </a:r>
            <a:endParaRPr b="0" i="0" sz="2000" u="none" cap="none" strike="noStrike">
              <a:latin typeface="Arial"/>
              <a:ea typeface="Arial"/>
              <a:cs typeface="Arial"/>
              <a:sym typeface="Arial"/>
            </a:endParaRPr>
          </a:p>
        </p:txBody>
      </p:sp>
      <p:grpSp>
        <p:nvGrpSpPr>
          <p:cNvPr id="809" name="Google Shape;809;p75"/>
          <p:cNvGrpSpPr/>
          <p:nvPr/>
        </p:nvGrpSpPr>
        <p:grpSpPr>
          <a:xfrm>
            <a:off x="13783680" y="0"/>
            <a:ext cx="846360" cy="968400"/>
            <a:chOff x="13783680" y="0"/>
            <a:chExt cx="846360" cy="968400"/>
          </a:xfrm>
        </p:grpSpPr>
        <p:sp>
          <p:nvSpPr>
            <p:cNvPr id="810" name="Google Shape;810;p75"/>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1" name="Google Shape;811;p75"/>
            <p:cNvGrpSpPr/>
            <p:nvPr/>
          </p:nvGrpSpPr>
          <p:grpSpPr>
            <a:xfrm>
              <a:off x="13838760" y="0"/>
              <a:ext cx="791280" cy="968400"/>
              <a:chOff x="13838760" y="0"/>
              <a:chExt cx="791280" cy="968400"/>
            </a:xfrm>
          </p:grpSpPr>
          <p:pic>
            <p:nvPicPr>
              <p:cNvPr id="812" name="Google Shape;812;p75"/>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813" name="Google Shape;813;p75"/>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sp>
        <p:nvSpPr>
          <p:cNvPr id="819" name="Google Shape;819;p76"/>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20" name="Google Shape;820;p76"/>
          <p:cNvSpPr/>
          <p:nvPr/>
        </p:nvSpPr>
        <p:spPr>
          <a:xfrm>
            <a:off x="793800" y="2028600"/>
            <a:ext cx="6512760" cy="1980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1: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Data Engineer in Marketing (SOW)</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Searching for table name where upgrades for Perks were added</a:t>
            </a:r>
            <a:endParaRPr b="0" i="0" sz="1300" u="none" cap="none" strike="noStrike">
              <a:latin typeface="Arial"/>
              <a:ea typeface="Arial"/>
              <a:cs typeface="Arial"/>
              <a:sym typeface="Arial"/>
            </a:endParaRPr>
          </a:p>
          <a:p>
            <a:pPr indent="0" lvl="0" marL="45720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21" name="Google Shape;821;p76"/>
          <p:cNvSpPr/>
          <p:nvPr/>
        </p:nvSpPr>
        <p:spPr>
          <a:xfrm>
            <a:off x="7705440" y="2028600"/>
            <a:ext cx="6512760" cy="5585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4A86E8"/>
              </a:buClr>
              <a:buSzPts val="1300"/>
              <a:buFont typeface="Arial"/>
              <a:buChar char="○"/>
            </a:pPr>
            <a:r>
              <a:rPr b="1" i="0" lang="en-US" sz="1300" u="none" cap="none" strike="noStrike">
                <a:solidFill>
                  <a:srgbClr val="4A86E8"/>
                </a:solidFill>
                <a:latin typeface="Arial"/>
                <a:ea typeface="Arial"/>
                <a:cs typeface="Arial"/>
                <a:sym typeface="Arial"/>
              </a:rPr>
              <a:t>Reduce the effort to identify the correct table</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1" lang="en-US" sz="1300" u="none" cap="none" strike="noStrike">
                <a:solidFill>
                  <a:srgbClr val="1F497D"/>
                </a:solidFill>
                <a:latin typeface="Arial"/>
                <a:ea typeface="Arial"/>
                <a:cs typeface="Arial"/>
                <a:sym typeface="Arial"/>
              </a:rPr>
              <a:t>“I want to locate the specific table containing Perks upgrade data quickly, without having to sift through irrelevant tables or complex database structures.”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4A86E8"/>
              </a:buClr>
              <a:buSzPts val="1300"/>
              <a:buFont typeface="Arial"/>
              <a:buChar char="○"/>
            </a:pPr>
            <a:r>
              <a:rPr b="1" i="0" lang="en-US" sz="1300" u="none" cap="none" strike="noStrike">
                <a:solidFill>
                  <a:srgbClr val="4A86E8"/>
                </a:solidFill>
                <a:latin typeface="Arial"/>
                <a:ea typeface="Arial"/>
                <a:cs typeface="Arial"/>
                <a:sym typeface="Arial"/>
              </a:rPr>
              <a:t>Increase the likelihood that I have clarity on the data structure and relationships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1" lang="en-US" sz="1300" u="none" cap="none" strike="noStrike">
                <a:solidFill>
                  <a:srgbClr val="1F497D"/>
                </a:solidFill>
                <a:latin typeface="Arial"/>
                <a:ea typeface="Arial"/>
                <a:cs typeface="Arial"/>
                <a:sym typeface="Arial"/>
              </a:rPr>
              <a:t>“I need to understand how the Perks upgrade data is structured, including key columns, relationships with other tables, and data lineage to ensure accurate data integration.”</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4A86E8"/>
              </a:buClr>
              <a:buSzPts val="1300"/>
              <a:buFont typeface="Arial"/>
              <a:buChar char="○"/>
            </a:pPr>
            <a:r>
              <a:rPr b="1" i="0" lang="en-US" sz="1300" u="none" cap="none" strike="noStrike">
                <a:solidFill>
                  <a:srgbClr val="4A86E8"/>
                </a:solidFill>
                <a:latin typeface="Arial"/>
                <a:ea typeface="Arial"/>
                <a:cs typeface="Arial"/>
                <a:sym typeface="Arial"/>
              </a:rPr>
              <a:t>Increase the likelihood that having confidence in (1) Data Accuracy and (2) Currency</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1" lang="en-US" sz="1300" u="none" cap="none" strike="noStrike">
                <a:solidFill>
                  <a:srgbClr val="1F497D"/>
                </a:solidFill>
                <a:latin typeface="Arial"/>
                <a:ea typeface="Arial"/>
                <a:cs typeface="Arial"/>
                <a:sym typeface="Arial"/>
              </a:rPr>
              <a:t>“I want to verify that the table contains the most up-to-date and accurate information on Perks upgrades to support reliable marketing insights and campaigns.”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4F81BD"/>
              </a:buClr>
              <a:buSzPts val="1300"/>
              <a:buFont typeface="Arial"/>
              <a:buChar char="○"/>
            </a:pPr>
            <a:r>
              <a:rPr b="1" i="0" lang="en-US" sz="1300" u="none" cap="none" strike="noStrike">
                <a:solidFill>
                  <a:srgbClr val="4F81BD"/>
                </a:solidFill>
                <a:latin typeface="Arial"/>
                <a:ea typeface="Arial"/>
                <a:cs typeface="Arial"/>
                <a:sym typeface="Arial"/>
              </a:rPr>
              <a:t>Increase the likelihood that the table can be seamlessly integrated into existing marketing analytics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1" lang="en-US" sz="1300" u="none" cap="none" strike="noStrike">
                <a:solidFill>
                  <a:srgbClr val="1F497D"/>
                </a:solidFill>
                <a:latin typeface="Arial"/>
                <a:ea typeface="Arial"/>
                <a:cs typeface="Arial"/>
                <a:sym typeface="Arial"/>
              </a:rPr>
              <a:t>“I need the table to be easily accessible and compatible with our existing data pipelines so I can quickly incorporate Perks upgrade data into marketing reports and dashboards.”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4F81BD"/>
              </a:buClr>
              <a:buSzPts val="1300"/>
              <a:buFont typeface="Arial"/>
              <a:buChar char="○"/>
            </a:pPr>
            <a:r>
              <a:rPr b="1" i="0" lang="en-US" sz="1300" u="none" cap="none" strike="noStrike">
                <a:solidFill>
                  <a:srgbClr val="4F81BD"/>
                </a:solidFill>
                <a:latin typeface="Arial"/>
                <a:ea typeface="Arial"/>
                <a:cs typeface="Arial"/>
                <a:sym typeface="Arial"/>
              </a:rPr>
              <a:t>Reduce the effort for troubleshooting data discrepancies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1" lang="en-US" sz="1300" u="none" cap="none" strike="noStrike">
                <a:solidFill>
                  <a:srgbClr val="1F497D"/>
                </a:solidFill>
                <a:latin typeface="Arial"/>
                <a:ea typeface="Arial"/>
                <a:cs typeface="Arial"/>
                <a:sym typeface="Arial"/>
              </a:rPr>
              <a:t>“I want to trace any data issues related to Perks upgrades back to the source table efficiently, enabling fast resolution of discrepancies in marketing analyses.”</a:t>
            </a:r>
            <a:endParaRPr b="0" i="0" sz="1300" u="none" cap="none" strike="noStrike">
              <a:latin typeface="Arial"/>
              <a:ea typeface="Arial"/>
              <a:cs typeface="Arial"/>
              <a:sym typeface="Arial"/>
            </a:endParaRPr>
          </a:p>
        </p:txBody>
      </p:sp>
      <p:grpSp>
        <p:nvGrpSpPr>
          <p:cNvPr id="822" name="Google Shape;822;p76"/>
          <p:cNvGrpSpPr/>
          <p:nvPr/>
        </p:nvGrpSpPr>
        <p:grpSpPr>
          <a:xfrm>
            <a:off x="13783680" y="0"/>
            <a:ext cx="846360" cy="968400"/>
            <a:chOff x="13783680" y="0"/>
            <a:chExt cx="846360" cy="968400"/>
          </a:xfrm>
        </p:grpSpPr>
        <p:sp>
          <p:nvSpPr>
            <p:cNvPr id="823" name="Google Shape;823;p76"/>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4" name="Google Shape;824;p76"/>
            <p:cNvGrpSpPr/>
            <p:nvPr/>
          </p:nvGrpSpPr>
          <p:grpSpPr>
            <a:xfrm>
              <a:off x="13838760" y="0"/>
              <a:ext cx="791280" cy="968400"/>
              <a:chOff x="13838760" y="0"/>
              <a:chExt cx="791280" cy="968400"/>
            </a:xfrm>
          </p:grpSpPr>
          <p:pic>
            <p:nvPicPr>
              <p:cNvPr id="825" name="Google Shape;825;p76"/>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26" name="Google Shape;826;p76"/>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77"/>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33" name="Google Shape;833;p77"/>
          <p:cNvSpPr/>
          <p:nvPr/>
        </p:nvSpPr>
        <p:spPr>
          <a:xfrm>
            <a:off x="793800" y="2028600"/>
            <a:ext cx="6512760" cy="1782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1: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Data Engineer in Marketing (SOW)</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B: Can someone explain what VZW-EROES' channel ID means?</a:t>
            </a:r>
            <a:endParaRPr b="0" i="0" sz="1300" u="none" cap="none" strike="noStrike">
              <a:latin typeface="Arial"/>
              <a:ea typeface="Arial"/>
              <a:cs typeface="Arial"/>
              <a:sym typeface="Arial"/>
            </a:endParaRPr>
          </a:p>
          <a:p>
            <a:pPr indent="0" lvl="0" marL="45720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34" name="Google Shape;834;p77"/>
          <p:cNvSpPr/>
          <p:nvPr/>
        </p:nvSpPr>
        <p:spPr>
          <a:xfrm>
            <a:off x="7705440" y="2028600"/>
            <a:ext cx="6633360" cy="5585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getting a clear and accurate definition of the acronym</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find a clear, accurate definition of what VZW-EROES stands for, so I can understand its relevance to my data analysis.”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understanding the context and purpose of the Channel ID</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know the business context and purpose of the VZW-EROES channel ID to understand how it fits within marketing campaigns, customer journeys, or operational processes.”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insight into relationships and dependencies of data associated with this channel ID</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identify how the VZW-EROES channel ID connects to other data points, such as customer segments, products, or campaign channels, to ensure accurate data mapping.”</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likelihood of feeling anxious about source and validity of the explanation</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ensure that the explanation of VZW-EROES comes from a reliable, authoritative source so I can trust the information in my data workflows.”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effort required to retrieve and apply the information</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access the meaning of VZW-EROES quickly, without navigating through multiple systems, so I can focus on integrating this understanding into my marketing analytics tasks.”</a:t>
            </a:r>
            <a:endParaRPr b="0" i="0" sz="1300" u="none" cap="none" strike="noStrike">
              <a:latin typeface="Arial"/>
              <a:ea typeface="Arial"/>
              <a:cs typeface="Arial"/>
              <a:sym typeface="Arial"/>
            </a:endParaRPr>
          </a:p>
        </p:txBody>
      </p:sp>
      <p:grpSp>
        <p:nvGrpSpPr>
          <p:cNvPr id="835" name="Google Shape;835;p77"/>
          <p:cNvGrpSpPr/>
          <p:nvPr/>
        </p:nvGrpSpPr>
        <p:grpSpPr>
          <a:xfrm>
            <a:off x="13783680" y="0"/>
            <a:ext cx="846360" cy="968400"/>
            <a:chOff x="13783680" y="0"/>
            <a:chExt cx="846360" cy="968400"/>
          </a:xfrm>
        </p:grpSpPr>
        <p:sp>
          <p:nvSpPr>
            <p:cNvPr id="836" name="Google Shape;836;p77"/>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7" name="Google Shape;837;p77"/>
            <p:cNvGrpSpPr/>
            <p:nvPr/>
          </p:nvGrpSpPr>
          <p:grpSpPr>
            <a:xfrm>
              <a:off x="13838760" y="0"/>
              <a:ext cx="791280" cy="968400"/>
              <a:chOff x="13838760" y="0"/>
              <a:chExt cx="791280" cy="968400"/>
            </a:xfrm>
          </p:grpSpPr>
          <p:pic>
            <p:nvPicPr>
              <p:cNvPr id="838" name="Google Shape;838;p77"/>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39" name="Google Shape;839;p77"/>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4" name="Shape 844"/>
        <p:cNvGrpSpPr/>
        <p:nvPr/>
      </p:nvGrpSpPr>
      <p:grpSpPr>
        <a:xfrm>
          <a:off x="0" y="0"/>
          <a:ext cx="0" cy="0"/>
          <a:chOff x="0" y="0"/>
          <a:chExt cx="0" cy="0"/>
        </a:xfrm>
      </p:grpSpPr>
      <p:sp>
        <p:nvSpPr>
          <p:cNvPr id="845" name="Google Shape;845;p78"/>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46" name="Google Shape;846;p78"/>
          <p:cNvSpPr/>
          <p:nvPr/>
        </p:nvSpPr>
        <p:spPr>
          <a:xfrm>
            <a:off x="793800" y="2028600"/>
            <a:ext cx="6512760" cy="1980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2: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Data Scientist in Sales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Search for tables where device returns are captured in device payment plan (DPPs)</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47" name="Google Shape;847;p78"/>
          <p:cNvSpPr/>
          <p:nvPr/>
        </p:nvSpPr>
        <p:spPr>
          <a:xfrm>
            <a:off x="7705440" y="2028600"/>
            <a:ext cx="6693120" cy="5585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effort &amp; time required to discover relevant tables </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identify all tables that capture device return data related to DPPs, minimizing time spent navigating complex data ecosystems.”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a comprehensive understanding of data coverage for device returns in DPPs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ensure that the tables I find cover all relevant device return scenarios within DPPs, including partial returns, exchanges, and early upgrades, to support robust analysis.”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insight into relationships and dependencies of data associated with device returns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understand how the device return data in DPP tables links to other datasets, such as customer accounts, payment histories, and sales transactions, to create accurate analytical models.”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likelihood of feeling anxious about the accuracy and/or timeliness of the data </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assurance that the data in the identified tables is accurate, up-to-date, and reflects the current business processes around DPPs and device returns.”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effort required to integrate the device returns data into existing sales analytics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the device return data to be in a format that allows for seamless integration into my predictive models and sales performance dashboards, enhancing insights into return trends and their impact on revenue.”</a:t>
            </a:r>
            <a:endParaRPr b="0" i="0" sz="1300" u="none" cap="none" strike="noStrike">
              <a:latin typeface="Arial"/>
              <a:ea typeface="Arial"/>
              <a:cs typeface="Arial"/>
              <a:sym typeface="Arial"/>
            </a:endParaRPr>
          </a:p>
        </p:txBody>
      </p:sp>
      <p:grpSp>
        <p:nvGrpSpPr>
          <p:cNvPr id="848" name="Google Shape;848;p78"/>
          <p:cNvGrpSpPr/>
          <p:nvPr/>
        </p:nvGrpSpPr>
        <p:grpSpPr>
          <a:xfrm>
            <a:off x="13783680" y="0"/>
            <a:ext cx="846360" cy="968400"/>
            <a:chOff x="13783680" y="0"/>
            <a:chExt cx="846360" cy="968400"/>
          </a:xfrm>
        </p:grpSpPr>
        <p:sp>
          <p:nvSpPr>
            <p:cNvPr id="849" name="Google Shape;849;p78"/>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50" name="Google Shape;850;p78"/>
            <p:cNvGrpSpPr/>
            <p:nvPr/>
          </p:nvGrpSpPr>
          <p:grpSpPr>
            <a:xfrm>
              <a:off x="13838760" y="0"/>
              <a:ext cx="791280" cy="968400"/>
              <a:chOff x="13838760" y="0"/>
              <a:chExt cx="791280" cy="968400"/>
            </a:xfrm>
          </p:grpSpPr>
          <p:pic>
            <p:nvPicPr>
              <p:cNvPr id="851" name="Google Shape;851;p78"/>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52" name="Google Shape;852;p78"/>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sp>
        <p:nvSpPr>
          <p:cNvPr id="858" name="Google Shape;858;p79"/>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59" name="Google Shape;859;p79"/>
          <p:cNvSpPr/>
          <p:nvPr/>
        </p:nvSpPr>
        <p:spPr>
          <a:xfrm>
            <a:off x="793800" y="2028600"/>
            <a:ext cx="6512760" cy="1980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2: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Data Scientist in Sales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B: Search for reasons why someone previously upgraded through a DPP loan and also has a contract</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60" name="Google Shape;860;p79"/>
          <p:cNvSpPr/>
          <p:nvPr/>
        </p:nvSpPr>
        <p:spPr>
          <a:xfrm>
            <a:off x="7705440" y="2028600"/>
            <a:ext cx="6693120" cy="5981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accurately identifying customer upgrade patterns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accurately identify customers who have both upgraded through a DPP loan and maintain a contract, so I can analyze their behavior without missing key segments.”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clearly understanding the underlying business drivers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uncover the business or policy reasons behind customers having both a DPP loan and a contract, such as promotional offers, retention strategies, or device upgrade programs, to inform sales tactics.”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insight about customer decision-making factors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understand the factors influencing customer decisions to maintain both a DPP loan and a contract, such as financial incentives, device preferences, or service bundling, to enhance predictive models.”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being able to correlate this data with sales and churn metrics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correlate this dual engagement (DPP + contract) with sales performance, churn rates, and customer lifetime value, to assess its impact on revenue and retention strategies.”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ability to incorporate this data into sales optimization strategies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generate actionable insights from the data that can be used to refine sales strategies, personalize customer offers, and identify opportunities to upsell or cross-sell effectively.”</a:t>
            </a:r>
            <a:endParaRPr b="0" i="0" sz="1300" u="none" cap="none" strike="noStrike">
              <a:latin typeface="Arial"/>
              <a:ea typeface="Arial"/>
              <a:cs typeface="Arial"/>
              <a:sym typeface="Arial"/>
            </a:endParaRPr>
          </a:p>
        </p:txBody>
      </p:sp>
      <p:grpSp>
        <p:nvGrpSpPr>
          <p:cNvPr id="861" name="Google Shape;861;p79"/>
          <p:cNvGrpSpPr/>
          <p:nvPr/>
        </p:nvGrpSpPr>
        <p:grpSpPr>
          <a:xfrm>
            <a:off x="13783680" y="0"/>
            <a:ext cx="846360" cy="968400"/>
            <a:chOff x="13783680" y="0"/>
            <a:chExt cx="846360" cy="968400"/>
          </a:xfrm>
        </p:grpSpPr>
        <p:sp>
          <p:nvSpPr>
            <p:cNvPr id="862" name="Google Shape;862;p79"/>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3" name="Google Shape;863;p79"/>
            <p:cNvGrpSpPr/>
            <p:nvPr/>
          </p:nvGrpSpPr>
          <p:grpSpPr>
            <a:xfrm>
              <a:off x="13838760" y="0"/>
              <a:ext cx="791280" cy="968400"/>
              <a:chOff x="13838760" y="0"/>
              <a:chExt cx="791280" cy="968400"/>
            </a:xfrm>
          </p:grpSpPr>
          <p:pic>
            <p:nvPicPr>
              <p:cNvPr id="864" name="Google Shape;864;p79"/>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65" name="Google Shape;865;p79"/>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0" name="Shape 870"/>
        <p:cNvGrpSpPr/>
        <p:nvPr/>
      </p:nvGrpSpPr>
      <p:grpSpPr>
        <a:xfrm>
          <a:off x="0" y="0"/>
          <a:ext cx="0" cy="0"/>
          <a:chOff x="0" y="0"/>
          <a:chExt cx="0" cy="0"/>
        </a:xfrm>
      </p:grpSpPr>
      <p:sp>
        <p:nvSpPr>
          <p:cNvPr id="871" name="Google Shape;871;p80"/>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72" name="Google Shape;872;p80"/>
          <p:cNvSpPr/>
          <p:nvPr/>
        </p:nvSpPr>
        <p:spPr>
          <a:xfrm>
            <a:off x="793800" y="2028600"/>
            <a:ext cx="6512760" cy="1980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2: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Data Scientist in Sales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C: Are there any tables that store the the actual Content of the communication (text/ emails)  for Wireline customers</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73" name="Google Shape;873;p80"/>
          <p:cNvSpPr/>
          <p:nvPr/>
        </p:nvSpPr>
        <p:spPr>
          <a:xfrm>
            <a:off x="7705440" y="2028600"/>
            <a:ext cx="6693120" cy="5585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efficiently finding and discovering the right (relevant) data sources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identify all tables that store the actual content of Wireline customer communications, so I can reduce the time spent on data exploration and focus on analysis.”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comprehensive access to communication data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ensure that I’m accessing all relevant communication data (across emails, texts, and other channels) so my analysis captures the full customer interaction landscape.”</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clarifying the data structure and schema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understand the schema, metadata, and relationships of the identified tables, so I can efficiently query, process, and integrate the data with other customer datasets.”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ability to derive insights for sales optimization</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analyze the content of customer communications to uncover patterns, sentiment, and preferences that can drive personalized sales strategies and improve customer engagement.”</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that the data is compliant with data privacy and security standards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ensure that any analysis of communication content adheres to data privacy regulations and internal security policies, so sensitive customer information is handled responsibly.”</a:t>
            </a:r>
            <a:endParaRPr b="0" i="0" sz="1300" u="none" cap="none" strike="noStrike">
              <a:latin typeface="Arial"/>
              <a:ea typeface="Arial"/>
              <a:cs typeface="Arial"/>
              <a:sym typeface="Arial"/>
            </a:endParaRPr>
          </a:p>
        </p:txBody>
      </p:sp>
      <p:grpSp>
        <p:nvGrpSpPr>
          <p:cNvPr id="874" name="Google Shape;874;p80"/>
          <p:cNvGrpSpPr/>
          <p:nvPr/>
        </p:nvGrpSpPr>
        <p:grpSpPr>
          <a:xfrm>
            <a:off x="13783680" y="0"/>
            <a:ext cx="846360" cy="968400"/>
            <a:chOff x="13783680" y="0"/>
            <a:chExt cx="846360" cy="968400"/>
          </a:xfrm>
        </p:grpSpPr>
        <p:sp>
          <p:nvSpPr>
            <p:cNvPr id="875" name="Google Shape;875;p80"/>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6" name="Google Shape;876;p80"/>
            <p:cNvGrpSpPr/>
            <p:nvPr/>
          </p:nvGrpSpPr>
          <p:grpSpPr>
            <a:xfrm>
              <a:off x="13838760" y="0"/>
              <a:ext cx="791280" cy="968400"/>
              <a:chOff x="13838760" y="0"/>
              <a:chExt cx="791280" cy="968400"/>
            </a:xfrm>
          </p:grpSpPr>
          <p:pic>
            <p:nvPicPr>
              <p:cNvPr id="877" name="Google Shape;877;p80"/>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78" name="Google Shape;878;p80"/>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3" name="Shape 883"/>
        <p:cNvGrpSpPr/>
        <p:nvPr/>
      </p:nvGrpSpPr>
      <p:grpSpPr>
        <a:xfrm>
          <a:off x="0" y="0"/>
          <a:ext cx="0" cy="0"/>
          <a:chOff x="0" y="0"/>
          <a:chExt cx="0" cy="0"/>
        </a:xfrm>
      </p:grpSpPr>
      <p:sp>
        <p:nvSpPr>
          <p:cNvPr id="884" name="Google Shape;884;p81"/>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85" name="Google Shape;885;p81"/>
          <p:cNvSpPr/>
          <p:nvPr/>
        </p:nvSpPr>
        <p:spPr>
          <a:xfrm>
            <a:off x="793800" y="2028600"/>
            <a:ext cx="6512760" cy="1782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3: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BI Analyst in Customer Experience</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Find the list of tables that power the FWA dashboard</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86" name="Google Shape;886;p81"/>
          <p:cNvSpPr/>
          <p:nvPr/>
        </p:nvSpPr>
        <p:spPr>
          <a:xfrm>
            <a:off x="7705440" y="2028600"/>
            <a:ext cx="6693120" cy="5783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Reduce the effort and time required to identify a list of data sources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identify all tables that feed into the Fixed Wireless Access dashboard, so I can minimize time spent on data discovery and focus on analyzing customer experience metrics.”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understanding data lineage and any dependencies with the data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understand how data flows from source tables to the dashboard, including transformations and dependencies, so I can ensure data accuracy and troubleshoot issues effectively.”</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data that has been validated with good data quality and is consistent</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verify that the data powering the dashboard is consistent, complete, and accurate, so I can trust the insights derived and make confident recommendations to improve customer experience.”</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improving the performance and optimization of dashboards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identify performance bottlenecks in the data sources to optimize query efficiency and dashboard responsiveness, ensuring a seamless experience for stakeholders.”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enhancing my ability to customize the insights for wireline data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understand the underlying data structure so I can create customized reports or add new metrics to the dashboard, aligning insights more closely with evolving business needs.”</a:t>
            </a:r>
            <a:endParaRPr b="0" i="0" sz="1300" u="none" cap="none" strike="noStrike">
              <a:latin typeface="Arial"/>
              <a:ea typeface="Arial"/>
              <a:cs typeface="Arial"/>
              <a:sym typeface="Arial"/>
            </a:endParaRPr>
          </a:p>
        </p:txBody>
      </p:sp>
      <p:grpSp>
        <p:nvGrpSpPr>
          <p:cNvPr id="887" name="Google Shape;887;p81"/>
          <p:cNvGrpSpPr/>
          <p:nvPr/>
        </p:nvGrpSpPr>
        <p:grpSpPr>
          <a:xfrm>
            <a:off x="13783680" y="0"/>
            <a:ext cx="846360" cy="968400"/>
            <a:chOff x="13783680" y="0"/>
            <a:chExt cx="846360" cy="968400"/>
          </a:xfrm>
        </p:grpSpPr>
        <p:sp>
          <p:nvSpPr>
            <p:cNvPr id="888" name="Google Shape;888;p81"/>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9" name="Google Shape;889;p81"/>
            <p:cNvGrpSpPr/>
            <p:nvPr/>
          </p:nvGrpSpPr>
          <p:grpSpPr>
            <a:xfrm>
              <a:off x="13838760" y="0"/>
              <a:ext cx="791280" cy="968400"/>
              <a:chOff x="13838760" y="0"/>
              <a:chExt cx="791280" cy="968400"/>
            </a:xfrm>
          </p:grpSpPr>
          <p:pic>
            <p:nvPicPr>
              <p:cNvPr id="890" name="Google Shape;890;p81"/>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891" name="Google Shape;891;p81"/>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82"/>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898" name="Google Shape;898;p82"/>
          <p:cNvSpPr/>
          <p:nvPr/>
        </p:nvSpPr>
        <p:spPr>
          <a:xfrm>
            <a:off x="793800" y="2028600"/>
            <a:ext cx="6512760" cy="1980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4: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Sr Analyst in CS Strategy, Experience</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Find a table / logic / or PoC for credit risk assessment.  IE what factors are used to determine a customer’s credit risk CD</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899" name="Google Shape;899;p82"/>
          <p:cNvSpPr/>
          <p:nvPr/>
        </p:nvSpPr>
        <p:spPr>
          <a:xfrm>
            <a:off x="7705440" y="2028600"/>
            <a:ext cx="6693120" cy="5189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clearly identifying credit risk factors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identify the specific tables and data points that capture the factors used in credit risk assessments, so I can understand what drives customer risk profiles.”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improving visibility into risk assessment logic and models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access the logic, algorithms, or PoC models behind credit risk calculations, so I can evaluate how different factors are weighted and how risk scores are derived.”</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ability to analyze the impact on customer experience</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analyze how credit risk assessments influence customer journeys and decision points, so I can recommend strategies that balance risk management with a positive customer experience.”</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insights into historical risk trends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explore historical credit risk data to identify trends and patterns, enabling me to predict potential risks and support proactive strategy development.”</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1" i="0" lang="en-US" sz="1300" u="none" cap="none" strike="noStrike">
                <a:solidFill>
                  <a:srgbClr val="4A86E8"/>
                </a:solidFill>
                <a:latin typeface="Arial"/>
                <a:ea typeface="Arial"/>
                <a:cs typeface="Arial"/>
                <a:sym typeface="Arial"/>
              </a:rPr>
              <a:t>Increase the ability to support data-driven decision making</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leverage credit risk assessment data to inform strategic decisions, such as refining eligibility criteria for offers or adjusting risk thresholds to optimize business outcomes.”</a:t>
            </a:r>
            <a:endParaRPr b="0" i="0" sz="1300" u="none" cap="none" strike="noStrike">
              <a:latin typeface="Arial"/>
              <a:ea typeface="Arial"/>
              <a:cs typeface="Arial"/>
              <a:sym typeface="Arial"/>
            </a:endParaRPr>
          </a:p>
        </p:txBody>
      </p:sp>
      <p:grpSp>
        <p:nvGrpSpPr>
          <p:cNvPr id="900" name="Google Shape;900;p82"/>
          <p:cNvGrpSpPr/>
          <p:nvPr/>
        </p:nvGrpSpPr>
        <p:grpSpPr>
          <a:xfrm>
            <a:off x="13783680" y="0"/>
            <a:ext cx="846360" cy="968400"/>
            <a:chOff x="13783680" y="0"/>
            <a:chExt cx="846360" cy="968400"/>
          </a:xfrm>
        </p:grpSpPr>
        <p:sp>
          <p:nvSpPr>
            <p:cNvPr id="901" name="Google Shape;901;p82"/>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2" name="Google Shape;902;p82"/>
            <p:cNvGrpSpPr/>
            <p:nvPr/>
          </p:nvGrpSpPr>
          <p:grpSpPr>
            <a:xfrm>
              <a:off x="13838760" y="0"/>
              <a:ext cx="791280" cy="968400"/>
              <a:chOff x="13838760" y="0"/>
              <a:chExt cx="791280" cy="968400"/>
            </a:xfrm>
          </p:grpSpPr>
          <p:pic>
            <p:nvPicPr>
              <p:cNvPr id="903" name="Google Shape;903;p82"/>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904" name="Google Shape;904;p82"/>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9" name="Shape 909"/>
        <p:cNvGrpSpPr/>
        <p:nvPr/>
      </p:nvGrpSpPr>
      <p:grpSpPr>
        <a:xfrm>
          <a:off x="0" y="0"/>
          <a:ext cx="0" cy="0"/>
          <a:chOff x="0" y="0"/>
          <a:chExt cx="0" cy="0"/>
        </a:xfrm>
      </p:grpSpPr>
      <p:sp>
        <p:nvSpPr>
          <p:cNvPr id="910" name="Google Shape;910;p83"/>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911" name="Google Shape;911;p83"/>
          <p:cNvSpPr/>
          <p:nvPr/>
        </p:nvSpPr>
        <p:spPr>
          <a:xfrm>
            <a:off x="793800" y="2028600"/>
            <a:ext cx="6512760" cy="1782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5: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BI Analyst in Marketing</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Find table(s) with Fios Voice Agent Assistant data</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912" name="Google Shape;912;p83"/>
          <p:cNvSpPr/>
          <p:nvPr/>
        </p:nvSpPr>
        <p:spPr>
          <a:xfrm>
            <a:off x="7705440" y="2028600"/>
            <a:ext cx="6693120" cy="5585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quickly discovering relevant data tables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easily identify the specific tables that contain Fios Voice Agent Assistant data, so I can reduce time spent searching and focus on data analysis.”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having access to comprehensive interaction data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to find tables that capture detailed customer interactions with the Fios Voice Agent Assistant, so I can analyze patterns in usage, queries, and customer engagement.”</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ability to link voice assistant data with marketing metrics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connect Voice Agent Assistant data with existing marketing performance metrics, so I can measure its impact on customer acquisition, retention, and satisfaction.”</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insights into customer behavior and preferences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data that helps me understand how customers interact with the Voice Agent Assistant, so I can uncover insights about customer needs, preferences, and common issues.”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obtaining support for data-driven campaign strategies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leverage Fios Voice Agent Assistant data to inform marketing strategies, so I can create targeted campaigns that address customer pain points and improve engagement.”</a:t>
            </a:r>
            <a:endParaRPr b="0" i="0" sz="1300" u="none" cap="none" strike="noStrike">
              <a:latin typeface="Arial"/>
              <a:ea typeface="Arial"/>
              <a:cs typeface="Arial"/>
              <a:sym typeface="Arial"/>
            </a:endParaRPr>
          </a:p>
        </p:txBody>
      </p:sp>
      <p:grpSp>
        <p:nvGrpSpPr>
          <p:cNvPr id="913" name="Google Shape;913;p83"/>
          <p:cNvGrpSpPr/>
          <p:nvPr/>
        </p:nvGrpSpPr>
        <p:grpSpPr>
          <a:xfrm>
            <a:off x="13783680" y="0"/>
            <a:ext cx="846360" cy="968400"/>
            <a:chOff x="13783680" y="0"/>
            <a:chExt cx="846360" cy="968400"/>
          </a:xfrm>
        </p:grpSpPr>
        <p:sp>
          <p:nvSpPr>
            <p:cNvPr id="914" name="Google Shape;914;p83"/>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5" name="Google Shape;915;p83"/>
            <p:cNvGrpSpPr/>
            <p:nvPr/>
          </p:nvGrpSpPr>
          <p:grpSpPr>
            <a:xfrm>
              <a:off x="13838760" y="0"/>
              <a:ext cx="791280" cy="968400"/>
              <a:chOff x="13838760" y="0"/>
              <a:chExt cx="791280" cy="968400"/>
            </a:xfrm>
          </p:grpSpPr>
          <p:pic>
            <p:nvPicPr>
              <p:cNvPr id="916" name="Google Shape;916;p83"/>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917" name="Google Shape;917;p83"/>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p84"/>
          <p:cNvSpPr/>
          <p:nvPr/>
        </p:nvSpPr>
        <p:spPr>
          <a:xfrm>
            <a:off x="793800" y="1023120"/>
            <a:ext cx="1134648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Semantic Search (Needs + Outcomes)</a:t>
            </a:r>
            <a:endParaRPr b="0" i="0" sz="4650" u="none" cap="none" strike="noStrike">
              <a:latin typeface="Arial"/>
              <a:ea typeface="Arial"/>
              <a:cs typeface="Arial"/>
              <a:sym typeface="Arial"/>
            </a:endParaRPr>
          </a:p>
        </p:txBody>
      </p:sp>
      <p:sp>
        <p:nvSpPr>
          <p:cNvPr id="924" name="Google Shape;924;p84"/>
          <p:cNvSpPr/>
          <p:nvPr/>
        </p:nvSpPr>
        <p:spPr>
          <a:xfrm>
            <a:off x="793800" y="2028600"/>
            <a:ext cx="6512760" cy="17823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1600" u="none" cap="none" strike="noStrike">
                <a:solidFill>
                  <a:srgbClr val="000000"/>
                </a:solidFill>
                <a:latin typeface="Arial"/>
                <a:ea typeface="Arial"/>
                <a:cs typeface="Arial"/>
                <a:sym typeface="Arial"/>
              </a:rPr>
              <a:t>Success Criteria for enabling phase 1 Semantic Search</a:t>
            </a:r>
            <a:endParaRPr b="0" i="0" sz="16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1600" u="none" cap="none" strike="noStrike">
              <a:latin typeface="Arial"/>
              <a:ea typeface="Arial"/>
              <a:cs typeface="Arial"/>
              <a:sym typeface="Arial"/>
            </a:endParaRPr>
          </a:p>
          <a:p>
            <a:pPr indent="-310680" lvl="0" marL="457200" marR="0" rtl="0" algn="l">
              <a:lnSpc>
                <a:spcPct val="100000"/>
              </a:lnSpc>
              <a:spcBef>
                <a:spcPts val="0"/>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5: </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Persona: BI Analyst in Marketing</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000000"/>
              </a:buClr>
              <a:buSzPts val="1300"/>
              <a:buFont typeface="Arial"/>
              <a:buChar char="○"/>
            </a:pPr>
            <a:r>
              <a:rPr b="0" i="0" lang="en-US" sz="1300" u="none" cap="none" strike="noStrike">
                <a:solidFill>
                  <a:srgbClr val="000000"/>
                </a:solidFill>
                <a:latin typeface="Arial"/>
                <a:ea typeface="Arial"/>
                <a:cs typeface="Arial"/>
                <a:sym typeface="Arial"/>
              </a:rPr>
              <a:t>Scenario A: Find table(s) with Fios Voice Agent Assistant data</a:t>
            </a:r>
            <a:endParaRPr b="0" i="0" sz="1300" u="none" cap="none" strike="noStrike">
              <a:latin typeface="Arial"/>
              <a:ea typeface="Arial"/>
              <a:cs typeface="Arial"/>
              <a:sym typeface="Arial"/>
            </a:endParaRPr>
          </a:p>
          <a:p>
            <a:pPr indent="0" lvl="0" marL="0" marR="0" rtl="0" algn="l">
              <a:lnSpc>
                <a:spcPct val="100000"/>
              </a:lnSpc>
              <a:spcBef>
                <a:spcPts val="1001"/>
              </a:spcBef>
              <a:spcAft>
                <a:spcPts val="0"/>
              </a:spcAft>
              <a:buNone/>
            </a:pPr>
            <a:r>
              <a:t/>
            </a:r>
            <a:endParaRPr b="0" i="0" sz="1300" u="none" cap="none" strike="noStrike">
              <a:latin typeface="Arial"/>
              <a:ea typeface="Arial"/>
              <a:cs typeface="Arial"/>
              <a:sym typeface="Arial"/>
            </a:endParaRPr>
          </a:p>
        </p:txBody>
      </p:sp>
      <p:sp>
        <p:nvSpPr>
          <p:cNvPr id="925" name="Google Shape;925;p84"/>
          <p:cNvSpPr/>
          <p:nvPr/>
        </p:nvSpPr>
        <p:spPr>
          <a:xfrm>
            <a:off x="7705440" y="2028600"/>
            <a:ext cx="6693120" cy="5189760"/>
          </a:xfrm>
          <a:prstGeom prst="rect">
            <a:avLst/>
          </a:prstGeom>
          <a:noFill/>
          <a:ln cap="flat" cmpd="sng" w="28425">
            <a:solidFill>
              <a:srgbClr val="B2D4E5"/>
            </a:solidFill>
            <a:prstDash val="solid"/>
            <a:round/>
            <a:headEnd len="sm" w="sm" type="none"/>
            <a:tailEnd len="sm" w="sm" type="none"/>
          </a:ln>
        </p:spPr>
        <p:txBody>
          <a:bodyPr anchorCtr="0" anchor="t" bIns="91425" lIns="91425" spcFirstLastPara="1" rIns="91425" wrap="square" tIns="91425">
            <a:noAutofit/>
          </a:bodyPr>
          <a:lstStyle/>
          <a:p>
            <a:pPr indent="-317160" lvl="0" marL="457200" marR="0" rtl="0" algn="l">
              <a:lnSpc>
                <a:spcPct val="100000"/>
              </a:lnSpc>
              <a:spcBef>
                <a:spcPts val="0"/>
              </a:spcBef>
              <a:spcAft>
                <a:spcPts val="0"/>
              </a:spcAft>
              <a:buClr>
                <a:srgbClr val="000000"/>
              </a:buClr>
              <a:buSzPts val="1400"/>
              <a:buFont typeface="Arial"/>
              <a:buChar char="●"/>
            </a:pPr>
            <a:r>
              <a:rPr b="1" i="0" lang="en-US" sz="1400" u="none" cap="none" strike="noStrike">
                <a:solidFill>
                  <a:srgbClr val="000000"/>
                </a:solidFill>
                <a:latin typeface="Arial"/>
                <a:ea typeface="Arial"/>
                <a:cs typeface="Arial"/>
                <a:sym typeface="Arial"/>
              </a:rPr>
              <a:t>Outcomes </a:t>
            </a:r>
            <a:endParaRPr b="0" i="0" sz="14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accurately identifying FiOS-eligible customers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quickly identify whether a specific CUST_ID or ACCT_NUM falls within the FiOS service footprint, so I can target the right customers for FiOS-specific marketing campaigns.”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seamlessly integrating with marketing data</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an indicator that can be easily integrated into existing marketing databases and dashboards, so I can streamline segmentation and campaign automation without additional data wrangling.”</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supporting Real-Time or near Real-Time availability and accessibility</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access up-to-date information on FiOS footprint eligibility, so I can ensure marketing decisions are based on the latest service availability data.”</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ability to support key marketing campaigns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need precise FiOS footprint data to create personalized marketing strategies, so I can improve conversion rates by focusing on customers who are actually eligible for FiOS services.”</a:t>
            </a:r>
            <a:endParaRPr b="0" i="0" sz="1300" u="none" cap="none" strike="noStrike">
              <a:latin typeface="Arial"/>
              <a:ea typeface="Arial"/>
              <a:cs typeface="Arial"/>
              <a:sym typeface="Arial"/>
            </a:endParaRPr>
          </a:p>
          <a:p>
            <a:pPr indent="-310680" lvl="1" marL="914400" marR="0" rtl="0" algn="l">
              <a:lnSpc>
                <a:spcPct val="100000"/>
              </a:lnSpc>
              <a:spcBef>
                <a:spcPts val="1001"/>
              </a:spcBef>
              <a:spcAft>
                <a:spcPts val="0"/>
              </a:spcAft>
              <a:buClr>
                <a:srgbClr val="1F497D"/>
              </a:buClr>
              <a:buSzPts val="1300"/>
              <a:buFont typeface="Arial"/>
              <a:buChar char="○"/>
            </a:pPr>
            <a:r>
              <a:rPr b="1" i="0" lang="en-US" sz="1300" u="none" cap="none" strike="noStrike">
                <a:solidFill>
                  <a:srgbClr val="4A86E8"/>
                </a:solidFill>
                <a:latin typeface="Arial"/>
                <a:ea typeface="Arial"/>
                <a:cs typeface="Arial"/>
                <a:sym typeface="Arial"/>
              </a:rPr>
              <a:t>Increase the likelihood of enhancing reporting and analytics</a:t>
            </a:r>
            <a:endParaRPr b="0" i="0" sz="1300" u="none" cap="none" strike="noStrike">
              <a:latin typeface="Arial"/>
              <a:ea typeface="Arial"/>
              <a:cs typeface="Arial"/>
              <a:sym typeface="Arial"/>
            </a:endParaRPr>
          </a:p>
          <a:p>
            <a:pPr indent="-310680" lvl="1" marL="914400" marR="0" rtl="0" algn="l">
              <a:lnSpc>
                <a:spcPct val="100000"/>
              </a:lnSpc>
              <a:spcBef>
                <a:spcPts val="0"/>
              </a:spcBef>
              <a:spcAft>
                <a:spcPts val="0"/>
              </a:spcAft>
              <a:buClr>
                <a:srgbClr val="1F497D"/>
              </a:buClr>
              <a:buSzPts val="1300"/>
              <a:buFont typeface="Arial"/>
              <a:buChar char="○"/>
            </a:pPr>
            <a:r>
              <a:rPr b="0" i="0" lang="en-US" sz="1300" u="none" cap="none" strike="noStrike">
                <a:solidFill>
                  <a:srgbClr val="1F497D"/>
                </a:solidFill>
                <a:latin typeface="Arial"/>
                <a:ea typeface="Arial"/>
                <a:cs typeface="Arial"/>
                <a:sym typeface="Arial"/>
              </a:rPr>
              <a:t>“I want to incorporate FiOS footprint indicators into performance reports, so I can analyze the effectiveness of FiOS-specific campaigns and identify growth opportunities within the eligible customer base.”</a:t>
            </a:r>
            <a:endParaRPr b="0" i="0" sz="1300" u="none" cap="none" strike="noStrike">
              <a:latin typeface="Arial"/>
              <a:ea typeface="Arial"/>
              <a:cs typeface="Arial"/>
              <a:sym typeface="Arial"/>
            </a:endParaRPr>
          </a:p>
        </p:txBody>
      </p:sp>
      <p:grpSp>
        <p:nvGrpSpPr>
          <p:cNvPr id="926" name="Google Shape;926;p84"/>
          <p:cNvGrpSpPr/>
          <p:nvPr/>
        </p:nvGrpSpPr>
        <p:grpSpPr>
          <a:xfrm>
            <a:off x="13783680" y="0"/>
            <a:ext cx="846360" cy="968400"/>
            <a:chOff x="13783680" y="0"/>
            <a:chExt cx="846360" cy="968400"/>
          </a:xfrm>
        </p:grpSpPr>
        <p:sp>
          <p:nvSpPr>
            <p:cNvPr id="927" name="Google Shape;927;p84"/>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8" name="Google Shape;928;p84"/>
            <p:cNvGrpSpPr/>
            <p:nvPr/>
          </p:nvGrpSpPr>
          <p:grpSpPr>
            <a:xfrm>
              <a:off x="13838760" y="0"/>
              <a:ext cx="791280" cy="968400"/>
              <a:chOff x="13838760" y="0"/>
              <a:chExt cx="791280" cy="968400"/>
            </a:xfrm>
          </p:grpSpPr>
          <p:pic>
            <p:nvPicPr>
              <p:cNvPr id="929" name="Google Shape;929;p84"/>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930" name="Google Shape;930;p84"/>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5" name="Shape 935"/>
        <p:cNvGrpSpPr/>
        <p:nvPr/>
      </p:nvGrpSpPr>
      <p:grpSpPr>
        <a:xfrm>
          <a:off x="0" y="0"/>
          <a:ext cx="0" cy="0"/>
          <a:chOff x="0" y="0"/>
          <a:chExt cx="0" cy="0"/>
        </a:xfrm>
      </p:grpSpPr>
      <p:sp>
        <p:nvSpPr>
          <p:cNvPr id="936" name="Google Shape;936;p85"/>
          <p:cNvSpPr/>
          <p:nvPr/>
        </p:nvSpPr>
        <p:spPr>
          <a:xfrm>
            <a:off x="793800" y="1023120"/>
            <a:ext cx="7360920" cy="7437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650" u="none" cap="none" strike="noStrike">
                <a:solidFill>
                  <a:srgbClr val="000000"/>
                </a:solidFill>
                <a:latin typeface="Petrona"/>
                <a:ea typeface="Petrona"/>
                <a:cs typeface="Petrona"/>
                <a:sym typeface="Petrona"/>
              </a:rPr>
              <a:t>Future State Capabilities...</a:t>
            </a:r>
            <a:endParaRPr b="0" i="0" sz="4650" u="none" cap="none" strike="noStrike">
              <a:latin typeface="Arial"/>
              <a:ea typeface="Arial"/>
              <a:cs typeface="Arial"/>
              <a:sym typeface="Arial"/>
            </a:endParaRPr>
          </a:p>
        </p:txBody>
      </p:sp>
      <p:grpSp>
        <p:nvGrpSpPr>
          <p:cNvPr id="937" name="Google Shape;937;p85"/>
          <p:cNvGrpSpPr/>
          <p:nvPr/>
        </p:nvGrpSpPr>
        <p:grpSpPr>
          <a:xfrm>
            <a:off x="13783680" y="0"/>
            <a:ext cx="846360" cy="968400"/>
            <a:chOff x="13783680" y="0"/>
            <a:chExt cx="846360" cy="968400"/>
          </a:xfrm>
        </p:grpSpPr>
        <p:sp>
          <p:nvSpPr>
            <p:cNvPr id="938" name="Google Shape;938;p85"/>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39" name="Google Shape;939;p85"/>
            <p:cNvGrpSpPr/>
            <p:nvPr/>
          </p:nvGrpSpPr>
          <p:grpSpPr>
            <a:xfrm>
              <a:off x="13838760" y="0"/>
              <a:ext cx="791280" cy="968400"/>
              <a:chOff x="13838760" y="0"/>
              <a:chExt cx="791280" cy="968400"/>
            </a:xfrm>
          </p:grpSpPr>
          <p:pic>
            <p:nvPicPr>
              <p:cNvPr id="940" name="Google Shape;940;p85"/>
              <p:cNvPicPr preferRelativeResize="0"/>
              <p:nvPr/>
            </p:nvPicPr>
            <p:blipFill rotWithShape="1">
              <a:blip r:embed="rId3">
                <a:alphaModFix/>
              </a:blip>
              <a:srcRect b="0" l="20669" r="9844" t="0"/>
              <a:stretch/>
            </p:blipFill>
            <p:spPr>
              <a:xfrm>
                <a:off x="13838760" y="0"/>
                <a:ext cx="756360" cy="756360"/>
              </a:xfrm>
              <a:prstGeom prst="rect">
                <a:avLst/>
              </a:prstGeom>
              <a:noFill/>
              <a:ln>
                <a:noFill/>
              </a:ln>
            </p:spPr>
          </p:pic>
          <p:sp>
            <p:nvSpPr>
              <p:cNvPr id="941" name="Google Shape;941;p85"/>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pic>
        <p:nvPicPr>
          <p:cNvPr id="947" name="Google Shape;947;p86"/>
          <p:cNvPicPr preferRelativeResize="0"/>
          <p:nvPr/>
        </p:nvPicPr>
        <p:blipFill rotWithShape="1">
          <a:blip r:embed="rId3">
            <a:alphaModFix/>
          </a:blip>
          <a:srcRect b="0" l="0" r="0" t="0"/>
          <a:stretch/>
        </p:blipFill>
        <p:spPr>
          <a:xfrm>
            <a:off x="9144000" y="0"/>
            <a:ext cx="5485680" cy="8232120"/>
          </a:xfrm>
          <a:prstGeom prst="rect">
            <a:avLst/>
          </a:prstGeom>
          <a:noFill/>
          <a:ln>
            <a:noFill/>
          </a:ln>
        </p:spPr>
      </p:pic>
      <p:sp>
        <p:nvSpPr>
          <p:cNvPr id="948" name="Google Shape;948;p86"/>
          <p:cNvSpPr/>
          <p:nvPr/>
        </p:nvSpPr>
        <p:spPr>
          <a:xfrm>
            <a:off x="767520" y="603000"/>
            <a:ext cx="7091640" cy="71856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4500" u="none" cap="none" strike="noStrike">
                <a:solidFill>
                  <a:srgbClr val="000000"/>
                </a:solidFill>
                <a:latin typeface="Petrona"/>
                <a:ea typeface="Petrona"/>
                <a:cs typeface="Petrona"/>
                <a:sym typeface="Petrona"/>
              </a:rPr>
              <a:t>Intelligent Search Features</a:t>
            </a:r>
            <a:endParaRPr b="0" i="0" sz="4500" u="none" cap="none" strike="noStrike">
              <a:latin typeface="Arial"/>
              <a:ea typeface="Arial"/>
              <a:cs typeface="Arial"/>
              <a:sym typeface="Arial"/>
            </a:endParaRPr>
          </a:p>
        </p:txBody>
      </p:sp>
      <p:sp>
        <p:nvSpPr>
          <p:cNvPr id="949" name="Google Shape;949;p86"/>
          <p:cNvSpPr/>
          <p:nvPr/>
        </p:nvSpPr>
        <p:spPr>
          <a:xfrm>
            <a:off x="767520" y="1651680"/>
            <a:ext cx="3693960" cy="3058560"/>
          </a:xfrm>
          <a:prstGeom prst="roundRect">
            <a:avLst>
              <a:gd fmla="val 3011"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86"/>
          <p:cNvSpPr/>
          <p:nvPr/>
        </p:nvSpPr>
        <p:spPr>
          <a:xfrm>
            <a:off x="994680" y="1878480"/>
            <a:ext cx="3240360" cy="71892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2250" u="none" cap="none" strike="noStrike">
                <a:solidFill>
                  <a:srgbClr val="272525"/>
                </a:solidFill>
                <a:latin typeface="Petrona"/>
                <a:ea typeface="Petrona"/>
                <a:cs typeface="Petrona"/>
                <a:sym typeface="Petrona"/>
              </a:rPr>
              <a:t>Multi-dimensional Analytics</a:t>
            </a:r>
            <a:endParaRPr b="0" i="0" sz="2250" u="none" cap="none" strike="noStrike">
              <a:latin typeface="Arial"/>
              <a:ea typeface="Arial"/>
              <a:cs typeface="Arial"/>
              <a:sym typeface="Arial"/>
            </a:endParaRPr>
          </a:p>
        </p:txBody>
      </p:sp>
      <p:sp>
        <p:nvSpPr>
          <p:cNvPr id="951" name="Google Shape;951;p86"/>
          <p:cNvSpPr/>
          <p:nvPr/>
        </p:nvSpPr>
        <p:spPr>
          <a:xfrm>
            <a:off x="994680" y="2729520"/>
            <a:ext cx="3240360" cy="1753560"/>
          </a:xfrm>
          <a:prstGeom prst="rect">
            <a:avLst/>
          </a:prstGeom>
          <a:noFill/>
          <a:ln>
            <a:noFill/>
          </a:ln>
        </p:spPr>
        <p:txBody>
          <a:bodyPr anchorCtr="0" anchor="t" bIns="0" lIns="0" spcFirstLastPara="1" rIns="0" wrap="square" tIns="0">
            <a:noAutofit/>
          </a:bodyPr>
          <a:lstStyle/>
          <a:p>
            <a:pPr indent="0" lvl="0" marL="0" marR="0" rtl="0" algn="l">
              <a:lnSpc>
                <a:spcPct val="161000"/>
              </a:lnSpc>
              <a:spcBef>
                <a:spcPts val="0"/>
              </a:spcBef>
              <a:spcAft>
                <a:spcPts val="0"/>
              </a:spcAft>
              <a:buNone/>
            </a:pPr>
            <a:r>
              <a:rPr b="0" i="0" lang="en-US" sz="1700" u="none" cap="none" strike="noStrike">
                <a:solidFill>
                  <a:srgbClr val="272525"/>
                </a:solidFill>
                <a:latin typeface="Inter"/>
                <a:ea typeface="Inter"/>
                <a:cs typeface="Inter"/>
                <a:sym typeface="Inter"/>
              </a:rPr>
              <a:t>Intelligent Search offers advanced analytics capabilities, allowing users to analyze data across multiple dimensions simultaneously.</a:t>
            </a:r>
            <a:endParaRPr b="0" i="0" sz="1700" u="none" cap="none" strike="noStrike">
              <a:latin typeface="Arial"/>
              <a:ea typeface="Arial"/>
              <a:cs typeface="Arial"/>
              <a:sym typeface="Arial"/>
            </a:endParaRPr>
          </a:p>
        </p:txBody>
      </p:sp>
      <p:sp>
        <p:nvSpPr>
          <p:cNvPr id="952" name="Google Shape;952;p86"/>
          <p:cNvSpPr/>
          <p:nvPr/>
        </p:nvSpPr>
        <p:spPr>
          <a:xfrm>
            <a:off x="4681800" y="1651680"/>
            <a:ext cx="3693960" cy="3058560"/>
          </a:xfrm>
          <a:prstGeom prst="roundRect">
            <a:avLst>
              <a:gd fmla="val 3011"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3" name="Google Shape;953;p86"/>
          <p:cNvSpPr/>
          <p:nvPr/>
        </p:nvSpPr>
        <p:spPr>
          <a:xfrm>
            <a:off x="4908600" y="1878480"/>
            <a:ext cx="2877840" cy="35892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2250" u="none" cap="none" strike="noStrike">
                <a:solidFill>
                  <a:srgbClr val="272525"/>
                </a:solidFill>
                <a:latin typeface="Petrona"/>
                <a:ea typeface="Petrona"/>
                <a:cs typeface="Petrona"/>
                <a:sym typeface="Petrona"/>
              </a:rPr>
              <a:t>Causal Analysis</a:t>
            </a:r>
            <a:endParaRPr b="0" i="0" sz="2250" u="none" cap="none" strike="noStrike">
              <a:latin typeface="Arial"/>
              <a:ea typeface="Arial"/>
              <a:cs typeface="Arial"/>
              <a:sym typeface="Arial"/>
            </a:endParaRPr>
          </a:p>
        </p:txBody>
      </p:sp>
      <p:sp>
        <p:nvSpPr>
          <p:cNvPr id="954" name="Google Shape;954;p86"/>
          <p:cNvSpPr/>
          <p:nvPr/>
        </p:nvSpPr>
        <p:spPr>
          <a:xfrm>
            <a:off x="4908600" y="2369880"/>
            <a:ext cx="3240360" cy="1402560"/>
          </a:xfrm>
          <a:prstGeom prst="rect">
            <a:avLst/>
          </a:prstGeom>
          <a:noFill/>
          <a:ln>
            <a:noFill/>
          </a:ln>
        </p:spPr>
        <p:txBody>
          <a:bodyPr anchorCtr="0" anchor="t" bIns="0" lIns="0" spcFirstLastPara="1" rIns="0" wrap="square" tIns="0">
            <a:noAutofit/>
          </a:bodyPr>
          <a:lstStyle/>
          <a:p>
            <a:pPr indent="0" lvl="0" marL="0" marR="0" rtl="0" algn="l">
              <a:lnSpc>
                <a:spcPct val="161000"/>
              </a:lnSpc>
              <a:spcBef>
                <a:spcPts val="0"/>
              </a:spcBef>
              <a:spcAft>
                <a:spcPts val="0"/>
              </a:spcAft>
              <a:buNone/>
            </a:pPr>
            <a:r>
              <a:rPr b="0" i="0" lang="en-US" sz="1700" u="none" cap="none" strike="noStrike">
                <a:solidFill>
                  <a:srgbClr val="272525"/>
                </a:solidFill>
                <a:latin typeface="Inter"/>
                <a:ea typeface="Inter"/>
                <a:cs typeface="Inter"/>
                <a:sym typeface="Inter"/>
              </a:rPr>
              <a:t>This feature enables users to identify and understand cause-and-effect relationships within their data.</a:t>
            </a:r>
            <a:endParaRPr b="0" i="0" sz="1700" u="none" cap="none" strike="noStrike">
              <a:latin typeface="Arial"/>
              <a:ea typeface="Arial"/>
              <a:cs typeface="Arial"/>
              <a:sym typeface="Arial"/>
            </a:endParaRPr>
          </a:p>
        </p:txBody>
      </p:sp>
      <p:sp>
        <p:nvSpPr>
          <p:cNvPr id="955" name="Google Shape;955;p86"/>
          <p:cNvSpPr/>
          <p:nvPr/>
        </p:nvSpPr>
        <p:spPr>
          <a:xfrm>
            <a:off x="767520" y="4930200"/>
            <a:ext cx="3693960" cy="2698920"/>
          </a:xfrm>
          <a:prstGeom prst="roundRect">
            <a:avLst>
              <a:gd fmla="val 341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86"/>
          <p:cNvSpPr/>
          <p:nvPr/>
        </p:nvSpPr>
        <p:spPr>
          <a:xfrm>
            <a:off x="994680" y="5157360"/>
            <a:ext cx="2877840" cy="35892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2250" u="none" cap="none" strike="noStrike">
                <a:solidFill>
                  <a:srgbClr val="272525"/>
                </a:solidFill>
                <a:latin typeface="Petrona"/>
                <a:ea typeface="Petrona"/>
                <a:cs typeface="Petrona"/>
                <a:sym typeface="Petrona"/>
              </a:rPr>
              <a:t>Trend Forecasting</a:t>
            </a:r>
            <a:endParaRPr b="0" i="0" sz="2250" u="none" cap="none" strike="noStrike">
              <a:latin typeface="Arial"/>
              <a:ea typeface="Arial"/>
              <a:cs typeface="Arial"/>
              <a:sym typeface="Arial"/>
            </a:endParaRPr>
          </a:p>
        </p:txBody>
      </p:sp>
      <p:sp>
        <p:nvSpPr>
          <p:cNvPr id="957" name="Google Shape;957;p86"/>
          <p:cNvSpPr/>
          <p:nvPr/>
        </p:nvSpPr>
        <p:spPr>
          <a:xfrm>
            <a:off x="994680" y="5648400"/>
            <a:ext cx="3240360" cy="1402560"/>
          </a:xfrm>
          <a:prstGeom prst="rect">
            <a:avLst/>
          </a:prstGeom>
          <a:noFill/>
          <a:ln>
            <a:noFill/>
          </a:ln>
        </p:spPr>
        <p:txBody>
          <a:bodyPr anchorCtr="0" anchor="t" bIns="0" lIns="0" spcFirstLastPara="1" rIns="0" wrap="square" tIns="0">
            <a:noAutofit/>
          </a:bodyPr>
          <a:lstStyle/>
          <a:p>
            <a:pPr indent="0" lvl="0" marL="0" marR="0" rtl="0" algn="l">
              <a:lnSpc>
                <a:spcPct val="161000"/>
              </a:lnSpc>
              <a:spcBef>
                <a:spcPts val="0"/>
              </a:spcBef>
              <a:spcAft>
                <a:spcPts val="0"/>
              </a:spcAft>
              <a:buNone/>
            </a:pPr>
            <a:r>
              <a:rPr b="0" i="0" lang="en-US" sz="1700" u="none" cap="none" strike="noStrike">
                <a:solidFill>
                  <a:srgbClr val="272525"/>
                </a:solidFill>
                <a:latin typeface="Inter"/>
                <a:ea typeface="Inter"/>
                <a:cs typeface="Inter"/>
                <a:sym typeface="Inter"/>
              </a:rPr>
              <a:t>Intelligent Search incorporates predictive analytics to forecast future trends based on historical data and patterns.</a:t>
            </a:r>
            <a:endParaRPr b="0" i="0" sz="1700" u="none" cap="none" strike="noStrike">
              <a:latin typeface="Arial"/>
              <a:ea typeface="Arial"/>
              <a:cs typeface="Arial"/>
              <a:sym typeface="Arial"/>
            </a:endParaRPr>
          </a:p>
        </p:txBody>
      </p:sp>
      <p:sp>
        <p:nvSpPr>
          <p:cNvPr id="958" name="Google Shape;958;p86"/>
          <p:cNvSpPr/>
          <p:nvPr/>
        </p:nvSpPr>
        <p:spPr>
          <a:xfrm>
            <a:off x="4681800" y="4930200"/>
            <a:ext cx="3693960" cy="2698920"/>
          </a:xfrm>
          <a:prstGeom prst="roundRect">
            <a:avLst>
              <a:gd fmla="val 3412"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86"/>
          <p:cNvSpPr/>
          <p:nvPr/>
        </p:nvSpPr>
        <p:spPr>
          <a:xfrm>
            <a:off x="4908600" y="5157360"/>
            <a:ext cx="2877840" cy="35892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2250" u="none" cap="none" strike="noStrike">
                <a:solidFill>
                  <a:srgbClr val="272525"/>
                </a:solidFill>
                <a:latin typeface="Petrona"/>
                <a:ea typeface="Petrona"/>
                <a:cs typeface="Petrona"/>
                <a:sym typeface="Petrona"/>
              </a:rPr>
              <a:t>AI-powered Insights</a:t>
            </a:r>
            <a:endParaRPr b="0" i="0" sz="2250" u="none" cap="none" strike="noStrike">
              <a:latin typeface="Arial"/>
              <a:ea typeface="Arial"/>
              <a:cs typeface="Arial"/>
              <a:sym typeface="Arial"/>
            </a:endParaRPr>
          </a:p>
        </p:txBody>
      </p:sp>
      <p:sp>
        <p:nvSpPr>
          <p:cNvPr id="960" name="Google Shape;960;p86"/>
          <p:cNvSpPr/>
          <p:nvPr/>
        </p:nvSpPr>
        <p:spPr>
          <a:xfrm>
            <a:off x="4908600" y="5648400"/>
            <a:ext cx="3240360" cy="1753560"/>
          </a:xfrm>
          <a:prstGeom prst="rect">
            <a:avLst/>
          </a:prstGeom>
          <a:noFill/>
          <a:ln>
            <a:noFill/>
          </a:ln>
        </p:spPr>
        <p:txBody>
          <a:bodyPr anchorCtr="0" anchor="t" bIns="0" lIns="0" spcFirstLastPara="1" rIns="0" wrap="square" tIns="0">
            <a:noAutofit/>
          </a:bodyPr>
          <a:lstStyle/>
          <a:p>
            <a:pPr indent="0" lvl="0" marL="0" marR="0" rtl="0" algn="l">
              <a:lnSpc>
                <a:spcPct val="161000"/>
              </a:lnSpc>
              <a:spcBef>
                <a:spcPts val="0"/>
              </a:spcBef>
              <a:spcAft>
                <a:spcPts val="0"/>
              </a:spcAft>
              <a:buNone/>
            </a:pPr>
            <a:r>
              <a:rPr b="0" i="0" lang="en-US" sz="1700" u="none" cap="none" strike="noStrike">
                <a:solidFill>
                  <a:srgbClr val="272525"/>
                </a:solidFill>
                <a:latin typeface="Inter"/>
                <a:ea typeface="Inter"/>
                <a:cs typeface="Inter"/>
                <a:sym typeface="Inter"/>
              </a:rPr>
              <a:t>The system leverages artificial intelligence to provide personalized insights based on individual goals and user context.</a:t>
            </a:r>
            <a:endParaRPr b="0" i="0" sz="1700" u="none" cap="none" strike="noStrike">
              <a:latin typeface="Arial"/>
              <a:ea typeface="Arial"/>
              <a:cs typeface="Arial"/>
              <a:sym typeface="Arial"/>
            </a:endParaRPr>
          </a:p>
        </p:txBody>
      </p:sp>
      <p:grpSp>
        <p:nvGrpSpPr>
          <p:cNvPr id="961" name="Google Shape;961;p86"/>
          <p:cNvGrpSpPr/>
          <p:nvPr/>
        </p:nvGrpSpPr>
        <p:grpSpPr>
          <a:xfrm>
            <a:off x="13783680" y="0"/>
            <a:ext cx="846360" cy="968400"/>
            <a:chOff x="13783680" y="0"/>
            <a:chExt cx="846360" cy="968400"/>
          </a:xfrm>
        </p:grpSpPr>
        <p:sp>
          <p:nvSpPr>
            <p:cNvPr id="962" name="Google Shape;962;p86"/>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3" name="Google Shape;963;p86"/>
            <p:cNvGrpSpPr/>
            <p:nvPr/>
          </p:nvGrpSpPr>
          <p:grpSpPr>
            <a:xfrm>
              <a:off x="13838760" y="0"/>
              <a:ext cx="791280" cy="968400"/>
              <a:chOff x="13838760" y="0"/>
              <a:chExt cx="791280" cy="968400"/>
            </a:xfrm>
          </p:grpSpPr>
          <p:pic>
            <p:nvPicPr>
              <p:cNvPr id="964" name="Google Shape;964;p86"/>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965" name="Google Shape;965;p86"/>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0" name="Shape 970"/>
        <p:cNvGrpSpPr/>
        <p:nvPr/>
      </p:nvGrpSpPr>
      <p:grpSpPr>
        <a:xfrm>
          <a:off x="0" y="0"/>
          <a:ext cx="0" cy="0"/>
          <a:chOff x="0" y="0"/>
          <a:chExt cx="0" cy="0"/>
        </a:xfrm>
      </p:grpSpPr>
      <p:pic>
        <p:nvPicPr>
          <p:cNvPr id="971" name="Google Shape;971;p87"/>
          <p:cNvPicPr preferRelativeResize="0"/>
          <p:nvPr/>
        </p:nvPicPr>
        <p:blipFill rotWithShape="1">
          <a:blip r:embed="rId3">
            <a:alphaModFix/>
          </a:blip>
          <a:srcRect b="0" l="0" r="0" t="0"/>
          <a:stretch/>
        </p:blipFill>
        <p:spPr>
          <a:xfrm>
            <a:off x="9144000" y="0"/>
            <a:ext cx="5485680" cy="8228880"/>
          </a:xfrm>
          <a:prstGeom prst="rect">
            <a:avLst/>
          </a:prstGeom>
          <a:noFill/>
          <a:ln>
            <a:noFill/>
          </a:ln>
        </p:spPr>
      </p:pic>
      <p:sp>
        <p:nvSpPr>
          <p:cNvPr id="972" name="Google Shape;972;p87"/>
          <p:cNvSpPr/>
          <p:nvPr/>
        </p:nvSpPr>
        <p:spPr>
          <a:xfrm>
            <a:off x="736560" y="631440"/>
            <a:ext cx="7670160" cy="13806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4350" u="none" cap="none" strike="noStrike">
                <a:solidFill>
                  <a:srgbClr val="000000"/>
                </a:solidFill>
                <a:latin typeface="Petrona"/>
                <a:ea typeface="Petrona"/>
                <a:cs typeface="Petrona"/>
                <a:sym typeface="Petrona"/>
              </a:rPr>
              <a:t>Simulation Search Capabilities</a:t>
            </a:r>
            <a:endParaRPr b="0" i="0" sz="4350" u="none" cap="none" strike="noStrike">
              <a:latin typeface="Arial"/>
              <a:ea typeface="Arial"/>
              <a:cs typeface="Arial"/>
              <a:sym typeface="Arial"/>
            </a:endParaRPr>
          </a:p>
        </p:txBody>
      </p:sp>
      <p:pic>
        <p:nvPicPr>
          <p:cNvPr id="973" name="Google Shape;973;p87"/>
          <p:cNvPicPr preferRelativeResize="0"/>
          <p:nvPr/>
        </p:nvPicPr>
        <p:blipFill rotWithShape="1">
          <a:blip r:embed="rId4">
            <a:alphaModFix/>
          </a:blip>
          <a:srcRect b="0" l="0" r="0" t="0"/>
          <a:stretch/>
        </p:blipFill>
        <p:spPr>
          <a:xfrm>
            <a:off x="736560" y="2328120"/>
            <a:ext cx="1051560" cy="1683000"/>
          </a:xfrm>
          <a:prstGeom prst="rect">
            <a:avLst/>
          </a:prstGeom>
          <a:noFill/>
          <a:ln>
            <a:noFill/>
          </a:ln>
        </p:spPr>
      </p:pic>
      <p:sp>
        <p:nvSpPr>
          <p:cNvPr id="974" name="Google Shape;974;p87"/>
          <p:cNvSpPr/>
          <p:nvPr/>
        </p:nvSpPr>
        <p:spPr>
          <a:xfrm>
            <a:off x="2104560" y="2538720"/>
            <a:ext cx="2761560" cy="344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2150" u="none" cap="none" strike="noStrike">
                <a:solidFill>
                  <a:srgbClr val="272525"/>
                </a:solidFill>
                <a:latin typeface="Petrona"/>
                <a:ea typeface="Petrona"/>
                <a:cs typeface="Petrona"/>
                <a:sym typeface="Petrona"/>
              </a:rPr>
              <a:t>Simulate Outcomes</a:t>
            </a:r>
            <a:endParaRPr b="0" i="0" sz="2150" u="none" cap="none" strike="noStrike">
              <a:latin typeface="Arial"/>
              <a:ea typeface="Arial"/>
              <a:cs typeface="Arial"/>
              <a:sym typeface="Arial"/>
            </a:endParaRPr>
          </a:p>
        </p:txBody>
      </p:sp>
      <p:sp>
        <p:nvSpPr>
          <p:cNvPr id="975" name="Google Shape;975;p87"/>
          <p:cNvSpPr/>
          <p:nvPr/>
        </p:nvSpPr>
        <p:spPr>
          <a:xfrm>
            <a:off x="2104560" y="3009960"/>
            <a:ext cx="6302160" cy="6728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650" u="none" cap="none" strike="noStrike">
                <a:solidFill>
                  <a:srgbClr val="272525"/>
                </a:solidFill>
                <a:latin typeface="Inter"/>
                <a:ea typeface="Inter"/>
                <a:cs typeface="Inter"/>
                <a:sym typeface="Inter"/>
              </a:rPr>
              <a:t>Users can simulate potential outcomes based on user-defined scenarios, allowing for better decision-making and planning.</a:t>
            </a:r>
            <a:endParaRPr b="0" i="0" sz="1650" u="none" cap="none" strike="noStrike">
              <a:latin typeface="Arial"/>
              <a:ea typeface="Arial"/>
              <a:cs typeface="Arial"/>
              <a:sym typeface="Arial"/>
            </a:endParaRPr>
          </a:p>
        </p:txBody>
      </p:sp>
      <p:pic>
        <p:nvPicPr>
          <p:cNvPr id="976" name="Google Shape;976;p87"/>
          <p:cNvPicPr preferRelativeResize="0"/>
          <p:nvPr/>
        </p:nvPicPr>
        <p:blipFill rotWithShape="1">
          <a:blip r:embed="rId5">
            <a:alphaModFix/>
          </a:blip>
          <a:srcRect b="0" l="0" r="0" t="0"/>
          <a:stretch/>
        </p:blipFill>
        <p:spPr>
          <a:xfrm>
            <a:off x="736560" y="4011840"/>
            <a:ext cx="1051560" cy="1683000"/>
          </a:xfrm>
          <a:prstGeom prst="rect">
            <a:avLst/>
          </a:prstGeom>
          <a:noFill/>
          <a:ln>
            <a:noFill/>
          </a:ln>
        </p:spPr>
      </p:pic>
      <p:sp>
        <p:nvSpPr>
          <p:cNvPr id="977" name="Google Shape;977;p87"/>
          <p:cNvSpPr/>
          <p:nvPr/>
        </p:nvSpPr>
        <p:spPr>
          <a:xfrm>
            <a:off x="2104560" y="4222440"/>
            <a:ext cx="3339360" cy="344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2150" u="none" cap="none" strike="noStrike">
                <a:solidFill>
                  <a:srgbClr val="272525"/>
                </a:solidFill>
                <a:latin typeface="Petrona"/>
                <a:ea typeface="Petrona"/>
                <a:cs typeface="Petrona"/>
                <a:sym typeface="Petrona"/>
              </a:rPr>
              <a:t>Model "What-if" Scenarios</a:t>
            </a:r>
            <a:endParaRPr b="0" i="0" sz="2150" u="none" cap="none" strike="noStrike">
              <a:latin typeface="Arial"/>
              <a:ea typeface="Arial"/>
              <a:cs typeface="Arial"/>
              <a:sym typeface="Arial"/>
            </a:endParaRPr>
          </a:p>
        </p:txBody>
      </p:sp>
      <p:sp>
        <p:nvSpPr>
          <p:cNvPr id="978" name="Google Shape;978;p87"/>
          <p:cNvSpPr/>
          <p:nvPr/>
        </p:nvSpPr>
        <p:spPr>
          <a:xfrm>
            <a:off x="2104560" y="4693680"/>
            <a:ext cx="6302160" cy="6728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650" u="none" cap="none" strike="noStrike">
                <a:solidFill>
                  <a:srgbClr val="272525"/>
                </a:solidFill>
                <a:latin typeface="Inter"/>
                <a:ea typeface="Inter"/>
                <a:cs typeface="Inter"/>
                <a:sym typeface="Inter"/>
              </a:rPr>
              <a:t>The system enables users to create and explore various "what-if" scenarios, testing different hypotheses and strategies.</a:t>
            </a:r>
            <a:endParaRPr b="0" i="0" sz="1650" u="none" cap="none" strike="noStrike">
              <a:latin typeface="Arial"/>
              <a:ea typeface="Arial"/>
              <a:cs typeface="Arial"/>
              <a:sym typeface="Arial"/>
            </a:endParaRPr>
          </a:p>
        </p:txBody>
      </p:sp>
      <p:pic>
        <p:nvPicPr>
          <p:cNvPr id="979" name="Google Shape;979;p87"/>
          <p:cNvPicPr preferRelativeResize="0"/>
          <p:nvPr/>
        </p:nvPicPr>
        <p:blipFill rotWithShape="1">
          <a:blip r:embed="rId6">
            <a:alphaModFix/>
          </a:blip>
          <a:srcRect b="0" l="0" r="0" t="0"/>
          <a:stretch/>
        </p:blipFill>
        <p:spPr>
          <a:xfrm>
            <a:off x="736560" y="5695560"/>
            <a:ext cx="1051560" cy="1901520"/>
          </a:xfrm>
          <a:prstGeom prst="rect">
            <a:avLst/>
          </a:prstGeom>
          <a:noFill/>
          <a:ln>
            <a:noFill/>
          </a:ln>
        </p:spPr>
      </p:pic>
      <p:sp>
        <p:nvSpPr>
          <p:cNvPr id="980" name="Google Shape;980;p87"/>
          <p:cNvSpPr/>
          <p:nvPr/>
        </p:nvSpPr>
        <p:spPr>
          <a:xfrm>
            <a:off x="2104560" y="5905800"/>
            <a:ext cx="3971520" cy="344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2150" u="none" cap="none" strike="noStrike">
                <a:solidFill>
                  <a:srgbClr val="272525"/>
                </a:solidFill>
                <a:latin typeface="Petrona"/>
                <a:ea typeface="Petrona"/>
                <a:cs typeface="Petrona"/>
                <a:sym typeface="Petrona"/>
              </a:rPr>
              <a:t>Highlight Relevant Simulations</a:t>
            </a:r>
            <a:endParaRPr b="0" i="0" sz="2150" u="none" cap="none" strike="noStrike">
              <a:latin typeface="Arial"/>
              <a:ea typeface="Arial"/>
              <a:cs typeface="Arial"/>
              <a:sym typeface="Arial"/>
            </a:endParaRPr>
          </a:p>
        </p:txBody>
      </p:sp>
      <p:sp>
        <p:nvSpPr>
          <p:cNvPr id="981" name="Google Shape;981;p87"/>
          <p:cNvSpPr/>
          <p:nvPr/>
        </p:nvSpPr>
        <p:spPr>
          <a:xfrm>
            <a:off x="2104560" y="6377400"/>
            <a:ext cx="6302160" cy="100944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650" u="none" cap="none" strike="noStrike">
                <a:solidFill>
                  <a:srgbClr val="272525"/>
                </a:solidFill>
                <a:latin typeface="Inter"/>
                <a:ea typeface="Inter"/>
                <a:cs typeface="Inter"/>
                <a:sym typeface="Inter"/>
              </a:rPr>
              <a:t>Based on past actions and user history, the system suggests and highlights relevant simulations that may be of interest or value to the user.</a:t>
            </a:r>
            <a:endParaRPr b="0" i="0" sz="1650" u="none" cap="none" strike="noStrike">
              <a:latin typeface="Arial"/>
              <a:ea typeface="Arial"/>
              <a:cs typeface="Arial"/>
              <a:sym typeface="Arial"/>
            </a:endParaRPr>
          </a:p>
        </p:txBody>
      </p:sp>
      <p:grpSp>
        <p:nvGrpSpPr>
          <p:cNvPr id="982" name="Google Shape;982;p87"/>
          <p:cNvGrpSpPr/>
          <p:nvPr/>
        </p:nvGrpSpPr>
        <p:grpSpPr>
          <a:xfrm>
            <a:off x="13783680" y="0"/>
            <a:ext cx="846360" cy="968400"/>
            <a:chOff x="13783680" y="0"/>
            <a:chExt cx="846360" cy="968400"/>
          </a:xfrm>
        </p:grpSpPr>
        <p:sp>
          <p:nvSpPr>
            <p:cNvPr id="983" name="Google Shape;983;p87"/>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84" name="Google Shape;984;p87"/>
            <p:cNvGrpSpPr/>
            <p:nvPr/>
          </p:nvGrpSpPr>
          <p:grpSpPr>
            <a:xfrm>
              <a:off x="13838760" y="0"/>
              <a:ext cx="791280" cy="968400"/>
              <a:chOff x="13838760" y="0"/>
              <a:chExt cx="791280" cy="968400"/>
            </a:xfrm>
          </p:grpSpPr>
          <p:pic>
            <p:nvPicPr>
              <p:cNvPr id="985" name="Google Shape;985;p87"/>
              <p:cNvPicPr preferRelativeResize="0"/>
              <p:nvPr/>
            </p:nvPicPr>
            <p:blipFill rotWithShape="1">
              <a:blip r:embed="rId7">
                <a:alphaModFix/>
              </a:blip>
              <a:srcRect b="0" l="20669" r="9844" t="0"/>
              <a:stretch/>
            </p:blipFill>
            <p:spPr>
              <a:xfrm>
                <a:off x="13838760" y="0"/>
                <a:ext cx="756360" cy="756360"/>
              </a:xfrm>
              <a:prstGeom prst="rect">
                <a:avLst/>
              </a:prstGeom>
              <a:noFill/>
              <a:ln>
                <a:noFill/>
              </a:ln>
            </p:spPr>
          </p:pic>
          <p:sp>
            <p:nvSpPr>
              <p:cNvPr id="986" name="Google Shape;986;p87"/>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pic>
        <p:nvPicPr>
          <p:cNvPr id="992" name="Google Shape;992;p88"/>
          <p:cNvPicPr preferRelativeResize="0"/>
          <p:nvPr/>
        </p:nvPicPr>
        <p:blipFill rotWithShape="1">
          <a:blip r:embed="rId3">
            <a:alphaModFix/>
          </a:blip>
          <a:srcRect b="0" l="0" r="0" t="0"/>
          <a:stretch/>
        </p:blipFill>
        <p:spPr>
          <a:xfrm>
            <a:off x="9144000" y="0"/>
            <a:ext cx="5485680" cy="8228880"/>
          </a:xfrm>
          <a:prstGeom prst="rect">
            <a:avLst/>
          </a:prstGeom>
          <a:noFill/>
          <a:ln>
            <a:noFill/>
          </a:ln>
        </p:spPr>
      </p:pic>
      <p:sp>
        <p:nvSpPr>
          <p:cNvPr id="993" name="Google Shape;993;p88"/>
          <p:cNvSpPr/>
          <p:nvPr/>
        </p:nvSpPr>
        <p:spPr>
          <a:xfrm>
            <a:off x="669240" y="874440"/>
            <a:ext cx="6744960" cy="62676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None/>
            </a:pPr>
            <a:r>
              <a:rPr b="1" i="0" lang="en-US" sz="3950" u="none" cap="none" strike="noStrike">
                <a:solidFill>
                  <a:srgbClr val="000000"/>
                </a:solidFill>
                <a:latin typeface="Petrona"/>
                <a:ea typeface="Petrona"/>
                <a:cs typeface="Petrona"/>
                <a:sym typeface="Petrona"/>
              </a:rPr>
              <a:t>Intelligent Assistant Features</a:t>
            </a:r>
            <a:endParaRPr b="0" i="0" sz="3950" u="none" cap="none" strike="noStrike">
              <a:latin typeface="Arial"/>
              <a:ea typeface="Arial"/>
              <a:cs typeface="Arial"/>
              <a:sym typeface="Arial"/>
            </a:endParaRPr>
          </a:p>
        </p:txBody>
      </p:sp>
      <p:sp>
        <p:nvSpPr>
          <p:cNvPr id="994" name="Google Shape;994;p88"/>
          <p:cNvSpPr/>
          <p:nvPr/>
        </p:nvSpPr>
        <p:spPr>
          <a:xfrm>
            <a:off x="944280" y="1788480"/>
            <a:ext cx="21960" cy="5565960"/>
          </a:xfrm>
          <a:prstGeom prst="roundRect">
            <a:avLst>
              <a:gd fmla="val 351268"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88"/>
          <p:cNvSpPr/>
          <p:nvPr/>
        </p:nvSpPr>
        <p:spPr>
          <a:xfrm>
            <a:off x="1148040" y="2206800"/>
            <a:ext cx="668160" cy="21960"/>
          </a:xfrm>
          <a:prstGeom prst="roundRect">
            <a:avLst>
              <a:gd fmla="val 351268"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88"/>
          <p:cNvSpPr/>
          <p:nvPr/>
        </p:nvSpPr>
        <p:spPr>
          <a:xfrm>
            <a:off x="740880" y="2003400"/>
            <a:ext cx="429480" cy="429480"/>
          </a:xfrm>
          <a:prstGeom prst="roundRect">
            <a:avLst>
              <a:gd fmla="val 18667"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88"/>
          <p:cNvSpPr/>
          <p:nvPr/>
        </p:nvSpPr>
        <p:spPr>
          <a:xfrm>
            <a:off x="891360" y="2067840"/>
            <a:ext cx="128160" cy="300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350" u="none" cap="none" strike="noStrike">
                <a:solidFill>
                  <a:srgbClr val="272525"/>
                </a:solidFill>
                <a:latin typeface="Petrona"/>
                <a:ea typeface="Petrona"/>
                <a:cs typeface="Petrona"/>
                <a:sym typeface="Petrona"/>
              </a:rPr>
              <a:t>1</a:t>
            </a:r>
            <a:endParaRPr b="0" i="0" sz="2350" u="none" cap="none" strike="noStrike">
              <a:latin typeface="Arial"/>
              <a:ea typeface="Arial"/>
              <a:cs typeface="Arial"/>
              <a:sym typeface="Arial"/>
            </a:endParaRPr>
          </a:p>
        </p:txBody>
      </p:sp>
      <p:sp>
        <p:nvSpPr>
          <p:cNvPr id="998" name="Google Shape;998;p88"/>
          <p:cNvSpPr/>
          <p:nvPr/>
        </p:nvSpPr>
        <p:spPr>
          <a:xfrm>
            <a:off x="2007360" y="1979280"/>
            <a:ext cx="3341160" cy="3132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1950" u="none" cap="none" strike="noStrike">
                <a:solidFill>
                  <a:srgbClr val="272525"/>
                </a:solidFill>
                <a:latin typeface="Petrona"/>
                <a:ea typeface="Petrona"/>
                <a:cs typeface="Petrona"/>
                <a:sym typeface="Petrona"/>
              </a:rPr>
              <a:t>Natural Language Processing</a:t>
            </a:r>
            <a:endParaRPr b="0" i="0" sz="1950" u="none" cap="none" strike="noStrike">
              <a:latin typeface="Arial"/>
              <a:ea typeface="Arial"/>
              <a:cs typeface="Arial"/>
              <a:sym typeface="Arial"/>
            </a:endParaRPr>
          </a:p>
        </p:txBody>
      </p:sp>
      <p:sp>
        <p:nvSpPr>
          <p:cNvPr id="999" name="Google Shape;999;p88"/>
          <p:cNvSpPr/>
          <p:nvPr/>
        </p:nvSpPr>
        <p:spPr>
          <a:xfrm>
            <a:off x="2007360" y="2407680"/>
            <a:ext cx="6467040" cy="91692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500" u="none" cap="none" strike="noStrike">
                <a:solidFill>
                  <a:srgbClr val="272525"/>
                </a:solidFill>
                <a:latin typeface="Inter"/>
                <a:ea typeface="Inter"/>
                <a:cs typeface="Inter"/>
                <a:sym typeface="Inter"/>
              </a:rPr>
              <a:t>The Intelligent Assistant utilizes advanced NLP techniques to enable conversational search, allowing users to interact with the system using natural language queries.</a:t>
            </a:r>
            <a:endParaRPr b="0" i="0" sz="1500" u="none" cap="none" strike="noStrike">
              <a:latin typeface="Arial"/>
              <a:ea typeface="Arial"/>
              <a:cs typeface="Arial"/>
              <a:sym typeface="Arial"/>
            </a:endParaRPr>
          </a:p>
        </p:txBody>
      </p:sp>
      <p:sp>
        <p:nvSpPr>
          <p:cNvPr id="1000" name="Google Shape;1000;p88"/>
          <p:cNvSpPr/>
          <p:nvPr/>
        </p:nvSpPr>
        <p:spPr>
          <a:xfrm>
            <a:off x="1148040" y="4126320"/>
            <a:ext cx="668160" cy="21960"/>
          </a:xfrm>
          <a:prstGeom prst="roundRect">
            <a:avLst>
              <a:gd fmla="val 351268"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88"/>
          <p:cNvSpPr/>
          <p:nvPr/>
        </p:nvSpPr>
        <p:spPr>
          <a:xfrm>
            <a:off x="740880" y="3922560"/>
            <a:ext cx="429480" cy="429480"/>
          </a:xfrm>
          <a:prstGeom prst="roundRect">
            <a:avLst>
              <a:gd fmla="val 18667"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88"/>
          <p:cNvSpPr/>
          <p:nvPr/>
        </p:nvSpPr>
        <p:spPr>
          <a:xfrm>
            <a:off x="870480" y="3987000"/>
            <a:ext cx="169920" cy="300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350" u="none" cap="none" strike="noStrike">
                <a:solidFill>
                  <a:srgbClr val="272525"/>
                </a:solidFill>
                <a:latin typeface="Petrona"/>
                <a:ea typeface="Petrona"/>
                <a:cs typeface="Petrona"/>
                <a:sym typeface="Petrona"/>
              </a:rPr>
              <a:t>2</a:t>
            </a:r>
            <a:endParaRPr b="0" i="0" sz="2350" u="none" cap="none" strike="noStrike">
              <a:latin typeface="Arial"/>
              <a:ea typeface="Arial"/>
              <a:cs typeface="Arial"/>
              <a:sym typeface="Arial"/>
            </a:endParaRPr>
          </a:p>
        </p:txBody>
      </p:sp>
      <p:sp>
        <p:nvSpPr>
          <p:cNvPr id="1003" name="Google Shape;1003;p88"/>
          <p:cNvSpPr/>
          <p:nvPr/>
        </p:nvSpPr>
        <p:spPr>
          <a:xfrm>
            <a:off x="2007360" y="3898800"/>
            <a:ext cx="3171960" cy="3132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1950" u="none" cap="none" strike="noStrike">
                <a:solidFill>
                  <a:srgbClr val="272525"/>
                </a:solidFill>
                <a:latin typeface="Petrona"/>
                <a:ea typeface="Petrona"/>
                <a:cs typeface="Petrona"/>
                <a:sym typeface="Petrona"/>
              </a:rPr>
              <a:t>Real-time Decision Support</a:t>
            </a:r>
            <a:endParaRPr b="0" i="0" sz="1950" u="none" cap="none" strike="noStrike">
              <a:latin typeface="Arial"/>
              <a:ea typeface="Arial"/>
              <a:cs typeface="Arial"/>
              <a:sym typeface="Arial"/>
            </a:endParaRPr>
          </a:p>
        </p:txBody>
      </p:sp>
      <p:sp>
        <p:nvSpPr>
          <p:cNvPr id="1004" name="Google Shape;1004;p88"/>
          <p:cNvSpPr/>
          <p:nvPr/>
        </p:nvSpPr>
        <p:spPr>
          <a:xfrm>
            <a:off x="2007360" y="4327200"/>
            <a:ext cx="6467040" cy="91692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500" u="none" cap="none" strike="noStrike">
                <a:solidFill>
                  <a:srgbClr val="272525"/>
                </a:solidFill>
                <a:latin typeface="Inter"/>
                <a:ea typeface="Inter"/>
                <a:cs typeface="Inter"/>
                <a:sym typeface="Inter"/>
              </a:rPr>
              <a:t>By analyzing user queries and context, the assistant provides real-time decision support, offering relevant information and suggestions to aid in decision-making processes.</a:t>
            </a:r>
            <a:endParaRPr b="0" i="0" sz="1500" u="none" cap="none" strike="noStrike">
              <a:latin typeface="Arial"/>
              <a:ea typeface="Arial"/>
              <a:cs typeface="Arial"/>
              <a:sym typeface="Arial"/>
            </a:endParaRPr>
          </a:p>
        </p:txBody>
      </p:sp>
      <p:sp>
        <p:nvSpPr>
          <p:cNvPr id="1005" name="Google Shape;1005;p88"/>
          <p:cNvSpPr/>
          <p:nvPr/>
        </p:nvSpPr>
        <p:spPr>
          <a:xfrm>
            <a:off x="1148040" y="6045480"/>
            <a:ext cx="668160" cy="21960"/>
          </a:xfrm>
          <a:prstGeom prst="roundRect">
            <a:avLst>
              <a:gd fmla="val 351268" name="adj"/>
            </a:avLst>
          </a:prstGeom>
          <a:solidFill>
            <a:srgbClr val="B2D4E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88"/>
          <p:cNvSpPr/>
          <p:nvPr/>
        </p:nvSpPr>
        <p:spPr>
          <a:xfrm>
            <a:off x="740880" y="5842080"/>
            <a:ext cx="429480" cy="429480"/>
          </a:xfrm>
          <a:prstGeom prst="roundRect">
            <a:avLst>
              <a:gd fmla="val 18667" name="adj"/>
            </a:avLst>
          </a:prstGeom>
          <a:solidFill>
            <a:srgbClr val="CCEEFF"/>
          </a:solidFill>
          <a:ln cap="flat" cmpd="sng" w="9525">
            <a:solidFill>
              <a:srgbClr val="B2D4E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88"/>
          <p:cNvSpPr/>
          <p:nvPr/>
        </p:nvSpPr>
        <p:spPr>
          <a:xfrm>
            <a:off x="870480" y="5906520"/>
            <a:ext cx="169560" cy="300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i="0" lang="en-US" sz="2350" u="none" cap="none" strike="noStrike">
                <a:solidFill>
                  <a:srgbClr val="272525"/>
                </a:solidFill>
                <a:latin typeface="Petrona"/>
                <a:ea typeface="Petrona"/>
                <a:cs typeface="Petrona"/>
                <a:sym typeface="Petrona"/>
              </a:rPr>
              <a:t>3</a:t>
            </a:r>
            <a:endParaRPr b="0" i="0" sz="2350" u="none" cap="none" strike="noStrike">
              <a:latin typeface="Arial"/>
              <a:ea typeface="Arial"/>
              <a:cs typeface="Arial"/>
              <a:sym typeface="Arial"/>
            </a:endParaRPr>
          </a:p>
        </p:txBody>
      </p:sp>
      <p:sp>
        <p:nvSpPr>
          <p:cNvPr id="1008" name="Google Shape;1008;p88"/>
          <p:cNvSpPr/>
          <p:nvPr/>
        </p:nvSpPr>
        <p:spPr>
          <a:xfrm>
            <a:off x="2007360" y="5817960"/>
            <a:ext cx="3692880" cy="3132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b="1" i="0" lang="en-US" sz="1950" u="none" cap="none" strike="noStrike">
                <a:solidFill>
                  <a:srgbClr val="272525"/>
                </a:solidFill>
                <a:latin typeface="Petrona"/>
                <a:ea typeface="Petrona"/>
                <a:cs typeface="Petrona"/>
                <a:sym typeface="Petrona"/>
              </a:rPr>
              <a:t>Personalized Recommendations</a:t>
            </a:r>
            <a:endParaRPr b="0" i="0" sz="1950" u="none" cap="none" strike="noStrike">
              <a:latin typeface="Arial"/>
              <a:ea typeface="Arial"/>
              <a:cs typeface="Arial"/>
              <a:sym typeface="Arial"/>
            </a:endParaRPr>
          </a:p>
        </p:txBody>
      </p:sp>
      <p:sp>
        <p:nvSpPr>
          <p:cNvPr id="1009" name="Google Shape;1009;p88"/>
          <p:cNvSpPr/>
          <p:nvPr/>
        </p:nvSpPr>
        <p:spPr>
          <a:xfrm>
            <a:off x="2007360" y="6246360"/>
            <a:ext cx="6467040" cy="916920"/>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None/>
            </a:pPr>
            <a:r>
              <a:rPr b="0" i="0" lang="en-US" sz="1500" u="none" cap="none" strike="noStrike">
                <a:solidFill>
                  <a:srgbClr val="272525"/>
                </a:solidFill>
                <a:latin typeface="Inter"/>
                <a:ea typeface="Inter"/>
                <a:cs typeface="Inter"/>
                <a:sym typeface="Inter"/>
              </a:rPr>
              <a:t>The system generates personalized recommendations based on the user's context, search history, and inferred intent, enhancing the overall search experience.</a:t>
            </a:r>
            <a:endParaRPr b="0" i="0" sz="1500" u="none" cap="none" strike="noStrike">
              <a:latin typeface="Arial"/>
              <a:ea typeface="Arial"/>
              <a:cs typeface="Arial"/>
              <a:sym typeface="Arial"/>
            </a:endParaRPr>
          </a:p>
        </p:txBody>
      </p:sp>
      <p:grpSp>
        <p:nvGrpSpPr>
          <p:cNvPr id="1010" name="Google Shape;1010;p88"/>
          <p:cNvGrpSpPr/>
          <p:nvPr/>
        </p:nvGrpSpPr>
        <p:grpSpPr>
          <a:xfrm>
            <a:off x="13783680" y="0"/>
            <a:ext cx="846360" cy="968400"/>
            <a:chOff x="13783680" y="0"/>
            <a:chExt cx="846360" cy="968400"/>
          </a:xfrm>
        </p:grpSpPr>
        <p:sp>
          <p:nvSpPr>
            <p:cNvPr id="1011" name="Google Shape;1011;p88"/>
            <p:cNvSpPr/>
            <p:nvPr/>
          </p:nvSpPr>
          <p:spPr>
            <a:xfrm>
              <a:off x="13783680" y="0"/>
              <a:ext cx="846360" cy="9684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 name="Google Shape;1012;p88"/>
            <p:cNvGrpSpPr/>
            <p:nvPr/>
          </p:nvGrpSpPr>
          <p:grpSpPr>
            <a:xfrm>
              <a:off x="13838760" y="0"/>
              <a:ext cx="791280" cy="968400"/>
              <a:chOff x="13838760" y="0"/>
              <a:chExt cx="791280" cy="968400"/>
            </a:xfrm>
          </p:grpSpPr>
          <p:pic>
            <p:nvPicPr>
              <p:cNvPr id="1013" name="Google Shape;1013;p88"/>
              <p:cNvPicPr preferRelativeResize="0"/>
              <p:nvPr/>
            </p:nvPicPr>
            <p:blipFill rotWithShape="1">
              <a:blip r:embed="rId4">
                <a:alphaModFix/>
              </a:blip>
              <a:srcRect b="0" l="20669" r="9844" t="0"/>
              <a:stretch/>
            </p:blipFill>
            <p:spPr>
              <a:xfrm>
                <a:off x="13838760" y="0"/>
                <a:ext cx="756360" cy="756360"/>
              </a:xfrm>
              <a:prstGeom prst="rect">
                <a:avLst/>
              </a:prstGeom>
              <a:noFill/>
              <a:ln>
                <a:noFill/>
              </a:ln>
            </p:spPr>
          </p:pic>
          <p:sp>
            <p:nvSpPr>
              <p:cNvPr id="1014" name="Google Shape;1014;p88"/>
              <p:cNvSpPr/>
              <p:nvPr/>
            </p:nvSpPr>
            <p:spPr>
              <a:xfrm>
                <a:off x="13838760" y="703080"/>
                <a:ext cx="791280" cy="265320"/>
              </a:xfrm>
              <a:prstGeom prst="rect">
                <a:avLst/>
              </a:prstGeom>
              <a:noFill/>
              <a:ln>
                <a:noFill/>
              </a:ln>
            </p:spPr>
            <p:txBody>
              <a:bodyPr anchorCtr="0" anchor="ctr" bIns="60825" lIns="60825" spcFirstLastPara="1" rIns="60825" wrap="square" tIns="60825">
                <a:noAutofit/>
              </a:bodyPr>
              <a:lstStyle/>
              <a:p>
                <a:pPr indent="0" lvl="0" marL="0" marR="0" rtl="0" algn="ctr">
                  <a:lnSpc>
                    <a:spcPct val="100000"/>
                  </a:lnSpc>
                  <a:spcBef>
                    <a:spcPts val="0"/>
                  </a:spcBef>
                  <a:spcAft>
                    <a:spcPts val="0"/>
                  </a:spcAft>
                  <a:buNone/>
                </a:pPr>
                <a:r>
                  <a:rPr b="1" i="0" lang="en-US" sz="860" u="none" cap="none" strike="noStrike">
                    <a:solidFill>
                      <a:srgbClr val="EE0000"/>
                    </a:solidFill>
                    <a:latin typeface="Arial"/>
                    <a:ea typeface="Arial"/>
                    <a:cs typeface="Arial"/>
                    <a:sym typeface="Arial"/>
                  </a:rPr>
                  <a:t>SEMANTIC</a:t>
                </a:r>
                <a:endParaRPr b="0" i="0" sz="860" u="none" cap="none" strike="noStrike">
                  <a:latin typeface="Arial"/>
                  <a:ea typeface="Arial"/>
                  <a:cs typeface="Arial"/>
                  <a:sym typeface="Arial"/>
                </a:endParaRPr>
              </a:p>
              <a:p>
                <a:pPr indent="0" lvl="0" marL="0" marR="0" rtl="0" algn="ctr">
                  <a:lnSpc>
                    <a:spcPct val="100000"/>
                  </a:lnSpc>
                  <a:spcBef>
                    <a:spcPts val="0"/>
                  </a:spcBef>
                  <a:spcAft>
                    <a:spcPts val="0"/>
                  </a:spcAft>
                  <a:buNone/>
                </a:pPr>
                <a:r>
                  <a:rPr b="0" i="0" lang="en-US" sz="860" u="none" cap="none" strike="noStrike">
                    <a:solidFill>
                      <a:srgbClr val="000000"/>
                    </a:solidFill>
                    <a:latin typeface="Arial"/>
                    <a:ea typeface="Arial"/>
                    <a:cs typeface="Arial"/>
                    <a:sym typeface="Arial"/>
                  </a:rPr>
                  <a:t>Governance</a:t>
                </a:r>
                <a:endParaRPr b="0" i="0" sz="860" u="none" cap="none" strike="noStrike">
                  <a:latin typeface="Arial"/>
                  <a:ea typeface="Arial"/>
                  <a:cs typeface="Arial"/>
                  <a:sym typeface="Arial"/>
                </a:endParaRPr>
              </a:p>
            </p:txBody>
          </p:sp>
        </p:grpSp>
      </p:gr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