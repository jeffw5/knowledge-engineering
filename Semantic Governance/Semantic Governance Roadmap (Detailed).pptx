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80" r:id="rId4"/>
    <p:sldMasterId id="2147483781" r:id="rId5"/>
    <p:sldMasterId id="2147483782" r:id="rId6"/>
    <p:sldMasterId id="2147483783" r:id="rId7"/>
    <p:sldMasterId id="2147483784" r:id="rId8"/>
    <p:sldMasterId id="2147483785" r:id="rId9"/>
    <p:sldMasterId id="2147483786" r:id="rId10"/>
    <p:sldMasterId id="2147483787" r:id="rId11"/>
    <p:sldMasterId id="2147483788" r:id="rId12"/>
    <p:sldMasterId id="2147483789" r:id="rId13"/>
    <p:sldMasterId id="2147483790"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Lst>
  <p:sldSz cy="5143500" cx="9144000"/>
  <p:notesSz cx="6858000" cy="9144000"/>
  <p:embeddedFontLst>
    <p:embeddedFont>
      <p:font typeface="Roboto"/>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A24ACB-EA66-40C5-9E23-3781B2CCA6B0}">
  <a:tblStyle styleId="{4DA24ACB-EA66-40C5-9E23-3781B2CCA6B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5.xml"/><Relationship Id="rId42" Type="http://schemas.openxmlformats.org/officeDocument/2006/relationships/slide" Target="slides/slide27.xml"/><Relationship Id="rId41" Type="http://schemas.openxmlformats.org/officeDocument/2006/relationships/slide" Target="slides/slide26.xml"/><Relationship Id="rId44" Type="http://schemas.openxmlformats.org/officeDocument/2006/relationships/slide" Target="slides/slide29.xml"/><Relationship Id="rId43" Type="http://schemas.openxmlformats.org/officeDocument/2006/relationships/slide" Target="slides/slide28.xml"/><Relationship Id="rId46" Type="http://schemas.openxmlformats.org/officeDocument/2006/relationships/slide" Target="slides/slide31.xml"/><Relationship Id="rId45" Type="http://schemas.openxmlformats.org/officeDocument/2006/relationships/slide" Target="slides/slide30.xml"/><Relationship Id="rId80" Type="http://schemas.openxmlformats.org/officeDocument/2006/relationships/font" Target="fonts/Roboto-bold.fntdata"/><Relationship Id="rId82" Type="http://schemas.openxmlformats.org/officeDocument/2006/relationships/font" Target="fonts/Roboto-boldItalic.fntdata"/><Relationship Id="rId81"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3.xml"/><Relationship Id="rId47" Type="http://schemas.openxmlformats.org/officeDocument/2006/relationships/slide" Target="slides/slide32.xml"/><Relationship Id="rId49" Type="http://schemas.openxmlformats.org/officeDocument/2006/relationships/slide" Target="slides/slide34.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58.xml"/><Relationship Id="rId72" Type="http://schemas.openxmlformats.org/officeDocument/2006/relationships/slide" Target="slides/slide57.xml"/><Relationship Id="rId31" Type="http://schemas.openxmlformats.org/officeDocument/2006/relationships/slide" Target="slides/slide16.xml"/><Relationship Id="rId75" Type="http://schemas.openxmlformats.org/officeDocument/2006/relationships/slide" Target="slides/slide60.xml"/><Relationship Id="rId30" Type="http://schemas.openxmlformats.org/officeDocument/2006/relationships/slide" Target="slides/slide15.xml"/><Relationship Id="rId74" Type="http://schemas.openxmlformats.org/officeDocument/2006/relationships/slide" Target="slides/slide59.xml"/><Relationship Id="rId33" Type="http://schemas.openxmlformats.org/officeDocument/2006/relationships/slide" Target="slides/slide18.xml"/><Relationship Id="rId77" Type="http://schemas.openxmlformats.org/officeDocument/2006/relationships/slide" Target="slides/slide62.xml"/><Relationship Id="rId32" Type="http://schemas.openxmlformats.org/officeDocument/2006/relationships/slide" Target="slides/slide17.xml"/><Relationship Id="rId76" Type="http://schemas.openxmlformats.org/officeDocument/2006/relationships/slide" Target="slides/slide61.xml"/><Relationship Id="rId35" Type="http://schemas.openxmlformats.org/officeDocument/2006/relationships/slide" Target="slides/slide20.xml"/><Relationship Id="rId79" Type="http://schemas.openxmlformats.org/officeDocument/2006/relationships/font" Target="fonts/Roboto-regular.fntdata"/><Relationship Id="rId34" Type="http://schemas.openxmlformats.org/officeDocument/2006/relationships/slide" Target="slides/slide19.xml"/><Relationship Id="rId78" Type="http://schemas.openxmlformats.org/officeDocument/2006/relationships/slide" Target="slides/slide63.xml"/><Relationship Id="rId71" Type="http://schemas.openxmlformats.org/officeDocument/2006/relationships/slide" Target="slides/slide56.xml"/><Relationship Id="rId70" Type="http://schemas.openxmlformats.org/officeDocument/2006/relationships/slide" Target="slides/slide55.xml"/><Relationship Id="rId37" Type="http://schemas.openxmlformats.org/officeDocument/2006/relationships/slide" Target="slides/slide22.xml"/><Relationship Id="rId36" Type="http://schemas.openxmlformats.org/officeDocument/2006/relationships/slide" Target="slides/slide21.xml"/><Relationship Id="rId39" Type="http://schemas.openxmlformats.org/officeDocument/2006/relationships/slide" Target="slides/slide24.xml"/><Relationship Id="rId38" Type="http://schemas.openxmlformats.org/officeDocument/2006/relationships/slide" Target="slides/slide23.xml"/><Relationship Id="rId62" Type="http://schemas.openxmlformats.org/officeDocument/2006/relationships/slide" Target="slides/slide47.xml"/><Relationship Id="rId61" Type="http://schemas.openxmlformats.org/officeDocument/2006/relationships/slide" Target="slides/slide46.xml"/><Relationship Id="rId20" Type="http://schemas.openxmlformats.org/officeDocument/2006/relationships/slide" Target="slides/slide5.xml"/><Relationship Id="rId64" Type="http://schemas.openxmlformats.org/officeDocument/2006/relationships/slide" Target="slides/slide49.xml"/><Relationship Id="rId63" Type="http://schemas.openxmlformats.org/officeDocument/2006/relationships/slide" Target="slides/slide48.xml"/><Relationship Id="rId22" Type="http://schemas.openxmlformats.org/officeDocument/2006/relationships/slide" Target="slides/slide7.xml"/><Relationship Id="rId66" Type="http://schemas.openxmlformats.org/officeDocument/2006/relationships/slide" Target="slides/slide51.xml"/><Relationship Id="rId21" Type="http://schemas.openxmlformats.org/officeDocument/2006/relationships/slide" Target="slides/slide6.xml"/><Relationship Id="rId65" Type="http://schemas.openxmlformats.org/officeDocument/2006/relationships/slide" Target="slides/slide50.xml"/><Relationship Id="rId24" Type="http://schemas.openxmlformats.org/officeDocument/2006/relationships/slide" Target="slides/slide9.xml"/><Relationship Id="rId68" Type="http://schemas.openxmlformats.org/officeDocument/2006/relationships/slide" Target="slides/slide53.xml"/><Relationship Id="rId23" Type="http://schemas.openxmlformats.org/officeDocument/2006/relationships/slide" Target="slides/slide8.xml"/><Relationship Id="rId67" Type="http://schemas.openxmlformats.org/officeDocument/2006/relationships/slide" Target="slides/slide52.xml"/><Relationship Id="rId60" Type="http://schemas.openxmlformats.org/officeDocument/2006/relationships/slide" Target="slides/slide45.xml"/><Relationship Id="rId26" Type="http://schemas.openxmlformats.org/officeDocument/2006/relationships/slide" Target="slides/slide11.xml"/><Relationship Id="rId25" Type="http://schemas.openxmlformats.org/officeDocument/2006/relationships/slide" Target="slides/slide10.xml"/><Relationship Id="rId69" Type="http://schemas.openxmlformats.org/officeDocument/2006/relationships/slide" Target="slides/slide54.xml"/><Relationship Id="rId28" Type="http://schemas.openxmlformats.org/officeDocument/2006/relationships/slide" Target="slides/slide13.xml"/><Relationship Id="rId27" Type="http://schemas.openxmlformats.org/officeDocument/2006/relationships/slide" Target="slides/slide12.xml"/><Relationship Id="rId29" Type="http://schemas.openxmlformats.org/officeDocument/2006/relationships/slide" Target="slides/slide14.xml"/><Relationship Id="rId51" Type="http://schemas.openxmlformats.org/officeDocument/2006/relationships/slide" Target="slides/slide36.xml"/><Relationship Id="rId50" Type="http://schemas.openxmlformats.org/officeDocument/2006/relationships/slide" Target="slides/slide35.xml"/><Relationship Id="rId53" Type="http://schemas.openxmlformats.org/officeDocument/2006/relationships/slide" Target="slides/slide38.xml"/><Relationship Id="rId52" Type="http://schemas.openxmlformats.org/officeDocument/2006/relationships/slide" Target="slides/slide37.xml"/><Relationship Id="rId11" Type="http://schemas.openxmlformats.org/officeDocument/2006/relationships/slideMaster" Target="slideMasters/slideMaster8.xml"/><Relationship Id="rId55" Type="http://schemas.openxmlformats.org/officeDocument/2006/relationships/slide" Target="slides/slide40.xml"/><Relationship Id="rId10" Type="http://schemas.openxmlformats.org/officeDocument/2006/relationships/slideMaster" Target="slideMasters/slideMaster7.xml"/><Relationship Id="rId54" Type="http://schemas.openxmlformats.org/officeDocument/2006/relationships/slide" Target="slides/slide39.xml"/><Relationship Id="rId13" Type="http://schemas.openxmlformats.org/officeDocument/2006/relationships/slideMaster" Target="slideMasters/slideMaster10.xml"/><Relationship Id="rId57" Type="http://schemas.openxmlformats.org/officeDocument/2006/relationships/slide" Target="slides/slide42.xml"/><Relationship Id="rId12" Type="http://schemas.openxmlformats.org/officeDocument/2006/relationships/slideMaster" Target="slideMasters/slideMaster9.xml"/><Relationship Id="rId56" Type="http://schemas.openxmlformats.org/officeDocument/2006/relationships/slide" Target="slides/slide41.xml"/><Relationship Id="rId15" Type="http://schemas.openxmlformats.org/officeDocument/2006/relationships/notesMaster" Target="notesMasters/notesMaster1.xml"/><Relationship Id="rId59" Type="http://schemas.openxmlformats.org/officeDocument/2006/relationships/slide" Target="slides/slide44.xml"/><Relationship Id="rId14" Type="http://schemas.openxmlformats.org/officeDocument/2006/relationships/slideMaster" Target="slideMasters/slideMaster11.xml"/><Relationship Id="rId58" Type="http://schemas.openxmlformats.org/officeDocument/2006/relationships/slide" Target="slides/slide43.xml"/><Relationship Id="rId17" Type="http://schemas.openxmlformats.org/officeDocument/2006/relationships/slide" Target="slides/slide2.xml"/><Relationship Id="rId16" Type="http://schemas.openxmlformats.org/officeDocument/2006/relationships/slide" Target="slides/slide1.xml"/><Relationship Id="rId19" Type="http://schemas.openxmlformats.org/officeDocument/2006/relationships/slide" Target="slides/slide4.xml"/><Relationship Id="rId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u/0/d/1VX5NI4GMFGby-DQ58MoPMjrWbcGKGFBQ3QZCT3ro3rI/edit" TargetMode="External"/><Relationship Id="rId3" Type="http://schemas.openxmlformats.org/officeDocument/2006/relationships/hyperlink" Target="https://docs.google.com/presentation/d/16Bg-OmLqM2P2UPSwQJzaVQwcMSi2-qeT4q4RGh9ej6U/edit#slide=id.g202817e5b5b_0_0"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u/0/d/1VX5NI4GMFGby-DQ58MoPMjrWbcGKGFBQ3QZCT3ro3rI/edit" TargetMode="External"/><Relationship Id="rId3" Type="http://schemas.openxmlformats.org/officeDocument/2006/relationships/hyperlink" Target="https://docs.google.com/presentation/d/16Bg-OmLqM2P2UPSwQJzaVQwcMSi2-qeT4q4RGh9ej6U/edit#slide=id.g202817e5b5b_0_0"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4" name="Google Shape;594;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5" name="Google Shape;605;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6" name="Google Shape;616;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27" name="Google Shape;627;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0" name="Google Shape;640;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6: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6: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000" u="sng" strike="noStrike">
                <a:solidFill>
                  <a:schemeClr val="hlink"/>
                </a:solidFill>
                <a:latin typeface="Arial"/>
                <a:ea typeface="Arial"/>
                <a:cs typeface="Arial"/>
                <a:sym typeface="Arial"/>
                <a:hlinkClick r:id="rId2"/>
              </a:rPr>
              <a:t>2023 EnGRAM Prioritization &amp; Backlog</a:t>
            </a:r>
            <a:r>
              <a:rPr b="0" lang="en-US" sz="1000" strike="noStrike">
                <a:solidFill>
                  <a:srgbClr val="000000"/>
                </a:solidFill>
                <a:latin typeface="Arial"/>
                <a:ea typeface="Arial"/>
                <a:cs typeface="Arial"/>
                <a:sym typeface="Arial"/>
              </a:rPr>
              <a:t>🔗</a:t>
            </a:r>
            <a:endParaRPr b="0" sz="1000" strike="noStrike">
              <a:latin typeface="Arial"/>
              <a:ea typeface="Arial"/>
              <a:cs typeface="Arial"/>
              <a:sym typeface="Arial"/>
            </a:endParaRPr>
          </a:p>
          <a:p>
            <a:pPr indent="0" lvl="0" marL="0" rtl="0" algn="l">
              <a:lnSpc>
                <a:spcPct val="100000"/>
              </a:lnSpc>
              <a:spcBef>
                <a:spcPts val="0"/>
              </a:spcBef>
              <a:spcAft>
                <a:spcPts val="0"/>
              </a:spcAft>
              <a:buNone/>
            </a:pPr>
            <a:r>
              <a:rPr b="1" lang="en-US" sz="1000" u="sng" strike="noStrike">
                <a:solidFill>
                  <a:schemeClr val="hlink"/>
                </a:solidFill>
                <a:latin typeface="Arial"/>
                <a:ea typeface="Arial"/>
                <a:cs typeface="Arial"/>
                <a:sym typeface="Arial"/>
                <a:hlinkClick r:id="rId3"/>
              </a:rPr>
              <a:t>EnGRAM Review Prioritization 2023</a:t>
            </a:r>
            <a:r>
              <a:rPr b="0" lang="en-US" sz="1000" strike="noStrike">
                <a:solidFill>
                  <a:srgbClr val="000000"/>
                </a:solidFill>
                <a:latin typeface="Arial"/>
                <a:ea typeface="Arial"/>
                <a:cs typeface="Arial"/>
                <a:sym typeface="Arial"/>
              </a:rPr>
              <a:t>🔗</a:t>
            </a:r>
            <a:endParaRPr b="0" sz="1000" strike="noStrike">
              <a:latin typeface="Arial"/>
              <a:ea typeface="Arial"/>
              <a:cs typeface="Arial"/>
              <a:sym typeface="Arial"/>
            </a:endParaRPr>
          </a:p>
          <a:p>
            <a:pPr indent="0" lvl="0" marL="0" rtl="0" algn="l">
              <a:lnSpc>
                <a:spcPct val="120000"/>
              </a:lnSpc>
              <a:spcBef>
                <a:spcPts val="0"/>
              </a:spcBef>
              <a:spcAft>
                <a:spcPts val="0"/>
              </a:spcAft>
              <a:buNone/>
            </a:pPr>
            <a:r>
              <a:t/>
            </a:r>
            <a:endParaRPr b="0" sz="1000" strike="noStrike">
              <a:latin typeface="Arial"/>
              <a:ea typeface="Arial"/>
              <a:cs typeface="Arial"/>
              <a:sym typeface="Arial"/>
            </a:endParaRPr>
          </a:p>
          <a:p>
            <a:pPr indent="0" lvl="0" marL="0" rtl="0" algn="l">
              <a:lnSpc>
                <a:spcPct val="120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Search</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Ready for production</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Retire champion / challenger</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Model reuse for Enhanced</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Auto retiring</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How do we do 90% of retirements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EnGRAM is not a model registry</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MLFlow is close to a model registry</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Key is tieng this into AIMLOps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Staffing Model</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Mayan K. onshore</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 dev offshore</a:t>
            </a:r>
            <a:endParaRPr b="0" sz="1000" strike="noStrike">
              <a:latin typeface="Arial"/>
              <a:ea typeface="Arial"/>
              <a:cs typeface="Arial"/>
              <a:sym typeface="Arial"/>
            </a:endParaRPr>
          </a:p>
          <a:p>
            <a:pPr indent="-291600" lvl="1" marL="9144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Front end</a:t>
            </a:r>
            <a:endParaRPr b="0" sz="1000" strike="noStrike">
              <a:latin typeface="Arial"/>
              <a:ea typeface="Arial"/>
              <a:cs typeface="Arial"/>
              <a:sym typeface="Arial"/>
            </a:endParaRPr>
          </a:p>
          <a:p>
            <a:pPr indent="-291600" lvl="1" marL="9144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Back end</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Operational Support </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20% x 2 FTEs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2.8 FTEs for Projects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EnGRAM mapping to AIMLOps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UX Design Q3</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API Design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Need to load Integration enhancements with AIMLOps into Gitlab</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Get artifacts for define / design into issue</a:t>
            </a:r>
            <a:endParaRPr b="0" sz="1000" strike="noStrike">
              <a:latin typeface="Arial"/>
              <a:ea typeface="Arial"/>
              <a:cs typeface="Arial"/>
              <a:sym typeface="Arial"/>
            </a:endParaRPr>
          </a:p>
          <a:p>
            <a:pPr indent="0" lvl="0" marL="0" rtl="0" algn="l">
              <a:lnSpc>
                <a:spcPct val="115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EA Provisional Approval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CS Provisional Approval</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Bypass Flag for Sol Design Approval</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Cindy Lin - under Mike Tang requested Child Line Exclusion</a:t>
            </a:r>
            <a:endParaRPr b="0" sz="100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62" name="Google Shape;662;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5" name="Google Shape;675;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0" name="Google Shape;680;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91" name="Google Shape;691;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2" name="Google Shape;702;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3" name="Google Shape;713;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4" name="Google Shape;724;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5" name="Google Shape;735;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1" name="Google Shape;751;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3" name="Google Shape;763;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5" name="Google Shape;775;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7" name="Google Shape;787;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2" name="Google Shape;802;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18" name="Google Shape;818;p2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9" name="Google Shape;829;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4" name="Google Shape;834;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5" name="Google Shape;845;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8" name="Google Shape;858;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70" name="Google Shape;870;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2" name="Google Shape;882;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07" name="Google Shape;907;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29: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9" name="Google Shape;919;p29: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800" strike="noStrike">
                <a:latin typeface="Arial"/>
                <a:ea typeface="Arial"/>
                <a:cs typeface="Arial"/>
                <a:sym typeface="Arial"/>
              </a:rPr>
              <a:t>Personalization showcases the power of the Semantic Models:</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a:p>
            <a:pPr indent="-342720" lvl="1" marL="9144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Security: Dynamic Provisioning</a:t>
            </a:r>
            <a:endParaRPr b="0" sz="1800" strike="noStrike">
              <a:latin typeface="Arial"/>
              <a:ea typeface="Arial"/>
              <a:cs typeface="Arial"/>
              <a:sym typeface="Arial"/>
            </a:endParaRPr>
          </a:p>
          <a:p>
            <a:pPr indent="-342720" lvl="2" marL="13716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Beyond ACL / ADOM Groups</a:t>
            </a:r>
            <a:endParaRPr b="0" sz="1800" strike="noStrike">
              <a:latin typeface="Arial"/>
              <a:ea typeface="Arial"/>
              <a:cs typeface="Arial"/>
              <a:sym typeface="Arial"/>
            </a:endParaRPr>
          </a:p>
          <a:p>
            <a:pPr indent="-342720" lvl="2" marL="13716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Multi-faceted Rules</a:t>
            </a:r>
            <a:endParaRPr b="0" sz="1800" strike="noStrike">
              <a:latin typeface="Arial"/>
              <a:ea typeface="Arial"/>
              <a:cs typeface="Arial"/>
              <a:sym typeface="Arial"/>
            </a:endParaRPr>
          </a:p>
          <a:p>
            <a:pPr indent="-342720" lvl="1" marL="9144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Experience: Dynamic Tailoring</a:t>
            </a:r>
            <a:endParaRPr b="0" sz="1800" strike="noStrike">
              <a:latin typeface="Arial"/>
              <a:ea typeface="Arial"/>
              <a:cs typeface="Arial"/>
              <a:sym typeface="Arial"/>
            </a:endParaRPr>
          </a:p>
          <a:p>
            <a:pPr indent="-342720" lvl="2" marL="13716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Unified Persona Model</a:t>
            </a:r>
            <a:endParaRPr b="0" sz="1800" strike="noStrike">
              <a:latin typeface="Arial"/>
              <a:ea typeface="Arial"/>
              <a:cs typeface="Arial"/>
              <a:sym typeface="Arial"/>
            </a:endParaRPr>
          </a:p>
          <a:p>
            <a:pPr indent="-342720" lvl="2" marL="1371600" rtl="0" algn="l">
              <a:lnSpc>
                <a:spcPct val="115000"/>
              </a:lnSpc>
              <a:spcBef>
                <a:spcPts val="0"/>
              </a:spcBef>
              <a:spcAft>
                <a:spcPts val="0"/>
              </a:spcAft>
              <a:buClr>
                <a:srgbClr val="1D1C1D"/>
              </a:buClr>
              <a:buSzPts val="1800"/>
              <a:buFont typeface="Noto Sans Symbols"/>
              <a:buChar char="■"/>
            </a:pPr>
            <a:r>
              <a:rPr b="0" lang="en-US" sz="1800" strike="noStrike">
                <a:solidFill>
                  <a:srgbClr val="1D1C1D"/>
                </a:solidFill>
                <a:latin typeface="Arial"/>
                <a:ea typeface="Arial"/>
                <a:cs typeface="Arial"/>
                <a:sym typeface="Arial"/>
              </a:rPr>
              <a:t>build out 1-2 of these</a:t>
            </a:r>
            <a:endParaRPr b="0" sz="1800" strike="noStrike">
              <a:latin typeface="Arial"/>
              <a:ea typeface="Arial"/>
              <a:cs typeface="Arial"/>
              <a:sym typeface="Arial"/>
            </a:endParaRPr>
          </a:p>
          <a:p>
            <a:pPr indent="0" lvl="0" marL="0" rtl="0" algn="l">
              <a:lnSpc>
                <a:spcPct val="100000"/>
              </a:lnSpc>
              <a:spcBef>
                <a:spcPts val="0"/>
              </a:spcBef>
              <a:spcAft>
                <a:spcPts val="0"/>
              </a:spcAft>
              <a:buNone/>
            </a:pPr>
            <a:r>
              <a:t/>
            </a:r>
            <a:endParaRPr b="0" sz="18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3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1" name="Google Shape;931;p3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3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6" name="Google Shape;936;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3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74" name="Google Shape;974;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3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9" name="Google Shape;1019;p3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3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78" name="Google Shape;1078;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45" name="Google Shape;1145;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3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87" name="Google Shape;1187;p3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14" name="Google Shape;1214;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3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26" name="Google Shape;1226;p3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3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69" name="Google Shape;1269;p3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4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58" name="Google Shape;1358;p4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9" name="Google Shape;1369;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9" name="Google Shape;1429;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p4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23" name="Google Shape;1523;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43" name="Google Shape;1543;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86" name="Google Shape;1586;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65" name="Google Shape;1665;p4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0" name="Shape 1720"/>
        <p:cNvGrpSpPr/>
        <p:nvPr/>
      </p:nvGrpSpPr>
      <p:grpSpPr>
        <a:xfrm>
          <a:off x="0" y="0"/>
          <a:ext cx="0" cy="0"/>
          <a:chOff x="0" y="0"/>
          <a:chExt cx="0" cy="0"/>
        </a:xfrm>
      </p:grpSpPr>
      <p:sp>
        <p:nvSpPr>
          <p:cNvPr id="1721" name="Google Shape;1721;p4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2" name="Google Shape;1722;p4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p4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27" name="Google Shape;1727;p4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4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72" name="Google Shape;1772;p4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p5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31" name="Google Shape;1831;p5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5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9" name="Google Shape;1849;p5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5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2" name="Google Shape;1902;p5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p5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8" name="Google Shape;1938;p5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p5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07" name="Google Shape;2007;p5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p5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62" name="Google Shape;2062;p5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p5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93" name="Google Shape;2093;p5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p57: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9" name="Google Shape;2119;p57: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0"/>
              </a:spcAft>
              <a:buNone/>
            </a:pPr>
            <a:r>
              <a:rPr b="0" lang="en-US" sz="1050" strike="noStrike">
                <a:solidFill>
                  <a:srgbClr val="1F1F1F"/>
                </a:solidFill>
                <a:latin typeface="Roboto"/>
                <a:ea typeface="Roboto"/>
                <a:cs typeface="Roboto"/>
                <a:sym typeface="Roboto"/>
              </a:rPr>
              <a:t>This slide outlines how Semantic Governance integrates with various enterprise functions and AI types. It acts as a central governing layer for metadata and relationships, providing context, definitions, and traceability across the organization.</a:t>
            </a:r>
            <a:endParaRPr b="0" sz="1050" strike="noStrike">
              <a:latin typeface="Arial"/>
              <a:ea typeface="Arial"/>
              <a:cs typeface="Arial"/>
              <a:sym typeface="Arial"/>
            </a:endParaRPr>
          </a:p>
          <a:p>
            <a:pPr indent="0" lvl="0" marL="0" rtl="0" algn="l">
              <a:lnSpc>
                <a:spcPct val="115000"/>
              </a:lnSpc>
              <a:spcBef>
                <a:spcPts val="0"/>
              </a:spcBef>
              <a:spcAft>
                <a:spcPts val="0"/>
              </a:spcAft>
              <a:buNone/>
            </a:pPr>
            <a:r>
              <a:t/>
            </a:r>
            <a:endParaRPr b="0" sz="1050" strike="noStrike">
              <a:latin typeface="Arial"/>
              <a:ea typeface="Arial"/>
              <a:cs typeface="Arial"/>
              <a:sym typeface="Arial"/>
            </a:endParaRPr>
          </a:p>
          <a:p>
            <a:pPr indent="0" lvl="0" marL="0" rtl="0" algn="l">
              <a:lnSpc>
                <a:spcPct val="115000"/>
              </a:lnSpc>
              <a:spcBef>
                <a:spcPts val="0"/>
              </a:spcBef>
              <a:spcAft>
                <a:spcPts val="0"/>
              </a:spcAft>
              <a:buNone/>
            </a:pPr>
            <a:r>
              <a:rPr b="0" lang="en-US" sz="1050" strike="noStrike">
                <a:solidFill>
                  <a:srgbClr val="1F1F1F"/>
                </a:solidFill>
                <a:latin typeface="Roboto"/>
                <a:ea typeface="Roboto"/>
                <a:cs typeface="Roboto"/>
                <a:sym typeface="Roboto"/>
              </a:rPr>
              <a:t>Key integrations include:</a:t>
            </a:r>
            <a:endParaRPr b="0" sz="1050" strike="noStrike">
              <a:latin typeface="Arial"/>
              <a:ea typeface="Arial"/>
              <a:cs typeface="Arial"/>
              <a:sym typeface="Arial"/>
            </a:endParaRPr>
          </a:p>
          <a:p>
            <a:pPr indent="-294840" lvl="0" marL="457200" rtl="0" algn="l">
              <a:lnSpc>
                <a:spcPct val="115000"/>
              </a:lnSpc>
              <a:spcBef>
                <a:spcPts val="1199"/>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Knowledge Engineering</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Content Management</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Process Management</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Data Management</a:t>
            </a:r>
            <a:r>
              <a:rPr b="0" lang="en-US" sz="1050" strike="noStrike">
                <a:solidFill>
                  <a:srgbClr val="1F1F1F"/>
                </a:solidFill>
                <a:latin typeface="Roboto"/>
                <a:ea typeface="Roboto"/>
                <a:cs typeface="Roboto"/>
                <a:sym typeface="Roboto"/>
              </a:rPr>
              <a:t> (including Metadata Management and Knowledge Graphs)</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Compliance Management</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Analytic Insights</a:t>
            </a:r>
            <a:endParaRPr b="0" sz="1050" strike="noStrike">
              <a:latin typeface="Arial"/>
              <a:ea typeface="Arial"/>
              <a:cs typeface="Arial"/>
              <a:sym typeface="Arial"/>
            </a:endParaRPr>
          </a:p>
          <a:p>
            <a:pPr indent="0" lvl="0" marL="0" rtl="0" algn="l">
              <a:lnSpc>
                <a:spcPct val="115000"/>
              </a:lnSpc>
              <a:spcBef>
                <a:spcPts val="1199"/>
              </a:spcBef>
              <a:spcAft>
                <a:spcPts val="0"/>
              </a:spcAft>
              <a:buNone/>
            </a:pPr>
            <a:r>
              <a:rPr b="0" lang="en-US" sz="1050" strike="noStrike">
                <a:solidFill>
                  <a:srgbClr val="1F1F1F"/>
                </a:solidFill>
                <a:latin typeface="Roboto"/>
                <a:ea typeface="Roboto"/>
                <a:cs typeface="Roboto"/>
                <a:sym typeface="Roboto"/>
              </a:rPr>
              <a:t>The roadmap also details its impact on different AI categories:</a:t>
            </a:r>
            <a:endParaRPr b="0" sz="1050" strike="noStrike">
              <a:latin typeface="Arial"/>
              <a:ea typeface="Arial"/>
              <a:cs typeface="Arial"/>
              <a:sym typeface="Arial"/>
            </a:endParaRPr>
          </a:p>
          <a:p>
            <a:pPr indent="-294840" lvl="0" marL="457200" rtl="0" algn="l">
              <a:lnSpc>
                <a:spcPct val="115000"/>
              </a:lnSpc>
              <a:spcBef>
                <a:spcPts val="1199"/>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Traditional AI:</a:t>
            </a:r>
            <a:r>
              <a:rPr b="0" lang="en-US" sz="1050" strike="noStrike">
                <a:solidFill>
                  <a:srgbClr val="1F1F1F"/>
                </a:solidFill>
                <a:latin typeface="Roboto"/>
                <a:ea typeface="Roboto"/>
                <a:cs typeface="Roboto"/>
                <a:sym typeface="Roboto"/>
              </a:rPr>
              <a:t> Supports analysis and decision-making.</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Generative AI:</a:t>
            </a:r>
            <a:r>
              <a:rPr b="0" lang="en-US" sz="1050" strike="noStrike">
                <a:solidFill>
                  <a:srgbClr val="1F1F1F"/>
                </a:solidFill>
                <a:latin typeface="Roboto"/>
                <a:ea typeface="Roboto"/>
                <a:cs typeface="Roboto"/>
                <a:sym typeface="Roboto"/>
              </a:rPr>
              <a:t> Enables generation, synthesis, and dynamic problem-solving.</a:t>
            </a:r>
            <a:endParaRPr b="0" sz="1050" strike="noStrike">
              <a:latin typeface="Arial"/>
              <a:ea typeface="Arial"/>
              <a:cs typeface="Arial"/>
              <a:sym typeface="Arial"/>
            </a:endParaRPr>
          </a:p>
          <a:p>
            <a:pPr indent="-294840" lvl="0" marL="457200" rtl="0" algn="l">
              <a:lnSpc>
                <a:spcPct val="115000"/>
              </a:lnSpc>
              <a:spcBef>
                <a:spcPts val="0"/>
              </a:spcBef>
              <a:spcAft>
                <a:spcPts val="0"/>
              </a:spcAft>
              <a:buClr>
                <a:srgbClr val="1F1F1F"/>
              </a:buClr>
              <a:buSzPts val="1050"/>
              <a:buFont typeface="Roboto"/>
              <a:buChar char="●"/>
            </a:pPr>
            <a:r>
              <a:rPr b="1" lang="en-US" sz="1050" strike="noStrike">
                <a:solidFill>
                  <a:srgbClr val="1F1F1F"/>
                </a:solidFill>
                <a:latin typeface="Roboto"/>
                <a:ea typeface="Roboto"/>
                <a:cs typeface="Roboto"/>
                <a:sym typeface="Roboto"/>
              </a:rPr>
              <a:t>Agentic AI:</a:t>
            </a:r>
            <a:r>
              <a:rPr b="0" lang="en-US" sz="1050" strike="noStrike">
                <a:solidFill>
                  <a:srgbClr val="1F1F1F"/>
                </a:solidFill>
                <a:latin typeface="Roboto"/>
                <a:ea typeface="Roboto"/>
                <a:cs typeface="Roboto"/>
                <a:sym typeface="Roboto"/>
              </a:rPr>
              <a:t> Facilitates autonomy, goal-oriented behavior, and reasoning.</a:t>
            </a:r>
            <a:endParaRPr b="0" sz="1050" strike="noStrike">
              <a:latin typeface="Arial"/>
              <a:ea typeface="Arial"/>
              <a:cs typeface="Arial"/>
              <a:sym typeface="Arial"/>
            </a:endParaRPr>
          </a:p>
          <a:p>
            <a:pPr indent="0" lvl="0" marL="0" rtl="0" algn="l">
              <a:lnSpc>
                <a:spcPct val="115000"/>
              </a:lnSpc>
              <a:spcBef>
                <a:spcPts val="1199"/>
              </a:spcBef>
              <a:spcAft>
                <a:spcPts val="0"/>
              </a:spcAft>
              <a:buNone/>
            </a:pPr>
            <a:r>
              <a:rPr b="0" lang="en-US" sz="1050" strike="noStrike">
                <a:solidFill>
                  <a:srgbClr val="1F1F1F"/>
                </a:solidFill>
                <a:latin typeface="Roboto"/>
                <a:ea typeface="Roboto"/>
                <a:cs typeface="Roboto"/>
                <a:sym typeface="Roboto"/>
              </a:rPr>
              <a:t>Semantic Governance aims for trusted BI and AI outcomes, establishes a single source of truth for business language, improves decision-making, enables knowledge preservation, and aligns business with technology through a unified semantic layer.</a:t>
            </a:r>
            <a:endParaRPr b="0" sz="1050" strike="noStrike">
              <a:latin typeface="Arial"/>
              <a:ea typeface="Arial"/>
              <a:cs typeface="Arial"/>
              <a:sym typeface="Arial"/>
            </a:endParaRPr>
          </a:p>
          <a:p>
            <a:pPr indent="0" lvl="0" marL="0" rtl="0" algn="l">
              <a:lnSpc>
                <a:spcPct val="115000"/>
              </a:lnSpc>
              <a:spcBef>
                <a:spcPts val="0"/>
              </a:spcBef>
              <a:spcAft>
                <a:spcPts val="0"/>
              </a:spcAft>
              <a:buNone/>
            </a:pPr>
            <a:r>
              <a:t/>
            </a:r>
            <a:endParaRPr b="0" sz="105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1F1F1F"/>
                </a:solidFill>
                <a:latin typeface="Arial"/>
                <a:ea typeface="Arial"/>
                <a:cs typeface="Arial"/>
                <a:sym typeface="Arial"/>
              </a:rPr>
              <a:t>Semantic Governance ensures trusted BI and AI outcomes.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1F1F1F"/>
                </a:solidFill>
                <a:latin typeface="Arial"/>
                <a:ea typeface="Arial"/>
                <a:cs typeface="Arial"/>
                <a:sym typeface="Arial"/>
              </a:rPr>
              <a:t>It establishes a single source of truth for business language.</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1F1F1F"/>
                </a:solidFill>
                <a:latin typeface="Arial"/>
                <a:ea typeface="Arial"/>
                <a:cs typeface="Arial"/>
                <a:sym typeface="Arial"/>
              </a:rPr>
              <a:t>Semantic Governance improves decision-making with faster insights.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1F1F1F"/>
                </a:solidFill>
                <a:latin typeface="Arial"/>
                <a:ea typeface="Arial"/>
                <a:cs typeface="Arial"/>
                <a:sym typeface="Arial"/>
              </a:rPr>
              <a:t>It enables knowledge preservation for evolving business needs.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1F1F1F"/>
                </a:solidFill>
                <a:latin typeface="Arial"/>
                <a:ea typeface="Arial"/>
                <a:cs typeface="Arial"/>
                <a:sym typeface="Arial"/>
              </a:rPr>
              <a:t>The semantic layer connects people and systems, aligning business with technology.</a:t>
            </a:r>
            <a:endParaRPr b="0" sz="1000" strike="noStrike">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p5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50" name="Google Shape;2150;p5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94" name="Google Shape;2194;p5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4" name="Shape 2214"/>
        <p:cNvGrpSpPr/>
        <p:nvPr/>
      </p:nvGrpSpPr>
      <p:grpSpPr>
        <a:xfrm>
          <a:off x="0" y="0"/>
          <a:ext cx="0" cy="0"/>
          <a:chOff x="0" y="0"/>
          <a:chExt cx="0" cy="0"/>
        </a:xfrm>
      </p:grpSpPr>
      <p:sp>
        <p:nvSpPr>
          <p:cNvPr id="2215" name="Google Shape;2215;p6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16" name="Google Shape;2216;p6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6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21" name="Google Shape;2221;p6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p62: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3" name="Google Shape;2233;p62: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000" u="sng" strike="noStrike">
                <a:solidFill>
                  <a:schemeClr val="hlink"/>
                </a:solidFill>
                <a:latin typeface="Arial"/>
                <a:ea typeface="Arial"/>
                <a:cs typeface="Arial"/>
                <a:sym typeface="Arial"/>
                <a:hlinkClick r:id="rId2"/>
              </a:rPr>
              <a:t>2023 EnGRAM Prioritization &amp; Backlog</a:t>
            </a:r>
            <a:r>
              <a:rPr b="0" lang="en-US" sz="1000" strike="noStrike">
                <a:solidFill>
                  <a:srgbClr val="000000"/>
                </a:solidFill>
                <a:latin typeface="Arial"/>
                <a:ea typeface="Arial"/>
                <a:cs typeface="Arial"/>
                <a:sym typeface="Arial"/>
              </a:rPr>
              <a:t>🔗</a:t>
            </a:r>
            <a:endParaRPr b="0" sz="1000" strike="noStrike">
              <a:latin typeface="Arial"/>
              <a:ea typeface="Arial"/>
              <a:cs typeface="Arial"/>
              <a:sym typeface="Arial"/>
            </a:endParaRPr>
          </a:p>
          <a:p>
            <a:pPr indent="0" lvl="0" marL="0" rtl="0" algn="l">
              <a:lnSpc>
                <a:spcPct val="100000"/>
              </a:lnSpc>
              <a:spcBef>
                <a:spcPts val="0"/>
              </a:spcBef>
              <a:spcAft>
                <a:spcPts val="0"/>
              </a:spcAft>
              <a:buNone/>
            </a:pPr>
            <a:r>
              <a:rPr b="1" lang="en-US" sz="1000" u="sng" strike="noStrike">
                <a:solidFill>
                  <a:schemeClr val="hlink"/>
                </a:solidFill>
                <a:latin typeface="Arial"/>
                <a:ea typeface="Arial"/>
                <a:cs typeface="Arial"/>
                <a:sym typeface="Arial"/>
                <a:hlinkClick r:id="rId3"/>
              </a:rPr>
              <a:t>EnGRAM Review Prioritization 2023</a:t>
            </a:r>
            <a:r>
              <a:rPr b="0" lang="en-US" sz="1000" strike="noStrike">
                <a:solidFill>
                  <a:srgbClr val="000000"/>
                </a:solidFill>
                <a:latin typeface="Arial"/>
                <a:ea typeface="Arial"/>
                <a:cs typeface="Arial"/>
                <a:sym typeface="Arial"/>
              </a:rPr>
              <a:t>🔗</a:t>
            </a:r>
            <a:endParaRPr b="0" sz="1000" strike="noStrike">
              <a:latin typeface="Arial"/>
              <a:ea typeface="Arial"/>
              <a:cs typeface="Arial"/>
              <a:sym typeface="Arial"/>
            </a:endParaRPr>
          </a:p>
          <a:p>
            <a:pPr indent="0" lvl="0" marL="0" rtl="0" algn="l">
              <a:lnSpc>
                <a:spcPct val="120000"/>
              </a:lnSpc>
              <a:spcBef>
                <a:spcPts val="0"/>
              </a:spcBef>
              <a:spcAft>
                <a:spcPts val="0"/>
              </a:spcAft>
              <a:buNone/>
            </a:pPr>
            <a:r>
              <a:t/>
            </a:r>
            <a:endParaRPr b="0" sz="1000" strike="noStrike">
              <a:latin typeface="Arial"/>
              <a:ea typeface="Arial"/>
              <a:cs typeface="Arial"/>
              <a:sym typeface="Arial"/>
            </a:endParaRPr>
          </a:p>
          <a:p>
            <a:pPr indent="0" lvl="0" marL="0" rtl="0" algn="l">
              <a:lnSpc>
                <a:spcPct val="120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Search</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Ready for production</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Retire champion / challenger</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Model reuse for Enhanced</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Auto retiring</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How do we do 90% of retirements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EnGRAM is not a model registry</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MLFlow is close to a model registry</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Key is tieng this into AIMLOps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Staffing Model</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Mayan K. onshore</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 dev offshore</a:t>
            </a:r>
            <a:endParaRPr b="0" sz="1000" strike="noStrike">
              <a:latin typeface="Arial"/>
              <a:ea typeface="Arial"/>
              <a:cs typeface="Arial"/>
              <a:sym typeface="Arial"/>
            </a:endParaRPr>
          </a:p>
          <a:p>
            <a:pPr indent="-291600" lvl="1" marL="9144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Front end</a:t>
            </a:r>
            <a:endParaRPr b="0" sz="1000" strike="noStrike">
              <a:latin typeface="Arial"/>
              <a:ea typeface="Arial"/>
              <a:cs typeface="Arial"/>
              <a:sym typeface="Arial"/>
            </a:endParaRPr>
          </a:p>
          <a:p>
            <a:pPr indent="-291600" lvl="1" marL="9144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Back end</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Operational Support </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20% x 2 FTEs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2.8 FTEs for Projects</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EnGRAM mapping to AIMLOps</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UX Design Q3</a:t>
            </a:r>
            <a:endParaRPr b="0" sz="1000" strike="noStrike">
              <a:latin typeface="Arial"/>
              <a:ea typeface="Arial"/>
              <a:cs typeface="Arial"/>
              <a:sym typeface="Arial"/>
            </a:endParaRPr>
          </a:p>
          <a:p>
            <a:pPr indent="-291600" lvl="0" marL="457200" rtl="0" algn="l">
              <a:lnSpc>
                <a:spcPct val="115000"/>
              </a:lnSpc>
              <a:spcBef>
                <a:spcPts val="0"/>
              </a:spcBef>
              <a:spcAft>
                <a:spcPts val="0"/>
              </a:spcAft>
              <a:buClr>
                <a:srgbClr val="000000"/>
              </a:buClr>
              <a:buSzPts val="1000"/>
              <a:buFont typeface="Arial"/>
              <a:buChar char="●"/>
            </a:pPr>
            <a:r>
              <a:rPr b="0" lang="en-US" sz="1000" strike="noStrike">
                <a:solidFill>
                  <a:srgbClr val="000000"/>
                </a:solidFill>
                <a:latin typeface="Arial"/>
                <a:ea typeface="Arial"/>
                <a:cs typeface="Arial"/>
                <a:sym typeface="Arial"/>
              </a:rPr>
              <a:t>API Design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Need to load Integration enhancements with AIMLOps into Gitlab</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Get artifacts for define / design into issue</a:t>
            </a:r>
            <a:endParaRPr b="0" sz="1000" strike="noStrike">
              <a:latin typeface="Arial"/>
              <a:ea typeface="Arial"/>
              <a:cs typeface="Arial"/>
              <a:sym typeface="Arial"/>
            </a:endParaRPr>
          </a:p>
          <a:p>
            <a:pPr indent="0" lvl="0" marL="0" rtl="0" algn="l">
              <a:lnSpc>
                <a:spcPct val="115000"/>
              </a:lnSpc>
              <a:spcBef>
                <a:spcPts val="0"/>
              </a:spcBef>
              <a:spcAft>
                <a:spcPts val="0"/>
              </a:spcAft>
              <a:buNone/>
            </a:pPr>
            <a:r>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EA Provisional Approval </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CS Provisional Approval</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Bypass Flag for Sol Design Approval</a:t>
            </a:r>
            <a:endParaRPr b="0" sz="1000" strike="noStrike">
              <a:latin typeface="Arial"/>
              <a:ea typeface="Arial"/>
              <a:cs typeface="Arial"/>
              <a:sym typeface="Arial"/>
            </a:endParaRPr>
          </a:p>
          <a:p>
            <a:pPr indent="0" lvl="0" marL="0" rtl="0" algn="l">
              <a:lnSpc>
                <a:spcPct val="115000"/>
              </a:lnSpc>
              <a:spcBef>
                <a:spcPts val="0"/>
              </a:spcBef>
              <a:spcAft>
                <a:spcPts val="0"/>
              </a:spcAft>
              <a:buNone/>
            </a:pPr>
            <a:r>
              <a:rPr b="0" lang="en-US" sz="1000" strike="noStrike">
                <a:solidFill>
                  <a:srgbClr val="000000"/>
                </a:solidFill>
                <a:latin typeface="Arial"/>
                <a:ea typeface="Arial"/>
                <a:cs typeface="Arial"/>
                <a:sym typeface="Arial"/>
              </a:rPr>
              <a:t>Cindy Lin - under Mike Tang requested Child Line Exclusion</a:t>
            </a:r>
            <a:endParaRPr b="0" sz="1000" strike="noStrike">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1" name="Shape 2251"/>
        <p:cNvGrpSpPr/>
        <p:nvPr/>
      </p:nvGrpSpPr>
      <p:grpSpPr>
        <a:xfrm>
          <a:off x="0" y="0"/>
          <a:ext cx="0" cy="0"/>
          <a:chOff x="0" y="0"/>
          <a:chExt cx="0" cy="0"/>
        </a:xfrm>
      </p:grpSpPr>
      <p:sp>
        <p:nvSpPr>
          <p:cNvPr id="2252" name="Google Shape;2252;p6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53" name="Google Shape;2253;p6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 name="Shape 18"/>
        <p:cNvGrpSpPr/>
        <p:nvPr/>
      </p:nvGrpSpPr>
      <p:grpSpPr>
        <a:xfrm>
          <a:off x="0" y="0"/>
          <a:ext cx="0" cy="0"/>
          <a:chOff x="0" y="0"/>
          <a:chExt cx="0" cy="0"/>
        </a:xfrm>
      </p:grpSpPr>
      <p:sp>
        <p:nvSpPr>
          <p:cNvPr id="19" name="Google Shape;19;p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1" name="Shape 21"/>
        <p:cNvGrpSpPr/>
        <p:nvPr/>
      </p:nvGrpSpPr>
      <p:grpSpPr>
        <a:xfrm>
          <a:off x="0" y="0"/>
          <a:ext cx="0" cy="0"/>
          <a:chOff x="0" y="0"/>
          <a:chExt cx="0" cy="0"/>
        </a:xfrm>
      </p:grpSpPr>
      <p:sp>
        <p:nvSpPr>
          <p:cNvPr id="22" name="Google Shape;22;p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7" name="Shape 27"/>
        <p:cNvGrpSpPr/>
        <p:nvPr/>
      </p:nvGrpSpPr>
      <p:grpSpPr>
        <a:xfrm>
          <a:off x="0" y="0"/>
          <a:ext cx="0" cy="0"/>
          <a:chOff x="0" y="0"/>
          <a:chExt cx="0" cy="0"/>
        </a:xfrm>
      </p:grpSpPr>
      <p:sp>
        <p:nvSpPr>
          <p:cNvPr id="28" name="Google Shape;28;p7"/>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 name="Shape 29"/>
        <p:cNvGrpSpPr/>
        <p:nvPr/>
      </p:nvGrpSpPr>
      <p:grpSpPr>
        <a:xfrm>
          <a:off x="0" y="0"/>
          <a:ext cx="0" cy="0"/>
          <a:chOff x="0" y="0"/>
          <a:chExt cx="0" cy="0"/>
        </a:xfrm>
      </p:grpSpPr>
      <p:sp>
        <p:nvSpPr>
          <p:cNvPr id="30" name="Google Shape;30;p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4" name="Shape 34"/>
        <p:cNvGrpSpPr/>
        <p:nvPr/>
      </p:nvGrpSpPr>
      <p:grpSpPr>
        <a:xfrm>
          <a:off x="0" y="0"/>
          <a:ext cx="0" cy="0"/>
          <a:chOff x="0" y="0"/>
          <a:chExt cx="0" cy="0"/>
        </a:xfrm>
      </p:grpSpPr>
      <p:sp>
        <p:nvSpPr>
          <p:cNvPr id="35" name="Google Shape;35;p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9" name="Shape 39"/>
        <p:cNvGrpSpPr/>
        <p:nvPr/>
      </p:nvGrpSpPr>
      <p:grpSpPr>
        <a:xfrm>
          <a:off x="0" y="0"/>
          <a:ext cx="0" cy="0"/>
          <a:chOff x="0" y="0"/>
          <a:chExt cx="0" cy="0"/>
        </a:xfrm>
      </p:grpSpPr>
      <p:sp>
        <p:nvSpPr>
          <p:cNvPr id="40" name="Google Shape;40;p1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4" name="Shape 44"/>
        <p:cNvGrpSpPr/>
        <p:nvPr/>
      </p:nvGrpSpPr>
      <p:grpSpPr>
        <a:xfrm>
          <a:off x="0" y="0"/>
          <a:ext cx="0" cy="0"/>
          <a:chOff x="0" y="0"/>
          <a:chExt cx="0" cy="0"/>
        </a:xfrm>
      </p:grpSpPr>
      <p:sp>
        <p:nvSpPr>
          <p:cNvPr id="45" name="Google Shape;45;p1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8" name="Shape 48"/>
        <p:cNvGrpSpPr/>
        <p:nvPr/>
      </p:nvGrpSpPr>
      <p:grpSpPr>
        <a:xfrm>
          <a:off x="0" y="0"/>
          <a:ext cx="0" cy="0"/>
          <a:chOff x="0" y="0"/>
          <a:chExt cx="0" cy="0"/>
        </a:xfrm>
      </p:grpSpPr>
      <p:sp>
        <p:nvSpPr>
          <p:cNvPr id="49" name="Google Shape;49;p1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1" name="Shape 71"/>
        <p:cNvGrpSpPr/>
        <p:nvPr/>
      </p:nvGrpSpPr>
      <p:grpSpPr>
        <a:xfrm>
          <a:off x="0" y="0"/>
          <a:ext cx="0" cy="0"/>
          <a:chOff x="0" y="0"/>
          <a:chExt cx="0" cy="0"/>
        </a:xfrm>
      </p:grpSpPr>
      <p:sp>
        <p:nvSpPr>
          <p:cNvPr id="72" name="Google Shape;72;p1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7" name="Google Shape;77;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0" name="Shape 80"/>
        <p:cNvGrpSpPr/>
        <p:nvPr/>
      </p:nvGrpSpPr>
      <p:grpSpPr>
        <a:xfrm>
          <a:off x="0" y="0"/>
          <a:ext cx="0" cy="0"/>
          <a:chOff x="0" y="0"/>
          <a:chExt cx="0" cy="0"/>
        </a:xfrm>
      </p:grpSpPr>
      <p:sp>
        <p:nvSpPr>
          <p:cNvPr id="81" name="Google Shape;81;p20"/>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2" name="Shape 82"/>
        <p:cNvGrpSpPr/>
        <p:nvPr/>
      </p:nvGrpSpPr>
      <p:grpSpPr>
        <a:xfrm>
          <a:off x="0" y="0"/>
          <a:ext cx="0" cy="0"/>
          <a:chOff x="0" y="0"/>
          <a:chExt cx="0" cy="0"/>
        </a:xfrm>
      </p:grpSpPr>
      <p:sp>
        <p:nvSpPr>
          <p:cNvPr id="83" name="Google Shape;83;p2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6" name="Google Shape;86;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7" name="Shape 87"/>
        <p:cNvGrpSpPr/>
        <p:nvPr/>
      </p:nvGrpSpPr>
      <p:grpSpPr>
        <a:xfrm>
          <a:off x="0" y="0"/>
          <a:ext cx="0" cy="0"/>
          <a:chOff x="0" y="0"/>
          <a:chExt cx="0" cy="0"/>
        </a:xfrm>
      </p:grpSpPr>
      <p:sp>
        <p:nvSpPr>
          <p:cNvPr id="88" name="Google Shape;88;p2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2" name="Shape 92"/>
        <p:cNvGrpSpPr/>
        <p:nvPr/>
      </p:nvGrpSpPr>
      <p:grpSpPr>
        <a:xfrm>
          <a:off x="0" y="0"/>
          <a:ext cx="0" cy="0"/>
          <a:chOff x="0" y="0"/>
          <a:chExt cx="0" cy="0"/>
        </a:xfrm>
      </p:grpSpPr>
      <p:sp>
        <p:nvSpPr>
          <p:cNvPr id="93" name="Google Shape;93;p2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6" name="Google Shape;96;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7" name="Shape 97"/>
        <p:cNvGrpSpPr/>
        <p:nvPr/>
      </p:nvGrpSpPr>
      <p:grpSpPr>
        <a:xfrm>
          <a:off x="0" y="0"/>
          <a:ext cx="0" cy="0"/>
          <a:chOff x="0" y="0"/>
          <a:chExt cx="0" cy="0"/>
        </a:xfrm>
      </p:grpSpPr>
      <p:sp>
        <p:nvSpPr>
          <p:cNvPr id="98" name="Google Shape;98;p2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1" name="Shape 101"/>
        <p:cNvGrpSpPr/>
        <p:nvPr/>
      </p:nvGrpSpPr>
      <p:grpSpPr>
        <a:xfrm>
          <a:off x="0" y="0"/>
          <a:ext cx="0" cy="0"/>
          <a:chOff x="0" y="0"/>
          <a:chExt cx="0" cy="0"/>
        </a:xfrm>
      </p:grpSpPr>
      <p:sp>
        <p:nvSpPr>
          <p:cNvPr id="102" name="Google Shape;102;p2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7" name="Shape 107"/>
        <p:cNvGrpSpPr/>
        <p:nvPr/>
      </p:nvGrpSpPr>
      <p:grpSpPr>
        <a:xfrm>
          <a:off x="0" y="0"/>
          <a:ext cx="0" cy="0"/>
          <a:chOff x="0" y="0"/>
          <a:chExt cx="0" cy="0"/>
        </a:xfrm>
      </p:grpSpPr>
      <p:sp>
        <p:nvSpPr>
          <p:cNvPr id="108" name="Google Shape;108;p2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1" name="Shape 121"/>
        <p:cNvGrpSpPr/>
        <p:nvPr/>
      </p:nvGrpSpPr>
      <p:grpSpPr>
        <a:xfrm>
          <a:off x="0" y="0"/>
          <a:ext cx="0" cy="0"/>
          <a:chOff x="0" y="0"/>
          <a:chExt cx="0" cy="0"/>
        </a:xfrm>
      </p:grpSpPr>
      <p:sp>
        <p:nvSpPr>
          <p:cNvPr id="122" name="Google Shape;122;p2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9"/>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4" name="Shape 124"/>
        <p:cNvGrpSpPr/>
        <p:nvPr/>
      </p:nvGrpSpPr>
      <p:grpSpPr>
        <a:xfrm>
          <a:off x="0" y="0"/>
          <a:ext cx="0" cy="0"/>
          <a:chOff x="0" y="0"/>
          <a:chExt cx="0" cy="0"/>
        </a:xfrm>
      </p:grpSpPr>
      <p:sp>
        <p:nvSpPr>
          <p:cNvPr id="125" name="Google Shape;125;p3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7" name="Shape 127"/>
        <p:cNvGrpSpPr/>
        <p:nvPr/>
      </p:nvGrpSpPr>
      <p:grpSpPr>
        <a:xfrm>
          <a:off x="0" y="0"/>
          <a:ext cx="0" cy="0"/>
          <a:chOff x="0" y="0"/>
          <a:chExt cx="0" cy="0"/>
        </a:xfrm>
      </p:grpSpPr>
      <p:sp>
        <p:nvSpPr>
          <p:cNvPr id="128" name="Google Shape;128;p3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0" name="Google Shape;130;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sp>
        <p:nvSpPr>
          <p:cNvPr id="132" name="Google Shape;132;p3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3" name="Shape 133"/>
        <p:cNvGrpSpPr/>
        <p:nvPr/>
      </p:nvGrpSpPr>
      <p:grpSpPr>
        <a:xfrm>
          <a:off x="0" y="0"/>
          <a:ext cx="0" cy="0"/>
          <a:chOff x="0" y="0"/>
          <a:chExt cx="0" cy="0"/>
        </a:xfrm>
      </p:grpSpPr>
      <p:sp>
        <p:nvSpPr>
          <p:cNvPr id="134" name="Google Shape;134;p33"/>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5" name="Shape 135"/>
        <p:cNvGrpSpPr/>
        <p:nvPr/>
      </p:nvGrpSpPr>
      <p:grpSpPr>
        <a:xfrm>
          <a:off x="0" y="0"/>
          <a:ext cx="0" cy="0"/>
          <a:chOff x="0" y="0"/>
          <a:chExt cx="0" cy="0"/>
        </a:xfrm>
      </p:grpSpPr>
      <p:sp>
        <p:nvSpPr>
          <p:cNvPr id="136" name="Google Shape;136;p3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8" name="Google Shape;138;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9" name="Google Shape;139;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0" name="Shape 140"/>
        <p:cNvGrpSpPr/>
        <p:nvPr/>
      </p:nvGrpSpPr>
      <p:grpSpPr>
        <a:xfrm>
          <a:off x="0" y="0"/>
          <a:ext cx="0" cy="0"/>
          <a:chOff x="0" y="0"/>
          <a:chExt cx="0" cy="0"/>
        </a:xfrm>
      </p:grpSpPr>
      <p:sp>
        <p:nvSpPr>
          <p:cNvPr id="141" name="Google Shape;141;p3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3" name="Google Shape;143;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4" name="Google Shape;144;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5" name="Shape 145"/>
        <p:cNvGrpSpPr/>
        <p:nvPr/>
      </p:nvGrpSpPr>
      <p:grpSpPr>
        <a:xfrm>
          <a:off x="0" y="0"/>
          <a:ext cx="0" cy="0"/>
          <a:chOff x="0" y="0"/>
          <a:chExt cx="0" cy="0"/>
        </a:xfrm>
      </p:grpSpPr>
      <p:sp>
        <p:nvSpPr>
          <p:cNvPr id="146" name="Google Shape;146;p3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9" name="Google Shape;149;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0" name="Shape 150"/>
        <p:cNvGrpSpPr/>
        <p:nvPr/>
      </p:nvGrpSpPr>
      <p:grpSpPr>
        <a:xfrm>
          <a:off x="0" y="0"/>
          <a:ext cx="0" cy="0"/>
          <a:chOff x="0" y="0"/>
          <a:chExt cx="0" cy="0"/>
        </a:xfrm>
      </p:grpSpPr>
      <p:sp>
        <p:nvSpPr>
          <p:cNvPr id="151" name="Google Shape;151;p3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4" name="Shape 154"/>
        <p:cNvGrpSpPr/>
        <p:nvPr/>
      </p:nvGrpSpPr>
      <p:grpSpPr>
        <a:xfrm>
          <a:off x="0" y="0"/>
          <a:ext cx="0" cy="0"/>
          <a:chOff x="0" y="0"/>
          <a:chExt cx="0" cy="0"/>
        </a:xfrm>
      </p:grpSpPr>
      <p:sp>
        <p:nvSpPr>
          <p:cNvPr id="155" name="Google Shape;155;p3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0" name="Shape 160"/>
        <p:cNvGrpSpPr/>
        <p:nvPr/>
      </p:nvGrpSpPr>
      <p:grpSpPr>
        <a:xfrm>
          <a:off x="0" y="0"/>
          <a:ext cx="0" cy="0"/>
          <a:chOff x="0" y="0"/>
          <a:chExt cx="0" cy="0"/>
        </a:xfrm>
      </p:grpSpPr>
      <p:sp>
        <p:nvSpPr>
          <p:cNvPr id="161" name="Google Shape;161;p3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4" name="Google Shape;164;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3" name="Shape 173"/>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4" name="Shape 174"/>
        <p:cNvGrpSpPr/>
        <p:nvPr/>
      </p:nvGrpSpPr>
      <p:grpSpPr>
        <a:xfrm>
          <a:off x="0" y="0"/>
          <a:ext cx="0" cy="0"/>
          <a:chOff x="0" y="0"/>
          <a:chExt cx="0" cy="0"/>
        </a:xfrm>
      </p:grpSpPr>
      <p:sp>
        <p:nvSpPr>
          <p:cNvPr id="175" name="Google Shape;175;p4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7" name="Shape 177"/>
        <p:cNvGrpSpPr/>
        <p:nvPr/>
      </p:nvGrpSpPr>
      <p:grpSpPr>
        <a:xfrm>
          <a:off x="0" y="0"/>
          <a:ext cx="0" cy="0"/>
          <a:chOff x="0" y="0"/>
          <a:chExt cx="0" cy="0"/>
        </a:xfrm>
      </p:grpSpPr>
      <p:sp>
        <p:nvSpPr>
          <p:cNvPr id="178" name="Google Shape;178;p4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0" name="Shape 180"/>
        <p:cNvGrpSpPr/>
        <p:nvPr/>
      </p:nvGrpSpPr>
      <p:grpSpPr>
        <a:xfrm>
          <a:off x="0" y="0"/>
          <a:ext cx="0" cy="0"/>
          <a:chOff x="0" y="0"/>
          <a:chExt cx="0" cy="0"/>
        </a:xfrm>
      </p:grpSpPr>
      <p:sp>
        <p:nvSpPr>
          <p:cNvPr id="181" name="Google Shape;181;p4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3" name="Google Shape;183;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6" name="Shape 186"/>
        <p:cNvGrpSpPr/>
        <p:nvPr/>
      </p:nvGrpSpPr>
      <p:grpSpPr>
        <a:xfrm>
          <a:off x="0" y="0"/>
          <a:ext cx="0" cy="0"/>
          <a:chOff x="0" y="0"/>
          <a:chExt cx="0" cy="0"/>
        </a:xfrm>
      </p:grpSpPr>
      <p:sp>
        <p:nvSpPr>
          <p:cNvPr id="187" name="Google Shape;187;p46"/>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8" name="Shape 188"/>
        <p:cNvGrpSpPr/>
        <p:nvPr/>
      </p:nvGrpSpPr>
      <p:grpSpPr>
        <a:xfrm>
          <a:off x="0" y="0"/>
          <a:ext cx="0" cy="0"/>
          <a:chOff x="0" y="0"/>
          <a:chExt cx="0" cy="0"/>
        </a:xfrm>
      </p:grpSpPr>
      <p:sp>
        <p:nvSpPr>
          <p:cNvPr id="189" name="Google Shape;189;p4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1" name="Google Shape;191;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2" name="Google Shape;192;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3" name="Shape 193"/>
        <p:cNvGrpSpPr/>
        <p:nvPr/>
      </p:nvGrpSpPr>
      <p:grpSpPr>
        <a:xfrm>
          <a:off x="0" y="0"/>
          <a:ext cx="0" cy="0"/>
          <a:chOff x="0" y="0"/>
          <a:chExt cx="0" cy="0"/>
        </a:xfrm>
      </p:grpSpPr>
      <p:sp>
        <p:nvSpPr>
          <p:cNvPr id="194" name="Google Shape;194;p4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8" name="Shape 198"/>
        <p:cNvGrpSpPr/>
        <p:nvPr/>
      </p:nvGrpSpPr>
      <p:grpSpPr>
        <a:xfrm>
          <a:off x="0" y="0"/>
          <a:ext cx="0" cy="0"/>
          <a:chOff x="0" y="0"/>
          <a:chExt cx="0" cy="0"/>
        </a:xfrm>
      </p:grpSpPr>
      <p:sp>
        <p:nvSpPr>
          <p:cNvPr id="199" name="Google Shape;199;p4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3" name="Shape 203"/>
        <p:cNvGrpSpPr/>
        <p:nvPr/>
      </p:nvGrpSpPr>
      <p:grpSpPr>
        <a:xfrm>
          <a:off x="0" y="0"/>
          <a:ext cx="0" cy="0"/>
          <a:chOff x="0" y="0"/>
          <a:chExt cx="0" cy="0"/>
        </a:xfrm>
      </p:grpSpPr>
      <p:sp>
        <p:nvSpPr>
          <p:cNvPr id="204" name="Google Shape;204;p5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7" name="Shape 207"/>
        <p:cNvGrpSpPr/>
        <p:nvPr/>
      </p:nvGrpSpPr>
      <p:grpSpPr>
        <a:xfrm>
          <a:off x="0" y="0"/>
          <a:ext cx="0" cy="0"/>
          <a:chOff x="0" y="0"/>
          <a:chExt cx="0" cy="0"/>
        </a:xfrm>
      </p:grpSpPr>
      <p:sp>
        <p:nvSpPr>
          <p:cNvPr id="208" name="Google Shape;208;p5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3" name="Shape 213"/>
        <p:cNvGrpSpPr/>
        <p:nvPr/>
      </p:nvGrpSpPr>
      <p:grpSpPr>
        <a:xfrm>
          <a:off x="0" y="0"/>
          <a:ext cx="0" cy="0"/>
          <a:chOff x="0" y="0"/>
          <a:chExt cx="0" cy="0"/>
        </a:xfrm>
      </p:grpSpPr>
      <p:sp>
        <p:nvSpPr>
          <p:cNvPr id="214" name="Google Shape;214;p5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7" name="Shape 227"/>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8" name="Shape 228"/>
        <p:cNvGrpSpPr/>
        <p:nvPr/>
      </p:nvGrpSpPr>
      <p:grpSpPr>
        <a:xfrm>
          <a:off x="0" y="0"/>
          <a:ext cx="0" cy="0"/>
          <a:chOff x="0" y="0"/>
          <a:chExt cx="0" cy="0"/>
        </a:xfrm>
      </p:grpSpPr>
      <p:sp>
        <p:nvSpPr>
          <p:cNvPr id="229" name="Google Shape;229;p5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55"/>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1" name="Shape 231"/>
        <p:cNvGrpSpPr/>
        <p:nvPr/>
      </p:nvGrpSpPr>
      <p:grpSpPr>
        <a:xfrm>
          <a:off x="0" y="0"/>
          <a:ext cx="0" cy="0"/>
          <a:chOff x="0" y="0"/>
          <a:chExt cx="0" cy="0"/>
        </a:xfrm>
      </p:grpSpPr>
      <p:sp>
        <p:nvSpPr>
          <p:cNvPr id="232" name="Google Shape;232;p5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5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4" name="Shape 234"/>
        <p:cNvGrpSpPr/>
        <p:nvPr/>
      </p:nvGrpSpPr>
      <p:grpSpPr>
        <a:xfrm>
          <a:off x="0" y="0"/>
          <a:ext cx="0" cy="0"/>
          <a:chOff x="0" y="0"/>
          <a:chExt cx="0" cy="0"/>
        </a:xfrm>
      </p:grpSpPr>
      <p:sp>
        <p:nvSpPr>
          <p:cNvPr id="235" name="Google Shape;235;p5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5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7" name="Google Shape;237;p5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sp>
        <p:nvSpPr>
          <p:cNvPr id="239" name="Google Shape;239;p5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0" name="Shape 240"/>
        <p:cNvGrpSpPr/>
        <p:nvPr/>
      </p:nvGrpSpPr>
      <p:grpSpPr>
        <a:xfrm>
          <a:off x="0" y="0"/>
          <a:ext cx="0" cy="0"/>
          <a:chOff x="0" y="0"/>
          <a:chExt cx="0" cy="0"/>
        </a:xfrm>
      </p:grpSpPr>
      <p:sp>
        <p:nvSpPr>
          <p:cNvPr id="241" name="Google Shape;241;p59"/>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2" name="Shape 242"/>
        <p:cNvGrpSpPr/>
        <p:nvPr/>
      </p:nvGrpSpPr>
      <p:grpSpPr>
        <a:xfrm>
          <a:off x="0" y="0"/>
          <a:ext cx="0" cy="0"/>
          <a:chOff x="0" y="0"/>
          <a:chExt cx="0" cy="0"/>
        </a:xfrm>
      </p:grpSpPr>
      <p:sp>
        <p:nvSpPr>
          <p:cNvPr id="243" name="Google Shape;243;p6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6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5" name="Google Shape;245;p6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6" name="Google Shape;246;p6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47" name="Shape 247"/>
        <p:cNvGrpSpPr/>
        <p:nvPr/>
      </p:nvGrpSpPr>
      <p:grpSpPr>
        <a:xfrm>
          <a:off x="0" y="0"/>
          <a:ext cx="0" cy="0"/>
          <a:chOff x="0" y="0"/>
          <a:chExt cx="0" cy="0"/>
        </a:xfrm>
      </p:grpSpPr>
      <p:sp>
        <p:nvSpPr>
          <p:cNvPr id="248" name="Google Shape;248;p6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6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0" name="Google Shape;250;p6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1" name="Google Shape;251;p61"/>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2" name="Shape 252"/>
        <p:cNvGrpSpPr/>
        <p:nvPr/>
      </p:nvGrpSpPr>
      <p:grpSpPr>
        <a:xfrm>
          <a:off x="0" y="0"/>
          <a:ext cx="0" cy="0"/>
          <a:chOff x="0" y="0"/>
          <a:chExt cx="0" cy="0"/>
        </a:xfrm>
      </p:grpSpPr>
      <p:sp>
        <p:nvSpPr>
          <p:cNvPr id="253" name="Google Shape;253;p6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6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5" name="Google Shape;255;p6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6" name="Google Shape;256;p62"/>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57" name="Shape 257"/>
        <p:cNvGrpSpPr/>
        <p:nvPr/>
      </p:nvGrpSpPr>
      <p:grpSpPr>
        <a:xfrm>
          <a:off x="0" y="0"/>
          <a:ext cx="0" cy="0"/>
          <a:chOff x="0" y="0"/>
          <a:chExt cx="0" cy="0"/>
        </a:xfrm>
      </p:grpSpPr>
      <p:sp>
        <p:nvSpPr>
          <p:cNvPr id="258" name="Google Shape;258;p6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63"/>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63"/>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1" name="Shape 261"/>
        <p:cNvGrpSpPr/>
        <p:nvPr/>
      </p:nvGrpSpPr>
      <p:grpSpPr>
        <a:xfrm>
          <a:off x="0" y="0"/>
          <a:ext cx="0" cy="0"/>
          <a:chOff x="0" y="0"/>
          <a:chExt cx="0" cy="0"/>
        </a:xfrm>
      </p:grpSpPr>
      <p:sp>
        <p:nvSpPr>
          <p:cNvPr id="262" name="Google Shape;262;p6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6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4" name="Google Shape;264;p6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64"/>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7" name="Shape 267"/>
        <p:cNvGrpSpPr/>
        <p:nvPr/>
      </p:nvGrpSpPr>
      <p:grpSpPr>
        <a:xfrm>
          <a:off x="0" y="0"/>
          <a:ext cx="0" cy="0"/>
          <a:chOff x="0" y="0"/>
          <a:chExt cx="0" cy="0"/>
        </a:xfrm>
      </p:grpSpPr>
      <p:sp>
        <p:nvSpPr>
          <p:cNvPr id="268" name="Google Shape;268;p6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65"/>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0" name="Google Shape;270;p65"/>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5"/>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2" name="Google Shape;272;p65"/>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3" name="Google Shape;273;p65"/>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4" name="Google Shape;274;p65"/>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0" name="Shape 280"/>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81" name="Shape 281"/>
        <p:cNvGrpSpPr/>
        <p:nvPr/>
      </p:nvGrpSpPr>
      <p:grpSpPr>
        <a:xfrm>
          <a:off x="0" y="0"/>
          <a:ext cx="0" cy="0"/>
          <a:chOff x="0" y="0"/>
          <a:chExt cx="0" cy="0"/>
        </a:xfrm>
      </p:grpSpPr>
      <p:sp>
        <p:nvSpPr>
          <p:cNvPr id="282" name="Google Shape;282;p6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6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4" name="Shape 284"/>
        <p:cNvGrpSpPr/>
        <p:nvPr/>
      </p:nvGrpSpPr>
      <p:grpSpPr>
        <a:xfrm>
          <a:off x="0" y="0"/>
          <a:ext cx="0" cy="0"/>
          <a:chOff x="0" y="0"/>
          <a:chExt cx="0" cy="0"/>
        </a:xfrm>
      </p:grpSpPr>
      <p:sp>
        <p:nvSpPr>
          <p:cNvPr id="285" name="Google Shape;285;p6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6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7" name="Shape 287"/>
        <p:cNvGrpSpPr/>
        <p:nvPr/>
      </p:nvGrpSpPr>
      <p:grpSpPr>
        <a:xfrm>
          <a:off x="0" y="0"/>
          <a:ext cx="0" cy="0"/>
          <a:chOff x="0" y="0"/>
          <a:chExt cx="0" cy="0"/>
        </a:xfrm>
      </p:grpSpPr>
      <p:sp>
        <p:nvSpPr>
          <p:cNvPr id="288" name="Google Shape;288;p7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7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0" name="Google Shape;290;p7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1" name="Shape 291"/>
        <p:cNvGrpSpPr/>
        <p:nvPr/>
      </p:nvGrpSpPr>
      <p:grpSpPr>
        <a:xfrm>
          <a:off x="0" y="0"/>
          <a:ext cx="0" cy="0"/>
          <a:chOff x="0" y="0"/>
          <a:chExt cx="0" cy="0"/>
        </a:xfrm>
      </p:grpSpPr>
      <p:sp>
        <p:nvSpPr>
          <p:cNvPr id="292" name="Google Shape;292;p7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3" name="Shape 293"/>
        <p:cNvGrpSpPr/>
        <p:nvPr/>
      </p:nvGrpSpPr>
      <p:grpSpPr>
        <a:xfrm>
          <a:off x="0" y="0"/>
          <a:ext cx="0" cy="0"/>
          <a:chOff x="0" y="0"/>
          <a:chExt cx="0" cy="0"/>
        </a:xfrm>
      </p:grpSpPr>
      <p:sp>
        <p:nvSpPr>
          <p:cNvPr id="294" name="Google Shape;294;p72"/>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5" name="Shape 295"/>
        <p:cNvGrpSpPr/>
        <p:nvPr/>
      </p:nvGrpSpPr>
      <p:grpSpPr>
        <a:xfrm>
          <a:off x="0" y="0"/>
          <a:ext cx="0" cy="0"/>
          <a:chOff x="0" y="0"/>
          <a:chExt cx="0" cy="0"/>
        </a:xfrm>
      </p:grpSpPr>
      <p:sp>
        <p:nvSpPr>
          <p:cNvPr id="296" name="Google Shape;296;p7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7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8" name="Google Shape;298;p7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9" name="Google Shape;299;p7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0" name="Shape 300"/>
        <p:cNvGrpSpPr/>
        <p:nvPr/>
      </p:nvGrpSpPr>
      <p:grpSpPr>
        <a:xfrm>
          <a:off x="0" y="0"/>
          <a:ext cx="0" cy="0"/>
          <a:chOff x="0" y="0"/>
          <a:chExt cx="0" cy="0"/>
        </a:xfrm>
      </p:grpSpPr>
      <p:sp>
        <p:nvSpPr>
          <p:cNvPr id="301" name="Google Shape;301;p7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7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4" name="Google Shape;304;p74"/>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05" name="Shape 305"/>
        <p:cNvGrpSpPr/>
        <p:nvPr/>
      </p:nvGrpSpPr>
      <p:grpSpPr>
        <a:xfrm>
          <a:off x="0" y="0"/>
          <a:ext cx="0" cy="0"/>
          <a:chOff x="0" y="0"/>
          <a:chExt cx="0" cy="0"/>
        </a:xfrm>
      </p:grpSpPr>
      <p:sp>
        <p:nvSpPr>
          <p:cNvPr id="306" name="Google Shape;306;p7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7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8" name="Google Shape;308;p7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9" name="Google Shape;309;p75"/>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10" name="Shape 310"/>
        <p:cNvGrpSpPr/>
        <p:nvPr/>
      </p:nvGrpSpPr>
      <p:grpSpPr>
        <a:xfrm>
          <a:off x="0" y="0"/>
          <a:ext cx="0" cy="0"/>
          <a:chOff x="0" y="0"/>
          <a:chExt cx="0" cy="0"/>
        </a:xfrm>
      </p:grpSpPr>
      <p:sp>
        <p:nvSpPr>
          <p:cNvPr id="311" name="Google Shape;311;p7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76"/>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3" name="Google Shape;313;p76"/>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14" name="Shape 314"/>
        <p:cNvGrpSpPr/>
        <p:nvPr/>
      </p:nvGrpSpPr>
      <p:grpSpPr>
        <a:xfrm>
          <a:off x="0" y="0"/>
          <a:ext cx="0" cy="0"/>
          <a:chOff x="0" y="0"/>
          <a:chExt cx="0" cy="0"/>
        </a:xfrm>
      </p:grpSpPr>
      <p:sp>
        <p:nvSpPr>
          <p:cNvPr id="315" name="Google Shape;315;p7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7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7" name="Google Shape;317;p7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8" name="Google Shape;318;p7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9" name="Google Shape;319;p77"/>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20" name="Shape 320"/>
        <p:cNvGrpSpPr/>
        <p:nvPr/>
      </p:nvGrpSpPr>
      <p:grpSpPr>
        <a:xfrm>
          <a:off x="0" y="0"/>
          <a:ext cx="0" cy="0"/>
          <a:chOff x="0" y="0"/>
          <a:chExt cx="0" cy="0"/>
        </a:xfrm>
      </p:grpSpPr>
      <p:sp>
        <p:nvSpPr>
          <p:cNvPr id="321" name="Google Shape;321;p7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78"/>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3" name="Google Shape;323;p78"/>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4" name="Google Shape;324;p78"/>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5" name="Google Shape;325;p78"/>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6" name="Google Shape;326;p78"/>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7" name="Google Shape;327;p78"/>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3" name="Shape 333"/>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4" name="Shape 334"/>
        <p:cNvGrpSpPr/>
        <p:nvPr/>
      </p:nvGrpSpPr>
      <p:grpSpPr>
        <a:xfrm>
          <a:off x="0" y="0"/>
          <a:ext cx="0" cy="0"/>
          <a:chOff x="0" y="0"/>
          <a:chExt cx="0" cy="0"/>
        </a:xfrm>
      </p:grpSpPr>
      <p:sp>
        <p:nvSpPr>
          <p:cNvPr id="335" name="Google Shape;335;p8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81"/>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37" name="Shape 337"/>
        <p:cNvGrpSpPr/>
        <p:nvPr/>
      </p:nvGrpSpPr>
      <p:grpSpPr>
        <a:xfrm>
          <a:off x="0" y="0"/>
          <a:ext cx="0" cy="0"/>
          <a:chOff x="0" y="0"/>
          <a:chExt cx="0" cy="0"/>
        </a:xfrm>
      </p:grpSpPr>
      <p:sp>
        <p:nvSpPr>
          <p:cNvPr id="338" name="Google Shape;338;p8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8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40" name="Shape 340"/>
        <p:cNvGrpSpPr/>
        <p:nvPr/>
      </p:nvGrpSpPr>
      <p:grpSpPr>
        <a:xfrm>
          <a:off x="0" y="0"/>
          <a:ext cx="0" cy="0"/>
          <a:chOff x="0" y="0"/>
          <a:chExt cx="0" cy="0"/>
        </a:xfrm>
      </p:grpSpPr>
      <p:sp>
        <p:nvSpPr>
          <p:cNvPr id="341" name="Google Shape;341;p8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p8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3" name="Google Shape;343;p8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4" name="Shape 344"/>
        <p:cNvGrpSpPr/>
        <p:nvPr/>
      </p:nvGrpSpPr>
      <p:grpSpPr>
        <a:xfrm>
          <a:off x="0" y="0"/>
          <a:ext cx="0" cy="0"/>
          <a:chOff x="0" y="0"/>
          <a:chExt cx="0" cy="0"/>
        </a:xfrm>
      </p:grpSpPr>
      <p:sp>
        <p:nvSpPr>
          <p:cNvPr id="345" name="Google Shape;345;p8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46" name="Shape 346"/>
        <p:cNvGrpSpPr/>
        <p:nvPr/>
      </p:nvGrpSpPr>
      <p:grpSpPr>
        <a:xfrm>
          <a:off x="0" y="0"/>
          <a:ext cx="0" cy="0"/>
          <a:chOff x="0" y="0"/>
          <a:chExt cx="0" cy="0"/>
        </a:xfrm>
      </p:grpSpPr>
      <p:sp>
        <p:nvSpPr>
          <p:cNvPr id="347" name="Google Shape;347;p85"/>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48" name="Shape 348"/>
        <p:cNvGrpSpPr/>
        <p:nvPr/>
      </p:nvGrpSpPr>
      <p:grpSpPr>
        <a:xfrm>
          <a:off x="0" y="0"/>
          <a:ext cx="0" cy="0"/>
          <a:chOff x="0" y="0"/>
          <a:chExt cx="0" cy="0"/>
        </a:xfrm>
      </p:grpSpPr>
      <p:sp>
        <p:nvSpPr>
          <p:cNvPr id="349" name="Google Shape;349;p8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8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1" name="Google Shape;351;p8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2" name="Google Shape;352;p8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3" name="Shape 353"/>
        <p:cNvGrpSpPr/>
        <p:nvPr/>
      </p:nvGrpSpPr>
      <p:grpSpPr>
        <a:xfrm>
          <a:off x="0" y="0"/>
          <a:ext cx="0" cy="0"/>
          <a:chOff x="0" y="0"/>
          <a:chExt cx="0" cy="0"/>
        </a:xfrm>
      </p:grpSpPr>
      <p:sp>
        <p:nvSpPr>
          <p:cNvPr id="354" name="Google Shape;354;p8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8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6" name="Google Shape;356;p8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7" name="Google Shape;357;p87"/>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8" name="Shape 358"/>
        <p:cNvGrpSpPr/>
        <p:nvPr/>
      </p:nvGrpSpPr>
      <p:grpSpPr>
        <a:xfrm>
          <a:off x="0" y="0"/>
          <a:ext cx="0" cy="0"/>
          <a:chOff x="0" y="0"/>
          <a:chExt cx="0" cy="0"/>
        </a:xfrm>
      </p:grpSpPr>
      <p:sp>
        <p:nvSpPr>
          <p:cNvPr id="359" name="Google Shape;359;p8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8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1" name="Google Shape;361;p8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2" name="Google Shape;362;p88"/>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63" name="Shape 363"/>
        <p:cNvGrpSpPr/>
        <p:nvPr/>
      </p:nvGrpSpPr>
      <p:grpSpPr>
        <a:xfrm>
          <a:off x="0" y="0"/>
          <a:ext cx="0" cy="0"/>
          <a:chOff x="0" y="0"/>
          <a:chExt cx="0" cy="0"/>
        </a:xfrm>
      </p:grpSpPr>
      <p:sp>
        <p:nvSpPr>
          <p:cNvPr id="364" name="Google Shape;364;p8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89"/>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6" name="Google Shape;366;p89"/>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67" name="Shape 367"/>
        <p:cNvGrpSpPr/>
        <p:nvPr/>
      </p:nvGrpSpPr>
      <p:grpSpPr>
        <a:xfrm>
          <a:off x="0" y="0"/>
          <a:ext cx="0" cy="0"/>
          <a:chOff x="0" y="0"/>
          <a:chExt cx="0" cy="0"/>
        </a:xfrm>
      </p:grpSpPr>
      <p:sp>
        <p:nvSpPr>
          <p:cNvPr id="368" name="Google Shape;368;p9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9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0" name="Google Shape;370;p9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1" name="Google Shape;371;p9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2" name="Google Shape;372;p90"/>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73" name="Shape 373"/>
        <p:cNvGrpSpPr/>
        <p:nvPr/>
      </p:nvGrpSpPr>
      <p:grpSpPr>
        <a:xfrm>
          <a:off x="0" y="0"/>
          <a:ext cx="0" cy="0"/>
          <a:chOff x="0" y="0"/>
          <a:chExt cx="0" cy="0"/>
        </a:xfrm>
      </p:grpSpPr>
      <p:sp>
        <p:nvSpPr>
          <p:cNvPr id="374" name="Google Shape;374;p9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91"/>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6" name="Google Shape;376;p91"/>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7" name="Google Shape;377;p91"/>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8" name="Google Shape;378;p91"/>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9" name="Google Shape;379;p91"/>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0" name="Google Shape;380;p91"/>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5" name="Shape 385"/>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86" name="Shape 386"/>
        <p:cNvGrpSpPr/>
        <p:nvPr/>
      </p:nvGrpSpPr>
      <p:grpSpPr>
        <a:xfrm>
          <a:off x="0" y="0"/>
          <a:ext cx="0" cy="0"/>
          <a:chOff x="0" y="0"/>
          <a:chExt cx="0" cy="0"/>
        </a:xfrm>
      </p:grpSpPr>
      <p:sp>
        <p:nvSpPr>
          <p:cNvPr id="387" name="Google Shape;387;p9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94"/>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89" name="Shape 389"/>
        <p:cNvGrpSpPr/>
        <p:nvPr/>
      </p:nvGrpSpPr>
      <p:grpSpPr>
        <a:xfrm>
          <a:off x="0" y="0"/>
          <a:ext cx="0" cy="0"/>
          <a:chOff x="0" y="0"/>
          <a:chExt cx="0" cy="0"/>
        </a:xfrm>
      </p:grpSpPr>
      <p:sp>
        <p:nvSpPr>
          <p:cNvPr id="390" name="Google Shape;390;p9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9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92" name="Shape 392"/>
        <p:cNvGrpSpPr/>
        <p:nvPr/>
      </p:nvGrpSpPr>
      <p:grpSpPr>
        <a:xfrm>
          <a:off x="0" y="0"/>
          <a:ext cx="0" cy="0"/>
          <a:chOff x="0" y="0"/>
          <a:chExt cx="0" cy="0"/>
        </a:xfrm>
      </p:grpSpPr>
      <p:sp>
        <p:nvSpPr>
          <p:cNvPr id="393" name="Google Shape;393;p9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4" name="Google Shape;394;p9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5" name="Google Shape;395;p9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6" name="Shape 396"/>
        <p:cNvGrpSpPr/>
        <p:nvPr/>
      </p:nvGrpSpPr>
      <p:grpSpPr>
        <a:xfrm>
          <a:off x="0" y="0"/>
          <a:ext cx="0" cy="0"/>
          <a:chOff x="0" y="0"/>
          <a:chExt cx="0" cy="0"/>
        </a:xfrm>
      </p:grpSpPr>
      <p:sp>
        <p:nvSpPr>
          <p:cNvPr id="397" name="Google Shape;397;p9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98" name="Shape 398"/>
        <p:cNvGrpSpPr/>
        <p:nvPr/>
      </p:nvGrpSpPr>
      <p:grpSpPr>
        <a:xfrm>
          <a:off x="0" y="0"/>
          <a:ext cx="0" cy="0"/>
          <a:chOff x="0" y="0"/>
          <a:chExt cx="0" cy="0"/>
        </a:xfrm>
      </p:grpSpPr>
      <p:sp>
        <p:nvSpPr>
          <p:cNvPr id="399" name="Google Shape;399;p98"/>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00" name="Shape 400"/>
        <p:cNvGrpSpPr/>
        <p:nvPr/>
      </p:nvGrpSpPr>
      <p:grpSpPr>
        <a:xfrm>
          <a:off x="0" y="0"/>
          <a:ext cx="0" cy="0"/>
          <a:chOff x="0" y="0"/>
          <a:chExt cx="0" cy="0"/>
        </a:xfrm>
      </p:grpSpPr>
      <p:sp>
        <p:nvSpPr>
          <p:cNvPr id="401" name="Google Shape;401;p9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9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3" name="Google Shape;403;p9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4" name="Google Shape;404;p9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5" name="Shape 405"/>
        <p:cNvGrpSpPr/>
        <p:nvPr/>
      </p:nvGrpSpPr>
      <p:grpSpPr>
        <a:xfrm>
          <a:off x="0" y="0"/>
          <a:ext cx="0" cy="0"/>
          <a:chOff x="0" y="0"/>
          <a:chExt cx="0" cy="0"/>
        </a:xfrm>
      </p:grpSpPr>
      <p:sp>
        <p:nvSpPr>
          <p:cNvPr id="406" name="Google Shape;406;p10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7" name="Google Shape;407;p10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8" name="Google Shape;408;p10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9" name="Google Shape;409;p100"/>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0" name="Shape 410"/>
        <p:cNvGrpSpPr/>
        <p:nvPr/>
      </p:nvGrpSpPr>
      <p:grpSpPr>
        <a:xfrm>
          <a:off x="0" y="0"/>
          <a:ext cx="0" cy="0"/>
          <a:chOff x="0" y="0"/>
          <a:chExt cx="0" cy="0"/>
        </a:xfrm>
      </p:grpSpPr>
      <p:sp>
        <p:nvSpPr>
          <p:cNvPr id="411" name="Google Shape;411;p10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10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3" name="Google Shape;413;p10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4" name="Google Shape;414;p101"/>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5" name="Shape 415"/>
        <p:cNvGrpSpPr/>
        <p:nvPr/>
      </p:nvGrpSpPr>
      <p:grpSpPr>
        <a:xfrm>
          <a:off x="0" y="0"/>
          <a:ext cx="0" cy="0"/>
          <a:chOff x="0" y="0"/>
          <a:chExt cx="0" cy="0"/>
        </a:xfrm>
      </p:grpSpPr>
      <p:sp>
        <p:nvSpPr>
          <p:cNvPr id="416" name="Google Shape;416;p10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102"/>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8" name="Google Shape;418;p102"/>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19" name="Shape 419"/>
        <p:cNvGrpSpPr/>
        <p:nvPr/>
      </p:nvGrpSpPr>
      <p:grpSpPr>
        <a:xfrm>
          <a:off x="0" y="0"/>
          <a:ext cx="0" cy="0"/>
          <a:chOff x="0" y="0"/>
          <a:chExt cx="0" cy="0"/>
        </a:xfrm>
      </p:grpSpPr>
      <p:sp>
        <p:nvSpPr>
          <p:cNvPr id="420" name="Google Shape;420;p10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1" name="Google Shape;421;p10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2" name="Google Shape;422;p10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3" name="Google Shape;423;p10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4" name="Google Shape;424;p103"/>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25" name="Shape 425"/>
        <p:cNvGrpSpPr/>
        <p:nvPr/>
      </p:nvGrpSpPr>
      <p:grpSpPr>
        <a:xfrm>
          <a:off x="0" y="0"/>
          <a:ext cx="0" cy="0"/>
          <a:chOff x="0" y="0"/>
          <a:chExt cx="0" cy="0"/>
        </a:xfrm>
      </p:grpSpPr>
      <p:sp>
        <p:nvSpPr>
          <p:cNvPr id="426" name="Google Shape;426;p10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7" name="Google Shape;427;p104"/>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8" name="Google Shape;428;p104"/>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9" name="Google Shape;429;p104"/>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0" name="Google Shape;430;p104"/>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1" name="Google Shape;431;p104"/>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2" name="Google Shape;432;p104"/>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38" name="Shape 438"/>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39" name="Shape 439"/>
        <p:cNvGrpSpPr/>
        <p:nvPr/>
      </p:nvGrpSpPr>
      <p:grpSpPr>
        <a:xfrm>
          <a:off x="0" y="0"/>
          <a:ext cx="0" cy="0"/>
          <a:chOff x="0" y="0"/>
          <a:chExt cx="0" cy="0"/>
        </a:xfrm>
      </p:grpSpPr>
      <p:sp>
        <p:nvSpPr>
          <p:cNvPr id="440" name="Google Shape;440;p10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107"/>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42" name="Shape 442"/>
        <p:cNvGrpSpPr/>
        <p:nvPr/>
      </p:nvGrpSpPr>
      <p:grpSpPr>
        <a:xfrm>
          <a:off x="0" y="0"/>
          <a:ext cx="0" cy="0"/>
          <a:chOff x="0" y="0"/>
          <a:chExt cx="0" cy="0"/>
        </a:xfrm>
      </p:grpSpPr>
      <p:sp>
        <p:nvSpPr>
          <p:cNvPr id="443" name="Google Shape;443;p10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10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45" name="Shape 445"/>
        <p:cNvGrpSpPr/>
        <p:nvPr/>
      </p:nvGrpSpPr>
      <p:grpSpPr>
        <a:xfrm>
          <a:off x="0" y="0"/>
          <a:ext cx="0" cy="0"/>
          <a:chOff x="0" y="0"/>
          <a:chExt cx="0" cy="0"/>
        </a:xfrm>
      </p:grpSpPr>
      <p:sp>
        <p:nvSpPr>
          <p:cNvPr id="446" name="Google Shape;446;p10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10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8" name="Google Shape;448;p10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9" name="Shape 449"/>
        <p:cNvGrpSpPr/>
        <p:nvPr/>
      </p:nvGrpSpPr>
      <p:grpSpPr>
        <a:xfrm>
          <a:off x="0" y="0"/>
          <a:ext cx="0" cy="0"/>
          <a:chOff x="0" y="0"/>
          <a:chExt cx="0" cy="0"/>
        </a:xfrm>
      </p:grpSpPr>
      <p:sp>
        <p:nvSpPr>
          <p:cNvPr id="450" name="Google Shape;450;p11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51" name="Shape 451"/>
        <p:cNvGrpSpPr/>
        <p:nvPr/>
      </p:nvGrpSpPr>
      <p:grpSpPr>
        <a:xfrm>
          <a:off x="0" y="0"/>
          <a:ext cx="0" cy="0"/>
          <a:chOff x="0" y="0"/>
          <a:chExt cx="0" cy="0"/>
        </a:xfrm>
      </p:grpSpPr>
      <p:sp>
        <p:nvSpPr>
          <p:cNvPr id="452" name="Google Shape;452;p111"/>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3" name="Shape 453"/>
        <p:cNvGrpSpPr/>
        <p:nvPr/>
      </p:nvGrpSpPr>
      <p:grpSpPr>
        <a:xfrm>
          <a:off x="0" y="0"/>
          <a:ext cx="0" cy="0"/>
          <a:chOff x="0" y="0"/>
          <a:chExt cx="0" cy="0"/>
        </a:xfrm>
      </p:grpSpPr>
      <p:sp>
        <p:nvSpPr>
          <p:cNvPr id="454" name="Google Shape;454;p11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5" name="Google Shape;455;p1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6" name="Google Shape;456;p112"/>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7" name="Google Shape;457;p1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58" name="Shape 458"/>
        <p:cNvGrpSpPr/>
        <p:nvPr/>
      </p:nvGrpSpPr>
      <p:grpSpPr>
        <a:xfrm>
          <a:off x="0" y="0"/>
          <a:ext cx="0" cy="0"/>
          <a:chOff x="0" y="0"/>
          <a:chExt cx="0" cy="0"/>
        </a:xfrm>
      </p:grpSpPr>
      <p:sp>
        <p:nvSpPr>
          <p:cNvPr id="459" name="Google Shape;459;p11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0" name="Google Shape;460;p11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1" name="Google Shape;461;p11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2" name="Google Shape;462;p113"/>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63" name="Shape 463"/>
        <p:cNvGrpSpPr/>
        <p:nvPr/>
      </p:nvGrpSpPr>
      <p:grpSpPr>
        <a:xfrm>
          <a:off x="0" y="0"/>
          <a:ext cx="0" cy="0"/>
          <a:chOff x="0" y="0"/>
          <a:chExt cx="0" cy="0"/>
        </a:xfrm>
      </p:grpSpPr>
      <p:sp>
        <p:nvSpPr>
          <p:cNvPr id="464" name="Google Shape;464;p11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5" name="Google Shape;465;p11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6" name="Google Shape;466;p11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7" name="Google Shape;467;p114"/>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68" name="Shape 468"/>
        <p:cNvGrpSpPr/>
        <p:nvPr/>
      </p:nvGrpSpPr>
      <p:grpSpPr>
        <a:xfrm>
          <a:off x="0" y="0"/>
          <a:ext cx="0" cy="0"/>
          <a:chOff x="0" y="0"/>
          <a:chExt cx="0" cy="0"/>
        </a:xfrm>
      </p:grpSpPr>
      <p:sp>
        <p:nvSpPr>
          <p:cNvPr id="469" name="Google Shape;469;p11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0" name="Google Shape;470;p115"/>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1" name="Google Shape;471;p115"/>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2" name="Shape 472"/>
        <p:cNvGrpSpPr/>
        <p:nvPr/>
      </p:nvGrpSpPr>
      <p:grpSpPr>
        <a:xfrm>
          <a:off x="0" y="0"/>
          <a:ext cx="0" cy="0"/>
          <a:chOff x="0" y="0"/>
          <a:chExt cx="0" cy="0"/>
        </a:xfrm>
      </p:grpSpPr>
      <p:sp>
        <p:nvSpPr>
          <p:cNvPr id="473" name="Google Shape;473;p11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4" name="Google Shape;474;p11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5" name="Google Shape;475;p11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6" name="Google Shape;476;p11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7" name="Google Shape;477;p116"/>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78" name="Shape 478"/>
        <p:cNvGrpSpPr/>
        <p:nvPr/>
      </p:nvGrpSpPr>
      <p:grpSpPr>
        <a:xfrm>
          <a:off x="0" y="0"/>
          <a:ext cx="0" cy="0"/>
          <a:chOff x="0" y="0"/>
          <a:chExt cx="0" cy="0"/>
        </a:xfrm>
      </p:grpSpPr>
      <p:sp>
        <p:nvSpPr>
          <p:cNvPr id="479" name="Google Shape;479;p11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0" name="Google Shape;480;p117"/>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1" name="Google Shape;481;p117"/>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2" name="Google Shape;482;p117"/>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3" name="Google Shape;483;p117"/>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4" name="Google Shape;484;p117"/>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5" name="Google Shape;485;p117"/>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91" name="Shape 491"/>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92" name="Shape 492"/>
        <p:cNvGrpSpPr/>
        <p:nvPr/>
      </p:nvGrpSpPr>
      <p:grpSpPr>
        <a:xfrm>
          <a:off x="0" y="0"/>
          <a:ext cx="0" cy="0"/>
          <a:chOff x="0" y="0"/>
          <a:chExt cx="0" cy="0"/>
        </a:xfrm>
      </p:grpSpPr>
      <p:sp>
        <p:nvSpPr>
          <p:cNvPr id="493" name="Google Shape;493;p12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4" name="Google Shape;494;p120"/>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95" name="Shape 495"/>
        <p:cNvGrpSpPr/>
        <p:nvPr/>
      </p:nvGrpSpPr>
      <p:grpSpPr>
        <a:xfrm>
          <a:off x="0" y="0"/>
          <a:ext cx="0" cy="0"/>
          <a:chOff x="0" y="0"/>
          <a:chExt cx="0" cy="0"/>
        </a:xfrm>
      </p:grpSpPr>
      <p:sp>
        <p:nvSpPr>
          <p:cNvPr id="496" name="Google Shape;496;p12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7" name="Google Shape;497;p12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98" name="Shape 498"/>
        <p:cNvGrpSpPr/>
        <p:nvPr/>
      </p:nvGrpSpPr>
      <p:grpSpPr>
        <a:xfrm>
          <a:off x="0" y="0"/>
          <a:ext cx="0" cy="0"/>
          <a:chOff x="0" y="0"/>
          <a:chExt cx="0" cy="0"/>
        </a:xfrm>
      </p:grpSpPr>
      <p:sp>
        <p:nvSpPr>
          <p:cNvPr id="499" name="Google Shape;499;p12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0" name="Google Shape;500;p1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1" name="Google Shape;501;p122"/>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2" name="Shape 502"/>
        <p:cNvGrpSpPr/>
        <p:nvPr/>
      </p:nvGrpSpPr>
      <p:grpSpPr>
        <a:xfrm>
          <a:off x="0" y="0"/>
          <a:ext cx="0" cy="0"/>
          <a:chOff x="0" y="0"/>
          <a:chExt cx="0" cy="0"/>
        </a:xfrm>
      </p:grpSpPr>
      <p:sp>
        <p:nvSpPr>
          <p:cNvPr id="503" name="Google Shape;503;p12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504" name="Shape 504"/>
        <p:cNvGrpSpPr/>
        <p:nvPr/>
      </p:nvGrpSpPr>
      <p:grpSpPr>
        <a:xfrm>
          <a:off x="0" y="0"/>
          <a:ext cx="0" cy="0"/>
          <a:chOff x="0" y="0"/>
          <a:chExt cx="0" cy="0"/>
        </a:xfrm>
      </p:grpSpPr>
      <p:sp>
        <p:nvSpPr>
          <p:cNvPr id="505" name="Google Shape;505;p124"/>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506" name="Shape 506"/>
        <p:cNvGrpSpPr/>
        <p:nvPr/>
      </p:nvGrpSpPr>
      <p:grpSpPr>
        <a:xfrm>
          <a:off x="0" y="0"/>
          <a:ext cx="0" cy="0"/>
          <a:chOff x="0" y="0"/>
          <a:chExt cx="0" cy="0"/>
        </a:xfrm>
      </p:grpSpPr>
      <p:sp>
        <p:nvSpPr>
          <p:cNvPr id="507" name="Google Shape;507;p12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8" name="Google Shape;508;p1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9" name="Google Shape;509;p12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0" name="Google Shape;510;p1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11" name="Shape 511"/>
        <p:cNvGrpSpPr/>
        <p:nvPr/>
      </p:nvGrpSpPr>
      <p:grpSpPr>
        <a:xfrm>
          <a:off x="0" y="0"/>
          <a:ext cx="0" cy="0"/>
          <a:chOff x="0" y="0"/>
          <a:chExt cx="0" cy="0"/>
        </a:xfrm>
      </p:grpSpPr>
      <p:sp>
        <p:nvSpPr>
          <p:cNvPr id="512" name="Google Shape;512;p12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3" name="Google Shape;513;p12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4" name="Google Shape;514;p12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5" name="Google Shape;515;p126"/>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16" name="Shape 516"/>
        <p:cNvGrpSpPr/>
        <p:nvPr/>
      </p:nvGrpSpPr>
      <p:grpSpPr>
        <a:xfrm>
          <a:off x="0" y="0"/>
          <a:ext cx="0" cy="0"/>
          <a:chOff x="0" y="0"/>
          <a:chExt cx="0" cy="0"/>
        </a:xfrm>
      </p:grpSpPr>
      <p:sp>
        <p:nvSpPr>
          <p:cNvPr id="517" name="Google Shape;517;p127"/>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8" name="Google Shape;518;p12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9" name="Google Shape;519;p12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0" name="Google Shape;520;p127"/>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21" name="Shape 521"/>
        <p:cNvGrpSpPr/>
        <p:nvPr/>
      </p:nvGrpSpPr>
      <p:grpSpPr>
        <a:xfrm>
          <a:off x="0" y="0"/>
          <a:ext cx="0" cy="0"/>
          <a:chOff x="0" y="0"/>
          <a:chExt cx="0" cy="0"/>
        </a:xfrm>
      </p:grpSpPr>
      <p:sp>
        <p:nvSpPr>
          <p:cNvPr id="522" name="Google Shape;522;p12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3" name="Google Shape;523;p128"/>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4" name="Google Shape;524;p128"/>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25" name="Shape 525"/>
        <p:cNvGrpSpPr/>
        <p:nvPr/>
      </p:nvGrpSpPr>
      <p:grpSpPr>
        <a:xfrm>
          <a:off x="0" y="0"/>
          <a:ext cx="0" cy="0"/>
          <a:chOff x="0" y="0"/>
          <a:chExt cx="0" cy="0"/>
        </a:xfrm>
      </p:grpSpPr>
      <p:sp>
        <p:nvSpPr>
          <p:cNvPr id="526" name="Google Shape;526;p12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7" name="Google Shape;527;p12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8" name="Google Shape;528;p12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9" name="Google Shape;529;p12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0" name="Google Shape;530;p129"/>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1" name="Shape 531"/>
        <p:cNvGrpSpPr/>
        <p:nvPr/>
      </p:nvGrpSpPr>
      <p:grpSpPr>
        <a:xfrm>
          <a:off x="0" y="0"/>
          <a:ext cx="0" cy="0"/>
          <a:chOff x="0" y="0"/>
          <a:chExt cx="0" cy="0"/>
        </a:xfrm>
      </p:grpSpPr>
      <p:sp>
        <p:nvSpPr>
          <p:cNvPr id="532" name="Google Shape;532;p13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3" name="Google Shape;533;p130"/>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4" name="Google Shape;534;p130"/>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5" name="Google Shape;535;p130"/>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6" name="Google Shape;536;p130"/>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7" name="Google Shape;537;p130"/>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8" name="Google Shape;538;p130"/>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44" name="Shape 544"/>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545" name="Shape 545"/>
        <p:cNvGrpSpPr/>
        <p:nvPr/>
      </p:nvGrpSpPr>
      <p:grpSpPr>
        <a:xfrm>
          <a:off x="0" y="0"/>
          <a:ext cx="0" cy="0"/>
          <a:chOff x="0" y="0"/>
          <a:chExt cx="0" cy="0"/>
        </a:xfrm>
      </p:grpSpPr>
      <p:sp>
        <p:nvSpPr>
          <p:cNvPr id="546" name="Google Shape;546;p13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7" name="Google Shape;547;p133"/>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48" name="Shape 548"/>
        <p:cNvGrpSpPr/>
        <p:nvPr/>
      </p:nvGrpSpPr>
      <p:grpSpPr>
        <a:xfrm>
          <a:off x="0" y="0"/>
          <a:ext cx="0" cy="0"/>
          <a:chOff x="0" y="0"/>
          <a:chExt cx="0" cy="0"/>
        </a:xfrm>
      </p:grpSpPr>
      <p:sp>
        <p:nvSpPr>
          <p:cNvPr id="549" name="Google Shape;549;p134"/>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0" name="Google Shape;550;p13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551" name="Shape 551"/>
        <p:cNvGrpSpPr/>
        <p:nvPr/>
      </p:nvGrpSpPr>
      <p:grpSpPr>
        <a:xfrm>
          <a:off x="0" y="0"/>
          <a:ext cx="0" cy="0"/>
          <a:chOff x="0" y="0"/>
          <a:chExt cx="0" cy="0"/>
        </a:xfrm>
      </p:grpSpPr>
      <p:sp>
        <p:nvSpPr>
          <p:cNvPr id="552" name="Google Shape;552;p135"/>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3" name="Google Shape;553;p1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4" name="Google Shape;554;p13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5" name="Shape 555"/>
        <p:cNvGrpSpPr/>
        <p:nvPr/>
      </p:nvGrpSpPr>
      <p:grpSpPr>
        <a:xfrm>
          <a:off x="0" y="0"/>
          <a:ext cx="0" cy="0"/>
          <a:chOff x="0" y="0"/>
          <a:chExt cx="0" cy="0"/>
        </a:xfrm>
      </p:grpSpPr>
      <p:sp>
        <p:nvSpPr>
          <p:cNvPr id="556" name="Google Shape;556;p136"/>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557" name="Shape 557"/>
        <p:cNvGrpSpPr/>
        <p:nvPr/>
      </p:nvGrpSpPr>
      <p:grpSpPr>
        <a:xfrm>
          <a:off x="0" y="0"/>
          <a:ext cx="0" cy="0"/>
          <a:chOff x="0" y="0"/>
          <a:chExt cx="0" cy="0"/>
        </a:xfrm>
      </p:grpSpPr>
      <p:sp>
        <p:nvSpPr>
          <p:cNvPr id="558" name="Google Shape;558;p137"/>
          <p:cNvSpPr txBox="1"/>
          <p:nvPr>
            <p:ph idx="1" type="subTitle"/>
          </p:nvPr>
        </p:nvSpPr>
        <p:spPr>
          <a:xfrm>
            <a:off x="457200" y="205200"/>
            <a:ext cx="8229240" cy="3981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559" name="Shape 559"/>
        <p:cNvGrpSpPr/>
        <p:nvPr/>
      </p:nvGrpSpPr>
      <p:grpSpPr>
        <a:xfrm>
          <a:off x="0" y="0"/>
          <a:ext cx="0" cy="0"/>
          <a:chOff x="0" y="0"/>
          <a:chExt cx="0" cy="0"/>
        </a:xfrm>
      </p:grpSpPr>
      <p:sp>
        <p:nvSpPr>
          <p:cNvPr id="560" name="Google Shape;560;p138"/>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1" name="Google Shape;561;p1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2" name="Google Shape;562;p13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3" name="Google Shape;563;p1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64" name="Shape 564"/>
        <p:cNvGrpSpPr/>
        <p:nvPr/>
      </p:nvGrpSpPr>
      <p:grpSpPr>
        <a:xfrm>
          <a:off x="0" y="0"/>
          <a:ext cx="0" cy="0"/>
          <a:chOff x="0" y="0"/>
          <a:chExt cx="0" cy="0"/>
        </a:xfrm>
      </p:grpSpPr>
      <p:sp>
        <p:nvSpPr>
          <p:cNvPr id="565" name="Google Shape;565;p139"/>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6" name="Google Shape;566;p13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7" name="Google Shape;567;p13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8" name="Google Shape;568;p13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69" name="Shape 569"/>
        <p:cNvGrpSpPr/>
        <p:nvPr/>
      </p:nvGrpSpPr>
      <p:grpSpPr>
        <a:xfrm>
          <a:off x="0" y="0"/>
          <a:ext cx="0" cy="0"/>
          <a:chOff x="0" y="0"/>
          <a:chExt cx="0" cy="0"/>
        </a:xfrm>
      </p:grpSpPr>
      <p:sp>
        <p:nvSpPr>
          <p:cNvPr id="570" name="Google Shape;570;p140"/>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1" name="Google Shape;571;p14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2" name="Google Shape;572;p14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3" name="Google Shape;573;p14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74" name="Shape 574"/>
        <p:cNvGrpSpPr/>
        <p:nvPr/>
      </p:nvGrpSpPr>
      <p:grpSpPr>
        <a:xfrm>
          <a:off x="0" y="0"/>
          <a:ext cx="0" cy="0"/>
          <a:chOff x="0" y="0"/>
          <a:chExt cx="0" cy="0"/>
        </a:xfrm>
      </p:grpSpPr>
      <p:sp>
        <p:nvSpPr>
          <p:cNvPr id="575" name="Google Shape;575;p14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14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7" name="Google Shape;577;p14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78" name="Shape 578"/>
        <p:cNvGrpSpPr/>
        <p:nvPr/>
      </p:nvGrpSpPr>
      <p:grpSpPr>
        <a:xfrm>
          <a:off x="0" y="0"/>
          <a:ext cx="0" cy="0"/>
          <a:chOff x="0" y="0"/>
          <a:chExt cx="0" cy="0"/>
        </a:xfrm>
      </p:grpSpPr>
      <p:sp>
        <p:nvSpPr>
          <p:cNvPr id="579" name="Google Shape;579;p142"/>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0" name="Google Shape;580;p14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1" name="Google Shape;581;p14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2" name="Google Shape;582;p14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3" name="Google Shape;583;p14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84" name="Shape 584"/>
        <p:cNvGrpSpPr/>
        <p:nvPr/>
      </p:nvGrpSpPr>
      <p:grpSpPr>
        <a:xfrm>
          <a:off x="0" y="0"/>
          <a:ext cx="0" cy="0"/>
          <a:chOff x="0" y="0"/>
          <a:chExt cx="0" cy="0"/>
        </a:xfrm>
      </p:grpSpPr>
      <p:sp>
        <p:nvSpPr>
          <p:cNvPr id="585" name="Google Shape;585;p143"/>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6" name="Google Shape;586;p14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7" name="Google Shape;587;p14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8" name="Google Shape;588;p14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9" name="Google Shape;589;p14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0" name="Google Shape;590;p14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1" name="Google Shape;591;p14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6.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7.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9.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theme" Target="../theme/theme5.xml"/><Relationship Id="rId12" Type="http://schemas.openxmlformats.org/officeDocument/2006/relationships/slideLayout" Target="../slideLayouts/slideLayout72.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theme" Target="../theme/theme10.xml"/><Relationship Id="rId12" Type="http://schemas.openxmlformats.org/officeDocument/2006/relationships/slideLayout" Target="../slideLayouts/slideLayout84.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95.xml"/><Relationship Id="rId10" Type="http://schemas.openxmlformats.org/officeDocument/2006/relationships/slideLayout" Target="../slideLayouts/slideLayout94.xml"/><Relationship Id="rId13" Type="http://schemas.openxmlformats.org/officeDocument/2006/relationships/theme" Target="../theme/theme4.xml"/><Relationship Id="rId12" Type="http://schemas.openxmlformats.org/officeDocument/2006/relationships/slideLayout" Target="../slideLayouts/slideLayout96.xml"/><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9" Type="http://schemas.openxmlformats.org/officeDocument/2006/relationships/slideLayout" Target="../slideLayouts/slideLayout93.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3" Type="http://schemas.openxmlformats.org/officeDocument/2006/relationships/theme" Target="../theme/theme8.xml"/><Relationship Id="rId12" Type="http://schemas.openxmlformats.org/officeDocument/2006/relationships/slideLayout" Target="../slideLayouts/slideLayout108.xml"/><Relationship Id="rId1" Type="http://schemas.openxmlformats.org/officeDocument/2006/relationships/slideLayout" Target="../slideLayouts/slideLayout97.xml"/><Relationship Id="rId2" Type="http://schemas.openxmlformats.org/officeDocument/2006/relationships/slideLayout" Target="../slideLayouts/slideLayout98.xml"/><Relationship Id="rId3" Type="http://schemas.openxmlformats.org/officeDocument/2006/relationships/slideLayout" Target="../slideLayouts/slideLayout99.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5" Type="http://schemas.openxmlformats.org/officeDocument/2006/relationships/slideLayout" Target="../slideLayouts/slideLayout101.xml"/><Relationship Id="rId6" Type="http://schemas.openxmlformats.org/officeDocument/2006/relationships/slideLayout" Target="../slideLayouts/slideLayout102.xml"/><Relationship Id="rId7" Type="http://schemas.openxmlformats.org/officeDocument/2006/relationships/slideLayout" Target="../slideLayouts/slideLayout103.xml"/><Relationship Id="rId8" Type="http://schemas.openxmlformats.org/officeDocument/2006/relationships/slideLayout" Target="../slideLayouts/slideLayout104.xml"/></Relationships>
</file>

<file path=ppt/slideMasters/_rels/slideMaster10.xml.rels><?xml version="1.0" encoding="UTF-8" standalone="yes"?><Relationships xmlns="http://schemas.openxmlformats.org/package/2006/relationships"><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3" Type="http://schemas.openxmlformats.org/officeDocument/2006/relationships/theme" Target="../theme/theme11.xml"/><Relationship Id="rId12" Type="http://schemas.openxmlformats.org/officeDocument/2006/relationships/slideLayout" Target="../slideLayouts/slideLayout120.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7" Type="http://schemas.openxmlformats.org/officeDocument/2006/relationships/slideLayout" Target="../slideLayouts/slideLayout115.xml"/><Relationship Id="rId8" Type="http://schemas.openxmlformats.org/officeDocument/2006/relationships/slideLayout" Target="../slideLayouts/slideLayout116.xml"/></Relationships>
</file>

<file path=ppt/slideMasters/_rels/slideMaster11.xml.rels><?xml version="1.0" encoding="UTF-8" standalone="yes"?><Relationships xmlns="http://schemas.openxmlformats.org/package/2006/relationships"><Relationship Id="rId11" Type="http://schemas.openxmlformats.org/officeDocument/2006/relationships/slideLayout" Target="../slideLayouts/slideLayout131.xml"/><Relationship Id="rId10" Type="http://schemas.openxmlformats.org/officeDocument/2006/relationships/slideLayout" Target="../slideLayouts/slideLayout130.xml"/><Relationship Id="rId13" Type="http://schemas.openxmlformats.org/officeDocument/2006/relationships/theme" Target="../theme/theme2.xml"/><Relationship Id="rId12" Type="http://schemas.openxmlformats.org/officeDocument/2006/relationships/slideLayout" Target="../slideLayouts/slideLayout132.xml"/><Relationship Id="rId1" Type="http://schemas.openxmlformats.org/officeDocument/2006/relationships/slideLayout" Target="../slideLayouts/slideLayout121.xml"/><Relationship Id="rId2" Type="http://schemas.openxmlformats.org/officeDocument/2006/relationships/slideLayout" Target="../slideLayouts/slideLayout122.xml"/><Relationship Id="rId3" Type="http://schemas.openxmlformats.org/officeDocument/2006/relationships/slideLayout" Target="../slideLayouts/slideLayout123.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5" Type="http://schemas.openxmlformats.org/officeDocument/2006/relationships/slideLayout" Target="../slideLayouts/slideLayout125.xml"/><Relationship Id="rId6" Type="http://schemas.openxmlformats.org/officeDocument/2006/relationships/slideLayout" Target="../slideLayouts/slideLayout126.xml"/><Relationship Id="rId7" Type="http://schemas.openxmlformats.org/officeDocument/2006/relationships/slideLayout" Target="../slideLayouts/slideLayout127.xml"/><Relationship Id="rId8" Type="http://schemas.openxmlformats.org/officeDocument/2006/relationships/slideLayout" Target="../slideLayouts/slideLayout1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1" name="Google Shape;11;p1"/>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3" name="Google Shape;13;p1"/>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sp>
        <p:nvSpPr>
          <p:cNvPr id="63" name="Google Shape;63;p14"/>
          <p:cNvSpPr txBox="1"/>
          <p:nvPr>
            <p:ph idx="1" type="body"/>
          </p:nvPr>
        </p:nvSpPr>
        <p:spPr>
          <a:xfrm>
            <a:off x="457200" y="1459440"/>
            <a:ext cx="7086240" cy="29786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4" name="Google Shape;64;p14"/>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65" name="Google Shape;65;p14"/>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66" name="Google Shape;66;p14"/>
          <p:cNvSpPr txBox="1"/>
          <p:nvPr>
            <p:ph type="title"/>
          </p:nvPr>
        </p:nvSpPr>
        <p:spPr>
          <a:xfrm>
            <a:off x="457200" y="59040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27"/>
          <p:cNvSpPr txBox="1"/>
          <p:nvPr>
            <p:ph type="title"/>
          </p:nvPr>
        </p:nvSpPr>
        <p:spPr>
          <a:xfrm>
            <a:off x="457200" y="59436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7" name="Google Shape;117;p27"/>
          <p:cNvSpPr txBox="1"/>
          <p:nvPr>
            <p:ph idx="1" type="body"/>
          </p:nvPr>
        </p:nvSpPr>
        <p:spPr>
          <a:xfrm>
            <a:off x="457200" y="1459440"/>
            <a:ext cx="7086240" cy="30171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18" name="Google Shape;118;p27"/>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119" name="Google Shape;119;p27"/>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40"/>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70" name="Google Shape;170;p40"/>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1" name="Google Shape;171;p40"/>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172" name="Google Shape;172;p4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53"/>
          <p:cNvSpPr txBox="1"/>
          <p:nvPr>
            <p:ph type="title"/>
          </p:nvPr>
        </p:nvSpPr>
        <p:spPr>
          <a:xfrm>
            <a:off x="457200" y="59436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3" name="Google Shape;223;p53"/>
          <p:cNvSpPr txBox="1"/>
          <p:nvPr>
            <p:ph idx="1" type="body"/>
          </p:nvPr>
        </p:nvSpPr>
        <p:spPr>
          <a:xfrm>
            <a:off x="457200" y="1459440"/>
            <a:ext cx="7086240" cy="30171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4" name="Google Shape;224;p53"/>
          <p:cNvSpPr txBox="1"/>
          <p:nvPr>
            <p:ph idx="10" type="dt"/>
          </p:nvPr>
        </p:nvSpPr>
        <p:spPr>
          <a:xfrm>
            <a:off x="7543800" y="4700160"/>
            <a:ext cx="914040" cy="228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5" name="Google Shape;225;p53"/>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226" name="Google Shape;226;p53"/>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66"/>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7" name="Google Shape;277;p66"/>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8" name="Google Shape;278;p66"/>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279" name="Google Shape;279;p66"/>
          <p:cNvSpPr/>
          <p:nvPr/>
        </p:nvSpPr>
        <p:spPr>
          <a:xfrm>
            <a:off x="475920" y="468720"/>
            <a:ext cx="8229240" cy="360"/>
          </a:xfrm>
          <a:custGeom>
            <a:rect b="b" l="l" r="r" t="t"/>
            <a:pathLst>
              <a:path extrusionOk="0" h="21600" w="21600">
                <a:moveTo>
                  <a:pt x="0" y="0"/>
                </a:moveTo>
                <a:lnTo>
                  <a:pt x="21600" y="21600"/>
                </a:lnTo>
              </a:path>
            </a:pathLst>
          </a:custGeom>
          <a:solidFill>
            <a:srgbClr val="0089EC"/>
          </a:solidFill>
          <a:ln cap="flat" cmpd="sng" w="2555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79"/>
          <p:cNvSpPr txBox="1"/>
          <p:nvPr>
            <p:ph type="title"/>
          </p:nvPr>
        </p:nvSpPr>
        <p:spPr>
          <a:xfrm>
            <a:off x="457200" y="594360"/>
            <a:ext cx="7086240" cy="567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0" name="Google Shape;330;p79"/>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1" name="Google Shape;331;p79"/>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332" name="Google Shape;332;p79"/>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92"/>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383" name="Google Shape;383;p9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4" name="Google Shape;384;p9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105"/>
          <p:cNvSpPr txBox="1"/>
          <p:nvPr>
            <p:ph idx="1" type="body"/>
          </p:nvPr>
        </p:nvSpPr>
        <p:spPr>
          <a:xfrm>
            <a:off x="457200" y="1459440"/>
            <a:ext cx="7086240" cy="29786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35" name="Google Shape;435;p105"/>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436" name="Google Shape;436;p105"/>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437" name="Google Shape;437;p105"/>
          <p:cNvSpPr txBox="1"/>
          <p:nvPr>
            <p:ph type="title"/>
          </p:nvPr>
        </p:nvSpPr>
        <p:spPr>
          <a:xfrm>
            <a:off x="457200" y="59040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118"/>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88" name="Google Shape;488;p118"/>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489" name="Google Shape;489;p118"/>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490" name="Google Shape;490;p118"/>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131"/>
          <p:cNvSpPr/>
          <p:nvPr/>
        </p:nvSpPr>
        <p:spPr>
          <a:xfrm>
            <a:off x="311760" y="47808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541" name="Google Shape;541;p131"/>
          <p:cNvSpPr txBox="1"/>
          <p:nvPr>
            <p:ph type="title"/>
          </p:nvPr>
        </p:nvSpPr>
        <p:spPr>
          <a:xfrm>
            <a:off x="311760" y="122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42" name="Google Shape;542;p131"/>
          <p:cNvSpPr txBox="1"/>
          <p:nvPr>
            <p:ph idx="1" type="body"/>
          </p:nvPr>
        </p:nvSpPr>
        <p:spPr>
          <a:xfrm>
            <a:off x="311760" y="599040"/>
            <a:ext cx="8520120" cy="39697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43" name="Google Shape;543;p131"/>
          <p:cNvSpPr txBox="1"/>
          <p:nvPr>
            <p:ph idx="12" type="sldNum"/>
          </p:nvPr>
        </p:nvSpPr>
        <p:spPr>
          <a:xfrm>
            <a:off x="8603640" y="4661280"/>
            <a:ext cx="228240" cy="265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0" i="0" sz="10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tdcldik6va029.ebiz.verizon.com:10214/resource/:demo5" TargetMode="External"/><Relationship Id="rId4" Type="http://schemas.openxmlformats.org/officeDocument/2006/relationships/hyperlink" Target="http://tdcldik6va029.ebiz.verizon.com:10214/resource/Start" TargetMode="External"/><Relationship Id="rId5" Type="http://schemas.openxmlformats.org/officeDocument/2006/relationships/image" Target="../media/image2.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hyperlink" Target="https://www.go-fair.org/fair-principles/" TargetMode="Externa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40.png"/><Relationship Id="rId1" Type="http://schemas.openxmlformats.org/officeDocument/2006/relationships/slideLayout" Target="../slideLayouts/slideLayout73.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3.png"/><Relationship Id="rId9" Type="http://schemas.openxmlformats.org/officeDocument/2006/relationships/image" Target="../media/image38.png"/><Relationship Id="rId5" Type="http://schemas.openxmlformats.org/officeDocument/2006/relationships/image" Target="../media/image45.png"/><Relationship Id="rId6" Type="http://schemas.openxmlformats.org/officeDocument/2006/relationships/image" Target="../media/image22.png"/><Relationship Id="rId7" Type="http://schemas.openxmlformats.org/officeDocument/2006/relationships/image" Target="../media/image41.png"/><Relationship Id="rId8"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8.png"/><Relationship Id="rId7" Type="http://schemas.openxmlformats.org/officeDocument/2006/relationships/image" Target="../media/image34.png"/><Relationship Id="rId8"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3.xml"/><Relationship Id="rId3" Type="http://schemas.openxmlformats.org/officeDocument/2006/relationships/image" Target="../media/image37.png"/><Relationship Id="rId4" Type="http://schemas.openxmlformats.org/officeDocument/2006/relationships/image" Target="../media/image54.png"/><Relationship Id="rId5" Type="http://schemas.openxmlformats.org/officeDocument/2006/relationships/hyperlink" Target="https://docs.google.com/presentation/d/18pYTHS_rOknWRM_3MF6pOMYL2S_p9c5OH6EOxuxyW9g/edit#slide=id.g29066e445ce_0_0" TargetMode="External"/><Relationship Id="rId6" Type="http://schemas.openxmlformats.org/officeDocument/2006/relationships/image" Target="../media/image10.png"/></Relationships>
</file>

<file path=ppt/slides/_rels/slide34.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50.png"/><Relationship Id="rId13" Type="http://schemas.openxmlformats.org/officeDocument/2006/relationships/image" Target="../media/image55.png"/><Relationship Id="rId12" Type="http://schemas.openxmlformats.org/officeDocument/2006/relationships/image" Target="../media/image52.png"/><Relationship Id="rId1" Type="http://schemas.openxmlformats.org/officeDocument/2006/relationships/slideLayout" Target="../slideLayouts/slideLayout73.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22.png"/><Relationship Id="rId9" Type="http://schemas.openxmlformats.org/officeDocument/2006/relationships/image" Target="../media/image41.png"/><Relationship Id="rId15" Type="http://schemas.openxmlformats.org/officeDocument/2006/relationships/image" Target="../media/image10.png"/><Relationship Id="rId14" Type="http://schemas.openxmlformats.org/officeDocument/2006/relationships/image" Target="../media/image56.png"/><Relationship Id="rId5" Type="http://schemas.openxmlformats.org/officeDocument/2006/relationships/image" Target="../media/image44.png"/><Relationship Id="rId6" Type="http://schemas.openxmlformats.org/officeDocument/2006/relationships/image" Target="../media/image46.png"/><Relationship Id="rId7" Type="http://schemas.openxmlformats.org/officeDocument/2006/relationships/image" Target="../media/image43.png"/><Relationship Id="rId8"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7.xml"/><Relationship Id="rId3" Type="http://schemas.openxmlformats.org/officeDocument/2006/relationships/image" Target="../media/image58.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90.png"/><Relationship Id="rId1" Type="http://schemas.openxmlformats.org/officeDocument/2006/relationships/slideLayout" Target="../slideLayouts/slideLayout49.xml"/><Relationship Id="rId2" Type="http://schemas.openxmlformats.org/officeDocument/2006/relationships/notesSlide" Target="../notesSlides/notesSlide39.xml"/><Relationship Id="rId3" Type="http://schemas.openxmlformats.org/officeDocument/2006/relationships/image" Target="../media/image60.png"/><Relationship Id="rId4" Type="http://schemas.openxmlformats.org/officeDocument/2006/relationships/image" Target="../media/image62.png"/><Relationship Id="rId9" Type="http://schemas.openxmlformats.org/officeDocument/2006/relationships/image" Target="../media/image71.png"/><Relationship Id="rId5" Type="http://schemas.openxmlformats.org/officeDocument/2006/relationships/image" Target="../media/image65.png"/><Relationship Id="rId6" Type="http://schemas.openxmlformats.org/officeDocument/2006/relationships/image" Target="../media/image48.png"/><Relationship Id="rId7" Type="http://schemas.openxmlformats.org/officeDocument/2006/relationships/image" Target="../media/image79.png"/><Relationship Id="rId8"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74.png"/><Relationship Id="rId5" Type="http://schemas.openxmlformats.org/officeDocument/2006/relationships/image" Target="../media/image84.png"/><Relationship Id="rId6"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96.png"/><Relationship Id="rId6" Type="http://schemas.openxmlformats.org/officeDocument/2006/relationships/image" Target="../media/image93.png"/><Relationship Id="rId7"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45.xml"/><Relationship Id="rId3" Type="http://schemas.openxmlformats.org/officeDocument/2006/relationships/image" Target="../media/image42.png"/><Relationship Id="rId4" Type="http://schemas.openxmlformats.org/officeDocument/2006/relationships/image" Target="../media/image87.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96.png"/><Relationship Id="rId8"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6.xml"/><Relationship Id="rId3" Type="http://schemas.openxmlformats.org/officeDocument/2006/relationships/image" Target="../media/image103.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8.xml"/><Relationship Id="rId3" Type="http://schemas.openxmlformats.org/officeDocument/2006/relationships/image" Target="../media/image30.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48.png"/><Relationship Id="rId7" Type="http://schemas.openxmlformats.org/officeDocument/2006/relationships/image" Target="../media/image34.png"/><Relationship Id="rId8"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49.xml"/><Relationship Id="rId3" Type="http://schemas.openxmlformats.org/officeDocument/2006/relationships/image" Target="../media/image37.png"/><Relationship Id="rId4" Type="http://schemas.openxmlformats.org/officeDocument/2006/relationships/image" Target="../media/image54.png"/><Relationship Id="rId5" Type="http://schemas.openxmlformats.org/officeDocument/2006/relationships/hyperlink" Target="https://docs.google.com/presentation/d/18pYTHS_rOknWRM_3MF6pOMYL2S_p9c5OH6EOxuxyW9g/edit#slide=id.g29066e445ce_0_0" TargetMode="External"/><Relationship Id="rId6"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0.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1.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3.xml"/><Relationship Id="rId3" Type="http://schemas.openxmlformats.org/officeDocument/2006/relationships/image" Target="../media/image104.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4.xml"/><Relationship Id="rId3" Type="http://schemas.openxmlformats.org/officeDocument/2006/relationships/image" Target="../media/image104.png"/><Relationship Id="rId4" Type="http://schemas.openxmlformats.org/officeDocument/2006/relationships/image" Target="../media/image110.png"/><Relationship Id="rId5"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5.xml"/><Relationship Id="rId3" Type="http://schemas.openxmlformats.org/officeDocument/2006/relationships/image" Target="../media/image104.png"/><Relationship Id="rId4" Type="http://schemas.openxmlformats.org/officeDocument/2006/relationships/image" Target="../media/image110.png"/><Relationship Id="rId5" Type="http://schemas.openxmlformats.org/officeDocument/2006/relationships/image" Target="../media/image122.png"/><Relationship Id="rId6" Type="http://schemas.openxmlformats.org/officeDocument/2006/relationships/image" Target="../media/image1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6.xml"/><Relationship Id="rId3"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8.xml"/><Relationship Id="rId3" Type="http://schemas.openxmlformats.org/officeDocument/2006/relationships/image" Target="../media/image103.png"/><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59.xml"/><Relationship Id="rId3" Type="http://schemas.openxmlformats.org/officeDocument/2006/relationships/image" Target="../media/image149.pn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144"/>
          <p:cNvSpPr txBox="1"/>
          <p:nvPr/>
        </p:nvSpPr>
        <p:spPr>
          <a:xfrm>
            <a:off x="473760" y="2286000"/>
            <a:ext cx="6800760" cy="948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Roadmap 2024 - 2025</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chemeClr val="dk2"/>
                </a:solidFill>
                <a:latin typeface="Arial"/>
                <a:ea typeface="Arial"/>
                <a:cs typeface="Arial"/>
                <a:sym typeface="Arial"/>
              </a:rPr>
              <a:t>Metaphacts Footprint </a:t>
            </a:r>
            <a:endParaRPr b="0" i="0" sz="1800" u="none" cap="none" strike="noStrike">
              <a:solidFill>
                <a:schemeClr val="dk2"/>
              </a:solidFill>
              <a:latin typeface="Arial"/>
              <a:ea typeface="Arial"/>
              <a:cs typeface="Arial"/>
              <a:sym typeface="Arial"/>
            </a:endParaRPr>
          </a:p>
        </p:txBody>
      </p:sp>
      <p:sp>
        <p:nvSpPr>
          <p:cNvPr id="597" name="Google Shape;597;p144"/>
          <p:cNvSpPr txBox="1"/>
          <p:nvPr/>
        </p:nvSpPr>
        <p:spPr>
          <a:xfrm>
            <a:off x="473760" y="469080"/>
            <a:ext cx="7695000" cy="1324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None/>
            </a:pPr>
            <a:r>
              <a:rPr b="1" i="0" lang="en-US" sz="5000" u="none" cap="none" strike="noStrike">
                <a:solidFill>
                  <a:schemeClr val="dk2"/>
                </a:solidFill>
                <a:latin typeface="Arial"/>
                <a:ea typeface="Arial"/>
                <a:cs typeface="Arial"/>
                <a:sym typeface="Arial"/>
              </a:rPr>
              <a:t>Semantic Governance</a:t>
            </a:r>
            <a:endParaRPr b="0" i="0" sz="5000" u="none" cap="none" strike="noStrike">
              <a:solidFill>
                <a:schemeClr val="dk2"/>
              </a:solidFill>
              <a:latin typeface="Arial"/>
              <a:ea typeface="Arial"/>
              <a:cs typeface="Arial"/>
              <a:sym typeface="Arial"/>
            </a:endParaRPr>
          </a:p>
        </p:txBody>
      </p:sp>
      <p:grpSp>
        <p:nvGrpSpPr>
          <p:cNvPr id="598" name="Google Shape;598;p144"/>
          <p:cNvGrpSpPr/>
          <p:nvPr/>
        </p:nvGrpSpPr>
        <p:grpSpPr>
          <a:xfrm>
            <a:off x="4674240" y="1746000"/>
            <a:ext cx="1443240" cy="1651320"/>
            <a:chOff x="4674240" y="1746000"/>
            <a:chExt cx="1443240" cy="1651320"/>
          </a:xfrm>
        </p:grpSpPr>
        <p:sp>
          <p:nvSpPr>
            <p:cNvPr id="599" name="Google Shape;599;p144"/>
            <p:cNvSpPr/>
            <p:nvPr/>
          </p:nvSpPr>
          <p:spPr>
            <a:xfrm>
              <a:off x="4674240" y="1746000"/>
              <a:ext cx="1443240" cy="165132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 name="Google Shape;600;p144"/>
            <p:cNvGrpSpPr/>
            <p:nvPr/>
          </p:nvGrpSpPr>
          <p:grpSpPr>
            <a:xfrm>
              <a:off x="4767840" y="1746000"/>
              <a:ext cx="1349640" cy="1651320"/>
              <a:chOff x="4767840" y="1746000"/>
              <a:chExt cx="1349640" cy="1651320"/>
            </a:xfrm>
          </p:grpSpPr>
          <p:pic>
            <p:nvPicPr>
              <p:cNvPr id="601" name="Google Shape;601;p144"/>
              <p:cNvPicPr preferRelativeResize="0"/>
              <p:nvPr/>
            </p:nvPicPr>
            <p:blipFill rotWithShape="1">
              <a:blip r:embed="rId3">
                <a:alphaModFix/>
              </a:blip>
              <a:srcRect b="0" l="20669" r="9844" t="0"/>
              <a:stretch/>
            </p:blipFill>
            <p:spPr>
              <a:xfrm>
                <a:off x="4767840" y="1746000"/>
                <a:ext cx="1289520" cy="1289520"/>
              </a:xfrm>
              <a:prstGeom prst="rect">
                <a:avLst/>
              </a:prstGeom>
              <a:noFill/>
              <a:ln>
                <a:noFill/>
              </a:ln>
            </p:spPr>
          </p:pic>
          <p:sp>
            <p:nvSpPr>
              <p:cNvPr id="602" name="Google Shape;602;p144"/>
              <p:cNvSpPr/>
              <p:nvPr/>
            </p:nvSpPr>
            <p:spPr>
              <a:xfrm>
                <a:off x="4767840" y="2944800"/>
                <a:ext cx="1349640" cy="452520"/>
              </a:xfrm>
              <a:prstGeom prst="rect">
                <a:avLst/>
              </a:prstGeom>
              <a:noFill/>
              <a:ln>
                <a:noFill/>
              </a:ln>
            </p:spPr>
            <p:txBody>
              <a:bodyPr anchorCtr="0" anchor="ctr" bIns="103300" lIns="103300" spcFirstLastPara="1" rIns="103300" wrap="square" tIns="103300">
                <a:noAutofit/>
              </a:bodyPr>
              <a:lstStyle/>
              <a:p>
                <a:pPr indent="0" lvl="0" marL="0" marR="0" rtl="0" algn="ctr">
                  <a:lnSpc>
                    <a:spcPct val="100000"/>
                  </a:lnSpc>
                  <a:spcBef>
                    <a:spcPts val="0"/>
                  </a:spcBef>
                  <a:spcAft>
                    <a:spcPts val="0"/>
                  </a:spcAft>
                  <a:buNone/>
                </a:pPr>
                <a:r>
                  <a:rPr b="1" i="0" lang="en-US" sz="1470" u="none" cap="none" strike="noStrike">
                    <a:solidFill>
                      <a:srgbClr val="EE0000"/>
                    </a:solidFill>
                    <a:latin typeface="Arial"/>
                    <a:ea typeface="Arial"/>
                    <a:cs typeface="Arial"/>
                    <a:sym typeface="Arial"/>
                  </a:rPr>
                  <a:t>SEMANTIC</a:t>
                </a:r>
                <a:endParaRPr b="0" i="0" sz="147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470" u="none" cap="none" strike="noStrike">
                    <a:solidFill>
                      <a:srgbClr val="000000"/>
                    </a:solidFill>
                    <a:latin typeface="Arial"/>
                    <a:ea typeface="Arial"/>
                    <a:cs typeface="Arial"/>
                    <a:sym typeface="Arial"/>
                  </a:rPr>
                  <a:t>Governance</a:t>
                </a:r>
                <a:endParaRPr b="0" i="0" sz="1470" u="none" cap="none" strike="noStrike">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45"/>
          <p:cNvSpPr txBox="1"/>
          <p:nvPr/>
        </p:nvSpPr>
        <p:spPr>
          <a:xfrm>
            <a:off x="457200" y="590400"/>
            <a:ext cx="835092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Semantic Governance Improves Relevancy &amp; Understanding for Business and Technical Stakeholders</a:t>
            </a:r>
            <a:endParaRPr b="0" i="0" sz="2100" u="none" cap="none" strike="noStrike">
              <a:solidFill>
                <a:srgbClr val="000000"/>
              </a:solidFill>
              <a:latin typeface="Arial"/>
              <a:ea typeface="Arial"/>
              <a:cs typeface="Arial"/>
              <a:sym typeface="Arial"/>
            </a:endParaRPr>
          </a:p>
        </p:txBody>
      </p:sp>
      <p:sp>
        <p:nvSpPr>
          <p:cNvPr id="608" name="Google Shape;608;p145"/>
          <p:cNvSpPr txBox="1"/>
          <p:nvPr/>
        </p:nvSpPr>
        <p:spPr>
          <a:xfrm>
            <a:off x="457200" y="1352520"/>
            <a:ext cx="7086240" cy="308592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WHAT is it?</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built atop ontologies, linked data, and graphs to simplify search, discovery, and enable advanced querying, reasoning, and understanding across digital assets.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390" u="none" cap="none" strike="noStrike">
                <a:solidFill>
                  <a:srgbClr val="000000"/>
                </a:solidFill>
                <a:latin typeface="Arial"/>
                <a:ea typeface="Arial"/>
                <a:cs typeface="Arial"/>
                <a:sym typeface="Arial"/>
              </a:rPr>
              <a:t>WHERE does it fit in?</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enabled by a Semantic Knowledge Layer that sits atop existing infrastructure (e.g., data, systems, tools) to provide a unified, meaningful view of structured and unstructured information for services and stakeholders.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390" u="none" cap="none" strike="noStrike">
              <a:solidFill>
                <a:srgbClr val="000000"/>
              </a:solidFill>
              <a:latin typeface="Arial"/>
              <a:ea typeface="Arial"/>
              <a:cs typeface="Arial"/>
              <a:sym typeface="Arial"/>
            </a:endParaRPr>
          </a:p>
        </p:txBody>
      </p:sp>
      <p:grpSp>
        <p:nvGrpSpPr>
          <p:cNvPr id="609" name="Google Shape;609;p145"/>
          <p:cNvGrpSpPr/>
          <p:nvPr/>
        </p:nvGrpSpPr>
        <p:grpSpPr>
          <a:xfrm>
            <a:off x="8549640" y="0"/>
            <a:ext cx="594000" cy="679680"/>
            <a:chOff x="8549640" y="0"/>
            <a:chExt cx="594000" cy="679680"/>
          </a:xfrm>
        </p:grpSpPr>
        <p:sp>
          <p:nvSpPr>
            <p:cNvPr id="610" name="Google Shape;610;p14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1" name="Google Shape;611;p145"/>
            <p:cNvGrpSpPr/>
            <p:nvPr/>
          </p:nvGrpSpPr>
          <p:grpSpPr>
            <a:xfrm>
              <a:off x="8588160" y="0"/>
              <a:ext cx="555480" cy="679680"/>
              <a:chOff x="8588160" y="0"/>
              <a:chExt cx="555480" cy="679680"/>
            </a:xfrm>
          </p:grpSpPr>
          <p:pic>
            <p:nvPicPr>
              <p:cNvPr id="612" name="Google Shape;612;p145"/>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613" name="Google Shape;613;p14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46"/>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Business Value</a:t>
            </a:r>
            <a:endParaRPr b="0" i="0" sz="2100" u="none" cap="none" strike="noStrike">
              <a:solidFill>
                <a:srgbClr val="000000"/>
              </a:solidFill>
              <a:latin typeface="Arial"/>
              <a:ea typeface="Arial"/>
              <a:cs typeface="Arial"/>
              <a:sym typeface="Arial"/>
            </a:endParaRPr>
          </a:p>
        </p:txBody>
      </p:sp>
      <p:sp>
        <p:nvSpPr>
          <p:cNvPr id="619" name="Google Shape;619;p146"/>
          <p:cNvSpPr txBox="1"/>
          <p:nvPr/>
        </p:nvSpPr>
        <p:spPr>
          <a:xfrm>
            <a:off x="457200" y="1352520"/>
            <a:ext cx="7251120" cy="308592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WHY do companies use Semantic Governance?</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Data Unification</a:t>
            </a:r>
            <a:r>
              <a:rPr b="0" i="0" lang="en-US" sz="1200" u="none" cap="none" strike="noStrike">
                <a:solidFill>
                  <a:srgbClr val="000000"/>
                </a:solidFill>
                <a:latin typeface="Arial"/>
                <a:ea typeface="Arial"/>
                <a:cs typeface="Arial"/>
                <a:sym typeface="Arial"/>
              </a:rPr>
              <a:t> - consolidates fragmented data from systems providing 360 view</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Decision Making</a:t>
            </a:r>
            <a:r>
              <a:rPr b="0" i="0" lang="en-US" sz="1200" u="none" cap="none" strike="noStrike">
                <a:solidFill>
                  <a:srgbClr val="000000"/>
                </a:solidFill>
                <a:latin typeface="Arial"/>
                <a:ea typeface="Arial"/>
                <a:cs typeface="Arial"/>
                <a:sym typeface="Arial"/>
              </a:rPr>
              <a:t> - real time context aware insights by linking &amp; enriching data on demand</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Personalization</a:t>
            </a:r>
            <a:r>
              <a:rPr b="0" i="0" lang="en-US" sz="1200" u="none" cap="none" strike="noStrike">
                <a:solidFill>
                  <a:srgbClr val="000000"/>
                </a:solidFill>
                <a:latin typeface="Arial"/>
                <a:ea typeface="Arial"/>
                <a:cs typeface="Arial"/>
                <a:sym typeface="Arial"/>
              </a:rPr>
              <a:t> - delivers hyper-personalized UX by dynamically linking preferences, past history, profile, behavior, and persona data</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Compliance</a:t>
            </a:r>
            <a:r>
              <a:rPr b="0" i="0" lang="en-US" sz="1200" u="none" cap="none" strike="noStrike">
                <a:solidFill>
                  <a:srgbClr val="000000"/>
                </a:solidFill>
                <a:latin typeface="Arial"/>
                <a:ea typeface="Arial"/>
                <a:cs typeface="Arial"/>
                <a:sym typeface="Arial"/>
              </a:rPr>
              <a:t> - tracks lineage, provenance, policy controls, transparency, and adherence</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Search &amp; Discovery</a:t>
            </a:r>
            <a:r>
              <a:rPr b="0" i="0" lang="en-US" sz="1200" u="none" cap="none" strike="noStrike">
                <a:solidFill>
                  <a:srgbClr val="000000"/>
                </a:solidFill>
                <a:latin typeface="Arial"/>
                <a:ea typeface="Arial"/>
                <a:cs typeface="Arial"/>
                <a:sym typeface="Arial"/>
              </a:rPr>
              <a:t> - semantic search, supporting PoV, and relevancy</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AI Learning</a:t>
            </a:r>
            <a:r>
              <a:rPr b="0" i="0" lang="en-US" sz="1200" u="none" cap="none" strike="noStrike">
                <a:solidFill>
                  <a:srgbClr val="000000"/>
                </a:solidFill>
                <a:latin typeface="Arial"/>
                <a:ea typeface="Arial"/>
                <a:cs typeface="Arial"/>
                <a:sym typeface="Arial"/>
              </a:rPr>
              <a:t> - RAG 2.0 accuracy, relevancy, and precision</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Data &amp; Analytic Literacy</a:t>
            </a:r>
            <a:r>
              <a:rPr b="0" i="0" lang="en-US" sz="1200" u="none" cap="none" strike="noStrike">
                <a:solidFill>
                  <a:srgbClr val="000000"/>
                </a:solidFill>
                <a:latin typeface="Arial"/>
                <a:ea typeface="Arial"/>
                <a:cs typeface="Arial"/>
                <a:sym typeface="Arial"/>
              </a:rPr>
              <a:t> - extends understanding and decision making for human &amp; machines</a:t>
            </a:r>
            <a:endParaRPr b="0" i="0" sz="1200" u="none" cap="none" strike="noStrike">
              <a:solidFill>
                <a:srgbClr val="000000"/>
              </a:solidFill>
              <a:latin typeface="Arial"/>
              <a:ea typeface="Arial"/>
              <a:cs typeface="Arial"/>
              <a:sym typeface="Arial"/>
            </a:endParaRPr>
          </a:p>
        </p:txBody>
      </p:sp>
      <p:grpSp>
        <p:nvGrpSpPr>
          <p:cNvPr id="620" name="Google Shape;620;p146"/>
          <p:cNvGrpSpPr/>
          <p:nvPr/>
        </p:nvGrpSpPr>
        <p:grpSpPr>
          <a:xfrm>
            <a:off x="8549640" y="0"/>
            <a:ext cx="594000" cy="679680"/>
            <a:chOff x="8549640" y="0"/>
            <a:chExt cx="594000" cy="679680"/>
          </a:xfrm>
        </p:grpSpPr>
        <p:sp>
          <p:nvSpPr>
            <p:cNvPr id="621" name="Google Shape;621;p14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146"/>
            <p:cNvGrpSpPr/>
            <p:nvPr/>
          </p:nvGrpSpPr>
          <p:grpSpPr>
            <a:xfrm>
              <a:off x="8588160" y="0"/>
              <a:ext cx="555480" cy="679680"/>
              <a:chOff x="8588160" y="0"/>
              <a:chExt cx="555480" cy="679680"/>
            </a:xfrm>
          </p:grpSpPr>
          <p:pic>
            <p:nvPicPr>
              <p:cNvPr id="623" name="Google Shape;623;p146"/>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624" name="Google Shape;624;p14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147"/>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Live Demonstration</a:t>
            </a:r>
            <a:endParaRPr b="0" i="0" sz="2100" u="none" cap="none" strike="noStrike">
              <a:solidFill>
                <a:srgbClr val="000000"/>
              </a:solidFill>
              <a:latin typeface="Arial"/>
              <a:ea typeface="Arial"/>
              <a:cs typeface="Arial"/>
              <a:sym typeface="Arial"/>
            </a:endParaRPr>
          </a:p>
        </p:txBody>
      </p:sp>
      <p:sp>
        <p:nvSpPr>
          <p:cNvPr id="630" name="Google Shape;630;p147"/>
          <p:cNvSpPr txBox="1"/>
          <p:nvPr/>
        </p:nvSpPr>
        <p:spPr>
          <a:xfrm>
            <a:off x="691200" y="1377000"/>
            <a:ext cx="3727080" cy="3085920"/>
          </a:xfrm>
          <a:prstGeom prst="rect">
            <a:avLst/>
          </a:prstGeom>
          <a:solidFill>
            <a:srgbClr val="D8D8D8"/>
          </a:solidFill>
          <a:ln cap="flat" cmpd="sng" w="28425">
            <a:solidFill>
              <a:srgbClr val="777777"/>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sng" cap="none" strike="noStrike">
                <a:solidFill>
                  <a:schemeClr val="hlink"/>
                </a:solidFill>
                <a:latin typeface="Arial"/>
                <a:ea typeface="Arial"/>
                <a:cs typeface="Arial"/>
                <a:sym typeface="Arial"/>
                <a:hlinkClick r:id="rId3"/>
              </a:rPr>
              <a:t>Semantic Search App</a:t>
            </a:r>
            <a:br>
              <a:rPr b="0" i="0" lang="en-US" sz="1800" u="none" cap="none" strike="noStrike"/>
            </a:b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390" u="sng" cap="none" strike="noStrike">
                <a:solidFill>
                  <a:schemeClr val="hlink"/>
                </a:solidFill>
                <a:latin typeface="Arial"/>
                <a:ea typeface="Arial"/>
                <a:cs typeface="Arial"/>
                <a:sym typeface="Arial"/>
                <a:hlinkClick r:id="rId4"/>
              </a:rPr>
              <a:t>Structure</a:t>
            </a:r>
            <a:endParaRPr b="0" i="0" sz="1390" u="none" cap="none" strike="noStrike">
              <a:solidFill>
                <a:srgbClr val="000000"/>
              </a:solidFill>
              <a:latin typeface="Arial"/>
              <a:ea typeface="Arial"/>
              <a:cs typeface="Arial"/>
              <a:sym typeface="Arial"/>
            </a:endParaRPr>
          </a:p>
          <a:p>
            <a:pPr indent="-313920" lvl="0" marL="457200" marR="0" rtl="0" algn="l">
              <a:lnSpc>
                <a:spcPct val="115000"/>
              </a:lnSpc>
              <a:spcBef>
                <a:spcPts val="1001"/>
              </a:spcBef>
              <a:spcAft>
                <a:spcPts val="0"/>
              </a:spcAft>
              <a:buClr>
                <a:srgbClr val="222222"/>
              </a:buClr>
              <a:buSzPts val="1350"/>
              <a:buFont typeface="Arial"/>
              <a:buChar char="●"/>
            </a:pPr>
            <a:r>
              <a:rPr b="0" i="0" lang="en-US" sz="1350" u="none" cap="none" strike="noStrike">
                <a:solidFill>
                  <a:srgbClr val="222222"/>
                </a:solidFill>
                <a:latin typeface="Arial"/>
                <a:ea typeface="Arial"/>
                <a:cs typeface="Arial"/>
                <a:sym typeface="Arial"/>
              </a:rPr>
              <a:t>Network Wireless </a:t>
            </a:r>
            <a:r>
              <a:rPr b="0" i="0" lang="en-US" sz="1350" u="sng" cap="none" strike="noStrike">
                <a:solidFill>
                  <a:srgbClr val="0563C1"/>
                </a:solidFill>
                <a:latin typeface="Arial"/>
                <a:ea typeface="Arial"/>
                <a:cs typeface="Arial"/>
                <a:sym typeface="Arial"/>
              </a:rPr>
              <a:t>Vocabulary</a:t>
            </a:r>
            <a:endParaRPr b="0" i="0" sz="1350" u="none" cap="none" strike="noStrike">
              <a:solidFill>
                <a:srgbClr val="000000"/>
              </a:solidFill>
              <a:latin typeface="Arial"/>
              <a:ea typeface="Arial"/>
              <a:cs typeface="Arial"/>
              <a:sym typeface="Arial"/>
            </a:endParaRPr>
          </a:p>
          <a:p>
            <a:pPr indent="-313920" lvl="0" marL="457200" marR="0" rtl="0" algn="l">
              <a:lnSpc>
                <a:spcPct val="115000"/>
              </a:lnSpc>
              <a:spcBef>
                <a:spcPts val="1001"/>
              </a:spcBef>
              <a:spcAft>
                <a:spcPts val="0"/>
              </a:spcAft>
              <a:buClr>
                <a:srgbClr val="222222"/>
              </a:buClr>
              <a:buSzPts val="1350"/>
              <a:buFont typeface="Arial"/>
              <a:buChar char="●"/>
            </a:pPr>
            <a:r>
              <a:rPr b="0" i="0" lang="en-US" sz="1350" u="none" cap="none" strike="noStrike">
                <a:solidFill>
                  <a:srgbClr val="222222"/>
                </a:solidFill>
                <a:latin typeface="Arial"/>
                <a:ea typeface="Arial"/>
                <a:cs typeface="Arial"/>
                <a:sym typeface="Arial"/>
              </a:rPr>
              <a:t>Location Core </a:t>
            </a:r>
            <a:r>
              <a:rPr b="0" i="0" lang="en-US" sz="1350" u="sng" cap="none" strike="noStrike">
                <a:solidFill>
                  <a:srgbClr val="0563C1"/>
                </a:solidFill>
                <a:latin typeface="Arial"/>
                <a:ea typeface="Arial"/>
                <a:cs typeface="Arial"/>
                <a:sym typeface="Arial"/>
              </a:rPr>
              <a:t>Taxonomy</a:t>
            </a:r>
            <a:endParaRPr b="0" i="0" sz="1350" u="none" cap="none" strike="noStrike">
              <a:solidFill>
                <a:srgbClr val="000000"/>
              </a:solidFill>
              <a:latin typeface="Arial"/>
              <a:ea typeface="Arial"/>
              <a:cs typeface="Arial"/>
              <a:sym typeface="Arial"/>
            </a:endParaRPr>
          </a:p>
          <a:p>
            <a:pPr indent="-313920" lvl="0" marL="457200" marR="0" rtl="0" algn="l">
              <a:lnSpc>
                <a:spcPct val="115000"/>
              </a:lnSpc>
              <a:spcBef>
                <a:spcPts val="1001"/>
              </a:spcBef>
              <a:spcAft>
                <a:spcPts val="0"/>
              </a:spcAft>
              <a:buClr>
                <a:srgbClr val="222222"/>
              </a:buClr>
              <a:buSzPts val="1350"/>
              <a:buFont typeface="Arial"/>
              <a:buChar char="●"/>
            </a:pPr>
            <a:r>
              <a:rPr b="0" i="0" lang="en-US" sz="1350" u="none" cap="none" strike="noStrike">
                <a:solidFill>
                  <a:srgbClr val="222222"/>
                </a:solidFill>
                <a:latin typeface="Arial"/>
                <a:ea typeface="Arial"/>
                <a:cs typeface="Arial"/>
                <a:sym typeface="Arial"/>
              </a:rPr>
              <a:t>Wireless Domain </a:t>
            </a:r>
            <a:r>
              <a:rPr b="0" i="0" lang="en-US" sz="1350" u="sng" cap="none" strike="noStrike">
                <a:solidFill>
                  <a:srgbClr val="0563C1"/>
                </a:solidFill>
                <a:latin typeface="Arial"/>
                <a:ea typeface="Arial"/>
                <a:cs typeface="Arial"/>
                <a:sym typeface="Arial"/>
              </a:rPr>
              <a:t>Ontology</a:t>
            </a:r>
            <a:endParaRPr b="0" i="0" sz="1350" u="none" cap="none" strike="noStrike">
              <a:solidFill>
                <a:srgbClr val="000000"/>
              </a:solidFill>
              <a:latin typeface="Arial"/>
              <a:ea typeface="Arial"/>
              <a:cs typeface="Arial"/>
              <a:sym typeface="Arial"/>
            </a:endParaRPr>
          </a:p>
          <a:p>
            <a:pPr indent="-313920" lvl="0" marL="457200" marR="0" rtl="0" algn="l">
              <a:lnSpc>
                <a:spcPct val="115000"/>
              </a:lnSpc>
              <a:spcBef>
                <a:spcPts val="1001"/>
              </a:spcBef>
              <a:spcAft>
                <a:spcPts val="0"/>
              </a:spcAft>
              <a:buClr>
                <a:srgbClr val="222222"/>
              </a:buClr>
              <a:buSzPts val="1350"/>
              <a:buFont typeface="Arial"/>
              <a:buChar char="●"/>
            </a:pPr>
            <a:r>
              <a:rPr b="0" i="0" lang="en-US" sz="1350" u="sng" cap="none" strike="noStrike">
                <a:solidFill>
                  <a:srgbClr val="0563C1"/>
                </a:solidFill>
                <a:latin typeface="Arial"/>
                <a:ea typeface="Arial"/>
                <a:cs typeface="Arial"/>
                <a:sym typeface="Arial"/>
              </a:rPr>
              <a:t>SID</a:t>
            </a:r>
            <a:r>
              <a:rPr b="0" i="0" lang="en-US" sz="1350" u="none" cap="none" strike="noStrike">
                <a:solidFill>
                  <a:srgbClr val="222222"/>
                </a:solidFill>
                <a:latin typeface="Arial"/>
                <a:ea typeface="Arial"/>
                <a:cs typeface="Arial"/>
                <a:sym typeface="Arial"/>
              </a:rPr>
              <a:t> Ontology Linked to RAN Columns</a:t>
            </a:r>
            <a:endParaRPr b="0" i="0" sz="1350" u="none" cap="none" strike="noStrike">
              <a:solidFill>
                <a:srgbClr val="000000"/>
              </a:solidFill>
              <a:latin typeface="Arial"/>
              <a:ea typeface="Arial"/>
              <a:cs typeface="Arial"/>
              <a:sym typeface="Arial"/>
            </a:endParaRPr>
          </a:p>
          <a:p>
            <a:pPr indent="-313920" lvl="0" marL="457200" marR="0" rtl="0" algn="l">
              <a:lnSpc>
                <a:spcPct val="115000"/>
              </a:lnSpc>
              <a:spcBef>
                <a:spcPts val="1001"/>
              </a:spcBef>
              <a:spcAft>
                <a:spcPts val="0"/>
              </a:spcAft>
              <a:buClr>
                <a:srgbClr val="222222"/>
              </a:buClr>
              <a:buSzPts val="1350"/>
              <a:buFont typeface="Arial"/>
              <a:buChar char="●"/>
            </a:pPr>
            <a:r>
              <a:rPr b="0" i="0" lang="en-US" sz="1350" u="none" cap="none" strike="noStrike">
                <a:solidFill>
                  <a:srgbClr val="222222"/>
                </a:solidFill>
                <a:latin typeface="Arial"/>
                <a:ea typeface="Arial"/>
                <a:cs typeface="Arial"/>
                <a:sym typeface="Arial"/>
              </a:rPr>
              <a:t>Demo Model Mapping with </a:t>
            </a:r>
            <a:r>
              <a:rPr b="0" i="0" lang="en-US" sz="1350" u="sng" cap="none" strike="noStrike">
                <a:solidFill>
                  <a:srgbClr val="0563C1"/>
                </a:solidFill>
                <a:latin typeface="Arial"/>
                <a:ea typeface="Arial"/>
                <a:cs typeface="Arial"/>
                <a:sym typeface="Arial"/>
              </a:rPr>
              <a:t>Attributes</a:t>
            </a:r>
            <a:endParaRPr b="0" i="0" sz="1350" u="none" cap="none" strike="noStrike">
              <a:solidFill>
                <a:srgbClr val="000000"/>
              </a:solidFill>
              <a:latin typeface="Arial"/>
              <a:ea typeface="Arial"/>
              <a:cs typeface="Arial"/>
              <a:sym typeface="Arial"/>
            </a:endParaRPr>
          </a:p>
          <a:p>
            <a:pPr indent="0" lvl="0" marL="457200" marR="0" rtl="0" algn="l">
              <a:lnSpc>
                <a:spcPct val="115000"/>
              </a:lnSpc>
              <a:spcBef>
                <a:spcPts val="1001"/>
              </a:spcBef>
              <a:spcAft>
                <a:spcPts val="0"/>
              </a:spcAft>
              <a:buNone/>
            </a:pPr>
            <a:r>
              <a:t/>
            </a:r>
            <a:endParaRPr b="0" i="0" sz="1350" u="none" cap="none" strike="noStrike">
              <a:solidFill>
                <a:srgbClr val="000000"/>
              </a:solidFill>
              <a:latin typeface="Arial"/>
              <a:ea typeface="Arial"/>
              <a:cs typeface="Arial"/>
              <a:sym typeface="Arial"/>
            </a:endParaRPr>
          </a:p>
        </p:txBody>
      </p:sp>
      <p:sp>
        <p:nvSpPr>
          <p:cNvPr id="631" name="Google Shape;631;p147"/>
          <p:cNvSpPr/>
          <p:nvPr/>
        </p:nvSpPr>
        <p:spPr>
          <a:xfrm flipH="1" rot="10800000">
            <a:off x="869760" y="1800360"/>
            <a:ext cx="3107520" cy="12240"/>
          </a:xfrm>
          <a:custGeom>
            <a:rect b="b" l="l" r="r" t="t"/>
            <a:pathLst>
              <a:path extrusionOk="0" h="21600" w="21600">
                <a:moveTo>
                  <a:pt x="0" y="0"/>
                </a:moveTo>
                <a:lnTo>
                  <a:pt x="21600" y="21600"/>
                </a:lnTo>
              </a:path>
            </a:pathLst>
          </a:custGeom>
          <a:noFill/>
          <a:ln cap="flat" cmpd="sng" w="9525">
            <a:solidFill>
              <a:srgbClr val="888888"/>
            </a:solidFill>
            <a:prstDash val="solid"/>
            <a:round/>
            <a:headEnd len="sm" w="sm" type="none"/>
            <a:tailEnd len="sm" w="sm" type="none"/>
          </a:ln>
        </p:spPr>
      </p:sp>
      <p:pic>
        <p:nvPicPr>
          <p:cNvPr id="632" name="Google Shape;632;p147"/>
          <p:cNvPicPr preferRelativeResize="0"/>
          <p:nvPr/>
        </p:nvPicPr>
        <p:blipFill rotWithShape="1">
          <a:blip r:embed="rId5">
            <a:alphaModFix/>
          </a:blip>
          <a:srcRect b="0" l="0" r="0" t="0"/>
          <a:stretch/>
        </p:blipFill>
        <p:spPr>
          <a:xfrm>
            <a:off x="4739400" y="1188360"/>
            <a:ext cx="3503880" cy="3215160"/>
          </a:xfrm>
          <a:prstGeom prst="rect">
            <a:avLst/>
          </a:prstGeom>
          <a:noFill/>
          <a:ln>
            <a:noFill/>
          </a:ln>
        </p:spPr>
      </p:pic>
      <p:grpSp>
        <p:nvGrpSpPr>
          <p:cNvPr id="633" name="Google Shape;633;p147"/>
          <p:cNvGrpSpPr/>
          <p:nvPr/>
        </p:nvGrpSpPr>
        <p:grpSpPr>
          <a:xfrm>
            <a:off x="8549640" y="0"/>
            <a:ext cx="594000" cy="679680"/>
            <a:chOff x="8549640" y="0"/>
            <a:chExt cx="594000" cy="679680"/>
          </a:xfrm>
        </p:grpSpPr>
        <p:sp>
          <p:nvSpPr>
            <p:cNvPr id="634" name="Google Shape;634;p14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5" name="Google Shape;635;p147"/>
            <p:cNvGrpSpPr/>
            <p:nvPr/>
          </p:nvGrpSpPr>
          <p:grpSpPr>
            <a:xfrm>
              <a:off x="8588160" y="0"/>
              <a:ext cx="555480" cy="679680"/>
              <a:chOff x="8588160" y="0"/>
              <a:chExt cx="555480" cy="679680"/>
            </a:xfrm>
          </p:grpSpPr>
          <p:pic>
            <p:nvPicPr>
              <p:cNvPr id="636" name="Google Shape;636;p147"/>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637" name="Google Shape;637;p14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48"/>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What Can’t We Get Anywhere Else?</a:t>
            </a:r>
            <a:endParaRPr b="0" i="0" sz="2100" u="none" cap="none" strike="noStrike">
              <a:solidFill>
                <a:srgbClr val="000000"/>
              </a:solidFill>
              <a:latin typeface="Arial"/>
              <a:ea typeface="Arial"/>
              <a:cs typeface="Arial"/>
              <a:sym typeface="Arial"/>
            </a:endParaRPr>
          </a:p>
        </p:txBody>
      </p:sp>
      <p:sp>
        <p:nvSpPr>
          <p:cNvPr id="643" name="Google Shape;643;p148"/>
          <p:cNvSpPr txBox="1"/>
          <p:nvPr/>
        </p:nvSpPr>
        <p:spPr>
          <a:xfrm>
            <a:off x="457200" y="1352520"/>
            <a:ext cx="8085240" cy="308592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Top-Down Modeling Tool</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Vocabularies</a:t>
            </a:r>
            <a:r>
              <a:rPr b="0" i="0" lang="en-US" sz="1200" u="none" cap="none" strike="noStrike">
                <a:solidFill>
                  <a:srgbClr val="000000"/>
                </a:solidFill>
                <a:latin typeface="Arial"/>
                <a:ea typeface="Arial"/>
                <a:cs typeface="Arial"/>
                <a:sym typeface="Arial"/>
              </a:rPr>
              <a:t> - SKOS compliant controlled vocabulary that is reusable by taxonomies &amp; ontologies</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Taxonomies</a:t>
            </a:r>
            <a:r>
              <a:rPr b="0" i="0" lang="en-US" sz="1200" u="none" cap="none" strike="noStrike">
                <a:solidFill>
                  <a:srgbClr val="000000"/>
                </a:solidFill>
                <a:latin typeface="Arial"/>
                <a:ea typeface="Arial"/>
                <a:cs typeface="Arial"/>
                <a:sym typeface="Arial"/>
              </a:rPr>
              <a:t> - W3C standard structure with complex attribute management</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Ontologies</a:t>
            </a:r>
            <a:r>
              <a:rPr b="0" i="0" lang="en-US" sz="1200" u="none" cap="none" strike="noStrike">
                <a:solidFill>
                  <a:srgbClr val="000000"/>
                </a:solidFill>
                <a:latin typeface="Arial"/>
                <a:ea typeface="Arial"/>
                <a:cs typeface="Arial"/>
                <a:sym typeface="Arial"/>
              </a:rPr>
              <a:t> - Specific POV approaches to data (VZ business, SID, Core) connected using flexible but standardized relationship management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200" u="none" cap="none" strike="noStrike">
                <a:solidFill>
                  <a:srgbClr val="000000"/>
                </a:solidFill>
                <a:latin typeface="Arial"/>
                <a:ea typeface="Arial"/>
                <a:cs typeface="Arial"/>
                <a:sym typeface="Arial"/>
              </a:rPr>
              <a:t>Business Integration Capabilities</a:t>
            </a: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Data Harmonization</a:t>
            </a:r>
            <a:r>
              <a:rPr b="0" i="0" lang="en-US" sz="1200" u="none" cap="none" strike="noStrike">
                <a:solidFill>
                  <a:srgbClr val="000000"/>
                </a:solidFill>
                <a:latin typeface="Arial"/>
                <a:ea typeface="Arial"/>
                <a:cs typeface="Arial"/>
                <a:sym typeface="Arial"/>
              </a:rPr>
              <a:t> - Unify data from disparate source systems and generate meaning/context via business-driven taxonomies and ontologies</a:t>
            </a:r>
            <a:endParaRPr b="0" i="0" sz="1200" u="none" cap="none" strike="noStrike">
              <a:solidFill>
                <a:srgbClr val="000000"/>
              </a:solidFill>
              <a:latin typeface="Arial"/>
              <a:ea typeface="Arial"/>
              <a:cs typeface="Arial"/>
              <a:sym typeface="Arial"/>
            </a:endParaRPr>
          </a:p>
          <a:p>
            <a:pPr indent="-304560" lvl="0" marL="457200" marR="0" rtl="0" algn="l">
              <a:lnSpc>
                <a:spcPct val="100000"/>
              </a:lnSpc>
              <a:spcBef>
                <a:spcPts val="1001"/>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Collaborative Taxonomy Management</a:t>
            </a:r>
            <a:r>
              <a:rPr b="0" i="0" lang="en-US" sz="1200" u="none" cap="none" strike="noStrike">
                <a:solidFill>
                  <a:srgbClr val="000000"/>
                </a:solidFill>
                <a:latin typeface="Arial"/>
                <a:ea typeface="Arial"/>
                <a:cs typeface="Arial"/>
                <a:sym typeface="Arial"/>
              </a:rPr>
              <a:t> - Enable stakeholders to contribute to enterprise vocabularies, powering a unified semantic model</a:t>
            </a:r>
            <a:endParaRPr b="0" i="0" sz="1200" u="none" cap="none" strike="noStrike">
              <a:solidFill>
                <a:srgbClr val="000000"/>
              </a:solidFill>
              <a:latin typeface="Arial"/>
              <a:ea typeface="Arial"/>
              <a:cs typeface="Arial"/>
              <a:sym typeface="Arial"/>
            </a:endParaRPr>
          </a:p>
        </p:txBody>
      </p:sp>
      <p:grpSp>
        <p:nvGrpSpPr>
          <p:cNvPr id="644" name="Google Shape;644;p148"/>
          <p:cNvGrpSpPr/>
          <p:nvPr/>
        </p:nvGrpSpPr>
        <p:grpSpPr>
          <a:xfrm>
            <a:off x="8549640" y="0"/>
            <a:ext cx="594000" cy="679680"/>
            <a:chOff x="8549640" y="0"/>
            <a:chExt cx="594000" cy="679680"/>
          </a:xfrm>
        </p:grpSpPr>
        <p:sp>
          <p:nvSpPr>
            <p:cNvPr id="645" name="Google Shape;645;p14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6" name="Google Shape;646;p148"/>
            <p:cNvGrpSpPr/>
            <p:nvPr/>
          </p:nvGrpSpPr>
          <p:grpSpPr>
            <a:xfrm>
              <a:off x="8588160" y="0"/>
              <a:ext cx="555480" cy="679680"/>
              <a:chOff x="8588160" y="0"/>
              <a:chExt cx="555480" cy="679680"/>
            </a:xfrm>
          </p:grpSpPr>
          <p:pic>
            <p:nvPicPr>
              <p:cNvPr id="647" name="Google Shape;647;p148"/>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648" name="Google Shape;648;p14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49"/>
          <p:cNvSpPr txBox="1"/>
          <p:nvPr/>
        </p:nvSpPr>
        <p:spPr>
          <a:xfrm>
            <a:off x="515160" y="131400"/>
            <a:ext cx="7086240" cy="29448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Roadmap 2024-2025</a:t>
            </a:r>
            <a:endParaRPr b="0" i="0" sz="2100" u="none" cap="none" strike="noStrike">
              <a:solidFill>
                <a:srgbClr val="000000"/>
              </a:solidFill>
              <a:latin typeface="Arial"/>
              <a:ea typeface="Arial"/>
              <a:cs typeface="Arial"/>
              <a:sym typeface="Arial"/>
            </a:endParaRPr>
          </a:p>
        </p:txBody>
      </p:sp>
      <p:pic>
        <p:nvPicPr>
          <p:cNvPr id="654" name="Google Shape;654;p149"/>
          <p:cNvPicPr preferRelativeResize="0"/>
          <p:nvPr/>
        </p:nvPicPr>
        <p:blipFill rotWithShape="1">
          <a:blip r:embed="rId3">
            <a:alphaModFix/>
          </a:blip>
          <a:srcRect b="0" l="0" r="0" t="0"/>
          <a:stretch/>
        </p:blipFill>
        <p:spPr>
          <a:xfrm>
            <a:off x="434520" y="505440"/>
            <a:ext cx="7575480" cy="4157640"/>
          </a:xfrm>
          <a:prstGeom prst="rect">
            <a:avLst/>
          </a:prstGeom>
          <a:noFill/>
          <a:ln>
            <a:noFill/>
          </a:ln>
        </p:spPr>
      </p:pic>
      <p:grpSp>
        <p:nvGrpSpPr>
          <p:cNvPr id="655" name="Google Shape;655;p149"/>
          <p:cNvGrpSpPr/>
          <p:nvPr/>
        </p:nvGrpSpPr>
        <p:grpSpPr>
          <a:xfrm>
            <a:off x="8549640" y="0"/>
            <a:ext cx="594000" cy="679680"/>
            <a:chOff x="8549640" y="0"/>
            <a:chExt cx="594000" cy="679680"/>
          </a:xfrm>
        </p:grpSpPr>
        <p:sp>
          <p:nvSpPr>
            <p:cNvPr id="656" name="Google Shape;656;p14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 name="Google Shape;657;p149"/>
            <p:cNvGrpSpPr/>
            <p:nvPr/>
          </p:nvGrpSpPr>
          <p:grpSpPr>
            <a:xfrm>
              <a:off x="8588160" y="0"/>
              <a:ext cx="555480" cy="679680"/>
              <a:chOff x="8588160" y="0"/>
              <a:chExt cx="555480" cy="679680"/>
            </a:xfrm>
          </p:grpSpPr>
          <p:pic>
            <p:nvPicPr>
              <p:cNvPr id="658" name="Google Shape;658;p149"/>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659" name="Google Shape;659;p14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50"/>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Enabling the Knowledge Fabric</a:t>
            </a:r>
            <a:endParaRPr b="0" i="0" sz="2100" u="none" cap="none" strike="noStrike">
              <a:solidFill>
                <a:srgbClr val="000000"/>
              </a:solidFill>
              <a:latin typeface="Arial"/>
              <a:ea typeface="Arial"/>
              <a:cs typeface="Arial"/>
              <a:sym typeface="Arial"/>
            </a:endParaRPr>
          </a:p>
        </p:txBody>
      </p:sp>
      <p:sp>
        <p:nvSpPr>
          <p:cNvPr id="665" name="Google Shape;665;p150"/>
          <p:cNvSpPr txBox="1"/>
          <p:nvPr/>
        </p:nvSpPr>
        <p:spPr>
          <a:xfrm>
            <a:off x="457200" y="1352520"/>
            <a:ext cx="416952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Data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infrastructure enabling integration, access, and orchestration of data across diverse systems, formats, and locations in a unified, scalable way. </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Ensure that data is accessible, governed, and available to support operational and analytical use cases.</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Typically includes ETL/ELT tools, data lakes, data warehouses, APIs, and governance frameworks</a:t>
            </a:r>
            <a:endParaRPr b="0" i="0" sz="1100" u="none" cap="none" strike="noStrike">
              <a:solidFill>
                <a:srgbClr val="000000"/>
              </a:solidFill>
              <a:latin typeface="Arial"/>
              <a:ea typeface="Arial"/>
              <a:cs typeface="Arial"/>
              <a:sym typeface="Arial"/>
            </a:endParaRPr>
          </a:p>
        </p:txBody>
      </p:sp>
      <p:sp>
        <p:nvSpPr>
          <p:cNvPr id="666" name="Google Shape;666;p150"/>
          <p:cNvSpPr txBox="1"/>
          <p:nvPr/>
        </p:nvSpPr>
        <p:spPr>
          <a:xfrm>
            <a:off x="4800600" y="1352520"/>
            <a:ext cx="402156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Knowledge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context, meaning, and intelligence from integrated data.</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Extends the data fabric emphasizing the semantic layer by dynamically enriching data with context, relationships, and meaning using ontologies, knowledge graphs, and AI-driven reasoning.</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Derives insights, enhances decision-making, and creates a shared understanding across an organization by connecting and contextualizing data.</a:t>
            </a:r>
            <a:endParaRPr b="0" i="0" sz="1100" u="none" cap="none" strike="noStrike">
              <a:solidFill>
                <a:srgbClr val="000000"/>
              </a:solidFill>
              <a:latin typeface="Arial"/>
              <a:ea typeface="Arial"/>
              <a:cs typeface="Arial"/>
              <a:sym typeface="Arial"/>
            </a:endParaRPr>
          </a:p>
        </p:txBody>
      </p:sp>
      <p:sp>
        <p:nvSpPr>
          <p:cNvPr id="667" name="Google Shape;667;p150"/>
          <p:cNvSpPr/>
          <p:nvPr/>
        </p:nvSpPr>
        <p:spPr>
          <a:xfrm>
            <a:off x="4121640" y="4066200"/>
            <a:ext cx="1222560" cy="281520"/>
          </a:xfrm>
          <a:prstGeom prst="leftRightArrow">
            <a:avLst>
              <a:gd fmla="val 50000" name="adj1"/>
              <a:gd fmla="val 50000" name="adj2"/>
            </a:avLst>
          </a:prstGeom>
          <a:solidFill>
            <a:srgbClr val="D8D8D8"/>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800" u="none" cap="none" strike="noStrike">
                <a:solidFill>
                  <a:srgbClr val="888888"/>
                </a:solidFill>
                <a:latin typeface="Arial"/>
                <a:ea typeface="Arial"/>
                <a:cs typeface="Arial"/>
                <a:sym typeface="Arial"/>
              </a:rPr>
              <a:t>Complimentary</a:t>
            </a:r>
            <a:endParaRPr b="0" i="0" sz="800" u="none" cap="none" strike="noStrike">
              <a:latin typeface="Arial"/>
              <a:ea typeface="Arial"/>
              <a:cs typeface="Arial"/>
              <a:sym typeface="Arial"/>
            </a:endParaRPr>
          </a:p>
        </p:txBody>
      </p:sp>
      <p:grpSp>
        <p:nvGrpSpPr>
          <p:cNvPr id="668" name="Google Shape;668;p150"/>
          <p:cNvGrpSpPr/>
          <p:nvPr/>
        </p:nvGrpSpPr>
        <p:grpSpPr>
          <a:xfrm>
            <a:off x="8549640" y="0"/>
            <a:ext cx="594000" cy="679680"/>
            <a:chOff x="8549640" y="0"/>
            <a:chExt cx="594000" cy="679680"/>
          </a:xfrm>
        </p:grpSpPr>
        <p:sp>
          <p:nvSpPr>
            <p:cNvPr id="669" name="Google Shape;669;p15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 name="Google Shape;670;p150"/>
            <p:cNvGrpSpPr/>
            <p:nvPr/>
          </p:nvGrpSpPr>
          <p:grpSpPr>
            <a:xfrm>
              <a:off x="8588160" y="0"/>
              <a:ext cx="555480" cy="679680"/>
              <a:chOff x="8588160" y="0"/>
              <a:chExt cx="555480" cy="679680"/>
            </a:xfrm>
          </p:grpSpPr>
          <p:pic>
            <p:nvPicPr>
              <p:cNvPr id="671" name="Google Shape;671;p150"/>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672" name="Google Shape;672;p15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51"/>
          <p:cNvSpPr txBox="1"/>
          <p:nvPr/>
        </p:nvSpPr>
        <p:spPr>
          <a:xfrm>
            <a:off x="457200" y="594360"/>
            <a:ext cx="7086240" cy="141336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4000" u="none" cap="none" strike="noStrike">
                <a:solidFill>
                  <a:schemeClr val="dk2"/>
                </a:solidFill>
                <a:latin typeface="Arial"/>
                <a:ea typeface="Arial"/>
                <a:cs typeface="Arial"/>
                <a:sym typeface="Arial"/>
              </a:rPr>
              <a:t>Appendix: Demo Reference Slides</a:t>
            </a:r>
            <a:endParaRPr b="0" i="0" sz="40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52"/>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Vocabulary Sample</a:t>
            </a:r>
            <a:endParaRPr b="0" i="0" sz="2100" u="none" cap="none" strike="noStrike">
              <a:solidFill>
                <a:srgbClr val="000000"/>
              </a:solidFill>
              <a:latin typeface="Arial"/>
              <a:ea typeface="Arial"/>
              <a:cs typeface="Arial"/>
              <a:sym typeface="Arial"/>
            </a:endParaRPr>
          </a:p>
        </p:txBody>
      </p:sp>
      <p:pic>
        <p:nvPicPr>
          <p:cNvPr id="683" name="Google Shape;683;p152"/>
          <p:cNvPicPr preferRelativeResize="0"/>
          <p:nvPr/>
        </p:nvPicPr>
        <p:blipFill rotWithShape="1">
          <a:blip r:embed="rId3">
            <a:alphaModFix/>
          </a:blip>
          <a:srcRect b="0" l="0" r="0" t="0"/>
          <a:stretch/>
        </p:blipFill>
        <p:spPr>
          <a:xfrm>
            <a:off x="871560" y="987120"/>
            <a:ext cx="8075520" cy="3676320"/>
          </a:xfrm>
          <a:prstGeom prst="rect">
            <a:avLst/>
          </a:prstGeom>
          <a:noFill/>
          <a:ln>
            <a:noFill/>
          </a:ln>
        </p:spPr>
      </p:pic>
      <p:grpSp>
        <p:nvGrpSpPr>
          <p:cNvPr id="684" name="Google Shape;684;p152"/>
          <p:cNvGrpSpPr/>
          <p:nvPr/>
        </p:nvGrpSpPr>
        <p:grpSpPr>
          <a:xfrm>
            <a:off x="8549640" y="0"/>
            <a:ext cx="594000" cy="679680"/>
            <a:chOff x="8549640" y="0"/>
            <a:chExt cx="594000" cy="679680"/>
          </a:xfrm>
        </p:grpSpPr>
        <p:sp>
          <p:nvSpPr>
            <p:cNvPr id="685" name="Google Shape;685;p15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6" name="Google Shape;686;p152"/>
            <p:cNvGrpSpPr/>
            <p:nvPr/>
          </p:nvGrpSpPr>
          <p:grpSpPr>
            <a:xfrm>
              <a:off x="8588160" y="0"/>
              <a:ext cx="555480" cy="679680"/>
              <a:chOff x="8588160" y="0"/>
              <a:chExt cx="555480" cy="679680"/>
            </a:xfrm>
          </p:grpSpPr>
          <p:pic>
            <p:nvPicPr>
              <p:cNvPr id="687" name="Google Shape;687;p152"/>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688" name="Google Shape;688;p15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53"/>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Taxonomy Sample</a:t>
            </a:r>
            <a:endParaRPr b="0" i="0" sz="2100" u="none" cap="none" strike="noStrike">
              <a:solidFill>
                <a:srgbClr val="000000"/>
              </a:solidFill>
              <a:latin typeface="Arial"/>
              <a:ea typeface="Arial"/>
              <a:cs typeface="Arial"/>
              <a:sym typeface="Arial"/>
            </a:endParaRPr>
          </a:p>
        </p:txBody>
      </p:sp>
      <p:pic>
        <p:nvPicPr>
          <p:cNvPr id="694" name="Google Shape;694;p153"/>
          <p:cNvPicPr preferRelativeResize="0"/>
          <p:nvPr/>
        </p:nvPicPr>
        <p:blipFill rotWithShape="1">
          <a:blip r:embed="rId3">
            <a:alphaModFix/>
          </a:blip>
          <a:srcRect b="0" l="0" r="0" t="0"/>
          <a:stretch/>
        </p:blipFill>
        <p:spPr>
          <a:xfrm>
            <a:off x="816120" y="1073880"/>
            <a:ext cx="7511040" cy="3676320"/>
          </a:xfrm>
          <a:prstGeom prst="rect">
            <a:avLst/>
          </a:prstGeom>
          <a:noFill/>
          <a:ln>
            <a:noFill/>
          </a:ln>
        </p:spPr>
      </p:pic>
      <p:grpSp>
        <p:nvGrpSpPr>
          <p:cNvPr id="695" name="Google Shape;695;p153"/>
          <p:cNvGrpSpPr/>
          <p:nvPr/>
        </p:nvGrpSpPr>
        <p:grpSpPr>
          <a:xfrm>
            <a:off x="8549640" y="0"/>
            <a:ext cx="594000" cy="679680"/>
            <a:chOff x="8549640" y="0"/>
            <a:chExt cx="594000" cy="679680"/>
          </a:xfrm>
        </p:grpSpPr>
        <p:sp>
          <p:nvSpPr>
            <p:cNvPr id="696" name="Google Shape;696;p153"/>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7" name="Google Shape;697;p153"/>
            <p:cNvGrpSpPr/>
            <p:nvPr/>
          </p:nvGrpSpPr>
          <p:grpSpPr>
            <a:xfrm>
              <a:off x="8588160" y="0"/>
              <a:ext cx="555480" cy="679680"/>
              <a:chOff x="8588160" y="0"/>
              <a:chExt cx="555480" cy="679680"/>
            </a:xfrm>
          </p:grpSpPr>
          <p:pic>
            <p:nvPicPr>
              <p:cNvPr id="698" name="Google Shape;698;p153"/>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699" name="Google Shape;699;p153"/>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54"/>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Domain Ontology Sample</a:t>
            </a:r>
            <a:endParaRPr b="0" i="0" sz="2100" u="none" cap="none" strike="noStrike">
              <a:solidFill>
                <a:srgbClr val="000000"/>
              </a:solidFill>
              <a:latin typeface="Arial"/>
              <a:ea typeface="Arial"/>
              <a:cs typeface="Arial"/>
              <a:sym typeface="Arial"/>
            </a:endParaRPr>
          </a:p>
        </p:txBody>
      </p:sp>
      <p:pic>
        <p:nvPicPr>
          <p:cNvPr id="705" name="Google Shape;705;p154"/>
          <p:cNvPicPr preferRelativeResize="0"/>
          <p:nvPr/>
        </p:nvPicPr>
        <p:blipFill rotWithShape="1">
          <a:blip r:embed="rId3">
            <a:alphaModFix/>
          </a:blip>
          <a:srcRect b="0" l="0" r="0" t="0"/>
          <a:stretch/>
        </p:blipFill>
        <p:spPr>
          <a:xfrm>
            <a:off x="977760" y="1073880"/>
            <a:ext cx="7297560" cy="3676320"/>
          </a:xfrm>
          <a:prstGeom prst="rect">
            <a:avLst/>
          </a:prstGeom>
          <a:noFill/>
          <a:ln>
            <a:noFill/>
          </a:ln>
        </p:spPr>
      </p:pic>
      <p:grpSp>
        <p:nvGrpSpPr>
          <p:cNvPr id="706" name="Google Shape;706;p154"/>
          <p:cNvGrpSpPr/>
          <p:nvPr/>
        </p:nvGrpSpPr>
        <p:grpSpPr>
          <a:xfrm>
            <a:off x="8549640" y="0"/>
            <a:ext cx="594000" cy="679680"/>
            <a:chOff x="8549640" y="0"/>
            <a:chExt cx="594000" cy="679680"/>
          </a:xfrm>
        </p:grpSpPr>
        <p:sp>
          <p:nvSpPr>
            <p:cNvPr id="707" name="Google Shape;707;p15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154"/>
            <p:cNvGrpSpPr/>
            <p:nvPr/>
          </p:nvGrpSpPr>
          <p:grpSpPr>
            <a:xfrm>
              <a:off x="8588160" y="0"/>
              <a:ext cx="555480" cy="679680"/>
              <a:chOff x="8588160" y="0"/>
              <a:chExt cx="555480" cy="679680"/>
            </a:xfrm>
          </p:grpSpPr>
          <p:pic>
            <p:nvPicPr>
              <p:cNvPr id="709" name="Google Shape;709;p154"/>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710" name="Google Shape;710;p15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55"/>
          <p:cNvSpPr txBox="1"/>
          <p:nvPr/>
        </p:nvSpPr>
        <p:spPr>
          <a:xfrm>
            <a:off x="457200" y="590400"/>
            <a:ext cx="8212320" cy="57132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None/>
            </a:pPr>
            <a:r>
              <a:rPr b="1" i="0" lang="en-US" sz="1890" u="none" cap="none" strike="noStrike">
                <a:solidFill>
                  <a:srgbClr val="000000"/>
                </a:solidFill>
                <a:latin typeface="Arial"/>
                <a:ea typeface="Arial"/>
                <a:cs typeface="Arial"/>
                <a:sym typeface="Arial"/>
              </a:rPr>
              <a:t>SID Ontology linked to dim_inventory_enodeb_norm_v0_anonymized</a:t>
            </a:r>
            <a:endParaRPr b="0" i="0" sz="1890" u="none" cap="none" strike="noStrike">
              <a:solidFill>
                <a:srgbClr val="000000"/>
              </a:solidFill>
              <a:latin typeface="Arial"/>
              <a:ea typeface="Arial"/>
              <a:cs typeface="Arial"/>
              <a:sym typeface="Arial"/>
            </a:endParaRPr>
          </a:p>
        </p:txBody>
      </p:sp>
      <p:pic>
        <p:nvPicPr>
          <p:cNvPr id="716" name="Google Shape;716;p155"/>
          <p:cNvPicPr preferRelativeResize="0"/>
          <p:nvPr/>
        </p:nvPicPr>
        <p:blipFill rotWithShape="1">
          <a:blip r:embed="rId3">
            <a:alphaModFix/>
          </a:blip>
          <a:srcRect b="0" l="0" r="0" t="0"/>
          <a:stretch/>
        </p:blipFill>
        <p:spPr>
          <a:xfrm>
            <a:off x="1355760" y="1073880"/>
            <a:ext cx="6541560" cy="3676320"/>
          </a:xfrm>
          <a:prstGeom prst="rect">
            <a:avLst/>
          </a:prstGeom>
          <a:noFill/>
          <a:ln>
            <a:noFill/>
          </a:ln>
        </p:spPr>
      </p:pic>
      <p:grpSp>
        <p:nvGrpSpPr>
          <p:cNvPr id="717" name="Google Shape;717;p155"/>
          <p:cNvGrpSpPr/>
          <p:nvPr/>
        </p:nvGrpSpPr>
        <p:grpSpPr>
          <a:xfrm>
            <a:off x="8549640" y="0"/>
            <a:ext cx="594000" cy="679680"/>
            <a:chOff x="8549640" y="0"/>
            <a:chExt cx="594000" cy="679680"/>
          </a:xfrm>
        </p:grpSpPr>
        <p:sp>
          <p:nvSpPr>
            <p:cNvPr id="718" name="Google Shape;718;p15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9" name="Google Shape;719;p155"/>
            <p:cNvGrpSpPr/>
            <p:nvPr/>
          </p:nvGrpSpPr>
          <p:grpSpPr>
            <a:xfrm>
              <a:off x="8588160" y="0"/>
              <a:ext cx="555480" cy="679680"/>
              <a:chOff x="8588160" y="0"/>
              <a:chExt cx="555480" cy="679680"/>
            </a:xfrm>
          </p:grpSpPr>
          <p:pic>
            <p:nvPicPr>
              <p:cNvPr id="720" name="Google Shape;720;p155"/>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721" name="Google Shape;721;p15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56"/>
          <p:cNvSpPr txBox="1"/>
          <p:nvPr/>
        </p:nvSpPr>
        <p:spPr>
          <a:xfrm>
            <a:off x="457200" y="590400"/>
            <a:ext cx="7086240" cy="571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Demo Model Mapping with Attributes</a:t>
            </a:r>
            <a:endParaRPr b="0" i="0" sz="2100" u="none" cap="none" strike="noStrike">
              <a:solidFill>
                <a:srgbClr val="000000"/>
              </a:solidFill>
              <a:latin typeface="Arial"/>
              <a:ea typeface="Arial"/>
              <a:cs typeface="Arial"/>
              <a:sym typeface="Arial"/>
            </a:endParaRPr>
          </a:p>
        </p:txBody>
      </p:sp>
      <p:pic>
        <p:nvPicPr>
          <p:cNvPr id="727" name="Google Shape;727;p156"/>
          <p:cNvPicPr preferRelativeResize="0"/>
          <p:nvPr/>
        </p:nvPicPr>
        <p:blipFill rotWithShape="1">
          <a:blip r:embed="rId3">
            <a:alphaModFix/>
          </a:blip>
          <a:srcRect b="0" l="0" r="0" t="0"/>
          <a:stretch/>
        </p:blipFill>
        <p:spPr>
          <a:xfrm>
            <a:off x="2687400" y="987120"/>
            <a:ext cx="4150440" cy="3676320"/>
          </a:xfrm>
          <a:prstGeom prst="rect">
            <a:avLst/>
          </a:prstGeom>
          <a:noFill/>
          <a:ln>
            <a:noFill/>
          </a:ln>
        </p:spPr>
      </p:pic>
      <p:grpSp>
        <p:nvGrpSpPr>
          <p:cNvPr id="728" name="Google Shape;728;p156"/>
          <p:cNvGrpSpPr/>
          <p:nvPr/>
        </p:nvGrpSpPr>
        <p:grpSpPr>
          <a:xfrm>
            <a:off x="8549640" y="0"/>
            <a:ext cx="594000" cy="679680"/>
            <a:chOff x="8549640" y="0"/>
            <a:chExt cx="594000" cy="679680"/>
          </a:xfrm>
        </p:grpSpPr>
        <p:sp>
          <p:nvSpPr>
            <p:cNvPr id="729" name="Google Shape;729;p15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0" name="Google Shape;730;p156"/>
            <p:cNvGrpSpPr/>
            <p:nvPr/>
          </p:nvGrpSpPr>
          <p:grpSpPr>
            <a:xfrm>
              <a:off x="8588160" y="0"/>
              <a:ext cx="555480" cy="679680"/>
              <a:chOff x="8588160" y="0"/>
              <a:chExt cx="555480" cy="679680"/>
            </a:xfrm>
          </p:grpSpPr>
          <p:pic>
            <p:nvPicPr>
              <p:cNvPr id="731" name="Google Shape;731;p156"/>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732" name="Google Shape;732;p15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57"/>
          <p:cNvSpPr txBox="1"/>
          <p:nvPr/>
        </p:nvSpPr>
        <p:spPr>
          <a:xfrm>
            <a:off x="457200" y="594360"/>
            <a:ext cx="7086300" cy="14133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4000" u="none" cap="none" strike="noStrike">
                <a:solidFill>
                  <a:schemeClr val="dk2"/>
                </a:solidFill>
                <a:latin typeface="Arial"/>
                <a:ea typeface="Arial"/>
                <a:cs typeface="Arial"/>
                <a:sym typeface="Arial"/>
              </a:rPr>
              <a:t>Appendix: Overview</a:t>
            </a:r>
            <a:endParaRPr b="0" i="0" sz="4000" u="none" cap="none" strike="noStrik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58"/>
          <p:cNvSpPr txBox="1"/>
          <p:nvPr/>
        </p:nvSpPr>
        <p:spPr>
          <a:xfrm>
            <a:off x="457200" y="155520"/>
            <a:ext cx="483660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Context Matters!</a:t>
            </a:r>
            <a:endParaRPr b="0" i="0" sz="1800" u="none" cap="none" strike="noStrike">
              <a:solidFill>
                <a:srgbClr val="000000"/>
              </a:solidFill>
              <a:latin typeface="Arial"/>
              <a:ea typeface="Arial"/>
              <a:cs typeface="Arial"/>
              <a:sym typeface="Arial"/>
            </a:endParaRPr>
          </a:p>
        </p:txBody>
      </p:sp>
      <p:pic>
        <p:nvPicPr>
          <p:cNvPr id="743" name="Google Shape;743;p158"/>
          <p:cNvPicPr preferRelativeResize="0"/>
          <p:nvPr/>
        </p:nvPicPr>
        <p:blipFill rotWithShape="1">
          <a:blip r:embed="rId3">
            <a:alphaModFix/>
          </a:blip>
          <a:srcRect b="0" l="0" r="0" t="0"/>
          <a:stretch/>
        </p:blipFill>
        <p:spPr>
          <a:xfrm>
            <a:off x="2405520" y="590400"/>
            <a:ext cx="3858480" cy="4438080"/>
          </a:xfrm>
          <a:prstGeom prst="rect">
            <a:avLst/>
          </a:prstGeom>
          <a:noFill/>
          <a:ln>
            <a:noFill/>
          </a:ln>
        </p:spPr>
      </p:pic>
      <p:grpSp>
        <p:nvGrpSpPr>
          <p:cNvPr id="744" name="Google Shape;744;p158"/>
          <p:cNvGrpSpPr/>
          <p:nvPr/>
        </p:nvGrpSpPr>
        <p:grpSpPr>
          <a:xfrm>
            <a:off x="8549640" y="0"/>
            <a:ext cx="594000" cy="679680"/>
            <a:chOff x="8549640" y="0"/>
            <a:chExt cx="594000" cy="679680"/>
          </a:xfrm>
        </p:grpSpPr>
        <p:sp>
          <p:nvSpPr>
            <p:cNvPr id="745" name="Google Shape;745;p15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6" name="Google Shape;746;p158"/>
            <p:cNvGrpSpPr/>
            <p:nvPr/>
          </p:nvGrpSpPr>
          <p:grpSpPr>
            <a:xfrm>
              <a:off x="8588160" y="0"/>
              <a:ext cx="555480" cy="679680"/>
              <a:chOff x="8588160" y="0"/>
              <a:chExt cx="555480" cy="679680"/>
            </a:xfrm>
          </p:grpSpPr>
          <p:pic>
            <p:nvPicPr>
              <p:cNvPr id="747" name="Google Shape;747;p158"/>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748" name="Google Shape;748;p15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59"/>
          <p:cNvSpPr txBox="1"/>
          <p:nvPr/>
        </p:nvSpPr>
        <p:spPr>
          <a:xfrm>
            <a:off x="608760" y="155520"/>
            <a:ext cx="483660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Governance?</a:t>
            </a:r>
            <a:endParaRPr b="0" i="0" sz="1800" u="none" cap="none" strike="noStrike">
              <a:solidFill>
                <a:srgbClr val="000000"/>
              </a:solidFill>
              <a:latin typeface="Arial"/>
              <a:ea typeface="Arial"/>
              <a:cs typeface="Arial"/>
              <a:sym typeface="Arial"/>
            </a:endParaRPr>
          </a:p>
        </p:txBody>
      </p:sp>
      <p:sp>
        <p:nvSpPr>
          <p:cNvPr id="754" name="Google Shape;754;p159"/>
          <p:cNvSpPr/>
          <p:nvPr/>
        </p:nvSpPr>
        <p:spPr>
          <a:xfrm>
            <a:off x="402480" y="941760"/>
            <a:ext cx="8194680" cy="331596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Semantic Governance helps users access data using </a:t>
            </a:r>
            <a:r>
              <a:rPr b="1" i="0" lang="en-US" sz="1500" u="none" cap="none" strike="noStrike">
                <a:solidFill>
                  <a:srgbClr val="747676"/>
                </a:solidFill>
                <a:latin typeface="Arial"/>
                <a:ea typeface="Arial"/>
                <a:cs typeface="Arial"/>
                <a:sym typeface="Arial"/>
              </a:rPr>
              <a:t>familiar terms</a:t>
            </a:r>
            <a:r>
              <a:rPr b="0" i="0" lang="en-US" sz="1500" u="none" cap="none" strike="noStrike">
                <a:solidFill>
                  <a:srgbClr val="747676"/>
                </a:solidFill>
                <a:latin typeface="Arial"/>
                <a:ea typeface="Arial"/>
                <a:cs typeface="Arial"/>
                <a:sym typeface="Arial"/>
              </a:rPr>
              <a:t> (not necessarily those in the glossary of terms in a catalog or perhaps an enterprise dictionary). Semantics are associated with a point of view (</a:t>
            </a:r>
            <a:r>
              <a:rPr b="1" i="0" lang="en-US" sz="1500" u="none" cap="none" strike="noStrike">
                <a:solidFill>
                  <a:srgbClr val="747676"/>
                </a:solidFill>
                <a:latin typeface="Arial"/>
                <a:ea typeface="Arial"/>
                <a:cs typeface="Arial"/>
                <a:sym typeface="Arial"/>
              </a:rPr>
              <a:t>POV</a:t>
            </a:r>
            <a:r>
              <a:rPr b="0" i="0" lang="en-US" sz="1500" u="none" cap="none" strike="noStrike">
                <a:solidFill>
                  <a:srgbClr val="747676"/>
                </a:solidFill>
                <a:latin typeface="Arial"/>
                <a:ea typeface="Arial"/>
                <a:cs typeface="Arial"/>
                <a:sym typeface="Arial"/>
              </a:rPr>
              <a:t>) for a persona and/or a point in context (</a:t>
            </a:r>
            <a:r>
              <a:rPr b="1" i="0" lang="en-US" sz="1500" u="none" cap="none" strike="noStrike">
                <a:solidFill>
                  <a:srgbClr val="747676"/>
                </a:solidFill>
                <a:latin typeface="Arial"/>
                <a:ea typeface="Arial"/>
                <a:cs typeface="Arial"/>
                <a:sym typeface="Arial"/>
              </a:rPr>
              <a:t>scenario</a:t>
            </a:r>
            <a:r>
              <a:rPr b="0" i="0" lang="en-US" sz="1500" u="none" cap="none" strike="noStrike">
                <a:solidFill>
                  <a:srgbClr val="747676"/>
                </a:solidFill>
                <a:latin typeface="Arial"/>
                <a:ea typeface="Arial"/>
                <a:cs typeface="Arial"/>
                <a:sym typeface="Arial"/>
              </a:rPr>
              <a:t>). But, it's more than just simple mapping of terms. It extends to phrases that can be interpreted and mapped to complex data. The semantic layer provides contextual relevance for our analytics so we can harmonize points of view into a holistic and consistent understanding.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HOW:</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In order to achieve a consistent meaning of content it must be informed by context that is relevant (mapped to terms that are familiar to Personas) across the organization.  Requires a disciplined effort to curate both the semantics and their mappings to our structured vocabularies and ontologies.</a:t>
            </a:r>
            <a:endParaRPr b="0" i="0" sz="1500" u="none" cap="none" strike="noStrike">
              <a:latin typeface="Arial"/>
              <a:ea typeface="Arial"/>
              <a:cs typeface="Arial"/>
              <a:sym typeface="Arial"/>
            </a:endParaRPr>
          </a:p>
        </p:txBody>
      </p:sp>
      <p:sp>
        <p:nvSpPr>
          <p:cNvPr id="755" name="Google Shape;755;p159"/>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What</a:t>
            </a:r>
            <a:endParaRPr b="0" i="0" sz="1400" u="none" cap="none" strike="noStrike">
              <a:latin typeface="Arial"/>
              <a:ea typeface="Arial"/>
              <a:cs typeface="Arial"/>
              <a:sym typeface="Arial"/>
            </a:endParaRPr>
          </a:p>
        </p:txBody>
      </p:sp>
      <p:grpSp>
        <p:nvGrpSpPr>
          <p:cNvPr id="756" name="Google Shape;756;p159"/>
          <p:cNvGrpSpPr/>
          <p:nvPr/>
        </p:nvGrpSpPr>
        <p:grpSpPr>
          <a:xfrm>
            <a:off x="8549640" y="0"/>
            <a:ext cx="594000" cy="679680"/>
            <a:chOff x="8549640" y="0"/>
            <a:chExt cx="594000" cy="679680"/>
          </a:xfrm>
        </p:grpSpPr>
        <p:sp>
          <p:nvSpPr>
            <p:cNvPr id="757" name="Google Shape;757;p15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 name="Google Shape;758;p159"/>
            <p:cNvGrpSpPr/>
            <p:nvPr/>
          </p:nvGrpSpPr>
          <p:grpSpPr>
            <a:xfrm>
              <a:off x="8588160" y="0"/>
              <a:ext cx="555480" cy="679680"/>
              <a:chOff x="8588160" y="0"/>
              <a:chExt cx="555480" cy="679680"/>
            </a:xfrm>
          </p:grpSpPr>
          <p:pic>
            <p:nvPicPr>
              <p:cNvPr id="759" name="Google Shape;759;p159"/>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760" name="Google Shape;760;p15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60"/>
          <p:cNvSpPr txBox="1"/>
          <p:nvPr/>
        </p:nvSpPr>
        <p:spPr>
          <a:xfrm>
            <a:off x="679320" y="154080"/>
            <a:ext cx="5441400" cy="85896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Why invest in a Semantic Governance?</a:t>
            </a:r>
            <a:endParaRPr b="0" i="0" sz="1800" u="none" cap="none" strike="noStrike">
              <a:solidFill>
                <a:srgbClr val="000000"/>
              </a:solidFill>
              <a:latin typeface="Arial"/>
              <a:ea typeface="Arial"/>
              <a:cs typeface="Arial"/>
              <a:sym typeface="Arial"/>
            </a:endParaRPr>
          </a:p>
        </p:txBody>
      </p:sp>
      <p:sp>
        <p:nvSpPr>
          <p:cNvPr id="766" name="Google Shape;766;p160"/>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Why</a:t>
            </a:r>
            <a:endParaRPr b="0" i="0" sz="1400" u="none" cap="none" strike="noStrike">
              <a:latin typeface="Arial"/>
              <a:ea typeface="Arial"/>
              <a:cs typeface="Arial"/>
              <a:sym typeface="Arial"/>
            </a:endParaRPr>
          </a:p>
        </p:txBody>
      </p:sp>
      <p:sp>
        <p:nvSpPr>
          <p:cNvPr id="767" name="Google Shape;767;p160"/>
          <p:cNvSpPr/>
          <p:nvPr/>
        </p:nvSpPr>
        <p:spPr>
          <a:xfrm>
            <a:off x="457200" y="694080"/>
            <a:ext cx="7141320" cy="296064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 can it do for me?</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Aggregates, integrates, and organizes data and information to create a unified view, making it easily accessible for decision-makers by providing relevant insights and context at the right time.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Provides a structured way to represent information to model relationships, context, and hierarchies to enhance learning, curate context, and connect structured and unstructured  data to help AI understand and interpret data and information to deliver meaningful insights.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Supports continuous learning for AI so it can adapt as new data, context, and information become available and improves insight delivery by enhancing transparency and explainability.</a:t>
            </a:r>
            <a:endParaRPr b="0" i="0" sz="1500" u="none" cap="none" strike="noStrike">
              <a:latin typeface="Arial"/>
              <a:ea typeface="Arial"/>
              <a:cs typeface="Arial"/>
              <a:sym typeface="Arial"/>
            </a:endParaRPr>
          </a:p>
        </p:txBody>
      </p:sp>
      <p:grpSp>
        <p:nvGrpSpPr>
          <p:cNvPr id="768" name="Google Shape;768;p160"/>
          <p:cNvGrpSpPr/>
          <p:nvPr/>
        </p:nvGrpSpPr>
        <p:grpSpPr>
          <a:xfrm>
            <a:off x="8549640" y="0"/>
            <a:ext cx="594000" cy="679680"/>
            <a:chOff x="8549640" y="0"/>
            <a:chExt cx="594000" cy="679680"/>
          </a:xfrm>
        </p:grpSpPr>
        <p:sp>
          <p:nvSpPr>
            <p:cNvPr id="769" name="Google Shape;769;p16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0" name="Google Shape;770;p160"/>
            <p:cNvGrpSpPr/>
            <p:nvPr/>
          </p:nvGrpSpPr>
          <p:grpSpPr>
            <a:xfrm>
              <a:off x="8588160" y="0"/>
              <a:ext cx="555480" cy="679680"/>
              <a:chOff x="8588160" y="0"/>
              <a:chExt cx="555480" cy="679680"/>
            </a:xfrm>
          </p:grpSpPr>
          <p:pic>
            <p:nvPicPr>
              <p:cNvPr id="771" name="Google Shape;771;p160"/>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772" name="Google Shape;772;p16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1"/>
          <p:cNvSpPr txBox="1"/>
          <p:nvPr/>
        </p:nvSpPr>
        <p:spPr>
          <a:xfrm>
            <a:off x="675360" y="15552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How will Semantic Governance help VZ?</a:t>
            </a:r>
            <a:endParaRPr b="0" i="0" sz="1800" u="none" cap="none" strike="noStrike">
              <a:solidFill>
                <a:srgbClr val="000000"/>
              </a:solidFill>
              <a:latin typeface="Arial"/>
              <a:ea typeface="Arial"/>
              <a:cs typeface="Arial"/>
              <a:sym typeface="Arial"/>
            </a:endParaRPr>
          </a:p>
        </p:txBody>
      </p:sp>
      <p:sp>
        <p:nvSpPr>
          <p:cNvPr id="778" name="Google Shape;778;p161"/>
          <p:cNvSpPr/>
          <p:nvPr/>
        </p:nvSpPr>
        <p:spPr>
          <a:xfrm>
            <a:off x="457200" y="720000"/>
            <a:ext cx="8194680" cy="357012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Key Outcomes:</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Consistent | Connected | Clear understanding about what changed, why things changed, and who might be impacted.  Ensure our Data is FAIR (next slide) and Consumable (search &amp; understand).</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We could leverage the semantic layer to </a:t>
            </a:r>
            <a:r>
              <a:rPr b="1" i="0" lang="en-US" sz="1500" u="none" cap="none" strike="noStrike">
                <a:solidFill>
                  <a:srgbClr val="747676"/>
                </a:solidFill>
                <a:latin typeface="Arial"/>
                <a:ea typeface="Arial"/>
                <a:cs typeface="Arial"/>
                <a:sym typeface="Arial"/>
              </a:rPr>
              <a:t>reduce ambiguity</a:t>
            </a:r>
            <a:r>
              <a:rPr b="0" i="0" lang="en-US" sz="1500" u="none" cap="none" strike="noStrike">
                <a:solidFill>
                  <a:srgbClr val="747676"/>
                </a:solidFill>
                <a:latin typeface="Arial"/>
                <a:ea typeface="Arial"/>
                <a:cs typeface="Arial"/>
                <a:sym typeface="Arial"/>
              </a:rPr>
              <a:t> with different reports about the same topic (for example: Customer Churn could generate multiple reports showing various perspectives, where each is correct but only result in confusion until they are contextually harmonized so we can clarify meaning across a complex set of factors. )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Goal:</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Deliver </a:t>
            </a:r>
            <a:r>
              <a:rPr b="1" i="0" lang="en-US" sz="1500" u="none" cap="none" strike="noStrike">
                <a:solidFill>
                  <a:srgbClr val="747676"/>
                </a:solidFill>
                <a:latin typeface="Arial"/>
                <a:ea typeface="Arial"/>
                <a:cs typeface="Arial"/>
                <a:sym typeface="Arial"/>
              </a:rPr>
              <a:t>adaptable</a:t>
            </a:r>
            <a:r>
              <a:rPr b="0" i="0" lang="en-US" sz="1500" u="none" cap="none" strike="noStrike">
                <a:solidFill>
                  <a:srgbClr val="747676"/>
                </a:solidFill>
                <a:latin typeface="Arial"/>
                <a:ea typeface="Arial"/>
                <a:cs typeface="Arial"/>
                <a:sym typeface="Arial"/>
              </a:rPr>
              <a:t> services, processes, systems, analytics, UX, and CX and </a:t>
            </a:r>
            <a:r>
              <a:rPr b="1" i="0" lang="en-US" sz="1500" u="none" cap="none" strike="noStrike">
                <a:solidFill>
                  <a:srgbClr val="747676"/>
                </a:solidFill>
                <a:latin typeface="Arial"/>
                <a:ea typeface="Arial"/>
                <a:cs typeface="Arial"/>
                <a:sym typeface="Arial"/>
              </a:rPr>
              <a:t>accelerate decision making</a:t>
            </a:r>
            <a:r>
              <a:rPr b="0" i="0" lang="en-US" sz="1500" u="none" cap="none" strike="noStrike">
                <a:solidFill>
                  <a:srgbClr val="747676"/>
                </a:solidFill>
                <a:latin typeface="Arial"/>
                <a:ea typeface="Arial"/>
                <a:cs typeface="Arial"/>
                <a:sym typeface="Arial"/>
              </a:rPr>
              <a:t> across the organization.</a:t>
            </a:r>
            <a:endParaRPr b="0" i="0" sz="1500" u="none" cap="none" strike="noStrike">
              <a:latin typeface="Arial"/>
              <a:ea typeface="Arial"/>
              <a:cs typeface="Arial"/>
              <a:sym typeface="Arial"/>
            </a:endParaRPr>
          </a:p>
        </p:txBody>
      </p:sp>
      <p:sp>
        <p:nvSpPr>
          <p:cNvPr id="779" name="Google Shape;779;p161"/>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780" name="Google Shape;780;p161"/>
          <p:cNvGrpSpPr/>
          <p:nvPr/>
        </p:nvGrpSpPr>
        <p:grpSpPr>
          <a:xfrm>
            <a:off x="8549640" y="0"/>
            <a:ext cx="594000" cy="679680"/>
            <a:chOff x="8549640" y="0"/>
            <a:chExt cx="594000" cy="679680"/>
          </a:xfrm>
        </p:grpSpPr>
        <p:sp>
          <p:nvSpPr>
            <p:cNvPr id="781" name="Google Shape;781;p161"/>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2" name="Google Shape;782;p161"/>
            <p:cNvGrpSpPr/>
            <p:nvPr/>
          </p:nvGrpSpPr>
          <p:grpSpPr>
            <a:xfrm>
              <a:off x="8588160" y="0"/>
              <a:ext cx="555480" cy="679680"/>
              <a:chOff x="8588160" y="0"/>
              <a:chExt cx="555480" cy="679680"/>
            </a:xfrm>
          </p:grpSpPr>
          <p:pic>
            <p:nvPicPr>
              <p:cNvPr id="783" name="Google Shape;783;p161"/>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784" name="Google Shape;784;p161"/>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162"/>
          <p:cNvSpPr txBox="1"/>
          <p:nvPr/>
        </p:nvSpPr>
        <p:spPr>
          <a:xfrm>
            <a:off x="762120" y="137520"/>
            <a:ext cx="5314680" cy="282240"/>
          </a:xfrm>
          <a:prstGeom prst="rect">
            <a:avLst/>
          </a:prstGeom>
          <a:noFill/>
          <a:ln>
            <a:noFill/>
          </a:ln>
        </p:spPr>
        <p:txBody>
          <a:bodyPr anchorCtr="0" anchor="ctr" bIns="34200" lIns="68400" spcFirstLastPara="1" rIns="68400" wrap="square" tIns="34200">
            <a:normAutofit/>
          </a:bodyPr>
          <a:lstStyle/>
          <a:p>
            <a:pPr indent="0" lvl="0" marL="0" marR="0" rtl="0" algn="l">
              <a:lnSpc>
                <a:spcPct val="90000"/>
              </a:lnSpc>
              <a:spcBef>
                <a:spcPts val="0"/>
              </a:spcBef>
              <a:spcAft>
                <a:spcPts val="0"/>
              </a:spcAft>
              <a:buNone/>
            </a:pPr>
            <a:r>
              <a:rPr b="1" i="0" lang="en-US" sz="1800" u="sng" cap="none" strike="noStrike">
                <a:solidFill>
                  <a:schemeClr val="hlink"/>
                </a:solidFill>
                <a:latin typeface="Arial"/>
                <a:ea typeface="Arial"/>
                <a:cs typeface="Arial"/>
                <a:sym typeface="Arial"/>
                <a:hlinkClick r:id="rId3"/>
              </a:rPr>
              <a:t>FAIR</a:t>
            </a:r>
            <a:r>
              <a:rPr b="1" i="0" lang="en-US" sz="1800" u="none" cap="none" strike="noStrike">
                <a:solidFill>
                  <a:srgbClr val="000000"/>
                </a:solidFill>
                <a:latin typeface="Arial"/>
                <a:ea typeface="Arial"/>
                <a:cs typeface="Arial"/>
                <a:sym typeface="Arial"/>
              </a:rPr>
              <a:t>-ification of Data</a:t>
            </a:r>
            <a:endParaRPr b="0" i="0" sz="1800" u="none" cap="none" strike="noStrike">
              <a:solidFill>
                <a:srgbClr val="000000"/>
              </a:solidFill>
              <a:latin typeface="Arial"/>
              <a:ea typeface="Arial"/>
              <a:cs typeface="Arial"/>
              <a:sym typeface="Arial"/>
            </a:endParaRPr>
          </a:p>
        </p:txBody>
      </p:sp>
      <p:sp>
        <p:nvSpPr>
          <p:cNvPr id="790" name="Google Shape;790;p162"/>
          <p:cNvSpPr txBox="1"/>
          <p:nvPr/>
        </p:nvSpPr>
        <p:spPr>
          <a:xfrm>
            <a:off x="553320" y="702720"/>
            <a:ext cx="3870360" cy="1477440"/>
          </a:xfrm>
          <a:prstGeom prst="rect">
            <a:avLst/>
          </a:prstGeom>
          <a:noFill/>
          <a:ln cap="flat" cmpd="sng" w="28425">
            <a:solidFill>
              <a:srgbClr val="7F7F7F"/>
            </a:solidFill>
            <a:prstDash val="solid"/>
            <a:round/>
            <a:headEnd len="sm" w="sm" type="none"/>
            <a:tailEnd len="sm" w="sm" type="none"/>
          </a:ln>
        </p:spPr>
        <p:txBody>
          <a:bodyPr anchorCtr="0" anchor="t" bIns="34200" lIns="68400" spcFirstLastPara="1" rIns="68400" wrap="square" tIns="34200">
            <a:noAutofit/>
          </a:bodyPr>
          <a:lstStyle/>
          <a:p>
            <a:pPr indent="0" lvl="0" marL="0" marR="0" rtl="0" algn="l">
              <a:lnSpc>
                <a:spcPct val="70000"/>
              </a:lnSpc>
              <a:spcBef>
                <a:spcPts val="0"/>
              </a:spcBef>
              <a:spcAft>
                <a:spcPts val="0"/>
              </a:spcAft>
              <a:buNone/>
            </a:pPr>
            <a:r>
              <a:rPr b="1" i="0" lang="en-US" sz="1400" u="none" cap="none" strike="noStrike">
                <a:solidFill>
                  <a:srgbClr val="777777"/>
                </a:solidFill>
                <a:latin typeface="Arial"/>
                <a:ea typeface="Arial"/>
                <a:cs typeface="Arial"/>
                <a:sym typeface="Arial"/>
              </a:rPr>
              <a:t>Findable </a:t>
            </a:r>
            <a:endParaRPr b="0" i="0" sz="1400" u="none" cap="none" strike="noStrike">
              <a:solidFill>
                <a:srgbClr val="000000"/>
              </a:solidFill>
              <a:latin typeface="Arial"/>
              <a:ea typeface="Arial"/>
              <a:cs typeface="Arial"/>
              <a:sym typeface="Arial"/>
            </a:endParaRPr>
          </a:p>
          <a:p>
            <a:pPr indent="-164880" lvl="0" marL="177840" marR="0" rtl="0" algn="l">
              <a:lnSpc>
                <a:spcPct val="7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(Meta)data based on W3C Semantic standards</a:t>
            </a:r>
            <a:endParaRPr b="0" i="0" sz="1400" u="none" cap="none" strike="noStrike">
              <a:solidFill>
                <a:srgbClr val="000000"/>
              </a:solidFill>
              <a:latin typeface="Arial"/>
              <a:ea typeface="Arial"/>
              <a:cs typeface="Arial"/>
              <a:sym typeface="Arial"/>
            </a:endParaRPr>
          </a:p>
          <a:p>
            <a:pPr indent="-164880" lvl="0" marL="177840" marR="0" rtl="0" algn="l">
              <a:lnSpc>
                <a:spcPct val="7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Persistent identifiers (URIs / IRIs)</a:t>
            </a:r>
            <a:endParaRPr b="0" i="0" sz="1400" u="none" cap="none" strike="noStrike">
              <a:solidFill>
                <a:srgbClr val="000000"/>
              </a:solidFill>
              <a:latin typeface="Arial"/>
              <a:ea typeface="Arial"/>
              <a:cs typeface="Arial"/>
              <a:sym typeface="Arial"/>
            </a:endParaRPr>
          </a:p>
          <a:p>
            <a:pPr indent="-164880" lvl="0" marL="177840" marR="0" rtl="0" algn="l">
              <a:lnSpc>
                <a:spcPct val="7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RDF-based metadata</a:t>
            </a:r>
            <a:endParaRPr b="0" i="0" sz="1400" u="none" cap="none" strike="noStrike">
              <a:solidFill>
                <a:srgbClr val="000000"/>
              </a:solidFill>
              <a:latin typeface="Arial"/>
              <a:ea typeface="Arial"/>
              <a:cs typeface="Arial"/>
              <a:sym typeface="Arial"/>
            </a:endParaRPr>
          </a:p>
        </p:txBody>
      </p:sp>
      <p:sp>
        <p:nvSpPr>
          <p:cNvPr id="791" name="Google Shape;791;p162"/>
          <p:cNvSpPr/>
          <p:nvPr/>
        </p:nvSpPr>
        <p:spPr>
          <a:xfrm>
            <a:off x="4719960" y="702720"/>
            <a:ext cx="3870360" cy="1477440"/>
          </a:xfrm>
          <a:prstGeom prst="rect">
            <a:avLst/>
          </a:prstGeom>
          <a:noFill/>
          <a:ln cap="flat" cmpd="sng" w="28425">
            <a:solidFill>
              <a:srgbClr val="7F7F7F"/>
            </a:solidFill>
            <a:prstDash val="solid"/>
            <a:round/>
            <a:headEnd len="sm" w="sm" type="none"/>
            <a:tailEnd len="sm" w="sm" type="none"/>
          </a:ln>
        </p:spPr>
        <p:txBody>
          <a:bodyPr anchorCtr="0" anchor="t" bIns="34200" lIns="68400" spcFirstLastPara="1" rIns="68400" wrap="square" tIns="34200">
            <a:noAutofit/>
          </a:bodyPr>
          <a:lstStyle/>
          <a:p>
            <a:pPr indent="0" lvl="0" marL="0" marR="0" rtl="0" algn="l">
              <a:lnSpc>
                <a:spcPct val="90000"/>
              </a:lnSpc>
              <a:spcBef>
                <a:spcPts val="0"/>
              </a:spcBef>
              <a:spcAft>
                <a:spcPts val="0"/>
              </a:spcAft>
              <a:buNone/>
            </a:pPr>
            <a:r>
              <a:rPr b="1" i="0" lang="en-US" sz="1400" u="none" cap="none" strike="noStrike">
                <a:solidFill>
                  <a:srgbClr val="777777"/>
                </a:solidFill>
                <a:latin typeface="Arial"/>
                <a:ea typeface="Arial"/>
                <a:cs typeface="Arial"/>
                <a:sym typeface="Arial"/>
              </a:rPr>
              <a:t>Interoperable</a:t>
            </a:r>
            <a:endParaRPr b="0" i="0" sz="1400" u="none" cap="none" strike="noStrike">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OWL-based ontologies</a:t>
            </a:r>
            <a:endParaRPr b="0" i="0" sz="1400" u="none" cap="none" strike="noStrike">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References and links to existing data sources</a:t>
            </a:r>
            <a:endParaRPr b="0" i="0" sz="1400" u="none" cap="none" strike="noStrike">
              <a:latin typeface="Arial"/>
              <a:ea typeface="Arial"/>
              <a:cs typeface="Arial"/>
              <a:sym typeface="Arial"/>
            </a:endParaRPr>
          </a:p>
        </p:txBody>
      </p:sp>
      <p:sp>
        <p:nvSpPr>
          <p:cNvPr id="792" name="Google Shape;792;p162"/>
          <p:cNvSpPr txBox="1"/>
          <p:nvPr/>
        </p:nvSpPr>
        <p:spPr>
          <a:xfrm>
            <a:off x="553320" y="2410920"/>
            <a:ext cx="3870360" cy="1477440"/>
          </a:xfrm>
          <a:prstGeom prst="rect">
            <a:avLst/>
          </a:prstGeom>
          <a:noFill/>
          <a:ln cap="flat" cmpd="sng" w="28425">
            <a:solidFill>
              <a:srgbClr val="7F7F7F"/>
            </a:solidFill>
            <a:prstDash val="solid"/>
            <a:round/>
            <a:headEnd len="sm" w="sm" type="none"/>
            <a:tailEnd len="sm" w="sm" type="none"/>
          </a:ln>
        </p:spPr>
        <p:txBody>
          <a:bodyPr anchorCtr="0" anchor="t" bIns="34200" lIns="68400" spcFirstLastPara="1" rIns="68400" wrap="square" tIns="34200">
            <a:normAutofit/>
          </a:bodyPr>
          <a:lstStyle/>
          <a:p>
            <a:pPr indent="0" lvl="0" marL="0" marR="0" rtl="0" algn="l">
              <a:lnSpc>
                <a:spcPct val="90000"/>
              </a:lnSpc>
              <a:spcBef>
                <a:spcPts val="0"/>
              </a:spcBef>
              <a:spcAft>
                <a:spcPts val="0"/>
              </a:spcAft>
              <a:buNone/>
            </a:pPr>
            <a:r>
              <a:rPr b="1" i="0" lang="en-US" sz="1400" u="none" cap="none" strike="noStrike">
                <a:solidFill>
                  <a:srgbClr val="777777"/>
                </a:solidFill>
                <a:latin typeface="Arial"/>
                <a:ea typeface="Arial"/>
                <a:cs typeface="Arial"/>
                <a:sym typeface="Arial"/>
              </a:rPr>
              <a:t>Accessible</a:t>
            </a:r>
            <a:endParaRPr b="0" i="0" sz="1400" u="none" cap="none" strike="noStrike">
              <a:solidFill>
                <a:srgbClr val="000000"/>
              </a:solidFill>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HTTP-resolvable URIs</a:t>
            </a:r>
            <a:endParaRPr b="0" i="0" sz="1400" u="none" cap="none" strike="noStrike">
              <a:solidFill>
                <a:srgbClr val="000000"/>
              </a:solidFill>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SPARQL Endpoint</a:t>
            </a:r>
            <a:endParaRPr b="0" i="0" sz="1400" u="none" cap="none" strike="noStrike">
              <a:solidFill>
                <a:srgbClr val="000000"/>
              </a:solidFill>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Linked Data Platform API</a:t>
            </a:r>
            <a:endParaRPr b="0" i="0" sz="1400" u="none" cap="none" strike="noStrike">
              <a:solidFill>
                <a:srgbClr val="000000"/>
              </a:solidFill>
              <a:latin typeface="Arial"/>
              <a:ea typeface="Arial"/>
              <a:cs typeface="Arial"/>
              <a:sym typeface="Arial"/>
            </a:endParaRPr>
          </a:p>
        </p:txBody>
      </p:sp>
      <p:sp>
        <p:nvSpPr>
          <p:cNvPr id="793" name="Google Shape;793;p162"/>
          <p:cNvSpPr/>
          <p:nvPr/>
        </p:nvSpPr>
        <p:spPr>
          <a:xfrm>
            <a:off x="4719960" y="2410920"/>
            <a:ext cx="3870360" cy="1477440"/>
          </a:xfrm>
          <a:prstGeom prst="rect">
            <a:avLst/>
          </a:prstGeom>
          <a:noFill/>
          <a:ln cap="flat" cmpd="sng" w="28425">
            <a:solidFill>
              <a:srgbClr val="7F7F7F"/>
            </a:solidFill>
            <a:prstDash val="solid"/>
            <a:round/>
            <a:headEnd len="sm" w="sm" type="none"/>
            <a:tailEnd len="sm" w="sm" type="none"/>
          </a:ln>
        </p:spPr>
        <p:txBody>
          <a:bodyPr anchorCtr="0" anchor="t" bIns="34200" lIns="68400" spcFirstLastPara="1" rIns="68400" wrap="square" tIns="34200">
            <a:noAutofit/>
          </a:bodyPr>
          <a:lstStyle/>
          <a:p>
            <a:pPr indent="0" lvl="0" marL="0" marR="0" rtl="0" algn="l">
              <a:lnSpc>
                <a:spcPct val="90000"/>
              </a:lnSpc>
              <a:spcBef>
                <a:spcPts val="0"/>
              </a:spcBef>
              <a:spcAft>
                <a:spcPts val="0"/>
              </a:spcAft>
              <a:buNone/>
            </a:pPr>
            <a:r>
              <a:rPr b="1" i="0" lang="en-US" sz="1400" u="none" cap="none" strike="noStrike">
                <a:solidFill>
                  <a:srgbClr val="777777"/>
                </a:solidFill>
                <a:latin typeface="Arial"/>
                <a:ea typeface="Arial"/>
                <a:cs typeface="Arial"/>
                <a:sym typeface="Arial"/>
              </a:rPr>
              <a:t>Re-usable</a:t>
            </a:r>
            <a:endParaRPr b="0" i="0" sz="1400" u="none" cap="none" strike="noStrike">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Use of established vocabularies for metadata</a:t>
            </a:r>
            <a:endParaRPr b="0" i="0" sz="1400" u="none" cap="none" strike="noStrike">
              <a:latin typeface="Arial"/>
              <a:ea typeface="Arial"/>
              <a:cs typeface="Arial"/>
              <a:sym typeface="Arial"/>
            </a:endParaRPr>
          </a:p>
          <a:p>
            <a:pPr indent="-164880" lvl="0" marL="177840" marR="0" rtl="0" algn="l">
              <a:lnSpc>
                <a:spcPct val="90000"/>
              </a:lnSpc>
              <a:spcBef>
                <a:spcPts val="799"/>
              </a:spcBef>
              <a:spcAft>
                <a:spcPts val="0"/>
              </a:spcAft>
              <a:buClr>
                <a:srgbClr val="777777"/>
              </a:buClr>
              <a:buSzPts val="1400"/>
              <a:buFont typeface="Arial"/>
              <a:buChar char="•"/>
            </a:pPr>
            <a:r>
              <a:rPr b="0" i="0" lang="en-US" sz="1400" u="none" cap="none" strike="noStrike">
                <a:solidFill>
                  <a:srgbClr val="777777"/>
                </a:solidFill>
                <a:latin typeface="Arial"/>
                <a:ea typeface="Arial"/>
                <a:cs typeface="Arial"/>
                <a:sym typeface="Arial"/>
              </a:rPr>
              <a:t>Management of data provenance (voID)</a:t>
            </a:r>
            <a:endParaRPr b="0" i="0" sz="1400" u="none" cap="none" strike="noStrike">
              <a:latin typeface="Arial"/>
              <a:ea typeface="Arial"/>
              <a:cs typeface="Arial"/>
              <a:sym typeface="Arial"/>
            </a:endParaRPr>
          </a:p>
        </p:txBody>
      </p:sp>
      <p:sp>
        <p:nvSpPr>
          <p:cNvPr id="794" name="Google Shape;794;p162"/>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Wow</a:t>
            </a:r>
            <a:endParaRPr b="0" i="0" sz="1400" u="none" cap="none" strike="noStrike">
              <a:latin typeface="Arial"/>
              <a:ea typeface="Arial"/>
              <a:cs typeface="Arial"/>
              <a:sym typeface="Arial"/>
            </a:endParaRPr>
          </a:p>
        </p:txBody>
      </p:sp>
      <p:grpSp>
        <p:nvGrpSpPr>
          <p:cNvPr id="795" name="Google Shape;795;p162"/>
          <p:cNvGrpSpPr/>
          <p:nvPr/>
        </p:nvGrpSpPr>
        <p:grpSpPr>
          <a:xfrm>
            <a:off x="8549640" y="0"/>
            <a:ext cx="594000" cy="679680"/>
            <a:chOff x="8549640" y="0"/>
            <a:chExt cx="594000" cy="679680"/>
          </a:xfrm>
        </p:grpSpPr>
        <p:sp>
          <p:nvSpPr>
            <p:cNvPr id="796" name="Google Shape;796;p16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7" name="Google Shape;797;p162"/>
            <p:cNvGrpSpPr/>
            <p:nvPr/>
          </p:nvGrpSpPr>
          <p:grpSpPr>
            <a:xfrm>
              <a:off x="8588160" y="0"/>
              <a:ext cx="555480" cy="679680"/>
              <a:chOff x="8588160" y="0"/>
              <a:chExt cx="555480" cy="679680"/>
            </a:xfrm>
          </p:grpSpPr>
          <p:pic>
            <p:nvPicPr>
              <p:cNvPr id="798" name="Google Shape;798;p162"/>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799" name="Google Shape;799;p16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63"/>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a:t>
            </a:r>
            <a:r>
              <a:rPr b="1" i="0" lang="en-US" sz="2100" u="none" cap="none" strike="noStrike">
                <a:solidFill>
                  <a:srgbClr val="000000"/>
                </a:solidFill>
                <a:latin typeface="Arial"/>
                <a:ea typeface="Arial"/>
                <a:cs typeface="Arial"/>
                <a:sym typeface="Arial"/>
              </a:rPr>
              <a:t>Target Outcomes</a:t>
            </a:r>
            <a:endParaRPr b="0" i="0" sz="2100" u="none" cap="none" strike="noStrike">
              <a:solidFill>
                <a:srgbClr val="000000"/>
              </a:solidFill>
              <a:latin typeface="Arial"/>
              <a:ea typeface="Arial"/>
              <a:cs typeface="Arial"/>
              <a:sym typeface="Arial"/>
            </a:endParaRPr>
          </a:p>
        </p:txBody>
      </p:sp>
      <p:sp>
        <p:nvSpPr>
          <p:cNvPr id="805" name="Google Shape;805;p163"/>
          <p:cNvSpPr txBox="1"/>
          <p:nvPr/>
        </p:nvSpPr>
        <p:spPr>
          <a:xfrm>
            <a:off x="470160" y="118836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Trusted BI &amp; AI</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Smarter, More Reliable AI &amp; Analytics </a:t>
            </a:r>
            <a:endParaRPr b="0" i="0" sz="900" u="none" cap="none" strike="noStrike">
              <a:solidFill>
                <a:srgbClr val="000000"/>
              </a:solidFill>
              <a:latin typeface="Arial"/>
              <a:ea typeface="Arial"/>
              <a:cs typeface="Arial"/>
              <a:sym typeface="Arial"/>
            </a:endParaRPr>
          </a:p>
        </p:txBody>
      </p:sp>
      <p:sp>
        <p:nvSpPr>
          <p:cNvPr id="806" name="Google Shape;806;p163"/>
          <p:cNvSpPr txBox="1"/>
          <p:nvPr/>
        </p:nvSpPr>
        <p:spPr>
          <a:xfrm>
            <a:off x="3247920" y="118836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Business Literacy</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A Single Source of Truth for Business Language</a:t>
            </a:r>
            <a:endParaRPr b="0" i="0" sz="900" u="none" cap="none" strike="noStrike">
              <a:solidFill>
                <a:srgbClr val="000000"/>
              </a:solidFill>
              <a:latin typeface="Arial"/>
              <a:ea typeface="Arial"/>
              <a:cs typeface="Arial"/>
              <a:sym typeface="Arial"/>
            </a:endParaRPr>
          </a:p>
        </p:txBody>
      </p:sp>
      <p:sp>
        <p:nvSpPr>
          <p:cNvPr id="807" name="Google Shape;807;p163"/>
          <p:cNvSpPr txBox="1"/>
          <p:nvPr/>
        </p:nvSpPr>
        <p:spPr>
          <a:xfrm>
            <a:off x="6012720" y="118836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Meaning at Scale </a:t>
            </a:r>
            <a:br>
              <a:rPr b="0" i="0" lang="en-US" sz="1800" u="none" cap="none" strike="noStrike"/>
            </a:br>
            <a:r>
              <a:rPr b="0" i="0" lang="en-US" sz="900" u="none" cap="none" strike="noStrike">
                <a:solidFill>
                  <a:srgbClr val="000000"/>
                </a:solidFill>
                <a:latin typeface="Arial"/>
                <a:ea typeface="Arial"/>
                <a:cs typeface="Arial"/>
                <a:sym typeface="Arial"/>
              </a:rPr>
              <a:t>Future-Proof, Standards-Based Knowledge</a:t>
            </a:r>
            <a:endParaRPr b="0" i="0" sz="900" u="none" cap="none" strike="noStrike">
              <a:solidFill>
                <a:srgbClr val="000000"/>
              </a:solidFill>
              <a:latin typeface="Arial"/>
              <a:ea typeface="Arial"/>
              <a:cs typeface="Arial"/>
              <a:sym typeface="Arial"/>
            </a:endParaRPr>
          </a:p>
        </p:txBody>
      </p:sp>
      <p:sp>
        <p:nvSpPr>
          <p:cNvPr id="808" name="Google Shape;808;p163"/>
          <p:cNvSpPr txBox="1"/>
          <p:nvPr/>
        </p:nvSpPr>
        <p:spPr>
          <a:xfrm>
            <a:off x="470160" y="263664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Improved Decision Making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More Informed Decisions, Faster</a:t>
            </a:r>
            <a:endParaRPr b="0" i="0" sz="900" u="none" cap="none" strike="noStrike">
              <a:solidFill>
                <a:srgbClr val="000000"/>
              </a:solidFill>
              <a:latin typeface="Arial"/>
              <a:ea typeface="Arial"/>
              <a:cs typeface="Arial"/>
              <a:sym typeface="Arial"/>
            </a:endParaRPr>
          </a:p>
        </p:txBody>
      </p:sp>
      <p:sp>
        <p:nvSpPr>
          <p:cNvPr id="809" name="Google Shape;809;p163"/>
          <p:cNvSpPr txBox="1"/>
          <p:nvPr/>
        </p:nvSpPr>
        <p:spPr>
          <a:xfrm>
            <a:off x="3247920" y="263664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Knowledge Preservation</a:t>
            </a:r>
            <a:r>
              <a:rPr b="1" i="0" lang="en-US" sz="900" u="none" cap="none" strike="noStrike">
                <a:solidFill>
                  <a:srgbClr val="F50A23"/>
                </a:solidFill>
                <a:latin typeface="Arial"/>
                <a:ea typeface="Arial"/>
                <a:cs typeface="Arial"/>
                <a:sym typeface="Arial"/>
              </a:rPr>
              <a:t>  </a:t>
            </a:r>
            <a:br>
              <a:rPr b="0" i="0" lang="en-US" sz="1800" u="none" cap="none" strike="noStrike"/>
            </a:br>
            <a:r>
              <a:rPr b="0" i="0" lang="en-US" sz="900" u="none" cap="none" strike="noStrike">
                <a:solidFill>
                  <a:srgbClr val="000000"/>
                </a:solidFill>
                <a:latin typeface="Arial"/>
                <a:ea typeface="Arial"/>
                <a:cs typeface="Arial"/>
                <a:sym typeface="Arial"/>
              </a:rPr>
              <a:t>Living Business Knowledge That Evolves With Us</a:t>
            </a:r>
            <a:endParaRPr b="0" i="0" sz="900" u="none" cap="none" strike="noStrike">
              <a:solidFill>
                <a:srgbClr val="000000"/>
              </a:solidFill>
              <a:latin typeface="Arial"/>
              <a:ea typeface="Arial"/>
              <a:cs typeface="Arial"/>
              <a:sym typeface="Arial"/>
            </a:endParaRPr>
          </a:p>
        </p:txBody>
      </p:sp>
      <p:sp>
        <p:nvSpPr>
          <p:cNvPr id="810" name="Google Shape;810;p163"/>
          <p:cNvSpPr txBox="1"/>
          <p:nvPr/>
        </p:nvSpPr>
        <p:spPr>
          <a:xfrm>
            <a:off x="6012720" y="263664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Align Business with Technology</a:t>
            </a:r>
            <a:br>
              <a:rPr b="0" i="0" lang="en-US" sz="1800" u="none" cap="none" strike="noStrike"/>
            </a:br>
            <a:r>
              <a:rPr b="0" i="0" lang="en-US" sz="900" u="none" cap="none" strike="noStrike">
                <a:solidFill>
                  <a:srgbClr val="000000"/>
                </a:solidFill>
                <a:latin typeface="Arial"/>
                <a:ea typeface="Arial"/>
                <a:cs typeface="Arial"/>
                <a:sym typeface="Arial"/>
              </a:rPr>
              <a:t>One Semantic Layer Connecting People and Systems</a:t>
            </a:r>
            <a:endParaRPr b="0" i="0" sz="900" u="none" cap="none" strike="noStrike">
              <a:solidFill>
                <a:srgbClr val="000000"/>
              </a:solidFill>
              <a:latin typeface="Arial"/>
              <a:ea typeface="Arial"/>
              <a:cs typeface="Arial"/>
              <a:sym typeface="Arial"/>
            </a:endParaRPr>
          </a:p>
        </p:txBody>
      </p:sp>
      <p:grpSp>
        <p:nvGrpSpPr>
          <p:cNvPr id="811" name="Google Shape;811;p163"/>
          <p:cNvGrpSpPr/>
          <p:nvPr/>
        </p:nvGrpSpPr>
        <p:grpSpPr>
          <a:xfrm>
            <a:off x="8549640" y="0"/>
            <a:ext cx="594000" cy="679680"/>
            <a:chOff x="8549640" y="0"/>
            <a:chExt cx="594000" cy="679680"/>
          </a:xfrm>
        </p:grpSpPr>
        <p:sp>
          <p:nvSpPr>
            <p:cNvPr id="812" name="Google Shape;812;p163"/>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163"/>
            <p:cNvGrpSpPr/>
            <p:nvPr/>
          </p:nvGrpSpPr>
          <p:grpSpPr>
            <a:xfrm>
              <a:off x="8588160" y="0"/>
              <a:ext cx="555480" cy="679680"/>
              <a:chOff x="8588160" y="0"/>
              <a:chExt cx="555480" cy="679680"/>
            </a:xfrm>
          </p:grpSpPr>
          <p:pic>
            <p:nvPicPr>
              <p:cNvPr id="814" name="Google Shape;814;p163"/>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15" name="Google Shape;815;p163"/>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64"/>
          <p:cNvSpPr txBox="1"/>
          <p:nvPr/>
        </p:nvSpPr>
        <p:spPr>
          <a:xfrm>
            <a:off x="457200" y="590400"/>
            <a:ext cx="7086240" cy="42804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a:t>
            </a:r>
            <a:r>
              <a:rPr b="1" i="0" lang="en-US" sz="2100" u="none" cap="none" strike="noStrike">
                <a:solidFill>
                  <a:srgbClr val="000000"/>
                </a:solidFill>
                <a:latin typeface="Arial"/>
                <a:ea typeface="Arial"/>
                <a:cs typeface="Arial"/>
                <a:sym typeface="Arial"/>
              </a:rPr>
              <a:t> Positioning</a:t>
            </a:r>
            <a:endParaRPr b="0" i="0" sz="2100" u="none" cap="none" strike="noStrike">
              <a:solidFill>
                <a:srgbClr val="000000"/>
              </a:solidFill>
              <a:latin typeface="Arial"/>
              <a:ea typeface="Arial"/>
              <a:cs typeface="Arial"/>
              <a:sym typeface="Arial"/>
            </a:endParaRPr>
          </a:p>
        </p:txBody>
      </p:sp>
      <p:graphicFrame>
        <p:nvGraphicFramePr>
          <p:cNvPr id="821" name="Google Shape;821;p164"/>
          <p:cNvGraphicFramePr/>
          <p:nvPr/>
        </p:nvGraphicFramePr>
        <p:xfrm>
          <a:off x="948600" y="1162080"/>
          <a:ext cx="3000000" cy="3000000"/>
        </p:xfrm>
        <a:graphic>
          <a:graphicData uri="http://schemas.openxmlformats.org/drawingml/2006/table">
            <a:tbl>
              <a:tblPr>
                <a:noFill/>
                <a:tableStyleId>{4DA24ACB-EA66-40C5-9E23-3781B2CCA6B0}</a:tableStyleId>
              </a:tblPr>
              <a:tblGrid>
                <a:gridCol w="1269000"/>
                <a:gridCol w="1564925"/>
                <a:gridCol w="1691650"/>
                <a:gridCol w="2025000"/>
              </a:tblGrid>
              <a:tr h="349925">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Type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What It Governs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Main Focus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C9DAF8"/>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SG’s Unique Impact</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C9DAF8"/>
                    </a:solidFill>
                  </a:tcPr>
                </a:tc>
              </a:tr>
              <a:tr h="5032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Governance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Quality &amp; access of raw data</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reliability, privacy, compliance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Ensures raw data is ready for modeling</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r h="5374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Metrics Governance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KPIs &amp; metric definitions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How metrics are calculated and displayed</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Makes metrics universally meaningful</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r h="434150">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Analytic Governance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Analytics tools, dashboards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Valid insights, trusted analytics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Guarantees context and consistency</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r h="560525">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AI Governance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Models, AI outputs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Ethical, explainable AI, bias prevention</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Feeds AI robust business meaning</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r h="303125">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Infrastructure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Pipelines, systems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Scalability, performance, uptime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Semantic layer abstracts complexity</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r h="422275">
                <a:tc>
                  <a:txBody>
                    <a:bodyPr/>
                    <a:lstStyle/>
                    <a:p>
                      <a:pPr indent="0" lvl="0" marL="0" marR="0" rtl="0" algn="l">
                        <a:lnSpc>
                          <a:spcPct val="100000"/>
                        </a:lnSpc>
                        <a:spcBef>
                          <a:spcPts val="0"/>
                        </a:spcBef>
                        <a:spcAft>
                          <a:spcPts val="0"/>
                        </a:spcAft>
                        <a:buNone/>
                      </a:pPr>
                      <a:r>
                        <a:rPr b="0" lang="en-US" sz="900" u="none" cap="none" strike="noStrike">
                          <a:solidFill>
                            <a:srgbClr val="F50A23"/>
                          </a:solidFill>
                          <a:latin typeface="Arial"/>
                          <a:ea typeface="Arial"/>
                          <a:cs typeface="Arial"/>
                          <a:sym typeface="Arial"/>
                        </a:rPr>
                        <a:t>Semantic Governance</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F50A23"/>
                          </a:solidFill>
                          <a:latin typeface="Arial"/>
                          <a:ea typeface="Arial"/>
                          <a:cs typeface="Arial"/>
                          <a:sym typeface="Arial"/>
                        </a:rPr>
                        <a:t>Metadata, relationships</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F50A23"/>
                          </a:solidFill>
                          <a:latin typeface="Arial"/>
                          <a:ea typeface="Arial"/>
                          <a:cs typeface="Arial"/>
                          <a:sym typeface="Arial"/>
                        </a:rPr>
                        <a:t>Context, definitions, traceability</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900" u="none" cap="none" strike="noStrike">
                          <a:solidFill>
                            <a:srgbClr val="222222"/>
                          </a:solidFill>
                          <a:latin typeface="Arial"/>
                          <a:ea typeface="Arial"/>
                          <a:cs typeface="Arial"/>
                          <a:sym typeface="Arial"/>
                        </a:rPr>
                        <a:t>Provides unified, actionable business logic—making all other governance efforts “intelligible” and interconnected</a:t>
                      </a:r>
                      <a:endParaRPr b="0" sz="900" u="none" cap="none" strike="noStrike">
                        <a:latin typeface="Arial"/>
                        <a:ea typeface="Arial"/>
                        <a:cs typeface="Arial"/>
                        <a:sym typeface="Arial"/>
                      </a:endParaRPr>
                    </a:p>
                  </a:txBody>
                  <a:tcPr marT="45725" marB="45725" marR="28450" marL="28450">
                    <a:lnL cap="flat" cmpd="sng" w="9525">
                      <a:solidFill>
                        <a:srgbClr val="5C73E6"/>
                      </a:solidFill>
                      <a:prstDash val="solid"/>
                      <a:round/>
                      <a:headEnd len="sm" w="sm" type="none"/>
                      <a:tailEnd len="sm" w="sm" type="none"/>
                    </a:lnL>
                    <a:lnR cap="flat" cmpd="sng" w="9525">
                      <a:solidFill>
                        <a:srgbClr val="5C73E6"/>
                      </a:solidFill>
                      <a:prstDash val="solid"/>
                      <a:round/>
                      <a:headEnd len="sm" w="sm" type="none"/>
                      <a:tailEnd len="sm" w="sm" type="none"/>
                    </a:lnR>
                    <a:lnT cap="flat" cmpd="sng" w="9525">
                      <a:solidFill>
                        <a:srgbClr val="5C73E6"/>
                      </a:solidFill>
                      <a:prstDash val="solid"/>
                      <a:round/>
                      <a:headEnd len="sm" w="sm" type="none"/>
                      <a:tailEnd len="sm" w="sm" type="none"/>
                    </a:lnT>
                    <a:lnB cap="flat" cmpd="sng" w="9525">
                      <a:solidFill>
                        <a:srgbClr val="5C73E6"/>
                      </a:solidFill>
                      <a:prstDash val="solid"/>
                      <a:round/>
                      <a:headEnd len="sm" w="sm" type="none"/>
                      <a:tailEnd len="sm" w="sm" type="none"/>
                    </a:lnB>
                    <a:solidFill>
                      <a:srgbClr val="F5FF1E"/>
                    </a:solidFill>
                  </a:tcPr>
                </a:tc>
              </a:tr>
            </a:tbl>
          </a:graphicData>
        </a:graphic>
      </p:graphicFrame>
      <p:grpSp>
        <p:nvGrpSpPr>
          <p:cNvPr id="822" name="Google Shape;822;p164"/>
          <p:cNvGrpSpPr/>
          <p:nvPr/>
        </p:nvGrpSpPr>
        <p:grpSpPr>
          <a:xfrm>
            <a:off x="8549640" y="0"/>
            <a:ext cx="594000" cy="679680"/>
            <a:chOff x="8549640" y="0"/>
            <a:chExt cx="594000" cy="679680"/>
          </a:xfrm>
        </p:grpSpPr>
        <p:sp>
          <p:nvSpPr>
            <p:cNvPr id="823" name="Google Shape;823;p16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4" name="Google Shape;824;p164"/>
            <p:cNvGrpSpPr/>
            <p:nvPr/>
          </p:nvGrpSpPr>
          <p:grpSpPr>
            <a:xfrm>
              <a:off x="8588160" y="0"/>
              <a:ext cx="555480" cy="679680"/>
              <a:chOff x="8588160" y="0"/>
              <a:chExt cx="555480" cy="679680"/>
            </a:xfrm>
          </p:grpSpPr>
          <p:pic>
            <p:nvPicPr>
              <p:cNvPr id="825" name="Google Shape;825;p164"/>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26" name="Google Shape;826;p16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65"/>
          <p:cNvSpPr txBox="1"/>
          <p:nvPr/>
        </p:nvSpPr>
        <p:spPr>
          <a:xfrm>
            <a:off x="457200" y="594360"/>
            <a:ext cx="7086240" cy="141336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4000" u="none" cap="none" strike="noStrike">
                <a:solidFill>
                  <a:srgbClr val="FFFFFF"/>
                </a:solidFill>
                <a:latin typeface="Arial"/>
                <a:ea typeface="Arial"/>
                <a:cs typeface="Arial"/>
                <a:sym typeface="Arial"/>
              </a:rPr>
              <a:t>Appendix: Purchasing</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66"/>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Metaphacts Footprint (Justification)</a:t>
            </a:r>
            <a:endParaRPr b="0" i="0" sz="2100" u="none" cap="none" strike="noStrike">
              <a:solidFill>
                <a:srgbClr val="000000"/>
              </a:solidFill>
              <a:latin typeface="Arial"/>
              <a:ea typeface="Arial"/>
              <a:cs typeface="Arial"/>
              <a:sym typeface="Arial"/>
            </a:endParaRPr>
          </a:p>
        </p:txBody>
      </p:sp>
      <p:sp>
        <p:nvSpPr>
          <p:cNvPr id="837" name="Google Shape;837;p166"/>
          <p:cNvSpPr txBox="1"/>
          <p:nvPr/>
        </p:nvSpPr>
        <p:spPr>
          <a:xfrm>
            <a:off x="457200" y="1073880"/>
            <a:ext cx="7937640" cy="3364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1D1C1D"/>
                </a:solidFill>
                <a:latin typeface="Arial"/>
                <a:ea typeface="Arial"/>
                <a:cs typeface="Arial"/>
                <a:sym typeface="Arial"/>
              </a:rPr>
              <a:t>Need sufficient compute to</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Build Top-Down Ontologies covering VZ knowledge (linear and finite)</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Build Bottom-Up Ontologies using ingested data structures for digital assets (high volume will grow over time)</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(RI + subset of attributes) from the Catalog (30,000 and counting)</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Build Mapping Ontologies (relationships) between Top-Down and Bottom-Up (this will grow exponentially)</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Generating multiple views (diagrams) covering the above models adds an entirely new load of compute</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Current State</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We are already experiencing performance issues and we have a small number of assets (data structures) that we have loaded and mapped.</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We are not able to load diagrams for some of our models (and these are not large ones)</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We minimally need the 64GB RAM and 500TB of space so we can turn on the ingestion pipeline and begin mapping at scale (once we have configured the integration with VZ Gemini).</a:t>
            </a:r>
            <a:endParaRPr b="0" i="0" sz="115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150" u="none" cap="none" strike="noStrike">
              <a:solidFill>
                <a:srgbClr val="000000"/>
              </a:solidFill>
              <a:latin typeface="Arial"/>
              <a:ea typeface="Arial"/>
              <a:cs typeface="Arial"/>
              <a:sym typeface="Arial"/>
            </a:endParaRPr>
          </a:p>
        </p:txBody>
      </p:sp>
      <p:grpSp>
        <p:nvGrpSpPr>
          <p:cNvPr id="838" name="Google Shape;838;p166"/>
          <p:cNvGrpSpPr/>
          <p:nvPr/>
        </p:nvGrpSpPr>
        <p:grpSpPr>
          <a:xfrm>
            <a:off x="8549640" y="0"/>
            <a:ext cx="594000" cy="679680"/>
            <a:chOff x="8549640" y="0"/>
            <a:chExt cx="594000" cy="679680"/>
          </a:xfrm>
        </p:grpSpPr>
        <p:sp>
          <p:nvSpPr>
            <p:cNvPr id="839" name="Google Shape;839;p16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0" name="Google Shape;840;p166"/>
            <p:cNvGrpSpPr/>
            <p:nvPr/>
          </p:nvGrpSpPr>
          <p:grpSpPr>
            <a:xfrm>
              <a:off x="8588160" y="0"/>
              <a:ext cx="555480" cy="679680"/>
              <a:chOff x="8588160" y="0"/>
              <a:chExt cx="555480" cy="679680"/>
            </a:xfrm>
          </p:grpSpPr>
          <p:pic>
            <p:nvPicPr>
              <p:cNvPr id="841" name="Google Shape;841;p166"/>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42" name="Google Shape;842;p16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67"/>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Metaphacts Footprint</a:t>
            </a:r>
            <a:endParaRPr b="0" i="0" sz="2100" u="none" cap="none" strike="noStrike">
              <a:solidFill>
                <a:srgbClr val="000000"/>
              </a:solidFill>
              <a:latin typeface="Arial"/>
              <a:ea typeface="Arial"/>
              <a:cs typeface="Arial"/>
              <a:sym typeface="Arial"/>
            </a:endParaRPr>
          </a:p>
        </p:txBody>
      </p:sp>
      <p:sp>
        <p:nvSpPr>
          <p:cNvPr id="848" name="Google Shape;848;p167"/>
          <p:cNvSpPr txBox="1"/>
          <p:nvPr/>
        </p:nvSpPr>
        <p:spPr>
          <a:xfrm>
            <a:off x="457200" y="1352520"/>
            <a:ext cx="7086240" cy="30859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Hardware Estimates:</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Dev:</a:t>
            </a:r>
            <a:endParaRPr b="0" i="0" sz="11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Compute:</a:t>
            </a:r>
            <a:r>
              <a:rPr b="0" i="0" lang="en-US" sz="1050" u="none" cap="none" strike="noStrike">
                <a:solidFill>
                  <a:srgbClr val="1D1C1D"/>
                </a:solidFill>
                <a:latin typeface="Arial"/>
                <a:ea typeface="Arial"/>
                <a:cs typeface="Arial"/>
                <a:sym typeface="Arial"/>
              </a:rPr>
              <a:t> (Cores) [ 4 Cores ] </a:t>
            </a:r>
            <a:endParaRPr b="0" i="0" sz="10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Memory: </a:t>
            </a:r>
            <a:r>
              <a:rPr b="0" i="0" lang="en-US" sz="1050" u="none" cap="none" strike="noStrike">
                <a:solidFill>
                  <a:srgbClr val="1D1C1D"/>
                </a:solidFill>
                <a:latin typeface="Arial"/>
                <a:ea typeface="Arial"/>
                <a:cs typeface="Arial"/>
                <a:sym typeface="Arial"/>
              </a:rPr>
              <a:t>(GB)  [ 16GB min ]</a:t>
            </a:r>
            <a:endParaRPr b="0" i="0" sz="10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Storage: </a:t>
            </a:r>
            <a:r>
              <a:rPr b="0" i="0" lang="en-US" sz="1050" u="none" cap="none" strike="noStrike">
                <a:solidFill>
                  <a:srgbClr val="1D1C1D"/>
                </a:solidFill>
                <a:latin typeface="Arial"/>
                <a:ea typeface="Arial"/>
                <a:cs typeface="Arial"/>
                <a:sym typeface="Arial"/>
              </a:rPr>
              <a:t>(Graph DB) [ 1TB -  Multiple Pilots ]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1" i="0" lang="en-US" sz="900" u="none" cap="none" strike="noStrike">
                <a:solidFill>
                  <a:srgbClr val="222222"/>
                </a:solidFill>
                <a:latin typeface="Arial"/>
                <a:ea typeface="Arial"/>
                <a:cs typeface="Arial"/>
                <a:sym typeface="Arial"/>
              </a:rPr>
              <a:t>Prod:</a:t>
            </a:r>
            <a:endParaRPr b="0" i="0" sz="90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Compute:</a:t>
            </a:r>
            <a:r>
              <a:rPr b="0" i="0" lang="en-US" sz="1050" u="none" cap="none" strike="noStrike">
                <a:solidFill>
                  <a:srgbClr val="1D1C1D"/>
                </a:solidFill>
                <a:latin typeface="Arial"/>
                <a:ea typeface="Arial"/>
                <a:cs typeface="Arial"/>
                <a:sym typeface="Arial"/>
              </a:rPr>
              <a:t> (Cores) [ 8 Cores ]</a:t>
            </a:r>
            <a:endParaRPr b="0" i="0" sz="10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Memory: </a:t>
            </a:r>
            <a:r>
              <a:rPr b="0" i="0" lang="en-US" sz="1050" u="none" cap="none" strike="noStrike">
                <a:solidFill>
                  <a:srgbClr val="1D1C1D"/>
                </a:solidFill>
                <a:latin typeface="Arial"/>
                <a:ea typeface="Arial"/>
                <a:cs typeface="Arial"/>
                <a:sym typeface="Arial"/>
              </a:rPr>
              <a:t>(GB)  [ 32GB min]</a:t>
            </a:r>
            <a:endParaRPr b="0" i="0" sz="10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1" i="0" lang="en-US" sz="1050" u="none" cap="none" strike="noStrike">
                <a:solidFill>
                  <a:srgbClr val="1D1C1D"/>
                </a:solidFill>
                <a:latin typeface="Arial"/>
                <a:ea typeface="Arial"/>
                <a:cs typeface="Arial"/>
                <a:sym typeface="Arial"/>
              </a:rPr>
              <a:t>Storage: </a:t>
            </a:r>
            <a:r>
              <a:rPr b="0" i="0" lang="en-US" sz="1050" u="none" cap="none" strike="noStrike">
                <a:solidFill>
                  <a:srgbClr val="1D1C1D"/>
                </a:solidFill>
                <a:latin typeface="Arial"/>
                <a:ea typeface="Arial"/>
                <a:cs typeface="Arial"/>
                <a:sym typeface="Arial"/>
              </a:rPr>
              <a:t>(Graph DB) [ 1TB - Multiple KGs ]</a:t>
            </a:r>
            <a:endParaRPr b="0" i="0" sz="105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49" name="Google Shape;849;p167"/>
          <p:cNvSpPr/>
          <p:nvPr/>
        </p:nvSpPr>
        <p:spPr>
          <a:xfrm>
            <a:off x="6210000" y="1457280"/>
            <a:ext cx="1861920" cy="585720"/>
          </a:xfrm>
          <a:prstGeom prst="rect">
            <a:avLst/>
          </a:prstGeom>
          <a:solidFill>
            <a:srgbClr val="FFD966"/>
          </a:solid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Demand is based on Roadmap Estimates</a:t>
            </a:r>
            <a:endParaRPr b="0" i="0" sz="1150" u="none" cap="none" strike="noStrike">
              <a:latin typeface="Arial"/>
              <a:ea typeface="Arial"/>
              <a:cs typeface="Arial"/>
              <a:sym typeface="Arial"/>
            </a:endParaRPr>
          </a:p>
        </p:txBody>
      </p:sp>
      <p:sp>
        <p:nvSpPr>
          <p:cNvPr id="850" name="Google Shape;850;p167"/>
          <p:cNvSpPr/>
          <p:nvPr/>
        </p:nvSpPr>
        <p:spPr>
          <a:xfrm>
            <a:off x="5286240" y="2104920"/>
            <a:ext cx="2823120" cy="787320"/>
          </a:xfrm>
          <a:prstGeom prst="rect">
            <a:avLst/>
          </a:prstGeom>
          <a:solidFill>
            <a:srgbClr val="B6D7A8"/>
          </a:solid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Need to get the platform cost estimates + Cap Labor + support </a:t>
            </a:r>
            <a:endParaRPr b="0" i="0" sz="1150" u="none" cap="none" strike="noStrike">
              <a:latin typeface="Arial"/>
              <a:ea typeface="Arial"/>
              <a:cs typeface="Arial"/>
              <a:sym typeface="Arial"/>
            </a:endParaRPr>
          </a:p>
          <a:p>
            <a:pPr indent="0" lvl="0" marL="0" marR="0" rtl="0" algn="ctr">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rolled into one big ask from David</a:t>
            </a:r>
            <a:endParaRPr b="0" i="0" sz="1150" u="none" cap="none" strike="noStrike">
              <a:latin typeface="Arial"/>
              <a:ea typeface="Arial"/>
              <a:cs typeface="Arial"/>
              <a:sym typeface="Arial"/>
            </a:endParaRPr>
          </a:p>
        </p:txBody>
      </p:sp>
      <p:grpSp>
        <p:nvGrpSpPr>
          <p:cNvPr id="851" name="Google Shape;851;p167"/>
          <p:cNvGrpSpPr/>
          <p:nvPr/>
        </p:nvGrpSpPr>
        <p:grpSpPr>
          <a:xfrm>
            <a:off x="8549640" y="0"/>
            <a:ext cx="594000" cy="679680"/>
            <a:chOff x="8549640" y="0"/>
            <a:chExt cx="594000" cy="679680"/>
          </a:xfrm>
        </p:grpSpPr>
        <p:sp>
          <p:nvSpPr>
            <p:cNvPr id="852" name="Google Shape;852;p16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3" name="Google Shape;853;p167"/>
            <p:cNvGrpSpPr/>
            <p:nvPr/>
          </p:nvGrpSpPr>
          <p:grpSpPr>
            <a:xfrm>
              <a:off x="8588160" y="0"/>
              <a:ext cx="555480" cy="679680"/>
              <a:chOff x="8588160" y="0"/>
              <a:chExt cx="555480" cy="679680"/>
            </a:xfrm>
          </p:grpSpPr>
          <p:pic>
            <p:nvPicPr>
              <p:cNvPr id="854" name="Google Shape;854;p167"/>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55" name="Google Shape;855;p16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68"/>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Ontotext GraphDB Purchase</a:t>
            </a:r>
            <a:endParaRPr b="0" i="0" sz="2100" u="none" cap="none" strike="noStrike">
              <a:solidFill>
                <a:srgbClr val="000000"/>
              </a:solidFill>
              <a:latin typeface="Arial"/>
              <a:ea typeface="Arial"/>
              <a:cs typeface="Arial"/>
              <a:sym typeface="Arial"/>
            </a:endParaRPr>
          </a:p>
        </p:txBody>
      </p:sp>
      <p:sp>
        <p:nvSpPr>
          <p:cNvPr id="861" name="Google Shape;861;p168"/>
          <p:cNvSpPr txBox="1"/>
          <p:nvPr/>
        </p:nvSpPr>
        <p:spPr>
          <a:xfrm>
            <a:off x="457200" y="1352520"/>
            <a:ext cx="7086240" cy="30859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RDF Store Estimates:</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Variable due to the Core size (assume a 12-core machine):</a:t>
            </a:r>
            <a:endParaRPr b="0" i="0" sz="11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0" i="0" lang="en-US" sz="1050" u="none" cap="none" strike="noStrike">
                <a:solidFill>
                  <a:srgbClr val="1D1C1D"/>
                </a:solidFill>
                <a:latin typeface="Arial"/>
                <a:ea typeface="Arial"/>
                <a:cs typeface="Arial"/>
                <a:sym typeface="Arial"/>
              </a:rPr>
              <a:t>1 year Production license: $34,800</a:t>
            </a:r>
            <a:endParaRPr b="0" i="0" sz="1050" u="none" cap="none" strike="noStrike">
              <a:solidFill>
                <a:srgbClr val="000000"/>
              </a:solidFill>
              <a:latin typeface="Arial"/>
              <a:ea typeface="Arial"/>
              <a:cs typeface="Arial"/>
              <a:sym typeface="Arial"/>
            </a:endParaRPr>
          </a:p>
          <a:p>
            <a:pPr indent="-294840" lvl="0" marL="457200" marR="0" rtl="0" algn="l">
              <a:lnSpc>
                <a:spcPct val="115000"/>
              </a:lnSpc>
              <a:spcBef>
                <a:spcPts val="0"/>
              </a:spcBef>
              <a:spcAft>
                <a:spcPts val="0"/>
              </a:spcAft>
              <a:buClr>
                <a:srgbClr val="1D1C1D"/>
              </a:buClr>
              <a:buSzPts val="1050"/>
              <a:buFont typeface="Arial"/>
              <a:buChar char="●"/>
            </a:pPr>
            <a:r>
              <a:rPr b="0" i="0" lang="en-US" sz="1050" u="none" cap="none" strike="noStrike">
                <a:solidFill>
                  <a:srgbClr val="1D1C1D"/>
                </a:solidFill>
                <a:latin typeface="Arial"/>
                <a:ea typeface="Arial"/>
                <a:cs typeface="Arial"/>
                <a:sym typeface="Arial"/>
              </a:rPr>
              <a:t>1 year Development License: $17,400</a:t>
            </a:r>
            <a:endParaRPr b="0" i="0" sz="10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0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050" u="none" cap="none" strike="noStrike">
                <a:solidFill>
                  <a:srgbClr val="1D1C1D"/>
                </a:solidFill>
                <a:latin typeface="Arial"/>
                <a:ea typeface="Arial"/>
                <a:cs typeface="Arial"/>
                <a:sym typeface="Arial"/>
              </a:rPr>
              <a:t>Action Required: </a:t>
            </a:r>
            <a:endParaRPr b="0" i="0" sz="10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0" i="0" lang="en-US" sz="1050" u="none" cap="none" strike="noStrike">
                <a:solidFill>
                  <a:srgbClr val="1D1C1D"/>
                </a:solidFill>
                <a:latin typeface="Arial"/>
                <a:ea typeface="Arial"/>
                <a:cs typeface="Arial"/>
                <a:sym typeface="Arial"/>
              </a:rPr>
              <a:t>Need to find out if VZ has a EULA with Ontotext. IF so, we may be able to piggyback off that agreement with our GraphDB purchase (perhaps even achieving favorable discounting)</a:t>
            </a:r>
            <a:endParaRPr b="0" i="0" sz="1050" u="none" cap="none" strike="noStrike">
              <a:solidFill>
                <a:srgbClr val="000000"/>
              </a:solidFill>
              <a:latin typeface="Arial"/>
              <a:ea typeface="Arial"/>
              <a:cs typeface="Arial"/>
              <a:sym typeface="Arial"/>
            </a:endParaRPr>
          </a:p>
        </p:txBody>
      </p:sp>
      <p:sp>
        <p:nvSpPr>
          <p:cNvPr id="862" name="Google Shape;862;p168"/>
          <p:cNvSpPr/>
          <p:nvPr/>
        </p:nvSpPr>
        <p:spPr>
          <a:xfrm>
            <a:off x="5987160" y="992520"/>
            <a:ext cx="2195640" cy="787320"/>
          </a:xfrm>
          <a:prstGeom prst="rect">
            <a:avLst/>
          </a:prstGeom>
          <a:solidFill>
            <a:srgbClr val="FFD966"/>
          </a:solid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Assume Support for GraphDB is included in our Metaphacts Support costs</a:t>
            </a:r>
            <a:endParaRPr b="0" i="0" sz="1150" u="none" cap="none" strike="noStrike">
              <a:latin typeface="Arial"/>
              <a:ea typeface="Arial"/>
              <a:cs typeface="Arial"/>
              <a:sym typeface="Arial"/>
            </a:endParaRPr>
          </a:p>
        </p:txBody>
      </p:sp>
      <p:grpSp>
        <p:nvGrpSpPr>
          <p:cNvPr id="863" name="Google Shape;863;p168"/>
          <p:cNvGrpSpPr/>
          <p:nvPr/>
        </p:nvGrpSpPr>
        <p:grpSpPr>
          <a:xfrm>
            <a:off x="8549640" y="0"/>
            <a:ext cx="594000" cy="679680"/>
            <a:chOff x="8549640" y="0"/>
            <a:chExt cx="594000" cy="679680"/>
          </a:xfrm>
        </p:grpSpPr>
        <p:sp>
          <p:nvSpPr>
            <p:cNvPr id="864" name="Google Shape;864;p16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168"/>
            <p:cNvGrpSpPr/>
            <p:nvPr/>
          </p:nvGrpSpPr>
          <p:grpSpPr>
            <a:xfrm>
              <a:off x="8588160" y="0"/>
              <a:ext cx="555480" cy="679680"/>
              <a:chOff x="8588160" y="0"/>
              <a:chExt cx="555480" cy="679680"/>
            </a:xfrm>
          </p:grpSpPr>
          <p:pic>
            <p:nvPicPr>
              <p:cNvPr id="866" name="Google Shape;866;p168"/>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67" name="Google Shape;867;p16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69"/>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Metaphacts Purchase</a:t>
            </a:r>
            <a:endParaRPr b="0" i="0" sz="2100" u="none" cap="none" strike="noStrike">
              <a:solidFill>
                <a:srgbClr val="000000"/>
              </a:solidFill>
              <a:latin typeface="Arial"/>
              <a:ea typeface="Arial"/>
              <a:cs typeface="Arial"/>
              <a:sym typeface="Arial"/>
            </a:endParaRPr>
          </a:p>
        </p:txBody>
      </p:sp>
      <p:sp>
        <p:nvSpPr>
          <p:cNvPr id="873" name="Google Shape;873;p169"/>
          <p:cNvSpPr txBox="1"/>
          <p:nvPr/>
        </p:nvSpPr>
        <p:spPr>
          <a:xfrm>
            <a:off x="457200" y="1352520"/>
            <a:ext cx="5660640" cy="308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222222"/>
                </a:solidFill>
                <a:latin typeface="Arial"/>
                <a:ea typeface="Arial"/>
                <a:cs typeface="Arial"/>
                <a:sym typeface="Arial"/>
              </a:rPr>
              <a:t>Location: </a:t>
            </a:r>
            <a:r>
              <a:rPr b="0" i="0" lang="en-US" sz="1000" u="none" cap="none" strike="noStrike">
                <a:solidFill>
                  <a:srgbClr val="222222"/>
                </a:solidFill>
                <a:latin typeface="Arial"/>
                <a:ea typeface="Arial"/>
                <a:cs typeface="Arial"/>
                <a:sym typeface="Arial"/>
              </a:rPr>
              <a:t>On Prem</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1" i="0" lang="en-US" sz="1000" u="none" cap="none" strike="noStrike">
                <a:solidFill>
                  <a:srgbClr val="222222"/>
                </a:solidFill>
                <a:latin typeface="Arial"/>
                <a:ea typeface="Arial"/>
                <a:cs typeface="Arial"/>
                <a:sym typeface="Arial"/>
              </a:rPr>
              <a:t>License Type:</a:t>
            </a:r>
            <a:r>
              <a:rPr b="0" i="0" lang="en-US" sz="1000" u="none" cap="none" strike="noStrike">
                <a:solidFill>
                  <a:srgbClr val="222222"/>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a:p>
            <a:pPr indent="-291600" lvl="0" marL="457200" marR="0" rtl="0" algn="l">
              <a:lnSpc>
                <a:spcPct val="100000"/>
              </a:lnSpc>
              <a:spcBef>
                <a:spcPts val="9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Subscription, support included into license cost.     </a:t>
            </a:r>
            <a:endParaRPr b="0" i="0" sz="1000" u="none" cap="none" strike="noStrike">
              <a:solidFill>
                <a:srgbClr val="000000"/>
              </a:solidFill>
              <a:latin typeface="Arial"/>
              <a:ea typeface="Arial"/>
              <a:cs typeface="Arial"/>
              <a:sym typeface="Arial"/>
            </a:endParaRPr>
          </a:p>
          <a:p>
            <a:pPr indent="-291600" lvl="0" marL="457200" marR="0" rtl="0" algn="l">
              <a:lnSpc>
                <a:spcPct val="100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80% Capex / 20% Opex Accounting Rule applies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1" i="0" lang="en-US" sz="1000" u="none" cap="none" strike="noStrike">
                <a:solidFill>
                  <a:srgbClr val="222222"/>
                </a:solidFill>
                <a:latin typeface="Arial"/>
                <a:ea typeface="Arial"/>
                <a:cs typeface="Arial"/>
                <a:sym typeface="Arial"/>
              </a:rPr>
              <a:t>Production licenses:</a:t>
            </a:r>
            <a:r>
              <a:rPr b="0" i="0" lang="en-US" sz="1000" u="none" cap="none" strike="noStrike">
                <a:solidFill>
                  <a:srgbClr val="222222"/>
                </a:solidFill>
                <a:latin typeface="Arial"/>
                <a:ea typeface="Arial"/>
                <a:cs typeface="Arial"/>
                <a:sym typeface="Arial"/>
              </a:rPr>
              <a:t>  $101k per year</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1" i="0" lang="en-US" sz="1000" u="none" cap="none" strike="noStrike">
                <a:solidFill>
                  <a:srgbClr val="222222"/>
                </a:solidFill>
                <a:latin typeface="Arial"/>
                <a:ea typeface="Arial"/>
                <a:cs typeface="Arial"/>
                <a:sym typeface="Arial"/>
              </a:rPr>
              <a:t>Non-Prod licenses:</a:t>
            </a:r>
            <a:r>
              <a:rPr b="0" i="0" lang="en-US" sz="1000" u="none" cap="none" strike="noStrike">
                <a:solidFill>
                  <a:srgbClr val="222222"/>
                </a:solidFill>
                <a:latin typeface="Arial"/>
                <a:ea typeface="Arial"/>
                <a:cs typeface="Arial"/>
                <a:sym typeface="Arial"/>
              </a:rPr>
              <a:t>  $50,500 per year -- same functionality as Production license</a:t>
            </a:r>
            <a:endParaRPr b="0" i="0" sz="1000" u="none" cap="none" strike="noStrike">
              <a:solidFill>
                <a:srgbClr val="000000"/>
              </a:solidFill>
              <a:latin typeface="Arial"/>
              <a:ea typeface="Arial"/>
              <a:cs typeface="Arial"/>
              <a:sym typeface="Arial"/>
            </a:endParaRPr>
          </a:p>
          <a:p>
            <a:pPr indent="-291600" lvl="0" marL="596880" marR="0" rtl="0" algn="l">
              <a:lnSpc>
                <a:spcPct val="115000"/>
              </a:lnSpc>
              <a:spcBef>
                <a:spcPts val="10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Year 1:   (12 months non-prod then 6 months prod) = $101,000</a:t>
            </a:r>
            <a:endParaRPr b="0" i="0" sz="1000" u="none" cap="none" strike="noStrike">
              <a:solidFill>
                <a:srgbClr val="000000"/>
              </a:solidFill>
              <a:latin typeface="Arial"/>
              <a:ea typeface="Arial"/>
              <a:cs typeface="Arial"/>
              <a:sym typeface="Arial"/>
            </a:endParaRPr>
          </a:p>
          <a:p>
            <a:pPr indent="-291600" lvl="0" marL="59688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Year 2:  $151,500 (2 instances:  1 Non-prod / 1 prod)</a:t>
            </a:r>
            <a:endParaRPr b="0" i="0" sz="1000" u="none" cap="none" strike="noStrike">
              <a:solidFill>
                <a:srgbClr val="000000"/>
              </a:solidFill>
              <a:latin typeface="Arial"/>
              <a:ea typeface="Arial"/>
              <a:cs typeface="Arial"/>
              <a:sym typeface="Arial"/>
            </a:endParaRPr>
          </a:p>
          <a:p>
            <a:pPr indent="-291600" lvl="0" marL="59688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Year 3:  $151,500 (2 instances:  1 Non-prod / 1 prod)</a:t>
            </a:r>
            <a:endParaRPr b="0" i="0" sz="1000" u="none" cap="none" strike="noStrike">
              <a:solidFill>
                <a:srgbClr val="000000"/>
              </a:solidFill>
              <a:latin typeface="Arial"/>
              <a:ea typeface="Arial"/>
              <a:cs typeface="Arial"/>
              <a:sym typeface="Arial"/>
            </a:endParaRPr>
          </a:p>
          <a:p>
            <a:pPr indent="-291600" lvl="0" marL="59688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Total:  $378,750 ($303,000 CapEx</a:t>
            </a:r>
            <a:r>
              <a:rPr b="1" i="0" lang="en-US" sz="1000" u="none" cap="none" strike="noStrike">
                <a:solidFill>
                  <a:srgbClr val="0089EC"/>
                </a:solidFill>
                <a:latin typeface="Arial"/>
                <a:ea typeface="Arial"/>
                <a:cs typeface="Arial"/>
                <a:sym typeface="Arial"/>
              </a:rPr>
              <a:t>*</a:t>
            </a:r>
            <a:r>
              <a:rPr b="0" i="0" lang="en-US" sz="1000" u="none" cap="none" strike="noStrike">
                <a:solidFill>
                  <a:srgbClr val="222222"/>
                </a:solidFill>
                <a:latin typeface="Arial"/>
                <a:ea typeface="Arial"/>
                <a:cs typeface="Arial"/>
                <a:sym typeface="Arial"/>
              </a:rPr>
              <a:t>) + ($75,750 OpEx)   </a:t>
            </a:r>
            <a:endParaRPr b="0" i="0" sz="1000" u="none" cap="none" strike="noStrike">
              <a:solidFill>
                <a:srgbClr val="000000"/>
              </a:solidFill>
              <a:latin typeface="Arial"/>
              <a:ea typeface="Arial"/>
              <a:cs typeface="Arial"/>
              <a:sym typeface="Arial"/>
            </a:endParaRPr>
          </a:p>
          <a:p>
            <a:pPr indent="-291600" lvl="0" marL="59688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80% Capex / 20% Opex Accounting Rule due to support included in license cost</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000" u="none" cap="none" strike="noStrike">
                <a:solidFill>
                  <a:srgbClr val="222222"/>
                </a:solidFill>
                <a:latin typeface="Arial"/>
                <a:ea typeface="Arial"/>
                <a:cs typeface="Arial"/>
                <a:sym typeface="Arial"/>
              </a:rPr>
              <a:t>Professional Services:</a:t>
            </a:r>
            <a:r>
              <a:rPr b="0" i="0" lang="en-US" sz="1000" u="none" cap="none" strike="noStrike">
                <a:solidFill>
                  <a:srgbClr val="222222"/>
                </a:solidFill>
                <a:latin typeface="Arial"/>
                <a:ea typeface="Arial"/>
                <a:cs typeface="Arial"/>
                <a:sym typeface="Arial"/>
              </a:rPr>
              <a:t>  50 days T&amp;M, invoiced monthly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1" i="0" lang="en-US" sz="1000" u="none" cap="none" strike="noStrike">
                <a:solidFill>
                  <a:srgbClr val="0089EC"/>
                </a:solidFill>
                <a:latin typeface="Arial"/>
                <a:ea typeface="Arial"/>
                <a:cs typeface="Arial"/>
                <a:sym typeface="Arial"/>
              </a:rPr>
              <a:t>*Is this discounted from the total $405k for 3 years of licensing?</a:t>
            </a:r>
            <a:br>
              <a:rPr b="0" i="0" lang="en-US" sz="1800" u="none" cap="none" strike="noStrike"/>
            </a:br>
            <a:r>
              <a:rPr b="1" i="0" lang="en-US" sz="1000" u="none" cap="none" strike="noStrike">
                <a:solidFill>
                  <a:srgbClr val="0089EC"/>
                </a:solidFill>
                <a:latin typeface="Arial"/>
                <a:ea typeface="Arial"/>
                <a:cs typeface="Arial"/>
                <a:sym typeface="Arial"/>
              </a:rPr>
              <a:t>Total costs for 3yrs would run $630k</a:t>
            </a:r>
            <a:endParaRPr b="0" i="0" sz="1000" u="none" cap="none" strike="noStrike">
              <a:solidFill>
                <a:srgbClr val="000000"/>
              </a:solidFill>
              <a:latin typeface="Arial"/>
              <a:ea typeface="Arial"/>
              <a:cs typeface="Arial"/>
              <a:sym typeface="Arial"/>
            </a:endParaRPr>
          </a:p>
        </p:txBody>
      </p:sp>
      <p:sp>
        <p:nvSpPr>
          <p:cNvPr id="874" name="Google Shape;874;p169"/>
          <p:cNvSpPr/>
          <p:nvPr/>
        </p:nvSpPr>
        <p:spPr>
          <a:xfrm>
            <a:off x="5661360" y="784800"/>
            <a:ext cx="3164760" cy="988920"/>
          </a:xfrm>
          <a:prstGeom prst="rect">
            <a:avLst/>
          </a:prstGeom>
          <a:solidFill>
            <a:srgbClr val="B6D7A8"/>
          </a:solid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Get the official quote from Russell to Bob</a:t>
            </a:r>
            <a:endParaRPr b="0" i="0" sz="1150" u="none" cap="none" strike="noStrike">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Get the SR Created this week</a:t>
            </a:r>
            <a:endParaRPr b="0" i="0" sz="115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latin typeface="Arial"/>
              <a:ea typeface="Arial"/>
              <a:cs typeface="Arial"/>
              <a:sym typeface="Arial"/>
            </a:endParaRPr>
          </a:p>
          <a:p>
            <a:pPr indent="0" lvl="0" marL="0" marR="0" rtl="0" algn="ctr">
              <a:lnSpc>
                <a:spcPct val="115000"/>
              </a:lnSpc>
              <a:spcBef>
                <a:spcPts val="0"/>
              </a:spcBef>
              <a:spcAft>
                <a:spcPts val="0"/>
              </a:spcAft>
              <a:buNone/>
            </a:pPr>
            <a:r>
              <a:t/>
            </a:r>
            <a:endParaRPr b="0" i="0" sz="1150" u="none" cap="none" strike="noStrike">
              <a:latin typeface="Arial"/>
              <a:ea typeface="Arial"/>
              <a:cs typeface="Arial"/>
              <a:sym typeface="Arial"/>
            </a:endParaRPr>
          </a:p>
        </p:txBody>
      </p:sp>
      <p:grpSp>
        <p:nvGrpSpPr>
          <p:cNvPr id="875" name="Google Shape;875;p169"/>
          <p:cNvGrpSpPr/>
          <p:nvPr/>
        </p:nvGrpSpPr>
        <p:grpSpPr>
          <a:xfrm>
            <a:off x="8549640" y="0"/>
            <a:ext cx="594000" cy="679680"/>
            <a:chOff x="8549640" y="0"/>
            <a:chExt cx="594000" cy="679680"/>
          </a:xfrm>
        </p:grpSpPr>
        <p:sp>
          <p:nvSpPr>
            <p:cNvPr id="876" name="Google Shape;876;p16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7" name="Google Shape;877;p169"/>
            <p:cNvGrpSpPr/>
            <p:nvPr/>
          </p:nvGrpSpPr>
          <p:grpSpPr>
            <a:xfrm>
              <a:off x="8588160" y="0"/>
              <a:ext cx="555480" cy="679680"/>
              <a:chOff x="8588160" y="0"/>
              <a:chExt cx="555480" cy="679680"/>
            </a:xfrm>
          </p:grpSpPr>
          <p:pic>
            <p:nvPicPr>
              <p:cNvPr id="878" name="Google Shape;878;p169"/>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879" name="Google Shape;879;p16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70"/>
          <p:cNvSpPr/>
          <p:nvPr/>
        </p:nvSpPr>
        <p:spPr>
          <a:xfrm>
            <a:off x="2159640" y="1273680"/>
            <a:ext cx="2466720" cy="1544040"/>
          </a:xfrm>
          <a:prstGeom prst="roundRect">
            <a:avLst>
              <a:gd fmla="val 10174"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B5394"/>
                </a:solidFill>
                <a:latin typeface="Arial"/>
                <a:ea typeface="Arial"/>
                <a:cs typeface="Arial"/>
                <a:sym typeface="Arial"/>
              </a:rPr>
              <a:t>(Kubernetes)</a:t>
            </a:r>
            <a:endParaRPr b="0" i="0" sz="1000" u="none" cap="none" strike="noStrike">
              <a:latin typeface="Arial"/>
              <a:ea typeface="Arial"/>
              <a:cs typeface="Arial"/>
              <a:sym typeface="Arial"/>
            </a:endParaRPr>
          </a:p>
        </p:txBody>
      </p:sp>
      <p:sp>
        <p:nvSpPr>
          <p:cNvPr id="885" name="Google Shape;885;p170"/>
          <p:cNvSpPr/>
          <p:nvPr/>
        </p:nvSpPr>
        <p:spPr>
          <a:xfrm>
            <a:off x="406800" y="1273680"/>
            <a:ext cx="1685520" cy="1544040"/>
          </a:xfrm>
          <a:prstGeom prst="roundRect">
            <a:avLst>
              <a:gd fmla="val 10174"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B5394"/>
                </a:solidFill>
                <a:latin typeface="Arial"/>
                <a:ea typeface="Arial"/>
                <a:cs typeface="Arial"/>
                <a:sym typeface="Arial"/>
              </a:rPr>
              <a:t>(Kubernetes)</a:t>
            </a:r>
            <a:endParaRPr b="0" i="0" sz="1000" u="none" cap="none" strike="noStrike">
              <a:latin typeface="Arial"/>
              <a:ea typeface="Arial"/>
              <a:cs typeface="Arial"/>
              <a:sym typeface="Arial"/>
            </a:endParaRPr>
          </a:p>
        </p:txBody>
      </p:sp>
      <p:sp>
        <p:nvSpPr>
          <p:cNvPr id="886" name="Google Shape;886;p170"/>
          <p:cNvSpPr/>
          <p:nvPr/>
        </p:nvSpPr>
        <p:spPr>
          <a:xfrm>
            <a:off x="5362920" y="709560"/>
            <a:ext cx="3477240" cy="329292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Backup Scripts:</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 - After Each Update / Release for Metaphactory</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 - Daily &amp; Weekly extract from GraphDB </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 - Monthly (Postgres) (TBD)</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Standard Infrastructure Principles:</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Run current version (-1)</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Vendor Documentation (online)</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Utilization for Storage should not exceed 33% (?)</a:t>
            </a:r>
            <a:endParaRPr b="0" i="0" sz="900" u="none" cap="none" strike="noStrike">
              <a:latin typeface="Arial"/>
              <a:ea typeface="Arial"/>
              <a:cs typeface="Arial"/>
              <a:sym typeface="Arial"/>
            </a:endParaRPr>
          </a:p>
          <a:p>
            <a:pPr indent="0" lvl="0" marL="457200" marR="0" rtl="0" algn="l">
              <a:lnSpc>
                <a:spcPct val="100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Monitoring &amp; Measurement:</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Security</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Technical / Operational Availability</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Capacity</a:t>
            </a:r>
            <a:endParaRPr b="0" i="0" sz="900" u="none" cap="none" strike="noStrike">
              <a:latin typeface="Arial"/>
              <a:ea typeface="Arial"/>
              <a:cs typeface="Arial"/>
              <a:sym typeface="Arial"/>
            </a:endParaRPr>
          </a:p>
          <a:p>
            <a:pPr indent="-171000" lvl="1" marL="5716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Storage (GraphDB)</a:t>
            </a:r>
            <a:endParaRPr b="0" i="0" sz="900" u="none" cap="none" strike="noStrike">
              <a:latin typeface="Arial"/>
              <a:ea typeface="Arial"/>
              <a:cs typeface="Arial"/>
              <a:sym typeface="Arial"/>
            </a:endParaRPr>
          </a:p>
          <a:p>
            <a:pPr indent="-171000" lvl="1" marL="5716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Application (Metaphactory)</a:t>
            </a:r>
            <a:endParaRPr b="0" i="0" sz="900" u="none" cap="none" strike="noStrike">
              <a:latin typeface="Arial"/>
              <a:ea typeface="Arial"/>
              <a:cs typeface="Arial"/>
              <a:sym typeface="Arial"/>
            </a:endParaRPr>
          </a:p>
          <a:p>
            <a:pPr indent="-142560" lvl="0" marL="2570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Integrations</a:t>
            </a:r>
            <a:endParaRPr b="0" i="0" sz="900" u="none" cap="none" strike="noStrike">
              <a:latin typeface="Arial"/>
              <a:ea typeface="Arial"/>
              <a:cs typeface="Arial"/>
              <a:sym typeface="Arial"/>
            </a:endParaRPr>
          </a:p>
          <a:p>
            <a:pPr indent="-171000" lvl="1" marL="5716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SSO Agent</a:t>
            </a:r>
            <a:endParaRPr b="0" i="0" sz="900" u="none" cap="none" strike="noStrike">
              <a:latin typeface="Arial"/>
              <a:ea typeface="Arial"/>
              <a:cs typeface="Arial"/>
              <a:sym typeface="Arial"/>
            </a:endParaRPr>
          </a:p>
          <a:p>
            <a:pPr indent="-171000" lvl="1" marL="5716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LDAP</a:t>
            </a:r>
            <a:endParaRPr b="0" i="0" sz="900" u="none" cap="none" strike="noStrike">
              <a:latin typeface="Arial"/>
              <a:ea typeface="Arial"/>
              <a:cs typeface="Arial"/>
              <a:sym typeface="Arial"/>
            </a:endParaRPr>
          </a:p>
          <a:p>
            <a:pPr indent="-171000" lvl="1" marL="5716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VDIL - Services</a:t>
            </a:r>
            <a:endParaRPr b="0" i="0" sz="900" u="none" cap="none" strike="noStrike">
              <a:latin typeface="Arial"/>
              <a:ea typeface="Arial"/>
              <a:cs typeface="Arial"/>
              <a:sym typeface="Arial"/>
            </a:endParaRPr>
          </a:p>
          <a:p>
            <a:pPr indent="-199800" lvl="2" marL="9716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Inbound</a:t>
            </a:r>
            <a:endParaRPr b="0" i="0" sz="900" u="none" cap="none" strike="noStrike">
              <a:latin typeface="Arial"/>
              <a:ea typeface="Arial"/>
              <a:cs typeface="Arial"/>
              <a:sym typeface="Arial"/>
            </a:endParaRPr>
          </a:p>
          <a:p>
            <a:pPr indent="-199800" lvl="2" marL="9716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Processing</a:t>
            </a:r>
            <a:endParaRPr b="0" i="0" sz="900" u="none" cap="none" strike="noStrike">
              <a:latin typeface="Arial"/>
              <a:ea typeface="Arial"/>
              <a:cs typeface="Arial"/>
              <a:sym typeface="Arial"/>
            </a:endParaRPr>
          </a:p>
          <a:p>
            <a:pPr indent="-199800" lvl="2" marL="9716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Outbound</a:t>
            </a:r>
            <a:endParaRPr b="0" i="0" sz="900" u="none" cap="none" strike="noStrike">
              <a:latin typeface="Arial"/>
              <a:ea typeface="Arial"/>
              <a:cs typeface="Arial"/>
              <a:sym typeface="Arial"/>
            </a:endParaRPr>
          </a:p>
        </p:txBody>
      </p:sp>
      <p:sp>
        <p:nvSpPr>
          <p:cNvPr id="887" name="Google Shape;887;p170"/>
          <p:cNvSpPr/>
          <p:nvPr/>
        </p:nvSpPr>
        <p:spPr>
          <a:xfrm>
            <a:off x="406800" y="660600"/>
            <a:ext cx="4219560" cy="5274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888" name="Google Shape;888;p170"/>
          <p:cNvSpPr/>
          <p:nvPr/>
        </p:nvSpPr>
        <p:spPr>
          <a:xfrm>
            <a:off x="588240" y="1751400"/>
            <a:ext cx="1351440" cy="576000"/>
          </a:xfrm>
          <a:prstGeom prst="roundRect">
            <a:avLst>
              <a:gd fmla="val 16667" name="adj"/>
            </a:avLst>
          </a:prstGeom>
          <a:solidFill>
            <a:srgbClr val="777777"/>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Metaphactory</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v5.x</a:t>
            </a:r>
            <a:endParaRPr b="0" i="0" sz="900" u="none" cap="none" strike="noStrike">
              <a:latin typeface="Arial"/>
              <a:ea typeface="Arial"/>
              <a:cs typeface="Arial"/>
              <a:sym typeface="Arial"/>
            </a:endParaRPr>
          </a:p>
        </p:txBody>
      </p:sp>
      <p:sp>
        <p:nvSpPr>
          <p:cNvPr id="889" name="Google Shape;889;p170"/>
          <p:cNvSpPr/>
          <p:nvPr/>
        </p:nvSpPr>
        <p:spPr>
          <a:xfrm>
            <a:off x="3800520" y="1852560"/>
            <a:ext cx="649440" cy="3736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Postgres</a:t>
            </a:r>
            <a:endParaRPr b="0" i="0" sz="700" u="none" cap="none" strike="noStrike">
              <a:latin typeface="Arial"/>
              <a:ea typeface="Arial"/>
              <a:cs typeface="Arial"/>
              <a:sym typeface="Arial"/>
            </a:endParaRPr>
          </a:p>
        </p:txBody>
      </p:sp>
      <p:sp>
        <p:nvSpPr>
          <p:cNvPr id="890" name="Google Shape;890;p170"/>
          <p:cNvSpPr/>
          <p:nvPr/>
        </p:nvSpPr>
        <p:spPr>
          <a:xfrm>
            <a:off x="2339640" y="1751400"/>
            <a:ext cx="1053360" cy="5760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800" u="none" cap="none" strike="noStrike">
                <a:solidFill>
                  <a:srgbClr val="FFFFFF"/>
                </a:solidFill>
                <a:latin typeface="Arial"/>
                <a:ea typeface="Arial"/>
                <a:cs typeface="Arial"/>
                <a:sym typeface="Arial"/>
              </a:rPr>
              <a:t>GraphDB</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V10.x</a:t>
            </a:r>
            <a:endParaRPr b="0" i="0" sz="700" u="none" cap="none" strike="noStrike">
              <a:latin typeface="Arial"/>
              <a:ea typeface="Arial"/>
              <a:cs typeface="Arial"/>
              <a:sym typeface="Arial"/>
            </a:endParaRPr>
          </a:p>
        </p:txBody>
      </p:sp>
      <p:sp>
        <p:nvSpPr>
          <p:cNvPr id="891" name="Google Shape;891;p170"/>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Business Continuity (SG)</a:t>
            </a:r>
            <a:endParaRPr b="0" i="0" sz="2000" u="none" cap="none" strike="noStrike">
              <a:latin typeface="Arial"/>
              <a:ea typeface="Arial"/>
              <a:cs typeface="Arial"/>
              <a:sym typeface="Arial"/>
            </a:endParaRPr>
          </a:p>
        </p:txBody>
      </p:sp>
      <p:sp>
        <p:nvSpPr>
          <p:cNvPr id="892" name="Google Shape;892;p170"/>
          <p:cNvSpPr/>
          <p:nvPr/>
        </p:nvSpPr>
        <p:spPr>
          <a:xfrm>
            <a:off x="785880" y="3218760"/>
            <a:ext cx="945720" cy="576000"/>
          </a:xfrm>
          <a:prstGeom prst="roundRect">
            <a:avLst>
              <a:gd fmla="val 16667" name="adj"/>
            </a:avLst>
          </a:prstGeom>
          <a:solidFill>
            <a:srgbClr val="D8D8D8"/>
          </a:solid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Metaphacts Backup</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9EC"/>
                </a:solidFill>
                <a:latin typeface="Arial"/>
                <a:ea typeface="Arial"/>
                <a:cs typeface="Arial"/>
                <a:sym typeface="Arial"/>
              </a:rPr>
              <a:t>(As Needed)</a:t>
            </a:r>
            <a:endParaRPr b="0" i="0" sz="900" u="none" cap="none" strike="noStrike">
              <a:latin typeface="Arial"/>
              <a:ea typeface="Arial"/>
              <a:cs typeface="Arial"/>
              <a:sym typeface="Arial"/>
            </a:endParaRPr>
          </a:p>
        </p:txBody>
      </p:sp>
      <p:sp>
        <p:nvSpPr>
          <p:cNvPr id="893" name="Google Shape;893;p170"/>
          <p:cNvSpPr/>
          <p:nvPr/>
        </p:nvSpPr>
        <p:spPr>
          <a:xfrm>
            <a:off x="2412360" y="3218760"/>
            <a:ext cx="925920" cy="576000"/>
          </a:xfrm>
          <a:prstGeom prst="roundRect">
            <a:avLst>
              <a:gd fmla="val 16667" name="adj"/>
            </a:avLst>
          </a:prstGeom>
          <a:solidFill>
            <a:srgbClr val="D8D8D8"/>
          </a:solid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GraphDB Backup</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9EC"/>
                </a:solidFill>
                <a:latin typeface="Arial"/>
                <a:ea typeface="Arial"/>
                <a:cs typeface="Arial"/>
                <a:sym typeface="Arial"/>
              </a:rPr>
              <a:t>(Daily)</a:t>
            </a:r>
            <a:endParaRPr b="0" i="0" sz="900" u="none" cap="none" strike="noStrike">
              <a:latin typeface="Arial"/>
              <a:ea typeface="Arial"/>
              <a:cs typeface="Arial"/>
              <a:sym typeface="Arial"/>
            </a:endParaRPr>
          </a:p>
        </p:txBody>
      </p:sp>
      <p:sp>
        <p:nvSpPr>
          <p:cNvPr id="894" name="Google Shape;894;p170"/>
          <p:cNvSpPr/>
          <p:nvPr/>
        </p:nvSpPr>
        <p:spPr>
          <a:xfrm>
            <a:off x="2412360" y="3883320"/>
            <a:ext cx="925920" cy="576000"/>
          </a:xfrm>
          <a:prstGeom prst="roundRect">
            <a:avLst>
              <a:gd fmla="val 16667" name="adj"/>
            </a:avLst>
          </a:prstGeom>
          <a:solidFill>
            <a:srgbClr val="D8D8D8"/>
          </a:solid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GraphDB Backup</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9EC"/>
                </a:solidFill>
                <a:latin typeface="Arial"/>
                <a:ea typeface="Arial"/>
                <a:cs typeface="Arial"/>
                <a:sym typeface="Arial"/>
              </a:rPr>
              <a:t>(Weekly)</a:t>
            </a:r>
            <a:endParaRPr b="0" i="0" sz="900" u="none" cap="none" strike="noStrike">
              <a:latin typeface="Arial"/>
              <a:ea typeface="Arial"/>
              <a:cs typeface="Arial"/>
              <a:sym typeface="Arial"/>
            </a:endParaRPr>
          </a:p>
        </p:txBody>
      </p:sp>
      <p:sp>
        <p:nvSpPr>
          <p:cNvPr id="895" name="Google Shape;895;p170"/>
          <p:cNvSpPr/>
          <p:nvPr/>
        </p:nvSpPr>
        <p:spPr>
          <a:xfrm>
            <a:off x="3662280" y="3218760"/>
            <a:ext cx="925920" cy="576000"/>
          </a:xfrm>
          <a:prstGeom prst="roundRect">
            <a:avLst>
              <a:gd fmla="val 16667" name="adj"/>
            </a:avLst>
          </a:prstGeom>
          <a:solidFill>
            <a:srgbClr val="D8D8D8"/>
          </a:solid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Postgres Backup</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9EC"/>
                </a:solidFill>
                <a:latin typeface="Arial"/>
                <a:ea typeface="Arial"/>
                <a:cs typeface="Arial"/>
                <a:sym typeface="Arial"/>
              </a:rPr>
              <a:t>(Monthly)</a:t>
            </a:r>
            <a:endParaRPr b="0" i="0" sz="900" u="none" cap="none" strike="noStrike">
              <a:latin typeface="Arial"/>
              <a:ea typeface="Arial"/>
              <a:cs typeface="Arial"/>
              <a:sym typeface="Arial"/>
            </a:endParaRPr>
          </a:p>
        </p:txBody>
      </p:sp>
      <p:sp>
        <p:nvSpPr>
          <p:cNvPr id="896" name="Google Shape;896;p170"/>
          <p:cNvSpPr/>
          <p:nvPr/>
        </p:nvSpPr>
        <p:spPr>
          <a:xfrm flipH="1">
            <a:off x="1257840" y="2327760"/>
            <a:ext cx="4680" cy="89064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897" name="Google Shape;897;p170"/>
          <p:cNvSpPr/>
          <p:nvPr/>
        </p:nvSpPr>
        <p:spPr>
          <a:xfrm>
            <a:off x="2866320" y="2327760"/>
            <a:ext cx="8640" cy="89064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898" name="Google Shape;898;p170"/>
          <p:cNvSpPr/>
          <p:nvPr/>
        </p:nvSpPr>
        <p:spPr>
          <a:xfrm>
            <a:off x="4125240" y="2226600"/>
            <a:ext cx="360" cy="99180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899" name="Google Shape;899;p170"/>
          <p:cNvSpPr/>
          <p:nvPr/>
        </p:nvSpPr>
        <p:spPr>
          <a:xfrm>
            <a:off x="2431800" y="2543400"/>
            <a:ext cx="925920" cy="208800"/>
          </a:xfrm>
          <a:prstGeom prst="roundRect">
            <a:avLst>
              <a:gd fmla="val 16667" name="adj"/>
            </a:avLst>
          </a:prstGeom>
          <a:solidFill>
            <a:srgbClr val="CFCFCF"/>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GraphDB</a:t>
            </a:r>
            <a:r>
              <a:rPr b="0" i="0" lang="en-US" sz="700" u="none" cap="none" strike="noStrike">
                <a:solidFill>
                  <a:srgbClr val="000000"/>
                </a:solidFill>
                <a:latin typeface="Arial"/>
                <a:ea typeface="Arial"/>
                <a:cs typeface="Arial"/>
                <a:sym typeface="Arial"/>
              </a:rPr>
              <a:t> Export/Import</a:t>
            </a:r>
            <a:endParaRPr b="0" i="0" sz="700" u="none" cap="none" strike="noStrike">
              <a:latin typeface="Arial"/>
              <a:ea typeface="Arial"/>
              <a:cs typeface="Arial"/>
              <a:sym typeface="Arial"/>
            </a:endParaRPr>
          </a:p>
        </p:txBody>
      </p:sp>
      <p:grpSp>
        <p:nvGrpSpPr>
          <p:cNvPr id="900" name="Google Shape;900;p170"/>
          <p:cNvGrpSpPr/>
          <p:nvPr/>
        </p:nvGrpSpPr>
        <p:grpSpPr>
          <a:xfrm>
            <a:off x="8549640" y="0"/>
            <a:ext cx="594000" cy="679680"/>
            <a:chOff x="8549640" y="0"/>
            <a:chExt cx="594000" cy="679680"/>
          </a:xfrm>
        </p:grpSpPr>
        <p:sp>
          <p:nvSpPr>
            <p:cNvPr id="901" name="Google Shape;901;p17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2" name="Google Shape;902;p170"/>
            <p:cNvGrpSpPr/>
            <p:nvPr/>
          </p:nvGrpSpPr>
          <p:grpSpPr>
            <a:xfrm>
              <a:off x="8588160" y="0"/>
              <a:ext cx="555480" cy="679680"/>
              <a:chOff x="8588160" y="0"/>
              <a:chExt cx="555480" cy="679680"/>
            </a:xfrm>
          </p:grpSpPr>
          <p:pic>
            <p:nvPicPr>
              <p:cNvPr id="903" name="Google Shape;903;p170"/>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904" name="Google Shape;904;p17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71"/>
          <p:cNvSpPr txBox="1"/>
          <p:nvPr/>
        </p:nvSpPr>
        <p:spPr>
          <a:xfrm>
            <a:off x="457200" y="59040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Marketplace Search Use Case</a:t>
            </a:r>
            <a:endParaRPr b="0" i="0" sz="2100" u="none" cap="none" strike="noStrike">
              <a:solidFill>
                <a:srgbClr val="000000"/>
              </a:solidFill>
              <a:latin typeface="Arial"/>
              <a:ea typeface="Arial"/>
              <a:cs typeface="Arial"/>
              <a:sym typeface="Arial"/>
            </a:endParaRPr>
          </a:p>
        </p:txBody>
      </p:sp>
      <p:sp>
        <p:nvSpPr>
          <p:cNvPr id="910" name="Google Shape;910;p171"/>
          <p:cNvSpPr txBox="1"/>
          <p:nvPr/>
        </p:nvSpPr>
        <p:spPr>
          <a:xfrm>
            <a:off x="457200" y="1352520"/>
            <a:ext cx="8003880" cy="3085920"/>
          </a:xfrm>
          <a:prstGeom prst="rect">
            <a:avLst/>
          </a:prstGeom>
          <a:noFill/>
          <a:ln>
            <a:noFill/>
          </a:ln>
        </p:spPr>
        <p:txBody>
          <a:bodyPr anchorCtr="0" anchor="t" bIns="0" lIns="0" spcFirstLastPara="1" rIns="0" wrap="square" tIns="0">
            <a:noAutofit/>
          </a:bodyPr>
          <a:lstStyle/>
          <a:p>
            <a:pPr indent="-298080" lvl="0" marL="457200" marR="0" rtl="0" algn="l">
              <a:lnSpc>
                <a:spcPct val="100000"/>
              </a:lnSpc>
              <a:spcBef>
                <a:spcPts val="0"/>
              </a:spcBef>
              <a:spcAft>
                <a:spcPts val="0"/>
              </a:spcAft>
              <a:buClr>
                <a:srgbClr val="222222"/>
              </a:buClr>
              <a:buSzPts val="1100"/>
              <a:buFont typeface="Arial"/>
              <a:buChar char="●"/>
            </a:pPr>
            <a:r>
              <a:rPr b="1" i="0" lang="en-US" sz="1100" u="none" cap="none" strike="noStrike">
                <a:solidFill>
                  <a:srgbClr val="222222"/>
                </a:solidFill>
                <a:latin typeface="Arial"/>
                <a:ea typeface="Arial"/>
                <a:cs typeface="Arial"/>
                <a:sym typeface="Arial"/>
              </a:rPr>
              <a:t>Quick Wins</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Reduces manual effort across D&amp;AG teams </a:t>
            </a:r>
            <a:endParaRPr b="0" i="0" sz="1100" u="none" cap="none" strike="noStrike">
              <a:solidFill>
                <a:srgbClr val="000000"/>
              </a:solidFill>
              <a:latin typeface="Arial"/>
              <a:ea typeface="Arial"/>
              <a:cs typeface="Arial"/>
              <a:sym typeface="Arial"/>
            </a:endParaRPr>
          </a:p>
          <a:p>
            <a:pPr indent="-298080" lvl="2" marL="13716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Enabled by designating a “same place” to start search improvements for disparate resources</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Transition Metamodel to Metaphacts</a:t>
            </a:r>
            <a:endParaRPr b="0" i="0" sz="1100" u="none" cap="none" strike="noStrike">
              <a:solidFill>
                <a:srgbClr val="000000"/>
              </a:solidFill>
              <a:latin typeface="Arial"/>
              <a:ea typeface="Arial"/>
              <a:cs typeface="Arial"/>
              <a:sym typeface="Arial"/>
            </a:endParaRPr>
          </a:p>
          <a:p>
            <a:pPr indent="-298080" lvl="2" marL="13716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000000"/>
                </a:solidFill>
                <a:latin typeface="Arial"/>
                <a:ea typeface="Arial"/>
                <a:cs typeface="Arial"/>
                <a:sym typeface="Arial"/>
              </a:rPr>
              <a:t>Enabled by transformation to follow SKOS the default format for vocabularies in Metaphacts</a:t>
            </a:r>
            <a:endParaRPr b="0" i="0" sz="1100" u="none" cap="none" strike="noStrike">
              <a:solidFill>
                <a:srgbClr val="000000"/>
              </a:solidFill>
              <a:latin typeface="Arial"/>
              <a:ea typeface="Arial"/>
              <a:cs typeface="Arial"/>
              <a:sym typeface="Arial"/>
            </a:endParaRPr>
          </a:p>
          <a:p>
            <a:pPr indent="-298080" lvl="0" marL="457200" marR="0" rtl="0" algn="l">
              <a:lnSpc>
                <a:spcPct val="100000"/>
              </a:lnSpc>
              <a:spcBef>
                <a:spcPts val="1001"/>
              </a:spcBef>
              <a:spcAft>
                <a:spcPts val="0"/>
              </a:spcAft>
              <a:buClr>
                <a:srgbClr val="222222"/>
              </a:buClr>
              <a:buSzPts val="1100"/>
              <a:buFont typeface="Arial"/>
              <a:buChar char="●"/>
            </a:pPr>
            <a:r>
              <a:rPr b="1" i="0" lang="en-US" sz="1100" u="none" cap="none" strike="noStrike">
                <a:solidFill>
                  <a:srgbClr val="222222"/>
                </a:solidFill>
                <a:latin typeface="Arial"/>
                <a:ea typeface="Arial"/>
                <a:cs typeface="Arial"/>
                <a:sym typeface="Arial"/>
              </a:rPr>
              <a:t>Pilot Project </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Promoting One Verizon meaning at scale while preserving individual perspectives &amp; concerns</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Augment Search &amp; Retrieval using a more intuitive experience</a:t>
            </a:r>
            <a:endParaRPr b="0" i="0" sz="1100" u="none" cap="none" strike="noStrike">
              <a:solidFill>
                <a:srgbClr val="000000"/>
              </a:solidFill>
              <a:latin typeface="Arial"/>
              <a:ea typeface="Arial"/>
              <a:cs typeface="Arial"/>
              <a:sym typeface="Arial"/>
            </a:endParaRPr>
          </a:p>
          <a:p>
            <a:pPr indent="-298080" lvl="2" marL="13716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Enabled by leveraging core concepts in taxonomies to provide consistent terms &amp; in ontologies to provide consistent structures</a:t>
            </a:r>
            <a:endParaRPr b="0" i="0" sz="1100" u="none" cap="none" strike="noStrike">
              <a:solidFill>
                <a:srgbClr val="000000"/>
              </a:solidFill>
              <a:latin typeface="Arial"/>
              <a:ea typeface="Arial"/>
              <a:cs typeface="Arial"/>
              <a:sym typeface="Arial"/>
            </a:endParaRPr>
          </a:p>
          <a:p>
            <a:pPr indent="-298080" lvl="0" marL="457200" marR="0" rtl="0" algn="l">
              <a:lnSpc>
                <a:spcPct val="100000"/>
              </a:lnSpc>
              <a:spcBef>
                <a:spcPts val="1001"/>
              </a:spcBef>
              <a:spcAft>
                <a:spcPts val="0"/>
              </a:spcAft>
              <a:buClr>
                <a:srgbClr val="222222"/>
              </a:buClr>
              <a:buSzPts val="1100"/>
              <a:buFont typeface="Arial"/>
              <a:buChar char="●"/>
            </a:pPr>
            <a:r>
              <a:rPr b="1" i="0" lang="en-US" sz="1100" u="none" cap="none" strike="noStrike">
                <a:solidFill>
                  <a:srgbClr val="222222"/>
                </a:solidFill>
                <a:latin typeface="Arial"/>
                <a:ea typeface="Arial"/>
                <a:cs typeface="Arial"/>
                <a:sym typeface="Arial"/>
              </a:rPr>
              <a:t>Long Term Impacts</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Map Persona needs to relevant search content based on their desired outcomes</a:t>
            </a:r>
            <a:endParaRPr b="0" i="0" sz="1100" u="none" cap="none" strike="noStrike">
              <a:solidFill>
                <a:srgbClr val="000000"/>
              </a:solidFill>
              <a:latin typeface="Arial"/>
              <a:ea typeface="Arial"/>
              <a:cs typeface="Arial"/>
              <a:sym typeface="Arial"/>
            </a:endParaRPr>
          </a:p>
          <a:p>
            <a:pPr indent="-298080" lvl="2" marL="13716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Enabled by building a Unified Persona Model</a:t>
            </a:r>
            <a:endParaRPr b="0" i="0" sz="1100" u="none" cap="none" strike="noStrike">
              <a:solidFill>
                <a:srgbClr val="000000"/>
              </a:solidFill>
              <a:latin typeface="Arial"/>
              <a:ea typeface="Arial"/>
              <a:cs typeface="Arial"/>
              <a:sym typeface="Arial"/>
            </a:endParaRPr>
          </a:p>
          <a:p>
            <a:pPr indent="-298080" lvl="1" marL="9144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Drive AI Initiatives with minimal hallucinations</a:t>
            </a:r>
            <a:endParaRPr b="0" i="0" sz="1100" u="none" cap="none" strike="noStrike">
              <a:solidFill>
                <a:srgbClr val="000000"/>
              </a:solidFill>
              <a:latin typeface="Arial"/>
              <a:ea typeface="Arial"/>
              <a:cs typeface="Arial"/>
              <a:sym typeface="Arial"/>
            </a:endParaRPr>
          </a:p>
          <a:p>
            <a:pPr indent="-298080" lvl="2" marL="1371600" marR="0" rtl="0" algn="l">
              <a:lnSpc>
                <a:spcPct val="100000"/>
              </a:lnSpc>
              <a:spcBef>
                <a:spcPts val="0"/>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Enabled by partnerships with cross-functional teams</a:t>
            </a:r>
            <a:endParaRPr b="0" i="0" sz="1100" u="none" cap="none" strike="noStrike">
              <a:solidFill>
                <a:srgbClr val="000000"/>
              </a:solidFill>
              <a:latin typeface="Arial"/>
              <a:ea typeface="Arial"/>
              <a:cs typeface="Arial"/>
              <a:sym typeface="Arial"/>
            </a:endParaRPr>
          </a:p>
        </p:txBody>
      </p:sp>
      <p:sp>
        <p:nvSpPr>
          <p:cNvPr id="911" name="Google Shape;911;p171"/>
          <p:cNvSpPr/>
          <p:nvPr/>
        </p:nvSpPr>
        <p:spPr>
          <a:xfrm>
            <a:off x="6012720" y="535680"/>
            <a:ext cx="2421720" cy="1180440"/>
          </a:xfrm>
          <a:prstGeom prst="rect">
            <a:avLst/>
          </a:prstGeom>
          <a:solidFill>
            <a:srgbClr val="FFFFFF"/>
          </a:solid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950" u="none" cap="none" strike="noStrike">
                <a:solidFill>
                  <a:srgbClr val="1D1C1D"/>
                </a:solidFill>
                <a:latin typeface="Arial"/>
                <a:ea typeface="Arial"/>
                <a:cs typeface="Arial"/>
                <a:sym typeface="Arial"/>
              </a:rPr>
              <a:t>Value Points:</a:t>
            </a:r>
            <a:endParaRPr b="0" i="0" sz="950" u="none" cap="none" strike="noStrike">
              <a:latin typeface="Arial"/>
              <a:ea typeface="Arial"/>
              <a:cs typeface="Arial"/>
              <a:sym typeface="Arial"/>
            </a:endParaRPr>
          </a:p>
          <a:p>
            <a:pPr indent="-288720" lvl="0" marL="457200" marR="0" rtl="0" algn="l">
              <a:lnSpc>
                <a:spcPct val="115000"/>
              </a:lnSpc>
              <a:spcBef>
                <a:spcPts val="0"/>
              </a:spcBef>
              <a:spcAft>
                <a:spcPts val="0"/>
              </a:spcAft>
              <a:buClr>
                <a:srgbClr val="1D1C1D"/>
              </a:buClr>
              <a:buSzPts val="950"/>
              <a:buFont typeface="Arial"/>
              <a:buChar char="✓"/>
            </a:pPr>
            <a:r>
              <a:rPr b="0" i="0" lang="en-US" sz="950" u="none" cap="none" strike="noStrike">
                <a:solidFill>
                  <a:srgbClr val="1D1C1D"/>
                </a:solidFill>
                <a:latin typeface="Arial"/>
                <a:ea typeface="Arial"/>
                <a:cs typeface="Arial"/>
                <a:sym typeface="Arial"/>
              </a:rPr>
              <a:t>Build it once...use it many times</a:t>
            </a:r>
            <a:endParaRPr b="0" i="0" sz="950" u="none" cap="none" strike="noStrike">
              <a:latin typeface="Arial"/>
              <a:ea typeface="Arial"/>
              <a:cs typeface="Arial"/>
              <a:sym typeface="Arial"/>
            </a:endParaRPr>
          </a:p>
          <a:p>
            <a:pPr indent="-288720" lvl="0" marL="457200" marR="0" rtl="0" algn="l">
              <a:lnSpc>
                <a:spcPct val="115000"/>
              </a:lnSpc>
              <a:spcBef>
                <a:spcPts val="0"/>
              </a:spcBef>
              <a:spcAft>
                <a:spcPts val="0"/>
              </a:spcAft>
              <a:buClr>
                <a:srgbClr val="1D1C1D"/>
              </a:buClr>
              <a:buSzPts val="950"/>
              <a:buFont typeface="Arial"/>
              <a:buChar char="✓"/>
            </a:pPr>
            <a:r>
              <a:rPr b="0" i="0" lang="en-US" sz="950" u="none" cap="none" strike="noStrike">
                <a:solidFill>
                  <a:srgbClr val="1D1C1D"/>
                </a:solidFill>
                <a:latin typeface="Arial"/>
                <a:ea typeface="Arial"/>
                <a:cs typeface="Arial"/>
                <a:sym typeface="Arial"/>
              </a:rPr>
              <a:t>Standard naming</a:t>
            </a:r>
            <a:endParaRPr b="0" i="0" sz="950" u="none" cap="none" strike="noStrike">
              <a:latin typeface="Arial"/>
              <a:ea typeface="Arial"/>
              <a:cs typeface="Arial"/>
              <a:sym typeface="Arial"/>
            </a:endParaRPr>
          </a:p>
          <a:p>
            <a:pPr indent="-288720" lvl="0" marL="457200" marR="0" rtl="0" algn="l">
              <a:lnSpc>
                <a:spcPct val="115000"/>
              </a:lnSpc>
              <a:spcBef>
                <a:spcPts val="0"/>
              </a:spcBef>
              <a:spcAft>
                <a:spcPts val="0"/>
              </a:spcAft>
              <a:buClr>
                <a:srgbClr val="1D1C1D"/>
              </a:buClr>
              <a:buSzPts val="950"/>
              <a:buFont typeface="Arial"/>
              <a:buChar char="✓"/>
            </a:pPr>
            <a:r>
              <a:rPr b="0" i="0" lang="en-US" sz="950" u="none" cap="none" strike="noStrike">
                <a:solidFill>
                  <a:srgbClr val="1D1C1D"/>
                </a:solidFill>
                <a:latin typeface="Arial"/>
                <a:ea typeface="Arial"/>
                <a:cs typeface="Arial"/>
                <a:sym typeface="Arial"/>
              </a:rPr>
              <a:t>Enhanced Search</a:t>
            </a:r>
            <a:endParaRPr b="0" i="0" sz="950" u="none" cap="none" strike="noStrike">
              <a:latin typeface="Arial"/>
              <a:ea typeface="Arial"/>
              <a:cs typeface="Arial"/>
              <a:sym typeface="Arial"/>
            </a:endParaRPr>
          </a:p>
          <a:p>
            <a:pPr indent="-288720" lvl="0" marL="457200" marR="0" rtl="0" algn="l">
              <a:lnSpc>
                <a:spcPct val="115000"/>
              </a:lnSpc>
              <a:spcBef>
                <a:spcPts val="0"/>
              </a:spcBef>
              <a:spcAft>
                <a:spcPts val="0"/>
              </a:spcAft>
              <a:buClr>
                <a:srgbClr val="1D1C1D"/>
              </a:buClr>
              <a:buSzPts val="950"/>
              <a:buFont typeface="Arial"/>
              <a:buChar char="✓"/>
            </a:pPr>
            <a:r>
              <a:rPr b="0" i="0" lang="en-US" sz="950" u="none" cap="none" strike="noStrike">
                <a:solidFill>
                  <a:srgbClr val="1D1C1D"/>
                </a:solidFill>
                <a:latin typeface="Arial"/>
                <a:ea typeface="Arial"/>
                <a:cs typeface="Arial"/>
                <a:sym typeface="Arial"/>
              </a:rPr>
              <a:t>Simplified Asset Mapping</a:t>
            </a:r>
            <a:endParaRPr b="0" i="0" sz="950" u="none" cap="none" strike="noStrike">
              <a:latin typeface="Arial"/>
              <a:ea typeface="Arial"/>
              <a:cs typeface="Arial"/>
              <a:sym typeface="Arial"/>
            </a:endParaRPr>
          </a:p>
          <a:p>
            <a:pPr indent="-288720" lvl="0" marL="457200" marR="0" rtl="0" algn="l">
              <a:lnSpc>
                <a:spcPct val="115000"/>
              </a:lnSpc>
              <a:spcBef>
                <a:spcPts val="0"/>
              </a:spcBef>
              <a:spcAft>
                <a:spcPts val="0"/>
              </a:spcAft>
              <a:buClr>
                <a:srgbClr val="1D1C1D"/>
              </a:buClr>
              <a:buSzPts val="950"/>
              <a:buFont typeface="Arial"/>
              <a:buChar char="✓"/>
            </a:pPr>
            <a:r>
              <a:rPr b="0" i="0" lang="en-US" sz="950" u="none" cap="none" strike="noStrike">
                <a:solidFill>
                  <a:srgbClr val="1D1C1D"/>
                </a:solidFill>
                <a:latin typeface="Arial"/>
                <a:ea typeface="Arial"/>
                <a:cs typeface="Arial"/>
                <a:sym typeface="Arial"/>
              </a:rPr>
              <a:t>Improved Relevancy</a:t>
            </a:r>
            <a:endParaRPr b="0" i="0" sz="950" u="none" cap="none" strike="noStrike">
              <a:latin typeface="Arial"/>
              <a:ea typeface="Arial"/>
              <a:cs typeface="Arial"/>
              <a:sym typeface="Arial"/>
            </a:endParaRPr>
          </a:p>
        </p:txBody>
      </p:sp>
      <p:grpSp>
        <p:nvGrpSpPr>
          <p:cNvPr id="912" name="Google Shape;912;p171"/>
          <p:cNvGrpSpPr/>
          <p:nvPr/>
        </p:nvGrpSpPr>
        <p:grpSpPr>
          <a:xfrm>
            <a:off x="8549640" y="0"/>
            <a:ext cx="594000" cy="679680"/>
            <a:chOff x="8549640" y="0"/>
            <a:chExt cx="594000" cy="679680"/>
          </a:xfrm>
        </p:grpSpPr>
        <p:sp>
          <p:nvSpPr>
            <p:cNvPr id="913" name="Google Shape;913;p171"/>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4" name="Google Shape;914;p171"/>
            <p:cNvGrpSpPr/>
            <p:nvPr/>
          </p:nvGrpSpPr>
          <p:grpSpPr>
            <a:xfrm>
              <a:off x="8588160" y="0"/>
              <a:ext cx="555480" cy="679680"/>
              <a:chOff x="8588160" y="0"/>
              <a:chExt cx="555480" cy="679680"/>
            </a:xfrm>
          </p:grpSpPr>
          <p:pic>
            <p:nvPicPr>
              <p:cNvPr id="915" name="Google Shape;915;p171"/>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916" name="Google Shape;916;p171"/>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72"/>
          <p:cNvSpPr txBox="1"/>
          <p:nvPr/>
        </p:nvSpPr>
        <p:spPr>
          <a:xfrm>
            <a:off x="457200" y="122400"/>
            <a:ext cx="6428520" cy="28548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Semantic Pilots:</a:t>
            </a:r>
            <a:endParaRPr b="0" i="0" sz="2100" u="none" cap="none" strike="noStrike">
              <a:solidFill>
                <a:srgbClr val="000000"/>
              </a:solidFill>
              <a:latin typeface="Arial"/>
              <a:ea typeface="Arial"/>
              <a:cs typeface="Arial"/>
              <a:sym typeface="Arial"/>
            </a:endParaRPr>
          </a:p>
        </p:txBody>
      </p:sp>
      <p:sp>
        <p:nvSpPr>
          <p:cNvPr id="922" name="Google Shape;922;p172"/>
          <p:cNvSpPr txBox="1"/>
          <p:nvPr/>
        </p:nvSpPr>
        <p:spPr>
          <a:xfrm>
            <a:off x="4791240" y="590400"/>
            <a:ext cx="3742920" cy="3852720"/>
          </a:xfrm>
          <a:prstGeom prst="rect">
            <a:avLst/>
          </a:prstGeom>
          <a:noFill/>
          <a:ln cap="flat" cmpd="sng" w="28425">
            <a:solidFill>
              <a:srgbClr val="F50A2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Semantic Search:</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Success Criteria:</a:t>
            </a:r>
            <a:r>
              <a:rPr b="0" i="0" lang="en-US" sz="1150" u="none" cap="none" strike="noStrike">
                <a:solidFill>
                  <a:srgbClr val="1D1C1D"/>
                </a:solidFill>
                <a:latin typeface="Arial"/>
                <a:ea typeface="Arial"/>
                <a:cs typeface="Arial"/>
                <a:sym typeface="Arial"/>
              </a:rPr>
              <a:t>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0" i="0" lang="en-US" sz="1150" u="none" cap="none" strike="noStrike">
                <a:solidFill>
                  <a:srgbClr val="1D1C1D"/>
                </a:solidFill>
                <a:latin typeface="Arial"/>
                <a:ea typeface="Arial"/>
                <a:cs typeface="Arial"/>
                <a:sym typeface="Arial"/>
              </a:rPr>
              <a:t>Augmented search for Data Product (RAN):</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Multiple Points of View / Traversal:</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Metamodel</a:t>
            </a:r>
            <a:endParaRPr b="0" i="0" sz="1150" u="none" cap="none" strike="noStrike">
              <a:solidFill>
                <a:srgbClr val="000000"/>
              </a:solidFill>
              <a:latin typeface="Arial"/>
              <a:ea typeface="Arial"/>
              <a:cs typeface="Arial"/>
              <a:sym typeface="Arial"/>
            </a:endParaRPr>
          </a:p>
          <a:p>
            <a:pPr indent="-301320" lvl="2" marL="13716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Data Domains</a:t>
            </a:r>
            <a:endParaRPr b="0" i="0" sz="1150" u="none" cap="none" strike="noStrike">
              <a:solidFill>
                <a:srgbClr val="000000"/>
              </a:solidFill>
              <a:latin typeface="Arial"/>
              <a:ea typeface="Arial"/>
              <a:cs typeface="Arial"/>
              <a:sym typeface="Arial"/>
            </a:endParaRPr>
          </a:p>
          <a:p>
            <a:pPr indent="-301320" lvl="2" marL="13716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Subject Areas</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SID</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Business Domains (Ont)</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Business Concepts (Voc)</a:t>
            </a:r>
            <a:endParaRPr b="0" i="0" sz="1150" u="none" cap="none" strike="noStrike">
              <a:solidFill>
                <a:srgbClr val="000000"/>
              </a:solidFill>
              <a:latin typeface="Arial"/>
              <a:ea typeface="Arial"/>
              <a:cs typeface="Arial"/>
              <a:sym typeface="Arial"/>
            </a:endParaRPr>
          </a:p>
          <a:p>
            <a:pPr indent="-301320" lvl="2" marL="13716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Terms</a:t>
            </a:r>
            <a:endParaRPr b="0" i="0" sz="1150" u="none" cap="none" strike="noStrike">
              <a:solidFill>
                <a:srgbClr val="000000"/>
              </a:solidFill>
              <a:latin typeface="Arial"/>
              <a:ea typeface="Arial"/>
              <a:cs typeface="Arial"/>
              <a:sym typeface="Arial"/>
            </a:endParaRPr>
          </a:p>
          <a:p>
            <a:pPr indent="-301320" lvl="2" marL="13716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Synonyms (POV)</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Intelligent Assistant</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Suggestions based on context</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Personalization (bonus) [ see notes ]</a:t>
            </a:r>
            <a:endParaRPr b="0" i="0" sz="1150" u="none" cap="none" strike="noStrike">
              <a:solidFill>
                <a:srgbClr val="000000"/>
              </a:solidFill>
              <a:latin typeface="Arial"/>
              <a:ea typeface="Arial"/>
              <a:cs typeface="Arial"/>
              <a:sym typeface="Arial"/>
            </a:endParaRPr>
          </a:p>
        </p:txBody>
      </p:sp>
      <p:sp>
        <p:nvSpPr>
          <p:cNvPr id="923" name="Google Shape;923;p172"/>
          <p:cNvSpPr txBox="1"/>
          <p:nvPr/>
        </p:nvSpPr>
        <p:spPr>
          <a:xfrm>
            <a:off x="609480" y="590400"/>
            <a:ext cx="3904920" cy="3852720"/>
          </a:xfrm>
          <a:prstGeom prst="rect">
            <a:avLst/>
          </a:prstGeom>
          <a:noFill/>
          <a:ln cap="flat" cmpd="sng" w="28425">
            <a:solidFill>
              <a:srgbClr val="F50A2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Generative Hierarchies:</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1" i="0" lang="en-US" sz="1150" u="none" cap="none" strike="noStrike">
                <a:solidFill>
                  <a:srgbClr val="1D1C1D"/>
                </a:solidFill>
                <a:latin typeface="Arial"/>
                <a:ea typeface="Arial"/>
                <a:cs typeface="Arial"/>
                <a:sym typeface="Arial"/>
              </a:rPr>
              <a:t>Success Criteria:</a:t>
            </a:r>
            <a:r>
              <a:rPr b="0" i="0" lang="en-US" sz="1150" u="none" cap="none" strike="noStrike">
                <a:solidFill>
                  <a:srgbClr val="1D1C1D"/>
                </a:solidFill>
                <a:latin typeface="Arial"/>
                <a:ea typeface="Arial"/>
                <a:cs typeface="Arial"/>
                <a:sym typeface="Arial"/>
              </a:rPr>
              <a:t> </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rPr b="0" i="0" lang="en-US" sz="1150" u="none" cap="none" strike="noStrike">
                <a:solidFill>
                  <a:srgbClr val="1D1C1D"/>
                </a:solidFill>
                <a:latin typeface="Arial"/>
                <a:ea typeface="Arial"/>
                <a:cs typeface="Arial"/>
                <a:sym typeface="Arial"/>
              </a:rPr>
              <a:t>Auto generate one hierarchy (section) using:</a:t>
            </a:r>
            <a:endParaRPr b="0" i="0" sz="11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Context</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Instance Metadata (??)</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Vocabulary</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Hierarchy Terms</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Polymorphic Terms</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Polymorphic Meaning</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Generated Descriptions (GenAI?)</a:t>
            </a:r>
            <a:endParaRPr b="0" i="0" sz="1150" u="none" cap="none" strike="noStrike">
              <a:solidFill>
                <a:srgbClr val="000000"/>
              </a:solidFill>
              <a:latin typeface="Arial"/>
              <a:ea typeface="Arial"/>
              <a:cs typeface="Arial"/>
              <a:sym typeface="Arial"/>
            </a:endParaRPr>
          </a:p>
          <a:p>
            <a:pPr indent="-301320" lvl="0" marL="4572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Rules</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Context Driven Rules</a:t>
            </a:r>
            <a:endParaRPr b="0" i="0" sz="1150" u="none" cap="none" strike="noStrike">
              <a:solidFill>
                <a:srgbClr val="000000"/>
              </a:solidFill>
              <a:latin typeface="Arial"/>
              <a:ea typeface="Arial"/>
              <a:cs typeface="Arial"/>
              <a:sym typeface="Arial"/>
            </a:endParaRPr>
          </a:p>
          <a:p>
            <a:pPr indent="-301320" lvl="1" marL="914400" marR="0" rtl="0" algn="l">
              <a:lnSpc>
                <a:spcPct val="115000"/>
              </a:lnSpc>
              <a:spcBef>
                <a:spcPts val="0"/>
              </a:spcBef>
              <a:spcAft>
                <a:spcPts val="0"/>
              </a:spcAft>
              <a:buClr>
                <a:srgbClr val="1D1C1D"/>
              </a:buClr>
              <a:buSzPts val="1150"/>
              <a:buFont typeface="Arial"/>
              <a:buChar char="○"/>
            </a:pPr>
            <a:r>
              <a:rPr b="0" i="0" lang="en-US" sz="1150" u="none" cap="none" strike="noStrike">
                <a:solidFill>
                  <a:srgbClr val="1D1C1D"/>
                </a:solidFill>
                <a:latin typeface="Arial"/>
                <a:ea typeface="Arial"/>
                <a:cs typeface="Arial"/>
                <a:sym typeface="Arial"/>
              </a:rPr>
              <a:t>Minimize Hardwiring</a:t>
            </a:r>
            <a:endParaRPr b="0" i="0" sz="115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150" u="none" cap="none" strike="noStrike">
              <a:solidFill>
                <a:srgbClr val="000000"/>
              </a:solidFill>
              <a:latin typeface="Arial"/>
              <a:ea typeface="Arial"/>
              <a:cs typeface="Arial"/>
              <a:sym typeface="Arial"/>
            </a:endParaRPr>
          </a:p>
        </p:txBody>
      </p:sp>
      <p:grpSp>
        <p:nvGrpSpPr>
          <p:cNvPr id="924" name="Google Shape;924;p172"/>
          <p:cNvGrpSpPr/>
          <p:nvPr/>
        </p:nvGrpSpPr>
        <p:grpSpPr>
          <a:xfrm>
            <a:off x="8549640" y="0"/>
            <a:ext cx="594000" cy="679680"/>
            <a:chOff x="8549640" y="0"/>
            <a:chExt cx="594000" cy="679680"/>
          </a:xfrm>
        </p:grpSpPr>
        <p:sp>
          <p:nvSpPr>
            <p:cNvPr id="925" name="Google Shape;925;p17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172"/>
            <p:cNvGrpSpPr/>
            <p:nvPr/>
          </p:nvGrpSpPr>
          <p:grpSpPr>
            <a:xfrm>
              <a:off x="8588160" y="0"/>
              <a:ext cx="555480" cy="679680"/>
              <a:chOff x="8588160" y="0"/>
              <a:chExt cx="555480" cy="679680"/>
            </a:xfrm>
          </p:grpSpPr>
          <p:pic>
            <p:nvPicPr>
              <p:cNvPr id="927" name="Google Shape;927;p172"/>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928" name="Google Shape;928;p17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73"/>
          <p:cNvSpPr txBox="1"/>
          <p:nvPr/>
        </p:nvSpPr>
        <p:spPr>
          <a:xfrm>
            <a:off x="457200" y="594360"/>
            <a:ext cx="7086240" cy="141336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4000" u="none" cap="none" strike="noStrike">
                <a:solidFill>
                  <a:srgbClr val="FFFFFF"/>
                </a:solidFill>
                <a:latin typeface="Arial"/>
                <a:ea typeface="Arial"/>
                <a:cs typeface="Arial"/>
                <a:sym typeface="Arial"/>
              </a:rPr>
              <a:t>Appendix: Implementation</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grpSp>
        <p:nvGrpSpPr>
          <p:cNvPr id="938" name="Google Shape;938;p174"/>
          <p:cNvGrpSpPr/>
          <p:nvPr/>
        </p:nvGrpSpPr>
        <p:grpSpPr>
          <a:xfrm>
            <a:off x="285840" y="2265480"/>
            <a:ext cx="1312560" cy="822240"/>
            <a:chOff x="285840" y="2265480"/>
            <a:chExt cx="1312560" cy="822240"/>
          </a:xfrm>
        </p:grpSpPr>
        <p:pic>
          <p:nvPicPr>
            <p:cNvPr id="939" name="Google Shape;939;p174"/>
            <p:cNvPicPr preferRelativeResize="0"/>
            <p:nvPr/>
          </p:nvPicPr>
          <p:blipFill rotWithShape="1">
            <a:blip r:embed="rId3">
              <a:alphaModFix/>
            </a:blip>
            <a:srcRect b="0" l="0" r="0" t="0"/>
            <a:stretch/>
          </p:blipFill>
          <p:spPr>
            <a:xfrm>
              <a:off x="720360" y="2265480"/>
              <a:ext cx="443520" cy="383760"/>
            </a:xfrm>
            <a:prstGeom prst="rect">
              <a:avLst/>
            </a:prstGeom>
            <a:noFill/>
            <a:ln>
              <a:noFill/>
            </a:ln>
          </p:spPr>
        </p:pic>
        <p:sp>
          <p:nvSpPr>
            <p:cNvPr id="940" name="Google Shape;940;p174"/>
            <p:cNvSpPr/>
            <p:nvPr/>
          </p:nvSpPr>
          <p:spPr>
            <a:xfrm>
              <a:off x="285840" y="2717640"/>
              <a:ext cx="1312560" cy="370080"/>
            </a:xfrm>
            <a:prstGeom prst="rect">
              <a:avLst/>
            </a:prstGeom>
            <a:noFill/>
            <a:ln>
              <a:noFill/>
            </a:ln>
          </p:spPr>
          <p:txBody>
            <a:bodyPr anchorCtr="0" anchor="t" bIns="0" lIns="0" spcFirstLastPara="1" rIns="0" wrap="square" tIns="12225">
              <a:noAutofit/>
            </a:bodyPr>
            <a:lstStyle/>
            <a:p>
              <a:pPr indent="0" lvl="0" marL="12600" marR="0" rtl="0" algn="ctr">
                <a:lnSpc>
                  <a:spcPct val="98000"/>
                </a:lnSpc>
                <a:spcBef>
                  <a:spcPts val="0"/>
                </a:spcBef>
                <a:spcAft>
                  <a:spcPts val="0"/>
                </a:spcAft>
                <a:buNone/>
              </a:pPr>
              <a:r>
                <a:rPr b="1" i="0" lang="en-US" sz="800" u="none" cap="none" strike="noStrike">
                  <a:solidFill>
                    <a:srgbClr val="142948"/>
                  </a:solidFill>
                  <a:latin typeface="Lucida Sans"/>
                  <a:ea typeface="Lucida Sans"/>
                  <a:cs typeface="Lucida Sans"/>
                  <a:sym typeface="Lucida Sans"/>
                </a:rPr>
                <a:t>Vocabularies </a:t>
              </a:r>
              <a:r>
                <a:rPr b="0" i="0" lang="en-US" sz="800" u="none" cap="none" strike="noStrike">
                  <a:solidFill>
                    <a:srgbClr val="182A47"/>
                  </a:solidFill>
                  <a:latin typeface="Lucida Sans"/>
                  <a:ea typeface="Lucida Sans"/>
                  <a:cs typeface="Lucida Sans"/>
                  <a:sym typeface="Lucida Sans"/>
                </a:rPr>
                <a:t>Comprehensive categorization and </a:t>
              </a:r>
              <a:r>
                <a:rPr b="1" i="0" lang="en-US" sz="800" u="none" cap="none" strike="noStrike">
                  <a:solidFill>
                    <a:srgbClr val="3CB7D2"/>
                  </a:solidFill>
                  <a:latin typeface="Lucida Sans"/>
                  <a:ea typeface="Lucida Sans"/>
                  <a:cs typeface="Lucida Sans"/>
                  <a:sym typeface="Lucida Sans"/>
                </a:rPr>
                <a:t>classification </a:t>
              </a:r>
              <a:r>
                <a:rPr b="0" i="0" lang="en-US" sz="800" u="none" cap="none" strike="noStrike">
                  <a:solidFill>
                    <a:srgbClr val="182A47"/>
                  </a:solidFill>
                  <a:latin typeface="Lucida Sans"/>
                  <a:ea typeface="Lucida Sans"/>
                  <a:cs typeface="Lucida Sans"/>
                  <a:sym typeface="Lucida Sans"/>
                </a:rPr>
                <a:t>of data</a:t>
              </a:r>
              <a:endParaRPr b="0" i="0" sz="800" u="none" cap="none" strike="noStrike">
                <a:latin typeface="Arial"/>
                <a:ea typeface="Arial"/>
                <a:cs typeface="Arial"/>
                <a:sym typeface="Arial"/>
              </a:endParaRPr>
            </a:p>
          </p:txBody>
        </p:sp>
      </p:grpSp>
      <p:grpSp>
        <p:nvGrpSpPr>
          <p:cNvPr id="941" name="Google Shape;941;p174"/>
          <p:cNvGrpSpPr/>
          <p:nvPr/>
        </p:nvGrpSpPr>
        <p:grpSpPr>
          <a:xfrm>
            <a:off x="1414080" y="829800"/>
            <a:ext cx="1401840" cy="860400"/>
            <a:chOff x="1414080" y="829800"/>
            <a:chExt cx="1401840" cy="860400"/>
          </a:xfrm>
        </p:grpSpPr>
        <p:pic>
          <p:nvPicPr>
            <p:cNvPr id="942" name="Google Shape;942;p174"/>
            <p:cNvPicPr preferRelativeResize="0"/>
            <p:nvPr/>
          </p:nvPicPr>
          <p:blipFill rotWithShape="1">
            <a:blip r:embed="rId4">
              <a:alphaModFix/>
            </a:blip>
            <a:srcRect b="0" l="0" r="0" t="0"/>
            <a:stretch/>
          </p:blipFill>
          <p:spPr>
            <a:xfrm>
              <a:off x="1948320" y="829800"/>
              <a:ext cx="334080" cy="298080"/>
            </a:xfrm>
            <a:prstGeom prst="rect">
              <a:avLst/>
            </a:prstGeom>
            <a:noFill/>
            <a:ln>
              <a:noFill/>
            </a:ln>
          </p:spPr>
        </p:pic>
        <p:sp>
          <p:nvSpPr>
            <p:cNvPr id="943" name="Google Shape;943;p174"/>
            <p:cNvSpPr/>
            <p:nvPr/>
          </p:nvSpPr>
          <p:spPr>
            <a:xfrm>
              <a:off x="1414080" y="1174320"/>
              <a:ext cx="1401840" cy="515880"/>
            </a:xfrm>
            <a:prstGeom prst="rect">
              <a:avLst/>
            </a:prstGeom>
            <a:noFill/>
            <a:ln>
              <a:noFill/>
            </a:ln>
          </p:spPr>
          <p:txBody>
            <a:bodyPr anchorCtr="0" anchor="t" bIns="0" lIns="0" spcFirstLastPara="1" rIns="0" wrap="square" tIns="9350">
              <a:noAutofit/>
            </a:bodyPr>
            <a:lstStyle/>
            <a:p>
              <a:pPr indent="0" lvl="0" marL="0" marR="0" rtl="0" algn="ctr">
                <a:lnSpc>
                  <a:spcPct val="99000"/>
                </a:lnSpc>
                <a:spcBef>
                  <a:spcPts val="0"/>
                </a:spcBef>
                <a:spcAft>
                  <a:spcPts val="0"/>
                </a:spcAft>
                <a:buNone/>
              </a:pPr>
              <a:r>
                <a:rPr b="1" i="0" lang="en-US" sz="800" u="none" cap="none" strike="noStrike">
                  <a:solidFill>
                    <a:srgbClr val="142948"/>
                  </a:solidFill>
                  <a:latin typeface="Lucida Sans"/>
                  <a:ea typeface="Lucida Sans"/>
                  <a:cs typeface="Lucida Sans"/>
                  <a:sym typeface="Lucida Sans"/>
                </a:rPr>
                <a:t>Ontology</a:t>
              </a:r>
              <a:endParaRPr b="0" i="0" sz="800" u="none" cap="none" strike="noStrike">
                <a:latin typeface="Arial"/>
                <a:ea typeface="Arial"/>
                <a:cs typeface="Arial"/>
                <a:sym typeface="Arial"/>
              </a:endParaRPr>
            </a:p>
            <a:p>
              <a:pPr indent="0" lvl="0" marL="0" marR="0" rtl="0" algn="ctr">
                <a:lnSpc>
                  <a:spcPct val="99000"/>
                </a:lnSpc>
                <a:spcBef>
                  <a:spcPts val="99"/>
                </a:spcBef>
                <a:spcAft>
                  <a:spcPts val="0"/>
                </a:spcAft>
                <a:buNone/>
              </a:pPr>
              <a:r>
                <a:rPr b="0" i="0" lang="en-US" sz="800" u="none" cap="none" strike="noStrike">
                  <a:solidFill>
                    <a:srgbClr val="182A47"/>
                  </a:solidFill>
                  <a:latin typeface="Lucida Sans"/>
                  <a:ea typeface="Lucida Sans"/>
                  <a:cs typeface="Lucida Sans"/>
                  <a:sym typeface="Lucida Sans"/>
                </a:rPr>
                <a:t>Formal definition of your</a:t>
              </a:r>
              <a:endParaRPr b="0" i="0" sz="800" u="none" cap="none" strike="noStrike">
                <a:latin typeface="Arial"/>
                <a:ea typeface="Arial"/>
                <a:cs typeface="Arial"/>
                <a:sym typeface="Arial"/>
              </a:endParaRPr>
            </a:p>
            <a:p>
              <a:pPr indent="0" lvl="0" marL="139680" marR="0" rtl="0" algn="ctr">
                <a:lnSpc>
                  <a:spcPct val="99000"/>
                </a:lnSpc>
                <a:spcBef>
                  <a:spcPts val="99"/>
                </a:spcBef>
                <a:spcAft>
                  <a:spcPts val="0"/>
                </a:spcAft>
                <a:buNone/>
              </a:pPr>
              <a:r>
                <a:rPr b="1" i="0" lang="en-US" sz="800" u="none" cap="none" strike="noStrike">
                  <a:solidFill>
                    <a:srgbClr val="3CB7D2"/>
                  </a:solidFill>
                  <a:latin typeface="Lucida Sans"/>
                  <a:ea typeface="Lucida Sans"/>
                  <a:cs typeface="Lucida Sans"/>
                  <a:sym typeface="Lucida Sans"/>
                </a:rPr>
                <a:t>schema </a:t>
              </a:r>
              <a:r>
                <a:rPr b="0" i="0" lang="en-US" sz="800" u="none" cap="none" strike="noStrike">
                  <a:solidFill>
                    <a:srgbClr val="182A47"/>
                  </a:solidFill>
                  <a:latin typeface="Lucida Sans"/>
                  <a:ea typeface="Lucida Sans"/>
                  <a:cs typeface="Lucida Sans"/>
                  <a:sym typeface="Lucida Sans"/>
                </a:rPr>
                <a:t>which can be extended at any time</a:t>
              </a:r>
              <a:endParaRPr b="0" i="0" sz="800" u="none" cap="none" strike="noStrike">
                <a:latin typeface="Arial"/>
                <a:ea typeface="Arial"/>
                <a:cs typeface="Arial"/>
                <a:sym typeface="Arial"/>
              </a:endParaRPr>
            </a:p>
          </p:txBody>
        </p:sp>
      </p:grpSp>
      <p:grpSp>
        <p:nvGrpSpPr>
          <p:cNvPr id="944" name="Google Shape;944;p174"/>
          <p:cNvGrpSpPr/>
          <p:nvPr/>
        </p:nvGrpSpPr>
        <p:grpSpPr>
          <a:xfrm>
            <a:off x="1312200" y="3463200"/>
            <a:ext cx="1667160" cy="886680"/>
            <a:chOff x="1312200" y="3463200"/>
            <a:chExt cx="1667160" cy="886680"/>
          </a:xfrm>
        </p:grpSpPr>
        <p:sp>
          <p:nvSpPr>
            <p:cNvPr id="945" name="Google Shape;945;p174"/>
            <p:cNvSpPr/>
            <p:nvPr/>
          </p:nvSpPr>
          <p:spPr>
            <a:xfrm>
              <a:off x="1312200" y="3979800"/>
              <a:ext cx="1667160" cy="370080"/>
            </a:xfrm>
            <a:prstGeom prst="rect">
              <a:avLst/>
            </a:prstGeom>
            <a:noFill/>
            <a:ln>
              <a:noFill/>
            </a:ln>
          </p:spPr>
          <p:txBody>
            <a:bodyPr anchorCtr="0" anchor="t" bIns="0" lIns="0" spcFirstLastPara="1" rIns="0" wrap="square" tIns="12225">
              <a:noAutofit/>
            </a:bodyPr>
            <a:lstStyle/>
            <a:p>
              <a:pPr indent="0" lvl="0" marL="12600" marR="0" rtl="0" algn="ctr">
                <a:lnSpc>
                  <a:spcPct val="98000"/>
                </a:lnSpc>
                <a:spcBef>
                  <a:spcPts val="0"/>
                </a:spcBef>
                <a:spcAft>
                  <a:spcPts val="0"/>
                </a:spcAft>
                <a:buNone/>
              </a:pPr>
              <a:r>
                <a:rPr b="1" i="0" lang="en-US" sz="800" u="none" cap="none" strike="noStrike">
                  <a:solidFill>
                    <a:srgbClr val="182A47"/>
                  </a:solidFill>
                  <a:latin typeface="Lucida Sans"/>
                  <a:ea typeface="Lucida Sans"/>
                  <a:cs typeface="Lucida Sans"/>
                  <a:sym typeface="Lucida Sans"/>
                </a:rPr>
                <a:t>Rules &amp; Constraints </a:t>
              </a:r>
              <a:endParaRPr b="0" i="0" sz="800" u="none" cap="none" strike="noStrike">
                <a:latin typeface="Arial"/>
                <a:ea typeface="Arial"/>
                <a:cs typeface="Arial"/>
                <a:sym typeface="Arial"/>
              </a:endParaRPr>
            </a:p>
            <a:p>
              <a:pPr indent="0" lvl="0" marL="12600" marR="0" rtl="0" algn="ctr">
                <a:lnSpc>
                  <a:spcPct val="98000"/>
                </a:lnSpc>
                <a:spcBef>
                  <a:spcPts val="0"/>
                </a:spcBef>
                <a:spcAft>
                  <a:spcPts val="0"/>
                </a:spcAft>
                <a:buNone/>
              </a:pPr>
              <a:r>
                <a:rPr b="0" i="0" lang="en-US" sz="800" u="none" cap="none" strike="noStrike">
                  <a:solidFill>
                    <a:srgbClr val="182A47"/>
                  </a:solidFill>
                  <a:latin typeface="Lucida Sans"/>
                  <a:ea typeface="Lucida Sans"/>
                  <a:cs typeface="Lucida Sans"/>
                  <a:sym typeface="Lucida Sans"/>
                </a:rPr>
                <a:t>Data quality assurance and support for automated reasoning</a:t>
              </a:r>
              <a:endParaRPr b="0" i="0" sz="800" u="none" cap="none" strike="noStrike">
                <a:latin typeface="Arial"/>
                <a:ea typeface="Arial"/>
                <a:cs typeface="Arial"/>
                <a:sym typeface="Arial"/>
              </a:endParaRPr>
            </a:p>
          </p:txBody>
        </p:sp>
        <p:pic>
          <p:nvPicPr>
            <p:cNvPr id="946" name="Google Shape;946;p174"/>
            <p:cNvPicPr preferRelativeResize="0"/>
            <p:nvPr/>
          </p:nvPicPr>
          <p:blipFill rotWithShape="1">
            <a:blip r:embed="rId5">
              <a:alphaModFix/>
            </a:blip>
            <a:srcRect b="0" l="0" r="0" t="0"/>
            <a:stretch/>
          </p:blipFill>
          <p:spPr>
            <a:xfrm>
              <a:off x="1934640" y="3463200"/>
              <a:ext cx="360000" cy="447840"/>
            </a:xfrm>
            <a:prstGeom prst="rect">
              <a:avLst/>
            </a:prstGeom>
            <a:noFill/>
            <a:ln>
              <a:noFill/>
            </a:ln>
          </p:spPr>
        </p:pic>
      </p:grpSp>
      <p:grpSp>
        <p:nvGrpSpPr>
          <p:cNvPr id="947" name="Google Shape;947;p174"/>
          <p:cNvGrpSpPr/>
          <p:nvPr/>
        </p:nvGrpSpPr>
        <p:grpSpPr>
          <a:xfrm>
            <a:off x="1756800" y="1965240"/>
            <a:ext cx="3282480" cy="1667880"/>
            <a:chOff x="1756800" y="1965240"/>
            <a:chExt cx="3282480" cy="1667880"/>
          </a:xfrm>
        </p:grpSpPr>
        <p:pic>
          <p:nvPicPr>
            <p:cNvPr id="948" name="Google Shape;948;p174"/>
            <p:cNvPicPr preferRelativeResize="0"/>
            <p:nvPr/>
          </p:nvPicPr>
          <p:blipFill rotWithShape="1">
            <a:blip r:embed="rId6">
              <a:alphaModFix/>
            </a:blip>
            <a:srcRect b="0" l="0" r="0" t="0"/>
            <a:stretch/>
          </p:blipFill>
          <p:spPr>
            <a:xfrm>
              <a:off x="1756800" y="1965240"/>
              <a:ext cx="1236240" cy="692280"/>
            </a:xfrm>
            <a:prstGeom prst="rect">
              <a:avLst/>
            </a:prstGeom>
            <a:noFill/>
            <a:ln>
              <a:noFill/>
            </a:ln>
          </p:spPr>
        </p:pic>
        <p:pic>
          <p:nvPicPr>
            <p:cNvPr id="949" name="Google Shape;949;p174"/>
            <p:cNvPicPr preferRelativeResize="0"/>
            <p:nvPr/>
          </p:nvPicPr>
          <p:blipFill rotWithShape="1">
            <a:blip r:embed="rId6">
              <a:alphaModFix/>
            </a:blip>
            <a:srcRect b="0" l="0" r="0" t="0"/>
            <a:stretch/>
          </p:blipFill>
          <p:spPr>
            <a:xfrm>
              <a:off x="2752560" y="2940840"/>
              <a:ext cx="1236240" cy="692280"/>
            </a:xfrm>
            <a:prstGeom prst="rect">
              <a:avLst/>
            </a:prstGeom>
            <a:noFill/>
            <a:ln>
              <a:noFill/>
            </a:ln>
          </p:spPr>
        </p:pic>
        <p:pic>
          <p:nvPicPr>
            <p:cNvPr id="950" name="Google Shape;950;p174"/>
            <p:cNvPicPr preferRelativeResize="0"/>
            <p:nvPr/>
          </p:nvPicPr>
          <p:blipFill rotWithShape="1">
            <a:blip r:embed="rId6">
              <a:alphaModFix/>
            </a:blip>
            <a:srcRect b="0" l="0" r="0" t="0"/>
            <a:stretch/>
          </p:blipFill>
          <p:spPr>
            <a:xfrm>
              <a:off x="3803040" y="1965240"/>
              <a:ext cx="1236240" cy="692280"/>
            </a:xfrm>
            <a:prstGeom prst="rect">
              <a:avLst/>
            </a:prstGeom>
            <a:noFill/>
            <a:ln>
              <a:noFill/>
            </a:ln>
          </p:spPr>
        </p:pic>
        <p:sp>
          <p:nvSpPr>
            <p:cNvPr id="951" name="Google Shape;951;p174"/>
            <p:cNvSpPr/>
            <p:nvPr/>
          </p:nvSpPr>
          <p:spPr>
            <a:xfrm>
              <a:off x="2375280" y="2657880"/>
              <a:ext cx="376920" cy="628920"/>
            </a:xfrm>
            <a:custGeom>
              <a:rect b="b" l="l" r="r" t="t"/>
              <a:pathLst>
                <a:path extrusionOk="0" h="21600" w="21600">
                  <a:moveTo>
                    <a:pt x="0" y="0"/>
                  </a:moveTo>
                  <a:lnTo>
                    <a:pt x="21600" y="21600"/>
                  </a:lnTo>
                </a:path>
              </a:pathLst>
            </a:custGeom>
            <a:noFill/>
            <a:ln cap="flat" cmpd="sng" w="28425">
              <a:solidFill>
                <a:srgbClr val="4A7DBA"/>
              </a:solidFill>
              <a:prstDash val="solid"/>
              <a:round/>
              <a:headEnd len="sm" w="sm" type="none"/>
              <a:tailEnd len="sm" w="sm" type="none"/>
            </a:ln>
          </p:spPr>
        </p:sp>
        <p:sp>
          <p:nvSpPr>
            <p:cNvPr id="952" name="Google Shape;952;p174"/>
            <p:cNvSpPr/>
            <p:nvPr/>
          </p:nvSpPr>
          <p:spPr>
            <a:xfrm>
              <a:off x="2993760" y="2311560"/>
              <a:ext cx="808920" cy="360"/>
            </a:xfrm>
            <a:custGeom>
              <a:rect b="b" l="l" r="r" t="t"/>
              <a:pathLst>
                <a:path extrusionOk="0" h="21600" w="21600">
                  <a:moveTo>
                    <a:pt x="0" y="0"/>
                  </a:moveTo>
                  <a:lnTo>
                    <a:pt x="21600" y="21600"/>
                  </a:lnTo>
                </a:path>
              </a:pathLst>
            </a:custGeom>
            <a:noFill/>
            <a:ln cap="flat" cmpd="sng" w="28425">
              <a:solidFill>
                <a:srgbClr val="4A7DBA"/>
              </a:solidFill>
              <a:prstDash val="solid"/>
              <a:round/>
              <a:headEnd len="sm" w="sm" type="none"/>
              <a:tailEnd len="sm" w="sm" type="none"/>
            </a:ln>
          </p:spPr>
        </p:sp>
        <p:sp>
          <p:nvSpPr>
            <p:cNvPr id="953" name="Google Shape;953;p174"/>
            <p:cNvSpPr/>
            <p:nvPr/>
          </p:nvSpPr>
          <p:spPr>
            <a:xfrm flipH="1">
              <a:off x="3987720" y="2657880"/>
              <a:ext cx="431640" cy="628920"/>
            </a:xfrm>
            <a:custGeom>
              <a:rect b="b" l="l" r="r" t="t"/>
              <a:pathLst>
                <a:path extrusionOk="0" h="21600" w="21600">
                  <a:moveTo>
                    <a:pt x="0" y="0"/>
                  </a:moveTo>
                  <a:lnTo>
                    <a:pt x="21600" y="21600"/>
                  </a:lnTo>
                </a:path>
              </a:pathLst>
            </a:custGeom>
            <a:noFill/>
            <a:ln cap="flat" cmpd="sng" w="28425">
              <a:solidFill>
                <a:srgbClr val="4A7DBA"/>
              </a:solidFill>
              <a:prstDash val="solid"/>
              <a:round/>
              <a:headEnd len="sm" w="sm" type="none"/>
              <a:tailEnd len="sm" w="sm" type="none"/>
            </a:ln>
          </p:spPr>
        </p:sp>
      </p:grpSp>
      <p:pic>
        <p:nvPicPr>
          <p:cNvPr id="954" name="Google Shape;954;p174"/>
          <p:cNvPicPr preferRelativeResize="0"/>
          <p:nvPr/>
        </p:nvPicPr>
        <p:blipFill rotWithShape="1">
          <a:blip r:embed="rId7">
            <a:alphaModFix/>
          </a:blip>
          <a:srcRect b="0" l="0" r="0" t="0"/>
          <a:stretch/>
        </p:blipFill>
        <p:spPr>
          <a:xfrm>
            <a:off x="6890760" y="3698280"/>
            <a:ext cx="1600200" cy="622080"/>
          </a:xfrm>
          <a:prstGeom prst="rect">
            <a:avLst/>
          </a:prstGeom>
          <a:noFill/>
          <a:ln cap="flat" cmpd="sng" w="19075">
            <a:solidFill>
              <a:srgbClr val="AAAAAA"/>
            </a:solidFill>
            <a:prstDash val="solid"/>
            <a:round/>
            <a:headEnd len="sm" w="sm" type="none"/>
            <a:tailEnd len="sm" w="sm" type="none"/>
          </a:ln>
        </p:spPr>
      </p:pic>
      <p:pic>
        <p:nvPicPr>
          <p:cNvPr id="955" name="Google Shape;955;p174"/>
          <p:cNvPicPr preferRelativeResize="0"/>
          <p:nvPr/>
        </p:nvPicPr>
        <p:blipFill rotWithShape="1">
          <a:blip r:embed="rId8">
            <a:alphaModFix/>
          </a:blip>
          <a:srcRect b="0" l="0" r="0" t="0"/>
          <a:stretch/>
        </p:blipFill>
        <p:spPr>
          <a:xfrm>
            <a:off x="6890760" y="2686320"/>
            <a:ext cx="1600200" cy="896040"/>
          </a:xfrm>
          <a:prstGeom prst="rect">
            <a:avLst/>
          </a:prstGeom>
          <a:noFill/>
          <a:ln cap="flat" cmpd="sng" w="19075">
            <a:solidFill>
              <a:srgbClr val="AAAAAA"/>
            </a:solidFill>
            <a:prstDash val="solid"/>
            <a:round/>
            <a:headEnd len="sm" w="sm" type="none"/>
            <a:tailEnd len="sm" w="sm" type="none"/>
          </a:ln>
        </p:spPr>
      </p:pic>
      <p:pic>
        <p:nvPicPr>
          <p:cNvPr id="956" name="Google Shape;956;p174"/>
          <p:cNvPicPr preferRelativeResize="0"/>
          <p:nvPr/>
        </p:nvPicPr>
        <p:blipFill rotWithShape="1">
          <a:blip r:embed="rId9">
            <a:alphaModFix/>
          </a:blip>
          <a:srcRect b="0" l="0" r="0" t="0"/>
          <a:stretch/>
        </p:blipFill>
        <p:spPr>
          <a:xfrm>
            <a:off x="6890760" y="1661400"/>
            <a:ext cx="1600200" cy="879840"/>
          </a:xfrm>
          <a:prstGeom prst="rect">
            <a:avLst/>
          </a:prstGeom>
          <a:noFill/>
          <a:ln cap="flat" cmpd="sng" w="19075">
            <a:solidFill>
              <a:srgbClr val="AAAAAA"/>
            </a:solidFill>
            <a:prstDash val="solid"/>
            <a:round/>
            <a:headEnd len="sm" w="sm" type="none"/>
            <a:tailEnd len="sm" w="sm" type="none"/>
          </a:ln>
        </p:spPr>
      </p:pic>
      <p:pic>
        <p:nvPicPr>
          <p:cNvPr id="957" name="Google Shape;957;p174"/>
          <p:cNvPicPr preferRelativeResize="0"/>
          <p:nvPr/>
        </p:nvPicPr>
        <p:blipFill rotWithShape="1">
          <a:blip r:embed="rId10">
            <a:alphaModFix/>
          </a:blip>
          <a:srcRect b="0" l="0" r="0" t="0"/>
          <a:stretch/>
        </p:blipFill>
        <p:spPr>
          <a:xfrm>
            <a:off x="6890760" y="626040"/>
            <a:ext cx="1620720" cy="911520"/>
          </a:xfrm>
          <a:prstGeom prst="rect">
            <a:avLst/>
          </a:prstGeom>
          <a:noFill/>
          <a:ln cap="flat" cmpd="sng" w="19075">
            <a:solidFill>
              <a:srgbClr val="AAAAAA"/>
            </a:solidFill>
            <a:prstDash val="solid"/>
            <a:round/>
            <a:headEnd len="sm" w="sm" type="none"/>
            <a:tailEnd len="sm" w="sm" type="none"/>
          </a:ln>
        </p:spPr>
      </p:pic>
      <p:cxnSp>
        <p:nvCxnSpPr>
          <p:cNvPr id="958" name="Google Shape;958;p174"/>
          <p:cNvCxnSpPr/>
          <p:nvPr/>
        </p:nvCxnSpPr>
        <p:spPr>
          <a:xfrm flipH="1" rot="10800000">
            <a:off x="5038560" y="2311500"/>
            <a:ext cx="1850700" cy="1229100"/>
          </a:xfrm>
          <a:prstGeom prst="bentConnector3">
            <a:avLst>
              <a:gd fmla="val 23462" name="adj1"/>
            </a:avLst>
          </a:prstGeom>
          <a:noFill/>
          <a:ln cap="flat" cmpd="sng" w="9525">
            <a:solidFill>
              <a:srgbClr val="4A7DBA"/>
            </a:solidFill>
            <a:prstDash val="solid"/>
            <a:round/>
            <a:headEnd len="sm" w="sm" type="none"/>
            <a:tailEnd len="med" w="med" type="triangle"/>
          </a:ln>
        </p:spPr>
      </p:cxnSp>
      <p:cxnSp>
        <p:nvCxnSpPr>
          <p:cNvPr id="959" name="Google Shape;959;p174"/>
          <p:cNvCxnSpPr/>
          <p:nvPr/>
        </p:nvCxnSpPr>
        <p:spPr>
          <a:xfrm flipH="1" rot="10800000">
            <a:off x="5038560" y="2311680"/>
            <a:ext cx="1850700" cy="209400"/>
          </a:xfrm>
          <a:prstGeom prst="bentConnector3">
            <a:avLst>
              <a:gd fmla="val 23462" name="adj1"/>
            </a:avLst>
          </a:prstGeom>
          <a:noFill/>
          <a:ln cap="flat" cmpd="sng" w="9525">
            <a:solidFill>
              <a:srgbClr val="4A7DBA"/>
            </a:solidFill>
            <a:prstDash val="solid"/>
            <a:round/>
            <a:headEnd len="sm" w="sm" type="none"/>
            <a:tailEnd len="med" w="med" type="triangle"/>
          </a:ln>
        </p:spPr>
      </p:cxnSp>
      <p:cxnSp>
        <p:nvCxnSpPr>
          <p:cNvPr id="960" name="Google Shape;960;p174"/>
          <p:cNvCxnSpPr/>
          <p:nvPr/>
        </p:nvCxnSpPr>
        <p:spPr>
          <a:xfrm>
            <a:off x="5039640" y="2311560"/>
            <a:ext cx="1850700" cy="822600"/>
          </a:xfrm>
          <a:prstGeom prst="bentConnector3">
            <a:avLst>
              <a:gd fmla="val 23223" name="adj1"/>
            </a:avLst>
          </a:prstGeom>
          <a:noFill/>
          <a:ln cap="flat" cmpd="sng" w="9525">
            <a:solidFill>
              <a:srgbClr val="4A7DBA"/>
            </a:solidFill>
            <a:prstDash val="solid"/>
            <a:round/>
            <a:headEnd len="sm" w="sm" type="none"/>
            <a:tailEnd len="med" w="med" type="triangle"/>
          </a:ln>
        </p:spPr>
      </p:cxnSp>
      <p:cxnSp>
        <p:nvCxnSpPr>
          <p:cNvPr id="961" name="Google Shape;961;p174"/>
          <p:cNvCxnSpPr/>
          <p:nvPr/>
        </p:nvCxnSpPr>
        <p:spPr>
          <a:xfrm>
            <a:off x="5039640" y="2311560"/>
            <a:ext cx="1850700" cy="1697400"/>
          </a:xfrm>
          <a:prstGeom prst="bentConnector3">
            <a:avLst>
              <a:gd fmla="val 23462" name="adj1"/>
            </a:avLst>
          </a:prstGeom>
          <a:noFill/>
          <a:ln cap="flat" cmpd="sng" w="9525">
            <a:solidFill>
              <a:srgbClr val="4A7DBA"/>
            </a:solidFill>
            <a:prstDash val="solid"/>
            <a:round/>
            <a:headEnd len="sm" w="sm" type="none"/>
            <a:tailEnd len="med" w="med" type="triangle"/>
          </a:ln>
        </p:spPr>
      </p:cxnSp>
      <p:sp>
        <p:nvSpPr>
          <p:cNvPr id="962" name="Google Shape;962;p174"/>
          <p:cNvSpPr/>
          <p:nvPr/>
        </p:nvSpPr>
        <p:spPr>
          <a:xfrm>
            <a:off x="5567040" y="4023000"/>
            <a:ext cx="1152000" cy="423000"/>
          </a:xfrm>
          <a:prstGeom prst="rect">
            <a:avLst/>
          </a:prstGeom>
          <a:noFill/>
          <a:ln>
            <a:noFill/>
          </a:ln>
        </p:spPr>
        <p:txBody>
          <a:bodyPr anchorCtr="0" anchor="t" bIns="51475" lIns="51475" spcFirstLastPara="1" rIns="51475" wrap="square" tIns="5147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Dimensions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 Custom Hierarchies)</a:t>
            </a:r>
            <a:endParaRPr b="0" i="0" sz="700" u="none" cap="none" strike="noStrike">
              <a:latin typeface="Arial"/>
              <a:ea typeface="Arial"/>
              <a:cs typeface="Arial"/>
              <a:sym typeface="Arial"/>
            </a:endParaRPr>
          </a:p>
        </p:txBody>
      </p:sp>
      <p:sp>
        <p:nvSpPr>
          <p:cNvPr id="963" name="Google Shape;963;p174"/>
          <p:cNvSpPr/>
          <p:nvPr/>
        </p:nvSpPr>
        <p:spPr>
          <a:xfrm>
            <a:off x="5545080" y="3165840"/>
            <a:ext cx="1173960" cy="316440"/>
          </a:xfrm>
          <a:prstGeom prst="rect">
            <a:avLst/>
          </a:prstGeom>
          <a:noFill/>
          <a:ln>
            <a:noFill/>
          </a:ln>
        </p:spPr>
        <p:txBody>
          <a:bodyPr anchorCtr="0" anchor="t" bIns="51475" lIns="51475" spcFirstLastPara="1" rIns="51475" wrap="square" tIns="5147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Augmented SEARCH  (intuitive &amp; relevant)</a:t>
            </a:r>
            <a:endParaRPr b="0" i="0" sz="700" u="none" cap="none" strike="noStrike">
              <a:latin typeface="Arial"/>
              <a:ea typeface="Arial"/>
              <a:cs typeface="Arial"/>
              <a:sym typeface="Arial"/>
            </a:endParaRPr>
          </a:p>
        </p:txBody>
      </p:sp>
      <p:sp>
        <p:nvSpPr>
          <p:cNvPr id="964" name="Google Shape;964;p174"/>
          <p:cNvSpPr/>
          <p:nvPr/>
        </p:nvSpPr>
        <p:spPr>
          <a:xfrm>
            <a:off x="5522760" y="2140200"/>
            <a:ext cx="1152000" cy="636120"/>
          </a:xfrm>
          <a:prstGeom prst="rect">
            <a:avLst/>
          </a:prstGeom>
          <a:noFill/>
          <a:ln>
            <a:noFill/>
          </a:ln>
        </p:spPr>
        <p:txBody>
          <a:bodyPr anchorCtr="0" anchor="t" bIns="51475" lIns="51475" spcFirstLastPara="1" rIns="51475" wrap="square" tIns="5147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Terms &amp; Taxonomies for Data, Data Products, Metrics, and AI Models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(consistent &amp; aligned)</a:t>
            </a:r>
            <a:endParaRPr b="0" i="0" sz="700" u="none" cap="none" strike="noStrike">
              <a:latin typeface="Arial"/>
              <a:ea typeface="Arial"/>
              <a:cs typeface="Arial"/>
              <a:sym typeface="Arial"/>
            </a:endParaRPr>
          </a:p>
        </p:txBody>
      </p:sp>
      <p:sp>
        <p:nvSpPr>
          <p:cNvPr id="965" name="Google Shape;965;p174"/>
          <p:cNvSpPr/>
          <p:nvPr/>
        </p:nvSpPr>
        <p:spPr>
          <a:xfrm>
            <a:off x="5522760" y="1108440"/>
            <a:ext cx="1196280" cy="529560"/>
          </a:xfrm>
          <a:prstGeom prst="rect">
            <a:avLst/>
          </a:prstGeom>
          <a:noFill/>
          <a:ln>
            <a:noFill/>
          </a:ln>
        </p:spPr>
        <p:txBody>
          <a:bodyPr anchorCtr="0" anchor="t" bIns="51475" lIns="51475" spcFirstLastPara="1" rIns="51475" wrap="square" tIns="5147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Unified General (LMs) &amp; Domain-Specific Knowledge (KGs)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(structured &amp; accurate)</a:t>
            </a:r>
            <a:endParaRPr b="0" i="0" sz="700" u="none" cap="none" strike="noStrike">
              <a:latin typeface="Arial"/>
              <a:ea typeface="Arial"/>
              <a:cs typeface="Arial"/>
              <a:sym typeface="Arial"/>
            </a:endParaRPr>
          </a:p>
        </p:txBody>
      </p:sp>
      <p:sp>
        <p:nvSpPr>
          <p:cNvPr id="966" name="Google Shape;966;p174"/>
          <p:cNvSpPr txBox="1"/>
          <p:nvPr/>
        </p:nvSpPr>
        <p:spPr>
          <a:xfrm>
            <a:off x="457200" y="213840"/>
            <a:ext cx="7086240" cy="176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500" u="none" cap="none" strike="noStrike">
                <a:solidFill>
                  <a:srgbClr val="182A47"/>
                </a:solidFill>
                <a:latin typeface="Arial"/>
                <a:ea typeface="Arial"/>
                <a:cs typeface="Arial"/>
                <a:sym typeface="Arial"/>
              </a:rPr>
              <a:t>Federated Knowledge (Build Once Used Many Times)</a:t>
            </a:r>
            <a:endParaRPr b="0" i="0" sz="1500" u="none" cap="none" strike="noStrike">
              <a:solidFill>
                <a:srgbClr val="000000"/>
              </a:solidFill>
              <a:latin typeface="Arial"/>
              <a:ea typeface="Arial"/>
              <a:cs typeface="Arial"/>
              <a:sym typeface="Arial"/>
            </a:endParaRPr>
          </a:p>
        </p:txBody>
      </p:sp>
      <p:grpSp>
        <p:nvGrpSpPr>
          <p:cNvPr id="967" name="Google Shape;967;p174"/>
          <p:cNvGrpSpPr/>
          <p:nvPr/>
        </p:nvGrpSpPr>
        <p:grpSpPr>
          <a:xfrm>
            <a:off x="8549640" y="0"/>
            <a:ext cx="594000" cy="679680"/>
            <a:chOff x="8549640" y="0"/>
            <a:chExt cx="594000" cy="679680"/>
          </a:xfrm>
        </p:grpSpPr>
        <p:sp>
          <p:nvSpPr>
            <p:cNvPr id="968" name="Google Shape;968;p17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9" name="Google Shape;969;p174"/>
            <p:cNvGrpSpPr/>
            <p:nvPr/>
          </p:nvGrpSpPr>
          <p:grpSpPr>
            <a:xfrm>
              <a:off x="8588160" y="0"/>
              <a:ext cx="555480" cy="679680"/>
              <a:chOff x="8588160" y="0"/>
              <a:chExt cx="555480" cy="679680"/>
            </a:xfrm>
          </p:grpSpPr>
          <p:pic>
            <p:nvPicPr>
              <p:cNvPr id="970" name="Google Shape;970;p174"/>
              <p:cNvPicPr preferRelativeResize="0"/>
              <p:nvPr/>
            </p:nvPicPr>
            <p:blipFill rotWithShape="1">
              <a:blip r:embed="rId11">
                <a:alphaModFix/>
              </a:blip>
              <a:srcRect b="0" l="20669" r="9844" t="0"/>
              <a:stretch/>
            </p:blipFill>
            <p:spPr>
              <a:xfrm>
                <a:off x="8588160" y="0"/>
                <a:ext cx="530640" cy="530640"/>
              </a:xfrm>
              <a:prstGeom prst="rect">
                <a:avLst/>
              </a:prstGeom>
              <a:noFill/>
              <a:ln>
                <a:noFill/>
              </a:ln>
            </p:spPr>
          </p:pic>
          <p:sp>
            <p:nvSpPr>
              <p:cNvPr id="971" name="Google Shape;971;p17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75"/>
          <p:cNvSpPr/>
          <p:nvPr/>
        </p:nvSpPr>
        <p:spPr>
          <a:xfrm rot="-5401200">
            <a:off x="3044880" y="3006720"/>
            <a:ext cx="1384920" cy="371880"/>
          </a:xfrm>
          <a:prstGeom prst="leftRightArrow">
            <a:avLst>
              <a:gd fmla="val 50000" name="adj1"/>
              <a:gd fmla="val 50000" name="adj2"/>
            </a:avLst>
          </a:prstGeom>
          <a:solidFill>
            <a:srgbClr val="D8DADA"/>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a:t>
            </a:r>
            <a:endParaRPr b="0" i="0" sz="700" u="none" cap="none" strike="noStrike">
              <a:latin typeface="Arial"/>
              <a:ea typeface="Arial"/>
              <a:cs typeface="Arial"/>
              <a:sym typeface="Arial"/>
            </a:endParaRPr>
          </a:p>
        </p:txBody>
      </p:sp>
      <p:sp>
        <p:nvSpPr>
          <p:cNvPr id="977" name="Google Shape;977;p175"/>
          <p:cNvSpPr txBox="1"/>
          <p:nvPr/>
        </p:nvSpPr>
        <p:spPr>
          <a:xfrm>
            <a:off x="762120" y="110880"/>
            <a:ext cx="5889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3-Tier Architecture</a:t>
            </a:r>
            <a:endParaRPr b="0" i="0" sz="2000" u="none" cap="none" strike="noStrike">
              <a:solidFill>
                <a:srgbClr val="000000"/>
              </a:solidFill>
              <a:latin typeface="Arial"/>
              <a:ea typeface="Arial"/>
              <a:cs typeface="Arial"/>
              <a:sym typeface="Arial"/>
            </a:endParaRPr>
          </a:p>
        </p:txBody>
      </p:sp>
      <p:sp>
        <p:nvSpPr>
          <p:cNvPr id="978" name="Google Shape;978;p175"/>
          <p:cNvSpPr/>
          <p:nvPr/>
        </p:nvSpPr>
        <p:spPr>
          <a:xfrm>
            <a:off x="6651720" y="3208320"/>
            <a:ext cx="1618920" cy="85968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1VZ Data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a:t>
            </a:r>
            <a:r>
              <a:rPr b="0" i="0" lang="en-US" sz="1000" u="none" cap="none" strike="noStrike">
                <a:solidFill>
                  <a:srgbClr val="0088CE"/>
                </a:solidFill>
                <a:latin typeface="Arial"/>
                <a:ea typeface="Arial"/>
                <a:cs typeface="Arial"/>
                <a:sym typeface="Arial"/>
              </a:rPr>
              <a:t>Metadata</a:t>
            </a:r>
            <a:r>
              <a:rPr b="0" i="0" lang="en-US" sz="1000" u="none" cap="none" strike="noStrike">
                <a:solidFill>
                  <a:srgbClr val="000000"/>
                </a:solidFill>
                <a:latin typeface="Arial"/>
                <a:ea typeface="Arial"/>
                <a:cs typeface="Arial"/>
                <a:sym typeface="Arial"/>
              </a:rPr>
              <a:t> + </a:t>
            </a:r>
            <a:r>
              <a:rPr b="0" i="0" lang="en-US" sz="1000" u="none" cap="none" strike="noStrike">
                <a:solidFill>
                  <a:srgbClr val="0088CE"/>
                </a:solidFill>
                <a:latin typeface="Arial"/>
                <a:ea typeface="Arial"/>
                <a:cs typeface="Arial"/>
                <a:sym typeface="Arial"/>
              </a:rPr>
              <a:t>Instances</a:t>
            </a:r>
            <a:r>
              <a:rPr b="0" i="0" lang="en-US" sz="1000" u="none" cap="none" strike="noStrike">
                <a:solidFill>
                  <a:srgbClr val="000000"/>
                </a:solidFill>
                <a:latin typeface="Arial"/>
                <a:ea typeface="Arial"/>
                <a:cs typeface="Arial"/>
                <a:sym typeface="Arial"/>
              </a:rPr>
              <a:t>)</a:t>
            </a:r>
            <a:endParaRPr b="0" i="0" sz="1000" u="none" cap="none" strike="noStrike">
              <a:latin typeface="Arial"/>
              <a:ea typeface="Arial"/>
              <a:cs typeface="Arial"/>
              <a:sym typeface="Arial"/>
            </a:endParaRPr>
          </a:p>
        </p:txBody>
      </p:sp>
      <p:sp>
        <p:nvSpPr>
          <p:cNvPr id="979" name="Google Shape;979;p175"/>
          <p:cNvSpPr/>
          <p:nvPr/>
        </p:nvSpPr>
        <p:spPr>
          <a:xfrm>
            <a:off x="434880" y="12661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Business Knowledge</a:t>
            </a:r>
            <a:endParaRPr b="0" i="0" sz="900" u="none" cap="none" strike="noStrike">
              <a:latin typeface="Arial"/>
              <a:ea typeface="Arial"/>
              <a:cs typeface="Arial"/>
              <a:sym typeface="Arial"/>
            </a:endParaRPr>
          </a:p>
        </p:txBody>
      </p:sp>
      <p:grpSp>
        <p:nvGrpSpPr>
          <p:cNvPr id="980" name="Google Shape;980;p175"/>
          <p:cNvGrpSpPr/>
          <p:nvPr/>
        </p:nvGrpSpPr>
        <p:grpSpPr>
          <a:xfrm>
            <a:off x="1757880" y="665280"/>
            <a:ext cx="3958920" cy="1805400"/>
            <a:chOff x="1757880" y="665280"/>
            <a:chExt cx="3958920" cy="1805400"/>
          </a:xfrm>
        </p:grpSpPr>
        <p:sp>
          <p:nvSpPr>
            <p:cNvPr id="981" name="Google Shape;981;p175"/>
            <p:cNvSpPr/>
            <p:nvPr/>
          </p:nvSpPr>
          <p:spPr>
            <a:xfrm>
              <a:off x="1757880" y="665280"/>
              <a:ext cx="3958920" cy="1803960"/>
            </a:xfrm>
            <a:prstGeom prst="flowChartAlternateProcess">
              <a:avLst/>
            </a:prstGeom>
            <a:no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2" name="Google Shape;982;p175"/>
            <p:cNvPicPr preferRelativeResize="0"/>
            <p:nvPr/>
          </p:nvPicPr>
          <p:blipFill rotWithShape="1">
            <a:blip r:embed="rId3">
              <a:alphaModFix/>
            </a:blip>
            <a:srcRect b="0" l="0" r="0" t="0"/>
            <a:stretch/>
          </p:blipFill>
          <p:spPr>
            <a:xfrm>
              <a:off x="3283920" y="743040"/>
              <a:ext cx="795960" cy="396000"/>
            </a:xfrm>
            <a:prstGeom prst="rect">
              <a:avLst/>
            </a:prstGeom>
            <a:noFill/>
            <a:ln>
              <a:noFill/>
            </a:ln>
          </p:spPr>
        </p:pic>
        <p:cxnSp>
          <p:nvCxnSpPr>
            <p:cNvPr id="983" name="Google Shape;983;p175"/>
            <p:cNvCxnSpPr/>
            <p:nvPr/>
          </p:nvCxnSpPr>
          <p:spPr>
            <a:xfrm flipH="1">
              <a:off x="2685960" y="941040"/>
              <a:ext cx="597600" cy="297000"/>
            </a:xfrm>
            <a:prstGeom prst="curvedConnector2">
              <a:avLst/>
            </a:prstGeom>
            <a:noFill/>
            <a:ln cap="flat" cmpd="sng" w="9525">
              <a:solidFill>
                <a:srgbClr val="000000"/>
              </a:solidFill>
              <a:prstDash val="solid"/>
              <a:round/>
              <a:headEnd len="sm" w="sm" type="none"/>
              <a:tailEnd len="sm" w="sm" type="none"/>
            </a:ln>
          </p:spPr>
        </p:cxnSp>
        <p:cxnSp>
          <p:nvCxnSpPr>
            <p:cNvPr id="984" name="Google Shape;984;p175"/>
            <p:cNvCxnSpPr/>
            <p:nvPr/>
          </p:nvCxnSpPr>
          <p:spPr>
            <a:xfrm>
              <a:off x="4080240" y="941040"/>
              <a:ext cx="262800" cy="434880"/>
            </a:xfrm>
            <a:prstGeom prst="curvedConnector2">
              <a:avLst/>
            </a:prstGeom>
            <a:noFill/>
            <a:ln cap="flat" cmpd="sng" w="9525">
              <a:solidFill>
                <a:srgbClr val="000000"/>
              </a:solidFill>
              <a:prstDash val="solid"/>
              <a:round/>
              <a:headEnd len="sm" w="sm" type="none"/>
              <a:tailEnd len="sm" w="sm" type="none"/>
            </a:ln>
          </p:spPr>
        </p:cxnSp>
        <p:sp>
          <p:nvSpPr>
            <p:cNvPr id="985" name="Google Shape;985;p175"/>
            <p:cNvSpPr/>
            <p:nvPr/>
          </p:nvSpPr>
          <p:spPr>
            <a:xfrm>
              <a:off x="4204080" y="743040"/>
              <a:ext cx="1005120" cy="276120"/>
            </a:xfrm>
            <a:prstGeom prst="rect">
              <a:avLst/>
            </a:prstGeom>
            <a:noFill/>
            <a:ln>
              <a:noFill/>
            </a:ln>
          </p:spPr>
          <p:txBody>
            <a:bodyPr anchorCtr="0" anchor="t" bIns="68400" lIns="68400" spcFirstLastPara="1" rIns="68400" wrap="square" tIns="68400">
              <a:noAutofit/>
            </a:bodyPr>
            <a:lstStyle/>
            <a:p>
              <a:pPr indent="0" lvl="0" marL="0" marR="0" rtl="0" algn="ctr">
                <a:lnSpc>
                  <a:spcPct val="115000"/>
                </a:lnSpc>
                <a:spcBef>
                  <a:spcPts val="0"/>
                </a:spcBef>
                <a:spcAft>
                  <a:spcPts val="0"/>
                </a:spcAft>
                <a:buNone/>
              </a:pPr>
              <a:r>
                <a:rPr b="1" i="0" lang="en-US" sz="800" u="none" cap="none" strike="noStrike">
                  <a:solidFill>
                    <a:srgbClr val="000000"/>
                  </a:solidFill>
                  <a:latin typeface="Roboto"/>
                  <a:ea typeface="Roboto"/>
                  <a:cs typeface="Roboto"/>
                  <a:sym typeface="Roboto"/>
                </a:rPr>
                <a:t>Upper Ontology</a:t>
              </a:r>
              <a:endParaRPr b="0" i="0" sz="800" u="none" cap="none" strike="noStrike">
                <a:latin typeface="Arial"/>
                <a:ea typeface="Arial"/>
                <a:cs typeface="Arial"/>
                <a:sym typeface="Arial"/>
              </a:endParaRPr>
            </a:p>
          </p:txBody>
        </p:sp>
        <p:grpSp>
          <p:nvGrpSpPr>
            <p:cNvPr id="986" name="Google Shape;986;p175"/>
            <p:cNvGrpSpPr/>
            <p:nvPr/>
          </p:nvGrpSpPr>
          <p:grpSpPr>
            <a:xfrm>
              <a:off x="4038120" y="1376640"/>
              <a:ext cx="610560" cy="655200"/>
              <a:chOff x="4038120" y="1376640"/>
              <a:chExt cx="610560" cy="655200"/>
            </a:xfrm>
          </p:grpSpPr>
          <p:pic>
            <p:nvPicPr>
              <p:cNvPr id="987" name="Google Shape;987;p175"/>
              <p:cNvPicPr preferRelativeResize="0"/>
              <p:nvPr/>
            </p:nvPicPr>
            <p:blipFill rotWithShape="1">
              <a:blip r:embed="rId4">
                <a:alphaModFix/>
              </a:blip>
              <a:srcRect b="0" l="0" r="0" t="0"/>
              <a:stretch/>
            </p:blipFill>
            <p:spPr>
              <a:xfrm>
                <a:off x="4089960" y="1376640"/>
                <a:ext cx="506880" cy="407520"/>
              </a:xfrm>
              <a:prstGeom prst="rect">
                <a:avLst/>
              </a:prstGeom>
              <a:noFill/>
              <a:ln>
                <a:noFill/>
              </a:ln>
            </p:spPr>
          </p:pic>
          <p:sp>
            <p:nvSpPr>
              <p:cNvPr id="988" name="Google Shape;988;p175"/>
              <p:cNvSpPr/>
              <p:nvPr/>
            </p:nvSpPr>
            <p:spPr>
              <a:xfrm>
                <a:off x="4038120" y="179748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Network Operations</a:t>
                </a:r>
                <a:endParaRPr b="0" i="0" sz="600" u="none" cap="none" strike="noStrike">
                  <a:latin typeface="Arial"/>
                  <a:ea typeface="Arial"/>
                  <a:cs typeface="Arial"/>
                  <a:sym typeface="Arial"/>
                </a:endParaRPr>
              </a:p>
            </p:txBody>
          </p:sp>
        </p:grpSp>
        <p:grpSp>
          <p:nvGrpSpPr>
            <p:cNvPr id="989" name="Google Shape;989;p175"/>
            <p:cNvGrpSpPr/>
            <p:nvPr/>
          </p:nvGrpSpPr>
          <p:grpSpPr>
            <a:xfrm>
              <a:off x="4837680" y="1626840"/>
              <a:ext cx="610560" cy="613440"/>
              <a:chOff x="4837680" y="1626840"/>
              <a:chExt cx="610560" cy="613440"/>
            </a:xfrm>
          </p:grpSpPr>
          <p:pic>
            <p:nvPicPr>
              <p:cNvPr id="990" name="Google Shape;990;p175"/>
              <p:cNvPicPr preferRelativeResize="0"/>
              <p:nvPr/>
            </p:nvPicPr>
            <p:blipFill rotWithShape="1">
              <a:blip r:embed="rId5">
                <a:alphaModFix/>
              </a:blip>
              <a:srcRect b="0" l="0" r="0" t="0"/>
              <a:stretch/>
            </p:blipFill>
            <p:spPr>
              <a:xfrm>
                <a:off x="4889520" y="1626840"/>
                <a:ext cx="506880" cy="369000"/>
              </a:xfrm>
              <a:prstGeom prst="rect">
                <a:avLst/>
              </a:prstGeom>
              <a:noFill/>
              <a:ln>
                <a:noFill/>
              </a:ln>
            </p:spPr>
          </p:pic>
          <p:sp>
            <p:nvSpPr>
              <p:cNvPr id="991" name="Google Shape;991;p175"/>
              <p:cNvSpPr/>
              <p:nvPr/>
            </p:nvSpPr>
            <p:spPr>
              <a:xfrm>
                <a:off x="4837680" y="200592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Customer Support</a:t>
                </a:r>
                <a:endParaRPr b="0" i="0" sz="600" u="none" cap="none" strike="noStrike">
                  <a:latin typeface="Arial"/>
                  <a:ea typeface="Arial"/>
                  <a:cs typeface="Arial"/>
                  <a:sym typeface="Arial"/>
                </a:endParaRPr>
              </a:p>
            </p:txBody>
          </p:sp>
        </p:grpSp>
        <p:pic>
          <p:nvPicPr>
            <p:cNvPr id="992" name="Google Shape;992;p175"/>
            <p:cNvPicPr preferRelativeResize="0"/>
            <p:nvPr/>
          </p:nvPicPr>
          <p:blipFill rotWithShape="1">
            <a:blip r:embed="rId6">
              <a:alphaModFix/>
            </a:blip>
            <a:srcRect b="0" l="0" r="0" t="0"/>
            <a:stretch/>
          </p:blipFill>
          <p:spPr>
            <a:xfrm>
              <a:off x="2302200" y="1238400"/>
              <a:ext cx="767160" cy="657360"/>
            </a:xfrm>
            <a:prstGeom prst="rect">
              <a:avLst/>
            </a:prstGeom>
            <a:noFill/>
            <a:ln>
              <a:noFill/>
            </a:ln>
          </p:spPr>
        </p:pic>
        <p:grpSp>
          <p:nvGrpSpPr>
            <p:cNvPr id="993" name="Google Shape;993;p175"/>
            <p:cNvGrpSpPr/>
            <p:nvPr/>
          </p:nvGrpSpPr>
          <p:grpSpPr>
            <a:xfrm>
              <a:off x="3376800" y="1684800"/>
              <a:ext cx="610560" cy="564120"/>
              <a:chOff x="3376800" y="1684800"/>
              <a:chExt cx="610560" cy="564120"/>
            </a:xfrm>
          </p:grpSpPr>
          <p:pic>
            <p:nvPicPr>
              <p:cNvPr id="994" name="Google Shape;994;p175"/>
              <p:cNvPicPr preferRelativeResize="0"/>
              <p:nvPr/>
            </p:nvPicPr>
            <p:blipFill rotWithShape="1">
              <a:blip r:embed="rId7">
                <a:alphaModFix/>
              </a:blip>
              <a:srcRect b="0" l="0" r="0" t="0"/>
              <a:stretch/>
            </p:blipFill>
            <p:spPr>
              <a:xfrm>
                <a:off x="3428640" y="1684800"/>
                <a:ext cx="506880" cy="407520"/>
              </a:xfrm>
              <a:prstGeom prst="rect">
                <a:avLst/>
              </a:prstGeom>
              <a:noFill/>
              <a:ln>
                <a:noFill/>
              </a:ln>
            </p:spPr>
          </p:pic>
          <p:sp>
            <p:nvSpPr>
              <p:cNvPr id="995" name="Google Shape;995;p175"/>
              <p:cNvSpPr/>
              <p:nvPr/>
            </p:nvSpPr>
            <p:spPr>
              <a:xfrm>
                <a:off x="3376800" y="2106000"/>
                <a:ext cx="610560" cy="14292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Finance</a:t>
                </a:r>
                <a:endParaRPr b="0" i="0" sz="600" u="none" cap="none" strike="noStrike">
                  <a:latin typeface="Arial"/>
                  <a:ea typeface="Arial"/>
                  <a:cs typeface="Arial"/>
                  <a:sym typeface="Arial"/>
                </a:endParaRPr>
              </a:p>
            </p:txBody>
          </p:sp>
        </p:grpSp>
        <p:cxnSp>
          <p:nvCxnSpPr>
            <p:cNvPr id="996" name="Google Shape;996;p175"/>
            <p:cNvCxnSpPr/>
            <p:nvPr/>
          </p:nvCxnSpPr>
          <p:spPr>
            <a:xfrm flipH="1">
              <a:off x="3680640" y="941040"/>
              <a:ext cx="397800" cy="743400"/>
            </a:xfrm>
            <a:prstGeom prst="curvedConnector4">
              <a:avLst>
                <a:gd fmla="val -59815" name="adj1"/>
                <a:gd fmla="val 63325" name="adj2"/>
              </a:avLst>
            </a:prstGeom>
            <a:noFill/>
            <a:ln cap="flat" cmpd="sng" w="9525">
              <a:solidFill>
                <a:srgbClr val="000000"/>
              </a:solidFill>
              <a:prstDash val="solid"/>
              <a:round/>
              <a:headEnd len="sm" w="sm" type="none"/>
              <a:tailEnd len="sm" w="sm" type="none"/>
            </a:ln>
          </p:spPr>
        </p:cxnSp>
        <p:cxnSp>
          <p:nvCxnSpPr>
            <p:cNvPr id="997" name="Google Shape;997;p175"/>
            <p:cNvCxnSpPr/>
            <p:nvPr/>
          </p:nvCxnSpPr>
          <p:spPr>
            <a:xfrm>
              <a:off x="4080240" y="941040"/>
              <a:ext cx="1062720" cy="685080"/>
            </a:xfrm>
            <a:prstGeom prst="curvedConnector2">
              <a:avLst/>
            </a:prstGeom>
            <a:noFill/>
            <a:ln cap="flat" cmpd="sng" w="9525">
              <a:solidFill>
                <a:srgbClr val="000000"/>
              </a:solidFill>
              <a:prstDash val="solid"/>
              <a:round/>
              <a:headEnd len="sm" w="sm" type="none"/>
              <a:tailEnd len="sm" w="sm" type="none"/>
            </a:ln>
          </p:spPr>
        </p:cxnSp>
        <p:sp>
          <p:nvSpPr>
            <p:cNvPr id="998" name="Google Shape;998;p175"/>
            <p:cNvSpPr/>
            <p:nvPr/>
          </p:nvSpPr>
          <p:spPr>
            <a:xfrm>
              <a:off x="2147400" y="1896120"/>
              <a:ext cx="961560" cy="258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Taxonomies</a:t>
              </a:r>
              <a:endParaRPr b="0" i="0" sz="800" u="none" cap="none" strike="noStrike">
                <a:latin typeface="Arial"/>
                <a:ea typeface="Arial"/>
                <a:cs typeface="Arial"/>
                <a:sym typeface="Arial"/>
              </a:endParaRPr>
            </a:p>
          </p:txBody>
        </p:sp>
        <p:sp>
          <p:nvSpPr>
            <p:cNvPr id="999" name="Google Shape;999;p175"/>
            <p:cNvSpPr/>
            <p:nvPr/>
          </p:nvSpPr>
          <p:spPr>
            <a:xfrm>
              <a:off x="3849120" y="2105280"/>
              <a:ext cx="1213920" cy="3654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000" name="Google Shape;1000;p175"/>
            <p:cNvSpPr/>
            <p:nvPr/>
          </p:nvSpPr>
          <p:spPr>
            <a:xfrm>
              <a:off x="1757880" y="743040"/>
              <a:ext cx="1161720" cy="42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Semantic</a:t>
              </a:r>
              <a:endParaRPr b="0" i="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Knowledge</a:t>
              </a:r>
              <a:endParaRPr b="0" i="0" sz="800" u="none" cap="none" strike="noStrike">
                <a:latin typeface="Arial"/>
                <a:ea typeface="Arial"/>
                <a:cs typeface="Arial"/>
                <a:sym typeface="Arial"/>
              </a:endParaRPr>
            </a:p>
          </p:txBody>
        </p:sp>
      </p:grpSp>
      <p:sp>
        <p:nvSpPr>
          <p:cNvPr id="1001" name="Google Shape;1001;p175"/>
          <p:cNvSpPr/>
          <p:nvPr/>
        </p:nvSpPr>
        <p:spPr>
          <a:xfrm>
            <a:off x="390960" y="29833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Structures</a:t>
            </a:r>
            <a:endParaRPr b="0" i="0" sz="900" u="none" cap="none" strike="noStrike">
              <a:latin typeface="Arial"/>
              <a:ea typeface="Arial"/>
              <a:cs typeface="Arial"/>
              <a:sym typeface="Arial"/>
            </a:endParaRPr>
          </a:p>
        </p:txBody>
      </p:sp>
      <p:sp>
        <p:nvSpPr>
          <p:cNvPr id="1002" name="Google Shape;1002;p175"/>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003" name="Google Shape;1003;p175"/>
          <p:cNvSpPr/>
          <p:nvPr/>
        </p:nvSpPr>
        <p:spPr>
          <a:xfrm>
            <a:off x="2726640" y="2856240"/>
            <a:ext cx="2021040" cy="67932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8CE"/>
                </a:solidFill>
                <a:latin typeface="Arial"/>
                <a:ea typeface="Arial"/>
                <a:cs typeface="Arial"/>
                <a:sym typeface="Arial"/>
              </a:rPr>
              <a:t>Persistent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(Triples for DDL)</a:t>
            </a:r>
            <a:endParaRPr b="0" i="0" sz="900" u="none" cap="none" strike="noStrike">
              <a:latin typeface="Arial"/>
              <a:ea typeface="Arial"/>
              <a:cs typeface="Arial"/>
              <a:sym typeface="Arial"/>
            </a:endParaRPr>
          </a:p>
        </p:txBody>
      </p:sp>
      <p:sp>
        <p:nvSpPr>
          <p:cNvPr id="1004" name="Google Shape;1004;p175"/>
          <p:cNvSpPr/>
          <p:nvPr/>
        </p:nvSpPr>
        <p:spPr>
          <a:xfrm>
            <a:off x="2991600" y="3917520"/>
            <a:ext cx="1491480" cy="58356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E97132"/>
                </a:solidFill>
                <a:latin typeface="Arial"/>
                <a:ea typeface="Arial"/>
                <a:cs typeface="Arial"/>
                <a:sym typeface="Arial"/>
              </a:rPr>
              <a:t>Transient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 for DDL + Data)</a:t>
            </a:r>
            <a:endParaRPr b="0" i="0" sz="900" u="none" cap="none" strike="noStrike">
              <a:latin typeface="Arial"/>
              <a:ea typeface="Arial"/>
              <a:cs typeface="Arial"/>
              <a:sym typeface="Arial"/>
            </a:endParaRPr>
          </a:p>
        </p:txBody>
      </p:sp>
      <p:sp>
        <p:nvSpPr>
          <p:cNvPr id="1005" name="Google Shape;1005;p175"/>
          <p:cNvSpPr/>
          <p:nvPr/>
        </p:nvSpPr>
        <p:spPr>
          <a:xfrm>
            <a:off x="390960" y="406836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(Instances)</a:t>
            </a:r>
            <a:endParaRPr b="0" i="0" sz="900" u="none" cap="none" strike="noStrike">
              <a:latin typeface="Arial"/>
              <a:ea typeface="Arial"/>
              <a:cs typeface="Arial"/>
              <a:sym typeface="Arial"/>
            </a:endParaRPr>
          </a:p>
        </p:txBody>
      </p:sp>
      <p:cxnSp>
        <p:nvCxnSpPr>
          <p:cNvPr id="1006" name="Google Shape;1006;p175"/>
          <p:cNvCxnSpPr/>
          <p:nvPr/>
        </p:nvCxnSpPr>
        <p:spPr>
          <a:xfrm rot="10800000">
            <a:off x="4748520" y="3196560"/>
            <a:ext cx="1903200" cy="441600"/>
          </a:xfrm>
          <a:prstGeom prst="bentConnector3">
            <a:avLst>
              <a:gd fmla="val 50003" name="adj1"/>
            </a:avLst>
          </a:prstGeom>
          <a:noFill/>
          <a:ln cap="flat" cmpd="sng" w="9525">
            <a:solidFill>
              <a:srgbClr val="747676"/>
            </a:solidFill>
            <a:prstDash val="solid"/>
            <a:round/>
            <a:headEnd len="sm" w="sm" type="none"/>
            <a:tailEnd len="sm" w="sm" type="none"/>
          </a:ln>
        </p:spPr>
      </p:cxnSp>
      <p:cxnSp>
        <p:nvCxnSpPr>
          <p:cNvPr id="1007" name="Google Shape;1007;p175"/>
          <p:cNvCxnSpPr/>
          <p:nvPr/>
        </p:nvCxnSpPr>
        <p:spPr>
          <a:xfrm flipH="1">
            <a:off x="4483560" y="3638160"/>
            <a:ext cx="2167800" cy="570600"/>
          </a:xfrm>
          <a:prstGeom prst="bentConnector3">
            <a:avLst>
              <a:gd fmla="val 43976" name="adj1"/>
            </a:avLst>
          </a:prstGeom>
          <a:noFill/>
          <a:ln cap="flat" cmpd="sng" w="9525">
            <a:solidFill>
              <a:srgbClr val="747676"/>
            </a:solidFill>
            <a:prstDash val="solid"/>
            <a:round/>
            <a:headEnd len="sm" w="sm" type="none"/>
            <a:tailEnd len="sm" w="sm" type="none"/>
          </a:ln>
        </p:spPr>
      </p:cxnSp>
      <p:sp>
        <p:nvSpPr>
          <p:cNvPr id="1008" name="Google Shape;1008;p175"/>
          <p:cNvSpPr/>
          <p:nvPr/>
        </p:nvSpPr>
        <p:spPr>
          <a:xfrm>
            <a:off x="4973040" y="29538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009" name="Google Shape;1009;p175"/>
          <p:cNvSpPr/>
          <p:nvPr/>
        </p:nvSpPr>
        <p:spPr>
          <a:xfrm>
            <a:off x="4973040" y="42336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Instances</a:t>
            </a:r>
            <a:endParaRPr b="0" i="0" sz="700" u="none" cap="none" strike="noStrike">
              <a:latin typeface="Arial"/>
              <a:ea typeface="Arial"/>
              <a:cs typeface="Arial"/>
              <a:sym typeface="Arial"/>
            </a:endParaRPr>
          </a:p>
        </p:txBody>
      </p:sp>
      <p:sp>
        <p:nvSpPr>
          <p:cNvPr id="1010" name="Google Shape;1010;p175"/>
          <p:cNvSpPr/>
          <p:nvPr/>
        </p:nvSpPr>
        <p:spPr>
          <a:xfrm>
            <a:off x="1958760" y="3565080"/>
            <a:ext cx="15541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DDL 2 Data Mapping 1:1</a:t>
            </a:r>
            <a:endParaRPr b="0" i="0" sz="900" u="none" cap="none" strike="noStrike">
              <a:latin typeface="Arial"/>
              <a:ea typeface="Arial"/>
              <a:cs typeface="Arial"/>
              <a:sym typeface="Arial"/>
            </a:endParaRPr>
          </a:p>
        </p:txBody>
      </p:sp>
      <p:sp>
        <p:nvSpPr>
          <p:cNvPr id="1011" name="Google Shape;1011;p175"/>
          <p:cNvSpPr/>
          <p:nvPr/>
        </p:nvSpPr>
        <p:spPr>
          <a:xfrm>
            <a:off x="2194200" y="2503800"/>
            <a:ext cx="13183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R2R Mapping M:M</a:t>
            </a:r>
            <a:endParaRPr b="0" i="0" sz="900" u="none" cap="none" strike="noStrike">
              <a:latin typeface="Arial"/>
              <a:ea typeface="Arial"/>
              <a:cs typeface="Arial"/>
              <a:sym typeface="Arial"/>
            </a:endParaRPr>
          </a:p>
        </p:txBody>
      </p:sp>
      <p:grpSp>
        <p:nvGrpSpPr>
          <p:cNvPr id="1012" name="Google Shape;1012;p175"/>
          <p:cNvGrpSpPr/>
          <p:nvPr/>
        </p:nvGrpSpPr>
        <p:grpSpPr>
          <a:xfrm>
            <a:off x="8549640" y="0"/>
            <a:ext cx="594000" cy="679680"/>
            <a:chOff x="8549640" y="0"/>
            <a:chExt cx="594000" cy="679680"/>
          </a:xfrm>
        </p:grpSpPr>
        <p:sp>
          <p:nvSpPr>
            <p:cNvPr id="1013" name="Google Shape;1013;p17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4" name="Google Shape;1014;p175"/>
            <p:cNvGrpSpPr/>
            <p:nvPr/>
          </p:nvGrpSpPr>
          <p:grpSpPr>
            <a:xfrm>
              <a:off x="8588160" y="0"/>
              <a:ext cx="555480" cy="679680"/>
              <a:chOff x="8588160" y="0"/>
              <a:chExt cx="555480" cy="679680"/>
            </a:xfrm>
          </p:grpSpPr>
          <p:pic>
            <p:nvPicPr>
              <p:cNvPr id="1015" name="Google Shape;1015;p175"/>
              <p:cNvPicPr preferRelativeResize="0"/>
              <p:nvPr/>
            </p:nvPicPr>
            <p:blipFill rotWithShape="1">
              <a:blip r:embed="rId8">
                <a:alphaModFix/>
              </a:blip>
              <a:srcRect b="0" l="20669" r="9844" t="0"/>
              <a:stretch/>
            </p:blipFill>
            <p:spPr>
              <a:xfrm>
                <a:off x="8588160" y="0"/>
                <a:ext cx="530640" cy="530640"/>
              </a:xfrm>
              <a:prstGeom prst="rect">
                <a:avLst/>
              </a:prstGeom>
              <a:noFill/>
              <a:ln>
                <a:noFill/>
              </a:ln>
            </p:spPr>
          </p:pic>
          <p:sp>
            <p:nvSpPr>
              <p:cNvPr id="1016" name="Google Shape;1016;p17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176"/>
          <p:cNvSpPr/>
          <p:nvPr/>
        </p:nvSpPr>
        <p:spPr>
          <a:xfrm>
            <a:off x="5441400" y="521640"/>
            <a:ext cx="3458160" cy="1554840"/>
          </a:xfrm>
          <a:prstGeom prst="roundRect">
            <a:avLst>
              <a:gd fmla="val 16667" name="adj"/>
            </a:avLst>
          </a:prstGeom>
          <a:solidFill>
            <a:srgbClr val="F3ED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76"/>
          <p:cNvSpPr txBox="1"/>
          <p:nvPr/>
        </p:nvSpPr>
        <p:spPr>
          <a:xfrm>
            <a:off x="762120" y="110880"/>
            <a:ext cx="41144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Pilot (Solution Architecture)</a:t>
            </a:r>
            <a:endParaRPr b="0" i="0" sz="2000" u="none" cap="none" strike="noStrike">
              <a:solidFill>
                <a:srgbClr val="000000"/>
              </a:solidFill>
              <a:latin typeface="Arial"/>
              <a:ea typeface="Arial"/>
              <a:cs typeface="Arial"/>
              <a:sym typeface="Arial"/>
            </a:endParaRPr>
          </a:p>
        </p:txBody>
      </p:sp>
      <p:sp>
        <p:nvSpPr>
          <p:cNvPr id="1023" name="Google Shape;1023;p176"/>
          <p:cNvSpPr/>
          <p:nvPr/>
        </p:nvSpPr>
        <p:spPr>
          <a:xfrm>
            <a:off x="424080" y="9932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1. Designing</a:t>
            </a:r>
            <a:endParaRPr b="0" i="0" sz="900" u="none" cap="none" strike="noStrike">
              <a:latin typeface="Arial"/>
              <a:ea typeface="Arial"/>
              <a:cs typeface="Arial"/>
              <a:sym typeface="Arial"/>
            </a:endParaRPr>
          </a:p>
        </p:txBody>
      </p:sp>
      <p:sp>
        <p:nvSpPr>
          <p:cNvPr id="1024" name="Google Shape;1024;p176"/>
          <p:cNvSpPr/>
          <p:nvPr/>
        </p:nvSpPr>
        <p:spPr>
          <a:xfrm>
            <a:off x="424080" y="166716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2. Learning</a:t>
            </a:r>
            <a:endParaRPr b="0" i="0" sz="900" u="none" cap="none" strike="noStrike">
              <a:latin typeface="Arial"/>
              <a:ea typeface="Arial"/>
              <a:cs typeface="Arial"/>
              <a:sym typeface="Arial"/>
            </a:endParaRPr>
          </a:p>
        </p:txBody>
      </p:sp>
      <p:sp>
        <p:nvSpPr>
          <p:cNvPr id="1025" name="Google Shape;1025;p176"/>
          <p:cNvSpPr/>
          <p:nvPr/>
        </p:nvSpPr>
        <p:spPr>
          <a:xfrm>
            <a:off x="424080" y="229968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3. Loading</a:t>
            </a:r>
            <a:endParaRPr b="0" i="0" sz="900" u="none" cap="none" strike="noStrike">
              <a:latin typeface="Arial"/>
              <a:ea typeface="Arial"/>
              <a:cs typeface="Arial"/>
              <a:sym typeface="Arial"/>
            </a:endParaRPr>
          </a:p>
        </p:txBody>
      </p:sp>
      <p:sp>
        <p:nvSpPr>
          <p:cNvPr id="1026" name="Google Shape;1026;p176"/>
          <p:cNvSpPr/>
          <p:nvPr/>
        </p:nvSpPr>
        <p:spPr>
          <a:xfrm>
            <a:off x="5645520" y="106596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NLQ</a:t>
            </a:r>
            <a:endParaRPr b="0" i="0" sz="800" u="none" cap="none" strike="noStrike">
              <a:latin typeface="Arial"/>
              <a:ea typeface="Arial"/>
              <a:cs typeface="Arial"/>
              <a:sym typeface="Arial"/>
            </a:endParaRPr>
          </a:p>
        </p:txBody>
      </p:sp>
      <p:sp>
        <p:nvSpPr>
          <p:cNvPr id="1027" name="Google Shape;1027;p176"/>
          <p:cNvSpPr/>
          <p:nvPr/>
        </p:nvSpPr>
        <p:spPr>
          <a:xfrm>
            <a:off x="5650200" y="162720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SPARQL &amp; SHAQL</a:t>
            </a:r>
            <a:endParaRPr b="0" i="0" sz="700" u="none" cap="none" strike="noStrike">
              <a:latin typeface="Arial"/>
              <a:ea typeface="Arial"/>
              <a:cs typeface="Arial"/>
              <a:sym typeface="Arial"/>
            </a:endParaRPr>
          </a:p>
        </p:txBody>
      </p:sp>
      <p:sp>
        <p:nvSpPr>
          <p:cNvPr id="1028" name="Google Shape;1028;p176"/>
          <p:cNvSpPr/>
          <p:nvPr/>
        </p:nvSpPr>
        <p:spPr>
          <a:xfrm>
            <a:off x="497700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029" name="Google Shape;1029;p176"/>
          <p:cNvSpPr/>
          <p:nvPr/>
        </p:nvSpPr>
        <p:spPr>
          <a:xfrm>
            <a:off x="58197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030" name="Google Shape;1030;p176"/>
          <p:cNvSpPr/>
          <p:nvPr/>
        </p:nvSpPr>
        <p:spPr>
          <a:xfrm>
            <a:off x="66621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031" name="Google Shape;1031;p176"/>
          <p:cNvSpPr/>
          <p:nvPr/>
        </p:nvSpPr>
        <p:spPr>
          <a:xfrm>
            <a:off x="5095080" y="34149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6"/>
          <p:cNvSpPr/>
          <p:nvPr/>
        </p:nvSpPr>
        <p:spPr>
          <a:xfrm>
            <a:off x="5918400" y="3393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76"/>
          <p:cNvSpPr/>
          <p:nvPr/>
        </p:nvSpPr>
        <p:spPr>
          <a:xfrm>
            <a:off x="6780240" y="3384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6"/>
          <p:cNvSpPr/>
          <p:nvPr/>
        </p:nvSpPr>
        <p:spPr>
          <a:xfrm>
            <a:off x="2154960" y="1963800"/>
            <a:ext cx="2021040" cy="67932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Persistent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a:t>
            </a:r>
            <a:endParaRPr b="0" i="0" sz="700" u="none" cap="none" strike="noStrike">
              <a:latin typeface="Arial"/>
              <a:ea typeface="Arial"/>
              <a:cs typeface="Arial"/>
              <a:sym typeface="Arial"/>
            </a:endParaRPr>
          </a:p>
        </p:txBody>
      </p:sp>
      <p:sp>
        <p:nvSpPr>
          <p:cNvPr id="1035" name="Google Shape;1035;p176"/>
          <p:cNvSpPr/>
          <p:nvPr/>
        </p:nvSpPr>
        <p:spPr>
          <a:xfrm>
            <a:off x="5739840" y="2681280"/>
            <a:ext cx="890280" cy="150120"/>
          </a:xfrm>
          <a:prstGeom prst="cube">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DVCF</a:t>
            </a:r>
            <a:endParaRPr b="0" i="0" sz="800" u="none" cap="none" strike="noStrike">
              <a:latin typeface="Arial"/>
              <a:ea typeface="Arial"/>
              <a:cs typeface="Arial"/>
              <a:sym typeface="Arial"/>
            </a:endParaRPr>
          </a:p>
        </p:txBody>
      </p:sp>
      <p:sp>
        <p:nvSpPr>
          <p:cNvPr id="1036" name="Google Shape;1036;p176"/>
          <p:cNvSpPr/>
          <p:nvPr/>
        </p:nvSpPr>
        <p:spPr>
          <a:xfrm>
            <a:off x="5090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76"/>
          <p:cNvSpPr/>
          <p:nvPr/>
        </p:nvSpPr>
        <p:spPr>
          <a:xfrm>
            <a:off x="5909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76"/>
          <p:cNvSpPr/>
          <p:nvPr/>
        </p:nvSpPr>
        <p:spPr>
          <a:xfrm>
            <a:off x="681948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6"/>
          <p:cNvSpPr/>
          <p:nvPr/>
        </p:nvSpPr>
        <p:spPr>
          <a:xfrm>
            <a:off x="7584480" y="3915720"/>
            <a:ext cx="75024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Result Sets</a:t>
            </a:r>
            <a:endParaRPr b="0" i="0" sz="700" u="none" cap="none" strike="noStrike">
              <a:latin typeface="Arial"/>
              <a:ea typeface="Arial"/>
              <a:cs typeface="Arial"/>
              <a:sym typeface="Arial"/>
            </a:endParaRPr>
          </a:p>
        </p:txBody>
      </p:sp>
      <p:sp>
        <p:nvSpPr>
          <p:cNvPr id="1040" name="Google Shape;1040;p176"/>
          <p:cNvSpPr/>
          <p:nvPr/>
        </p:nvSpPr>
        <p:spPr>
          <a:xfrm>
            <a:off x="2076120" y="3560760"/>
            <a:ext cx="2197080" cy="91728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97132"/>
                </a:solidFill>
                <a:latin typeface="Arial"/>
                <a:ea typeface="Arial"/>
                <a:cs typeface="Arial"/>
                <a:sym typeface="Arial"/>
              </a:rPr>
              <a:t>Transient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 + Data)</a:t>
            </a:r>
            <a:endParaRPr b="0" i="0" sz="700" u="none" cap="none" strike="noStrike">
              <a:latin typeface="Arial"/>
              <a:ea typeface="Arial"/>
              <a:cs typeface="Arial"/>
              <a:sym typeface="Arial"/>
            </a:endParaRPr>
          </a:p>
        </p:txBody>
      </p:sp>
      <p:sp>
        <p:nvSpPr>
          <p:cNvPr id="1041" name="Google Shape;1041;p176"/>
          <p:cNvSpPr/>
          <p:nvPr/>
        </p:nvSpPr>
        <p:spPr>
          <a:xfrm>
            <a:off x="7552800" y="2685240"/>
            <a:ext cx="81360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Protection</a:t>
            </a:r>
            <a:endParaRPr b="0" i="0" sz="700" u="none" cap="none" strike="noStrike">
              <a:latin typeface="Arial"/>
              <a:ea typeface="Arial"/>
              <a:cs typeface="Arial"/>
              <a:sym typeface="Arial"/>
            </a:endParaRPr>
          </a:p>
        </p:txBody>
      </p:sp>
      <p:sp>
        <p:nvSpPr>
          <p:cNvPr id="1042" name="Google Shape;1042;p176"/>
          <p:cNvSpPr/>
          <p:nvPr/>
        </p:nvSpPr>
        <p:spPr>
          <a:xfrm>
            <a:off x="3165480" y="1466640"/>
            <a:ext cx="360" cy="496800"/>
          </a:xfrm>
          <a:custGeom>
            <a:rect b="b" l="l" r="r" t="t"/>
            <a:pathLst>
              <a:path extrusionOk="0" h="21600" w="21600">
                <a:moveTo>
                  <a:pt x="0" y="0"/>
                </a:moveTo>
                <a:lnTo>
                  <a:pt x="21600" y="21600"/>
                </a:lnTo>
              </a:path>
            </a:pathLst>
          </a:custGeom>
          <a:noFill/>
          <a:ln cap="flat" cmpd="sng" w="28425">
            <a:solidFill>
              <a:srgbClr val="0088CE"/>
            </a:solidFill>
            <a:prstDash val="solid"/>
            <a:round/>
            <a:headEnd len="sm" w="sm" type="none"/>
            <a:tailEnd len="med" w="med" type="triangle"/>
          </a:ln>
        </p:spPr>
      </p:sp>
      <p:sp>
        <p:nvSpPr>
          <p:cNvPr id="1043" name="Google Shape;1043;p176"/>
          <p:cNvSpPr/>
          <p:nvPr/>
        </p:nvSpPr>
        <p:spPr>
          <a:xfrm>
            <a:off x="1668600" y="1543320"/>
            <a:ext cx="1272240" cy="39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Ontology Level Mapping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 Classes 2 RDB Classes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Top Down 2 Bottom Up</a:t>
            </a:r>
            <a:endParaRPr b="0" i="0" sz="600" u="none" cap="none" strike="noStrike">
              <a:latin typeface="Arial"/>
              <a:ea typeface="Arial"/>
              <a:cs typeface="Arial"/>
              <a:sym typeface="Arial"/>
            </a:endParaRPr>
          </a:p>
        </p:txBody>
      </p:sp>
      <p:sp>
        <p:nvSpPr>
          <p:cNvPr id="1044" name="Google Shape;1044;p176"/>
          <p:cNvSpPr/>
          <p:nvPr/>
        </p:nvSpPr>
        <p:spPr>
          <a:xfrm>
            <a:off x="626400" y="2963160"/>
            <a:ext cx="2338560" cy="3621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Auto Generate R2RML Script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Mapping RDB Class IRIs to RDB SchemaX + Data IRIs</a:t>
            </a:r>
            <a:endParaRPr b="0" i="0" sz="600" u="none" cap="none" strike="noStrike">
              <a:latin typeface="Arial"/>
              <a:ea typeface="Arial"/>
              <a:cs typeface="Arial"/>
              <a:sym typeface="Arial"/>
            </a:endParaRPr>
          </a:p>
        </p:txBody>
      </p:sp>
      <p:sp>
        <p:nvSpPr>
          <p:cNvPr id="1045" name="Google Shape;1045;p176"/>
          <p:cNvSpPr/>
          <p:nvPr/>
        </p:nvSpPr>
        <p:spPr>
          <a:xfrm rot="10800000">
            <a:off x="3165840" y="2643840"/>
            <a:ext cx="9000" cy="916920"/>
          </a:xfrm>
          <a:custGeom>
            <a:rect b="b" l="l" r="r" t="t"/>
            <a:pathLst>
              <a:path extrusionOk="0" h="21600" w="21600">
                <a:moveTo>
                  <a:pt x="0" y="0"/>
                </a:moveTo>
                <a:lnTo>
                  <a:pt x="21600" y="21600"/>
                </a:lnTo>
              </a:path>
            </a:pathLst>
          </a:custGeom>
          <a:noFill/>
          <a:ln cap="flat" cmpd="sng" w="28425">
            <a:solidFill>
              <a:srgbClr val="E97132"/>
            </a:solidFill>
            <a:prstDash val="solid"/>
            <a:round/>
            <a:headEnd len="sm" w="sm" type="none"/>
            <a:tailEnd len="med" w="med" type="triangle"/>
          </a:ln>
        </p:spPr>
      </p:sp>
      <p:sp>
        <p:nvSpPr>
          <p:cNvPr id="1046" name="Google Shape;1046;p176"/>
          <p:cNvSpPr/>
          <p:nvPr/>
        </p:nvSpPr>
        <p:spPr>
          <a:xfrm>
            <a:off x="6180480" y="1240200"/>
            <a:ext cx="4320" cy="38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47" name="Google Shape;1047;p176"/>
          <p:cNvSpPr/>
          <p:nvPr/>
        </p:nvSpPr>
        <p:spPr>
          <a:xfrm>
            <a:off x="6185160" y="1801440"/>
            <a:ext cx="8521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48" name="Google Shape;1048;p176"/>
          <p:cNvSpPr/>
          <p:nvPr/>
        </p:nvSpPr>
        <p:spPr>
          <a:xfrm>
            <a:off x="6185160" y="1801440"/>
            <a:ext cx="97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49" name="Google Shape;1049;p176"/>
          <p:cNvSpPr/>
          <p:nvPr/>
        </p:nvSpPr>
        <p:spPr>
          <a:xfrm flipH="1">
            <a:off x="5352120" y="1801440"/>
            <a:ext cx="8323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0" name="Google Shape;1050;p176"/>
          <p:cNvSpPr/>
          <p:nvPr/>
        </p:nvSpPr>
        <p:spPr>
          <a:xfrm>
            <a:off x="5352480" y="2370600"/>
            <a:ext cx="8510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1" name="Google Shape;1051;p176"/>
          <p:cNvSpPr/>
          <p:nvPr/>
        </p:nvSpPr>
        <p:spPr>
          <a:xfrm>
            <a:off x="6194880" y="2370600"/>
            <a:ext cx="86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2" name="Google Shape;1052;p176"/>
          <p:cNvSpPr/>
          <p:nvPr/>
        </p:nvSpPr>
        <p:spPr>
          <a:xfrm flipH="1">
            <a:off x="6202440" y="2370600"/>
            <a:ext cx="83340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3" name="Google Shape;1053;p176"/>
          <p:cNvSpPr/>
          <p:nvPr/>
        </p:nvSpPr>
        <p:spPr>
          <a:xfrm>
            <a:off x="535212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4" name="Google Shape;1054;p176"/>
          <p:cNvSpPr/>
          <p:nvPr/>
        </p:nvSpPr>
        <p:spPr>
          <a:xfrm>
            <a:off x="618300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5" name="Google Shape;1055;p176"/>
          <p:cNvSpPr/>
          <p:nvPr/>
        </p:nvSpPr>
        <p:spPr>
          <a:xfrm>
            <a:off x="7083720" y="363420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6" name="Google Shape;1056;p176"/>
          <p:cNvSpPr/>
          <p:nvPr/>
        </p:nvSpPr>
        <p:spPr>
          <a:xfrm flipH="1">
            <a:off x="5352480" y="2831760"/>
            <a:ext cx="813600" cy="5828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7" name="Google Shape;1057;p176"/>
          <p:cNvSpPr/>
          <p:nvPr/>
        </p:nvSpPr>
        <p:spPr>
          <a:xfrm>
            <a:off x="6166440" y="2831760"/>
            <a:ext cx="9000" cy="561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8" name="Google Shape;1058;p176"/>
          <p:cNvSpPr/>
          <p:nvPr/>
        </p:nvSpPr>
        <p:spPr>
          <a:xfrm>
            <a:off x="6166440" y="2831760"/>
            <a:ext cx="870840" cy="552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059" name="Google Shape;1059;p176"/>
          <p:cNvSpPr/>
          <p:nvPr/>
        </p:nvSpPr>
        <p:spPr>
          <a:xfrm>
            <a:off x="5426640" y="3010320"/>
            <a:ext cx="1497600" cy="204120"/>
          </a:xfrm>
          <a:prstGeom prst="cube">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GCP BQ</a:t>
            </a:r>
            <a:endParaRPr b="0" i="0" sz="800" u="none" cap="none" strike="noStrike">
              <a:latin typeface="Arial"/>
              <a:ea typeface="Arial"/>
              <a:cs typeface="Arial"/>
              <a:sym typeface="Arial"/>
            </a:endParaRPr>
          </a:p>
        </p:txBody>
      </p:sp>
      <p:sp>
        <p:nvSpPr>
          <p:cNvPr id="1060" name="Google Shape;1060;p176"/>
          <p:cNvSpPr/>
          <p:nvPr/>
        </p:nvSpPr>
        <p:spPr>
          <a:xfrm>
            <a:off x="424080" y="39200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4. Staging</a:t>
            </a:r>
            <a:endParaRPr b="0" i="0" sz="900" u="none" cap="none" strike="noStrike">
              <a:latin typeface="Arial"/>
              <a:ea typeface="Arial"/>
              <a:cs typeface="Arial"/>
              <a:sym typeface="Arial"/>
            </a:endParaRPr>
          </a:p>
        </p:txBody>
      </p:sp>
      <p:sp>
        <p:nvSpPr>
          <p:cNvPr id="1061" name="Google Shape;1061;p176"/>
          <p:cNvSpPr/>
          <p:nvPr/>
        </p:nvSpPr>
        <p:spPr>
          <a:xfrm>
            <a:off x="4446000" y="3904920"/>
            <a:ext cx="306720" cy="150120"/>
          </a:xfrm>
          <a:prstGeom prst="leftArrow">
            <a:avLst>
              <a:gd fmla="val 50000" name="adj1"/>
              <a:gd fmla="val 50000" name="adj2"/>
            </a:avLst>
          </a:prstGeom>
          <a:solidFill>
            <a:srgbClr val="ED700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62" name="Google Shape;1062;p176"/>
          <p:cNvPicPr preferRelativeResize="0"/>
          <p:nvPr/>
        </p:nvPicPr>
        <p:blipFill rotWithShape="1">
          <a:blip r:embed="rId3">
            <a:alphaModFix/>
          </a:blip>
          <a:srcRect b="0" l="0" r="0" t="0"/>
          <a:stretch/>
        </p:blipFill>
        <p:spPr>
          <a:xfrm>
            <a:off x="1861920" y="521640"/>
            <a:ext cx="2606760" cy="995040"/>
          </a:xfrm>
          <a:prstGeom prst="rect">
            <a:avLst/>
          </a:prstGeom>
          <a:noFill/>
          <a:ln>
            <a:noFill/>
          </a:ln>
        </p:spPr>
      </p:pic>
      <p:cxnSp>
        <p:nvCxnSpPr>
          <p:cNvPr id="1063" name="Google Shape;1063;p176"/>
          <p:cNvCxnSpPr/>
          <p:nvPr/>
        </p:nvCxnSpPr>
        <p:spPr>
          <a:xfrm rot="10800000">
            <a:off x="4176840" y="2304120"/>
            <a:ext cx="1249800" cy="834000"/>
          </a:xfrm>
          <a:prstGeom prst="bentConnector3">
            <a:avLst>
              <a:gd fmla="val 50011" name="adj1"/>
            </a:avLst>
          </a:prstGeom>
          <a:noFill/>
          <a:ln cap="flat" cmpd="sng" w="28425">
            <a:solidFill>
              <a:srgbClr val="0088CE"/>
            </a:solidFill>
            <a:prstDash val="solid"/>
            <a:round/>
            <a:headEnd len="sm" w="sm" type="none"/>
            <a:tailEnd len="med" w="med" type="triangle"/>
          </a:ln>
        </p:spPr>
      </p:cxnSp>
      <p:sp>
        <p:nvSpPr>
          <p:cNvPr id="1064" name="Google Shape;1064;p176"/>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065" name="Google Shape;1065;p176"/>
          <p:cNvSpPr/>
          <p:nvPr/>
        </p:nvSpPr>
        <p:spPr>
          <a:xfrm>
            <a:off x="4397400" y="2718000"/>
            <a:ext cx="41976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DDLs</a:t>
            </a:r>
            <a:endParaRPr b="0" i="0" sz="700" u="none" cap="none" strike="noStrike">
              <a:latin typeface="Arial"/>
              <a:ea typeface="Arial"/>
              <a:cs typeface="Arial"/>
              <a:sym typeface="Arial"/>
            </a:endParaRPr>
          </a:p>
        </p:txBody>
      </p:sp>
      <p:sp>
        <p:nvSpPr>
          <p:cNvPr id="1066" name="Google Shape;1066;p176"/>
          <p:cNvSpPr/>
          <p:nvPr/>
        </p:nvSpPr>
        <p:spPr>
          <a:xfrm>
            <a:off x="7552800" y="15206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Focus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Filtering</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Relevancy</a:t>
            </a:r>
            <a:endParaRPr b="0" i="0" sz="700" u="none" cap="none" strike="noStrike">
              <a:latin typeface="Arial"/>
              <a:ea typeface="Arial"/>
              <a:cs typeface="Arial"/>
              <a:sym typeface="Arial"/>
            </a:endParaRPr>
          </a:p>
        </p:txBody>
      </p:sp>
      <p:pic>
        <p:nvPicPr>
          <p:cNvPr id="1067" name="Google Shape;1067;p176"/>
          <p:cNvPicPr preferRelativeResize="0"/>
          <p:nvPr/>
        </p:nvPicPr>
        <p:blipFill rotWithShape="1">
          <a:blip r:embed="rId4">
            <a:alphaModFix/>
          </a:blip>
          <a:srcRect b="0" l="0" r="0" t="0"/>
          <a:stretch/>
        </p:blipFill>
        <p:spPr>
          <a:xfrm>
            <a:off x="5918400" y="567360"/>
            <a:ext cx="419760" cy="419760"/>
          </a:xfrm>
          <a:prstGeom prst="rect">
            <a:avLst/>
          </a:prstGeom>
          <a:noFill/>
          <a:ln>
            <a:noFill/>
          </a:ln>
        </p:spPr>
      </p:pic>
      <p:sp>
        <p:nvSpPr>
          <p:cNvPr id="1068" name="Google Shape;1068;p176"/>
          <p:cNvSpPr/>
          <p:nvPr/>
        </p:nvSpPr>
        <p:spPr>
          <a:xfrm>
            <a:off x="7552800" y="8528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Intuitive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Consumable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Relevant</a:t>
            </a:r>
            <a:endParaRPr b="0" i="0" sz="700" u="none" cap="none" strike="noStrike">
              <a:latin typeface="Arial"/>
              <a:ea typeface="Arial"/>
              <a:cs typeface="Arial"/>
              <a:sym typeface="Arial"/>
            </a:endParaRPr>
          </a:p>
        </p:txBody>
      </p:sp>
      <p:sp>
        <p:nvSpPr>
          <p:cNvPr id="1069" name="Google Shape;1069;p176"/>
          <p:cNvSpPr/>
          <p:nvPr/>
        </p:nvSpPr>
        <p:spPr>
          <a:xfrm>
            <a:off x="4665240" y="1173600"/>
            <a:ext cx="775080" cy="6840"/>
          </a:xfrm>
          <a:custGeom>
            <a:rect b="b" l="l" r="r" t="t"/>
            <a:pathLst>
              <a:path extrusionOk="0" h="21600" w="21600">
                <a:moveTo>
                  <a:pt x="0" y="0"/>
                </a:moveTo>
                <a:lnTo>
                  <a:pt x="21600" y="21600"/>
                </a:lnTo>
              </a:path>
            </a:pathLst>
          </a:custGeom>
          <a:noFill/>
          <a:ln cap="flat" cmpd="sng" w="28425">
            <a:solidFill>
              <a:srgbClr val="0088CE"/>
            </a:solidFill>
            <a:prstDash val="solid"/>
            <a:round/>
            <a:headEnd len="med" w="med" type="triangle"/>
            <a:tailEnd len="med" w="med" type="triangle"/>
          </a:ln>
        </p:spPr>
      </p:sp>
      <p:sp>
        <p:nvSpPr>
          <p:cNvPr id="1070" name="Google Shape;1070;p176"/>
          <p:cNvSpPr/>
          <p:nvPr/>
        </p:nvSpPr>
        <p:spPr>
          <a:xfrm>
            <a:off x="8335080" y="864000"/>
            <a:ext cx="532440" cy="3103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sng" cap="none" strike="noStrike">
                <a:solidFill>
                  <a:schemeClr val="hlink"/>
                </a:solidFill>
                <a:latin typeface="Arial"/>
                <a:ea typeface="Arial"/>
                <a:cs typeface="Arial"/>
                <a:sym typeface="Arial"/>
                <a:hlinkClick r:id="rId5"/>
              </a:rPr>
              <a:t>UPM</a:t>
            </a:r>
            <a:endParaRPr b="0" i="0" sz="1800" u="none" cap="none" strike="noStrike">
              <a:latin typeface="Arial"/>
              <a:ea typeface="Arial"/>
              <a:cs typeface="Arial"/>
              <a:sym typeface="Arial"/>
            </a:endParaRPr>
          </a:p>
        </p:txBody>
      </p:sp>
      <p:grpSp>
        <p:nvGrpSpPr>
          <p:cNvPr id="1071" name="Google Shape;1071;p176"/>
          <p:cNvGrpSpPr/>
          <p:nvPr/>
        </p:nvGrpSpPr>
        <p:grpSpPr>
          <a:xfrm>
            <a:off x="8549640" y="0"/>
            <a:ext cx="594000" cy="679680"/>
            <a:chOff x="8549640" y="0"/>
            <a:chExt cx="594000" cy="679680"/>
          </a:xfrm>
        </p:grpSpPr>
        <p:sp>
          <p:nvSpPr>
            <p:cNvPr id="1072" name="Google Shape;1072;p17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3" name="Google Shape;1073;p176"/>
            <p:cNvGrpSpPr/>
            <p:nvPr/>
          </p:nvGrpSpPr>
          <p:grpSpPr>
            <a:xfrm>
              <a:off x="8588160" y="0"/>
              <a:ext cx="555480" cy="679680"/>
              <a:chOff x="8588160" y="0"/>
              <a:chExt cx="555480" cy="679680"/>
            </a:xfrm>
          </p:grpSpPr>
          <p:pic>
            <p:nvPicPr>
              <p:cNvPr id="1074" name="Google Shape;1074;p176"/>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1075" name="Google Shape;1075;p17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77"/>
          <p:cNvSpPr/>
          <p:nvPr/>
        </p:nvSpPr>
        <p:spPr>
          <a:xfrm>
            <a:off x="5375880" y="4529160"/>
            <a:ext cx="1654920" cy="456840"/>
          </a:xfrm>
          <a:prstGeom prst="rect">
            <a:avLst/>
          </a:prstGeom>
          <a:solidFill>
            <a:srgbClr val="FFFFFF"/>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Vocabulary</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Harmonized Rules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Domain-Specific Ontologies</a:t>
            </a:r>
            <a:endParaRPr b="0" i="0" sz="700" u="none" cap="none" strike="noStrike">
              <a:latin typeface="Arial"/>
              <a:ea typeface="Arial"/>
              <a:cs typeface="Arial"/>
              <a:sym typeface="Arial"/>
            </a:endParaRPr>
          </a:p>
        </p:txBody>
      </p:sp>
      <p:sp>
        <p:nvSpPr>
          <p:cNvPr id="1081" name="Google Shape;1081;p177"/>
          <p:cNvSpPr/>
          <p:nvPr/>
        </p:nvSpPr>
        <p:spPr>
          <a:xfrm>
            <a:off x="5436720" y="2590920"/>
            <a:ext cx="649440" cy="290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082" name="Google Shape;1082;p177"/>
          <p:cNvSpPr/>
          <p:nvPr/>
        </p:nvSpPr>
        <p:spPr>
          <a:xfrm>
            <a:off x="1326960" y="2481120"/>
            <a:ext cx="618120" cy="29484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083" name="Google Shape;1083;p177"/>
          <p:cNvSpPr/>
          <p:nvPr/>
        </p:nvSpPr>
        <p:spPr>
          <a:xfrm>
            <a:off x="921600" y="114840"/>
            <a:ext cx="5269680" cy="29052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US" sz="1900" u="none" cap="none" strike="noStrike">
                <a:solidFill>
                  <a:srgbClr val="000000"/>
                </a:solidFill>
                <a:latin typeface="Arial"/>
                <a:ea typeface="Arial"/>
                <a:cs typeface="Arial"/>
                <a:sym typeface="Arial"/>
              </a:rPr>
              <a:t>Positioning the SKL &amp; Semantic Metrics Hub</a:t>
            </a:r>
            <a:endParaRPr b="0" i="0" sz="1900" u="none" cap="none" strike="noStrike">
              <a:latin typeface="Arial"/>
              <a:ea typeface="Arial"/>
              <a:cs typeface="Arial"/>
              <a:sym typeface="Arial"/>
            </a:endParaRPr>
          </a:p>
        </p:txBody>
      </p:sp>
      <p:sp>
        <p:nvSpPr>
          <p:cNvPr id="1084" name="Google Shape;1084;p177"/>
          <p:cNvSpPr/>
          <p:nvPr/>
        </p:nvSpPr>
        <p:spPr>
          <a:xfrm>
            <a:off x="1326960" y="22255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085" name="Google Shape;1085;p177"/>
          <p:cNvSpPr/>
          <p:nvPr/>
        </p:nvSpPr>
        <p:spPr>
          <a:xfrm>
            <a:off x="1303560" y="568080"/>
            <a:ext cx="5548320" cy="1491840"/>
          </a:xfrm>
          <a:prstGeom prst="flowChartProcess">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414141"/>
                </a:solidFill>
                <a:latin typeface="Arial"/>
                <a:ea typeface="Arial"/>
                <a:cs typeface="Arial"/>
                <a:sym typeface="Arial"/>
              </a:rPr>
              <a:t>Semantic Metrics Hub</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(Dimensions, Unified Data Models, Calc Execution)</a:t>
            </a:r>
            <a:endParaRPr b="0" i="0" sz="700" u="none" cap="none" strike="noStrike">
              <a:latin typeface="Arial"/>
              <a:ea typeface="Arial"/>
              <a:cs typeface="Arial"/>
              <a:sym typeface="Arial"/>
            </a:endParaRPr>
          </a:p>
        </p:txBody>
      </p:sp>
      <p:sp>
        <p:nvSpPr>
          <p:cNvPr id="1086" name="Google Shape;1086;p177"/>
          <p:cNvSpPr/>
          <p:nvPr/>
        </p:nvSpPr>
        <p:spPr>
          <a:xfrm>
            <a:off x="5436720" y="2361600"/>
            <a:ext cx="64944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087" name="Google Shape;1087;p177"/>
          <p:cNvSpPr/>
          <p:nvPr/>
        </p:nvSpPr>
        <p:spPr>
          <a:xfrm>
            <a:off x="2085120" y="221004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pic>
        <p:nvPicPr>
          <p:cNvPr id="1088" name="Google Shape;1088;p177"/>
          <p:cNvPicPr preferRelativeResize="0"/>
          <p:nvPr/>
        </p:nvPicPr>
        <p:blipFill rotWithShape="1">
          <a:blip r:embed="rId3">
            <a:alphaModFix/>
          </a:blip>
          <a:srcRect b="0" l="0" r="0" t="0"/>
          <a:stretch/>
        </p:blipFill>
        <p:spPr>
          <a:xfrm>
            <a:off x="1918080" y="3093120"/>
            <a:ext cx="983520" cy="582120"/>
          </a:xfrm>
          <a:prstGeom prst="rect">
            <a:avLst/>
          </a:prstGeom>
          <a:noFill/>
          <a:ln>
            <a:noFill/>
          </a:ln>
        </p:spPr>
      </p:pic>
      <p:sp>
        <p:nvSpPr>
          <p:cNvPr id="1089" name="Google Shape;1089;p177"/>
          <p:cNvSpPr/>
          <p:nvPr/>
        </p:nvSpPr>
        <p:spPr>
          <a:xfrm>
            <a:off x="3584160" y="2995200"/>
            <a:ext cx="1079640" cy="35028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&amp; Custom Hierarchies</a:t>
            </a:r>
            <a:endParaRPr b="0" i="0" sz="700" u="none" cap="none" strike="noStrike">
              <a:latin typeface="Arial"/>
              <a:ea typeface="Arial"/>
              <a:cs typeface="Arial"/>
              <a:sym typeface="Arial"/>
            </a:endParaRPr>
          </a:p>
        </p:txBody>
      </p:sp>
      <p:sp>
        <p:nvSpPr>
          <p:cNvPr id="1090" name="Google Shape;1090;p177"/>
          <p:cNvSpPr/>
          <p:nvPr/>
        </p:nvSpPr>
        <p:spPr>
          <a:xfrm>
            <a:off x="2916000" y="222768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091" name="Google Shape;1091;p177"/>
          <p:cNvSpPr/>
          <p:nvPr/>
        </p:nvSpPr>
        <p:spPr>
          <a:xfrm>
            <a:off x="1854720" y="3624480"/>
            <a:ext cx="1110240" cy="24372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Core Taxonomies</a:t>
            </a:r>
            <a:endParaRPr b="0" i="0" sz="700" u="none" cap="none" strike="noStrike">
              <a:latin typeface="Arial"/>
              <a:ea typeface="Arial"/>
              <a:cs typeface="Arial"/>
              <a:sym typeface="Arial"/>
            </a:endParaRPr>
          </a:p>
        </p:txBody>
      </p:sp>
      <p:sp>
        <p:nvSpPr>
          <p:cNvPr id="1092" name="Google Shape;1092;p177"/>
          <p:cNvSpPr/>
          <p:nvPr/>
        </p:nvSpPr>
        <p:spPr>
          <a:xfrm>
            <a:off x="6191640" y="22417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093" name="Google Shape;1093;p177"/>
          <p:cNvGrpSpPr/>
          <p:nvPr/>
        </p:nvGrpSpPr>
        <p:grpSpPr>
          <a:xfrm>
            <a:off x="3673800" y="2241720"/>
            <a:ext cx="830520" cy="720000"/>
            <a:chOff x="3673800" y="2241720"/>
            <a:chExt cx="830520" cy="720000"/>
          </a:xfrm>
        </p:grpSpPr>
        <p:sp>
          <p:nvSpPr>
            <p:cNvPr id="1094" name="Google Shape;1094;p177"/>
            <p:cNvSpPr/>
            <p:nvPr/>
          </p:nvSpPr>
          <p:spPr>
            <a:xfrm>
              <a:off x="3673800" y="22417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095" name="Google Shape;1095;p177"/>
            <p:cNvGrpSpPr/>
            <p:nvPr/>
          </p:nvGrpSpPr>
          <p:grpSpPr>
            <a:xfrm>
              <a:off x="3848760" y="2494080"/>
              <a:ext cx="480600" cy="353520"/>
              <a:chOff x="3848760" y="2494080"/>
              <a:chExt cx="480600" cy="353520"/>
            </a:xfrm>
          </p:grpSpPr>
          <p:sp>
            <p:nvSpPr>
              <p:cNvPr id="1096" name="Google Shape;1096;p177"/>
              <p:cNvSpPr/>
              <p:nvPr/>
            </p:nvSpPr>
            <p:spPr>
              <a:xfrm>
                <a:off x="3995280" y="24940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77"/>
              <p:cNvSpPr/>
              <p:nvPr/>
            </p:nvSpPr>
            <p:spPr>
              <a:xfrm>
                <a:off x="4150800" y="26146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8" name="Google Shape;1098;p177"/>
              <p:cNvCxnSpPr/>
              <p:nvPr/>
            </p:nvCxnSpPr>
            <p:spPr>
              <a:xfrm flipH="1" rot="-5400000">
                <a:off x="4078080" y="2582280"/>
                <a:ext cx="79920" cy="65520"/>
              </a:xfrm>
              <a:prstGeom prst="bentConnector2">
                <a:avLst/>
              </a:prstGeom>
              <a:noFill/>
              <a:ln cap="flat" cmpd="sng" w="9525">
                <a:solidFill>
                  <a:srgbClr val="FFFFFF"/>
                </a:solidFill>
                <a:prstDash val="solid"/>
                <a:round/>
                <a:headEnd len="sm" w="sm" type="none"/>
                <a:tailEnd len="sm" w="sm" type="none"/>
              </a:ln>
            </p:spPr>
          </p:cxnSp>
          <p:sp>
            <p:nvSpPr>
              <p:cNvPr id="1099" name="Google Shape;1099;p177"/>
              <p:cNvSpPr/>
              <p:nvPr/>
            </p:nvSpPr>
            <p:spPr>
              <a:xfrm>
                <a:off x="3848760" y="26708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0" name="Google Shape;1100;p177"/>
              <p:cNvCxnSpPr/>
              <p:nvPr/>
            </p:nvCxnSpPr>
            <p:spPr>
              <a:xfrm rot="5400000">
                <a:off x="3988800" y="2614680"/>
                <a:ext cx="135720" cy="56520"/>
              </a:xfrm>
              <a:prstGeom prst="bentConnector2">
                <a:avLst/>
              </a:prstGeom>
              <a:noFill/>
              <a:ln cap="flat" cmpd="sng" w="9525">
                <a:solidFill>
                  <a:srgbClr val="FFFFFF"/>
                </a:solidFill>
                <a:prstDash val="solid"/>
                <a:round/>
                <a:headEnd len="sm" w="sm" type="none"/>
                <a:tailEnd len="sm" w="sm" type="none"/>
              </a:ln>
            </p:spPr>
          </p:cxnSp>
          <p:sp>
            <p:nvSpPr>
              <p:cNvPr id="1101" name="Google Shape;1101;p177"/>
              <p:cNvSpPr/>
              <p:nvPr/>
            </p:nvSpPr>
            <p:spPr>
              <a:xfrm>
                <a:off x="4150800" y="2766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2" name="Google Shape;1102;p177"/>
              <p:cNvCxnSpPr/>
              <p:nvPr/>
            </p:nvCxnSpPr>
            <p:spPr>
              <a:xfrm flipH="1" rot="-5400000">
                <a:off x="4001760" y="2658240"/>
                <a:ext cx="232200" cy="65520"/>
              </a:xfrm>
              <a:prstGeom prst="bentConnector2">
                <a:avLst/>
              </a:prstGeom>
              <a:noFill/>
              <a:ln cap="flat" cmpd="sng" w="9525">
                <a:solidFill>
                  <a:srgbClr val="FFFFFF"/>
                </a:solidFill>
                <a:prstDash val="solid"/>
                <a:round/>
                <a:headEnd len="sm" w="sm" type="none"/>
                <a:tailEnd len="sm" w="sm" type="none"/>
              </a:ln>
            </p:spPr>
          </p:cxnSp>
        </p:grpSp>
      </p:grpSp>
      <p:sp>
        <p:nvSpPr>
          <p:cNvPr id="1103" name="Google Shape;1103;p177"/>
          <p:cNvSpPr/>
          <p:nvPr/>
        </p:nvSpPr>
        <p:spPr>
          <a:xfrm>
            <a:off x="4671000" y="222552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pic>
        <p:nvPicPr>
          <p:cNvPr id="1104" name="Google Shape;1104;p177"/>
          <p:cNvPicPr preferRelativeResize="0"/>
          <p:nvPr/>
        </p:nvPicPr>
        <p:blipFill rotWithShape="1">
          <a:blip r:embed="rId4">
            <a:alphaModFix/>
          </a:blip>
          <a:srcRect b="0" l="0" r="0" t="0"/>
          <a:stretch/>
        </p:blipFill>
        <p:spPr>
          <a:xfrm>
            <a:off x="5375880" y="3219120"/>
            <a:ext cx="754200" cy="422280"/>
          </a:xfrm>
          <a:prstGeom prst="rect">
            <a:avLst/>
          </a:prstGeom>
          <a:noFill/>
          <a:ln>
            <a:noFill/>
          </a:ln>
        </p:spPr>
      </p:pic>
      <p:cxnSp>
        <p:nvCxnSpPr>
          <p:cNvPr id="1105" name="Google Shape;1105;p177"/>
          <p:cNvCxnSpPr/>
          <p:nvPr/>
        </p:nvCxnSpPr>
        <p:spPr>
          <a:xfrm rot="10800000">
            <a:off x="2409720" y="3870900"/>
            <a:ext cx="1766100" cy="469800"/>
          </a:xfrm>
          <a:prstGeom prst="bentConnector3">
            <a:avLst>
              <a:gd fmla="val 0" name="adj1"/>
            </a:avLst>
          </a:prstGeom>
          <a:noFill/>
          <a:ln cap="flat" cmpd="sng" w="9525">
            <a:solidFill>
              <a:srgbClr val="747676"/>
            </a:solidFill>
            <a:prstDash val="solid"/>
            <a:round/>
            <a:headEnd len="sm" w="sm" type="none"/>
            <a:tailEnd len="med" w="med" type="triangle"/>
          </a:ln>
        </p:spPr>
      </p:cxnSp>
      <p:pic>
        <p:nvPicPr>
          <p:cNvPr id="1106" name="Google Shape;1106;p177"/>
          <p:cNvPicPr preferRelativeResize="0"/>
          <p:nvPr/>
        </p:nvPicPr>
        <p:blipFill rotWithShape="1">
          <a:blip r:embed="rId5">
            <a:alphaModFix/>
          </a:blip>
          <a:srcRect b="0" l="0" r="0" t="0"/>
          <a:stretch/>
        </p:blipFill>
        <p:spPr>
          <a:xfrm>
            <a:off x="1438920" y="908280"/>
            <a:ext cx="1217520" cy="1103040"/>
          </a:xfrm>
          <a:prstGeom prst="rect">
            <a:avLst/>
          </a:prstGeom>
          <a:noFill/>
          <a:ln>
            <a:noFill/>
          </a:ln>
        </p:spPr>
      </p:pic>
      <p:sp>
        <p:nvSpPr>
          <p:cNvPr id="1107" name="Google Shape;1107;p177"/>
          <p:cNvSpPr/>
          <p:nvPr/>
        </p:nvSpPr>
        <p:spPr>
          <a:xfrm>
            <a:off x="2612160" y="1213200"/>
            <a:ext cx="95328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595959"/>
                </a:solidFill>
                <a:latin typeface="Arial"/>
                <a:ea typeface="Arial"/>
                <a:cs typeface="Arial"/>
                <a:sym typeface="Arial"/>
              </a:rPr>
              <a:t>Unified Data Models (built with Semantic Abstraction)</a:t>
            </a:r>
            <a:endParaRPr b="0" i="0" sz="600" u="none" cap="none" strike="noStrike">
              <a:latin typeface="Arial"/>
              <a:ea typeface="Arial"/>
              <a:cs typeface="Arial"/>
              <a:sym typeface="Arial"/>
            </a:endParaRPr>
          </a:p>
        </p:txBody>
      </p:sp>
      <p:grpSp>
        <p:nvGrpSpPr>
          <p:cNvPr id="1108" name="Google Shape;1108;p177"/>
          <p:cNvGrpSpPr/>
          <p:nvPr/>
        </p:nvGrpSpPr>
        <p:grpSpPr>
          <a:xfrm>
            <a:off x="2821320" y="4340880"/>
            <a:ext cx="2709720" cy="744120"/>
            <a:chOff x="2821320" y="4340880"/>
            <a:chExt cx="2709720" cy="744120"/>
          </a:xfrm>
        </p:grpSpPr>
        <p:sp>
          <p:nvSpPr>
            <p:cNvPr id="1109" name="Google Shape;1109;p177"/>
            <p:cNvSpPr/>
            <p:nvPr/>
          </p:nvSpPr>
          <p:spPr>
            <a:xfrm>
              <a:off x="2821320" y="4340880"/>
              <a:ext cx="2709720" cy="744120"/>
            </a:xfrm>
            <a:prstGeom prst="can">
              <a:avLst>
                <a:gd fmla="val 17919" name="adj"/>
              </a:avLst>
            </a:prstGeom>
            <a:solidFill>
              <a:srgbClr val="7F7F7F"/>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Semantic Knowledge Layer (SKL) </a:t>
              </a:r>
              <a:endParaRPr b="0" i="0" sz="900" u="none" cap="none" strike="noStrike">
                <a:latin typeface="Arial"/>
                <a:ea typeface="Arial"/>
                <a:cs typeface="Arial"/>
                <a:sym typeface="Arial"/>
              </a:endParaRPr>
            </a:p>
          </p:txBody>
        </p:sp>
        <p:pic>
          <p:nvPicPr>
            <p:cNvPr id="1110" name="Google Shape;1110;p177"/>
            <p:cNvPicPr preferRelativeResize="0"/>
            <p:nvPr/>
          </p:nvPicPr>
          <p:blipFill rotWithShape="1">
            <a:blip r:embed="rId6">
              <a:alphaModFix/>
            </a:blip>
            <a:srcRect b="0" l="0" r="0" t="0"/>
            <a:stretch/>
          </p:blipFill>
          <p:spPr>
            <a:xfrm>
              <a:off x="3299040" y="4727880"/>
              <a:ext cx="489600" cy="266040"/>
            </a:xfrm>
            <a:prstGeom prst="rect">
              <a:avLst/>
            </a:prstGeom>
            <a:noFill/>
            <a:ln cap="flat" cmpd="sng" w="9525">
              <a:solidFill>
                <a:srgbClr val="FED60E"/>
              </a:solidFill>
              <a:prstDash val="solid"/>
              <a:round/>
              <a:headEnd len="sm" w="sm" type="none"/>
              <a:tailEnd len="sm" w="sm" type="none"/>
            </a:ln>
          </p:spPr>
        </p:pic>
        <p:pic>
          <p:nvPicPr>
            <p:cNvPr id="1111" name="Google Shape;1111;p177"/>
            <p:cNvPicPr preferRelativeResize="0"/>
            <p:nvPr/>
          </p:nvPicPr>
          <p:blipFill rotWithShape="1">
            <a:blip r:embed="rId7">
              <a:alphaModFix/>
            </a:blip>
            <a:srcRect b="0" l="0" r="0" t="0"/>
            <a:stretch/>
          </p:blipFill>
          <p:spPr>
            <a:xfrm>
              <a:off x="4856040" y="4723560"/>
              <a:ext cx="489240" cy="274320"/>
            </a:xfrm>
            <a:prstGeom prst="rect">
              <a:avLst/>
            </a:prstGeom>
            <a:noFill/>
            <a:ln cap="flat" cmpd="sng" w="9525">
              <a:solidFill>
                <a:srgbClr val="FED60E"/>
              </a:solidFill>
              <a:prstDash val="solid"/>
              <a:round/>
              <a:headEnd len="sm" w="sm" type="none"/>
              <a:tailEnd len="sm" w="sm" type="none"/>
            </a:ln>
          </p:spPr>
        </p:pic>
        <p:pic>
          <p:nvPicPr>
            <p:cNvPr id="1112" name="Google Shape;1112;p177"/>
            <p:cNvPicPr preferRelativeResize="0"/>
            <p:nvPr/>
          </p:nvPicPr>
          <p:blipFill rotWithShape="1">
            <a:blip r:embed="rId8">
              <a:alphaModFix/>
            </a:blip>
            <a:srcRect b="0" l="0" r="0" t="0"/>
            <a:stretch/>
          </p:blipFill>
          <p:spPr>
            <a:xfrm>
              <a:off x="4119480" y="4723560"/>
              <a:ext cx="405720" cy="317160"/>
            </a:xfrm>
            <a:prstGeom prst="rect">
              <a:avLst/>
            </a:prstGeom>
            <a:noFill/>
            <a:ln cap="flat" cmpd="sng" w="9525">
              <a:solidFill>
                <a:srgbClr val="FED60E"/>
              </a:solidFill>
              <a:prstDash val="solid"/>
              <a:round/>
              <a:headEnd len="sm" w="sm" type="none"/>
              <a:tailEnd len="sm" w="sm" type="none"/>
            </a:ln>
          </p:spPr>
        </p:pic>
      </p:grpSp>
      <p:cxnSp>
        <p:nvCxnSpPr>
          <p:cNvPr id="1113" name="Google Shape;1113;p177"/>
          <p:cNvCxnSpPr/>
          <p:nvPr/>
        </p:nvCxnSpPr>
        <p:spPr>
          <a:xfrm flipH="1" rot="10800000">
            <a:off x="4176360" y="3871080"/>
            <a:ext cx="1564200" cy="469800"/>
          </a:xfrm>
          <a:prstGeom prst="bentConnector3">
            <a:avLst>
              <a:gd fmla="val 0" name="adj1"/>
            </a:avLst>
          </a:prstGeom>
          <a:noFill/>
          <a:ln cap="flat" cmpd="sng" w="9525">
            <a:solidFill>
              <a:srgbClr val="747676"/>
            </a:solidFill>
            <a:prstDash val="solid"/>
            <a:round/>
            <a:headEnd len="sm" w="sm" type="none"/>
            <a:tailEnd len="med" w="med" type="triangle"/>
          </a:ln>
        </p:spPr>
      </p:cxnSp>
      <p:sp>
        <p:nvSpPr>
          <p:cNvPr id="1114" name="Google Shape;1114;p177"/>
          <p:cNvSpPr/>
          <p:nvPr/>
        </p:nvSpPr>
        <p:spPr>
          <a:xfrm>
            <a:off x="5185800" y="3624480"/>
            <a:ext cx="1110240" cy="24372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Domain Knowledge</a:t>
            </a:r>
            <a:endParaRPr b="0" i="0" sz="700" u="none" cap="none" strike="noStrike">
              <a:latin typeface="Arial"/>
              <a:ea typeface="Arial"/>
              <a:cs typeface="Arial"/>
              <a:sym typeface="Arial"/>
            </a:endParaRPr>
          </a:p>
        </p:txBody>
      </p:sp>
      <p:pic>
        <p:nvPicPr>
          <p:cNvPr id="1115" name="Google Shape;1115;p177"/>
          <p:cNvPicPr preferRelativeResize="0"/>
          <p:nvPr/>
        </p:nvPicPr>
        <p:blipFill rotWithShape="1">
          <a:blip r:embed="rId9">
            <a:alphaModFix/>
          </a:blip>
          <a:srcRect b="0" l="0" r="0" t="0"/>
          <a:stretch/>
        </p:blipFill>
        <p:spPr>
          <a:xfrm>
            <a:off x="6171120" y="586080"/>
            <a:ext cx="659520" cy="245880"/>
          </a:xfrm>
          <a:prstGeom prst="rect">
            <a:avLst/>
          </a:prstGeom>
          <a:noFill/>
          <a:ln>
            <a:noFill/>
          </a:ln>
        </p:spPr>
      </p:pic>
      <p:sp>
        <p:nvSpPr>
          <p:cNvPr id="1116" name="Google Shape;1116;p177"/>
          <p:cNvSpPr/>
          <p:nvPr/>
        </p:nvSpPr>
        <p:spPr>
          <a:xfrm rot="10800000">
            <a:off x="4996440" y="2552400"/>
            <a:ext cx="756720" cy="666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17" name="Google Shape;1117;p177"/>
          <p:cNvSpPr/>
          <p:nvPr/>
        </p:nvSpPr>
        <p:spPr>
          <a:xfrm flipH="1" rot="10800000">
            <a:off x="5752080" y="3219120"/>
            <a:ext cx="8280" cy="3373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18" name="Google Shape;1118;p177"/>
          <p:cNvSpPr/>
          <p:nvPr/>
        </p:nvSpPr>
        <p:spPr>
          <a:xfrm flipH="1" rot="10800000">
            <a:off x="5751720" y="3219120"/>
            <a:ext cx="747720" cy="6508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19" name="Google Shape;1119;p177"/>
          <p:cNvSpPr/>
          <p:nvPr/>
        </p:nvSpPr>
        <p:spPr>
          <a:xfrm rot="10800000">
            <a:off x="1636920" y="2776680"/>
            <a:ext cx="773280" cy="3164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0" name="Google Shape;1120;p177"/>
          <p:cNvSpPr/>
          <p:nvPr/>
        </p:nvSpPr>
        <p:spPr>
          <a:xfrm rot="10800000">
            <a:off x="2409840" y="2536560"/>
            <a:ext cx="360" cy="556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1" name="Google Shape;1121;p177"/>
          <p:cNvSpPr/>
          <p:nvPr/>
        </p:nvSpPr>
        <p:spPr>
          <a:xfrm flipH="1" rot="10800000">
            <a:off x="2408760" y="3093120"/>
            <a:ext cx="830520" cy="574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2" name="Google Shape;1122;p177"/>
          <p:cNvSpPr/>
          <p:nvPr/>
        </p:nvSpPr>
        <p:spPr>
          <a:xfrm flipH="1" rot="10800000">
            <a:off x="2410200" y="3093120"/>
            <a:ext cx="1263600" cy="4910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3" name="Google Shape;1123;p177"/>
          <p:cNvSpPr/>
          <p:nvPr/>
        </p:nvSpPr>
        <p:spPr>
          <a:xfrm>
            <a:off x="5617080" y="987480"/>
            <a:ext cx="1110240" cy="190080"/>
          </a:xfrm>
          <a:prstGeom prst="rect">
            <a:avLst/>
          </a:prstGeom>
          <a:solidFill>
            <a:srgbClr val="F3EDE0"/>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14141"/>
                </a:solidFill>
                <a:latin typeface="Arial"/>
                <a:ea typeface="Arial"/>
                <a:cs typeface="Arial"/>
                <a:sym typeface="Arial"/>
              </a:rPr>
              <a:t>Provisioning</a:t>
            </a:r>
            <a:endParaRPr b="0" i="0" sz="600" u="none" cap="none" strike="noStrike">
              <a:latin typeface="Arial"/>
              <a:ea typeface="Arial"/>
              <a:cs typeface="Arial"/>
              <a:sym typeface="Arial"/>
            </a:endParaRPr>
          </a:p>
        </p:txBody>
      </p:sp>
      <p:sp>
        <p:nvSpPr>
          <p:cNvPr id="1124" name="Google Shape;1124;p177"/>
          <p:cNvSpPr/>
          <p:nvPr/>
        </p:nvSpPr>
        <p:spPr>
          <a:xfrm>
            <a:off x="5617080" y="1238760"/>
            <a:ext cx="1110240" cy="190080"/>
          </a:xfrm>
          <a:prstGeom prst="rect">
            <a:avLst/>
          </a:prstGeom>
          <a:solidFill>
            <a:srgbClr val="F3EDE0"/>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14141"/>
                </a:solidFill>
                <a:latin typeface="Arial"/>
                <a:ea typeface="Arial"/>
                <a:cs typeface="Arial"/>
                <a:sym typeface="Arial"/>
              </a:rPr>
              <a:t>Protection</a:t>
            </a:r>
            <a:endParaRPr b="0" i="0" sz="600" u="none" cap="none" strike="noStrike">
              <a:latin typeface="Arial"/>
              <a:ea typeface="Arial"/>
              <a:cs typeface="Arial"/>
              <a:sym typeface="Arial"/>
            </a:endParaRPr>
          </a:p>
        </p:txBody>
      </p:sp>
      <p:sp>
        <p:nvSpPr>
          <p:cNvPr id="1125" name="Google Shape;1125;p177"/>
          <p:cNvSpPr/>
          <p:nvPr/>
        </p:nvSpPr>
        <p:spPr>
          <a:xfrm>
            <a:off x="5617080" y="1490400"/>
            <a:ext cx="1110240" cy="190080"/>
          </a:xfrm>
          <a:prstGeom prst="rect">
            <a:avLst/>
          </a:prstGeom>
          <a:solidFill>
            <a:srgbClr val="F3EDE0"/>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14141"/>
                </a:solidFill>
                <a:latin typeface="Arial"/>
                <a:ea typeface="Arial"/>
                <a:cs typeface="Arial"/>
                <a:sym typeface="Arial"/>
              </a:rPr>
              <a:t>Performance</a:t>
            </a:r>
            <a:endParaRPr b="0" i="0" sz="600" u="none" cap="none" strike="noStrike">
              <a:latin typeface="Arial"/>
              <a:ea typeface="Arial"/>
              <a:cs typeface="Arial"/>
              <a:sym typeface="Arial"/>
            </a:endParaRPr>
          </a:p>
        </p:txBody>
      </p:sp>
      <p:sp>
        <p:nvSpPr>
          <p:cNvPr id="1126" name="Google Shape;1126;p177"/>
          <p:cNvSpPr/>
          <p:nvPr/>
        </p:nvSpPr>
        <p:spPr>
          <a:xfrm>
            <a:off x="3673800" y="1366920"/>
            <a:ext cx="1110240" cy="350280"/>
          </a:xfrm>
          <a:prstGeom prst="rect">
            <a:avLst/>
          </a:prstGeom>
          <a:solidFill>
            <a:srgbClr val="D8E2F3"/>
          </a:solidFill>
          <a:ln cap="flat" cmpd="sng" w="19075">
            <a:solidFill>
              <a:srgbClr val="FFFFFF"/>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Calc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Execution</a:t>
            </a:r>
            <a:endParaRPr b="0" i="0" sz="700" u="none" cap="none" strike="noStrike">
              <a:latin typeface="Arial"/>
              <a:ea typeface="Arial"/>
              <a:cs typeface="Arial"/>
              <a:sym typeface="Arial"/>
            </a:endParaRPr>
          </a:p>
        </p:txBody>
      </p:sp>
      <p:sp>
        <p:nvSpPr>
          <p:cNvPr id="1127" name="Google Shape;1127;p177"/>
          <p:cNvSpPr/>
          <p:nvPr/>
        </p:nvSpPr>
        <p:spPr>
          <a:xfrm>
            <a:off x="5617080" y="1741680"/>
            <a:ext cx="1110240" cy="190080"/>
          </a:xfrm>
          <a:prstGeom prst="rect">
            <a:avLst/>
          </a:prstGeom>
          <a:solidFill>
            <a:srgbClr val="F3EDE0"/>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14141"/>
                </a:solidFill>
                <a:latin typeface="Arial"/>
                <a:ea typeface="Arial"/>
                <a:cs typeface="Arial"/>
                <a:sym typeface="Arial"/>
              </a:rPr>
              <a:t>Version Management</a:t>
            </a:r>
            <a:endParaRPr b="0" i="0" sz="600" u="none" cap="none" strike="noStrike">
              <a:latin typeface="Arial"/>
              <a:ea typeface="Arial"/>
              <a:cs typeface="Arial"/>
              <a:sym typeface="Arial"/>
            </a:endParaRPr>
          </a:p>
        </p:txBody>
      </p:sp>
      <p:sp>
        <p:nvSpPr>
          <p:cNvPr id="1128" name="Google Shape;1128;p177"/>
          <p:cNvSpPr/>
          <p:nvPr/>
        </p:nvSpPr>
        <p:spPr>
          <a:xfrm>
            <a:off x="7002360" y="1317600"/>
            <a:ext cx="199440" cy="252360"/>
          </a:xfrm>
          <a:prstGeom prst="chevron">
            <a:avLst>
              <a:gd fmla="val 50000" name="adj"/>
            </a:avLst>
          </a:prstGeom>
          <a:solidFill>
            <a:srgbClr val="7F7F7F"/>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9" name="Google Shape;1129;p177"/>
          <p:cNvPicPr preferRelativeResize="0"/>
          <p:nvPr/>
        </p:nvPicPr>
        <p:blipFill rotWithShape="1">
          <a:blip r:embed="rId10">
            <a:alphaModFix/>
          </a:blip>
          <a:srcRect b="0" l="0" r="0" t="0"/>
          <a:stretch/>
        </p:blipFill>
        <p:spPr>
          <a:xfrm>
            <a:off x="7395120" y="1314720"/>
            <a:ext cx="983520" cy="258480"/>
          </a:xfrm>
          <a:prstGeom prst="rect">
            <a:avLst/>
          </a:prstGeom>
          <a:noFill/>
          <a:ln cap="flat" cmpd="sng" w="19075">
            <a:solidFill>
              <a:srgbClr val="F3EDE0"/>
            </a:solidFill>
            <a:prstDash val="solid"/>
            <a:round/>
            <a:headEnd len="sm" w="sm" type="none"/>
            <a:tailEnd len="sm" w="sm" type="none"/>
          </a:ln>
        </p:spPr>
      </p:pic>
      <p:sp>
        <p:nvSpPr>
          <p:cNvPr id="1130" name="Google Shape;1130;p177"/>
          <p:cNvSpPr/>
          <p:nvPr/>
        </p:nvSpPr>
        <p:spPr>
          <a:xfrm>
            <a:off x="7002360" y="2239560"/>
            <a:ext cx="199440" cy="252360"/>
          </a:xfrm>
          <a:prstGeom prst="chevron">
            <a:avLst>
              <a:gd fmla="val 50000" name="adj"/>
            </a:avLst>
          </a:prstGeom>
          <a:solidFill>
            <a:srgbClr val="7F7F7F"/>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1" name="Google Shape;1131;p177"/>
          <p:cNvPicPr preferRelativeResize="0"/>
          <p:nvPr/>
        </p:nvPicPr>
        <p:blipFill rotWithShape="1">
          <a:blip r:embed="rId11">
            <a:alphaModFix/>
          </a:blip>
          <a:srcRect b="0" l="0" r="0" t="0"/>
          <a:stretch/>
        </p:blipFill>
        <p:spPr>
          <a:xfrm>
            <a:off x="7257240" y="2239560"/>
            <a:ext cx="1591200" cy="252360"/>
          </a:xfrm>
          <a:prstGeom prst="rect">
            <a:avLst/>
          </a:prstGeom>
          <a:noFill/>
          <a:ln>
            <a:noFill/>
          </a:ln>
        </p:spPr>
      </p:pic>
      <p:pic>
        <p:nvPicPr>
          <p:cNvPr id="1132" name="Google Shape;1132;p177"/>
          <p:cNvPicPr preferRelativeResize="0"/>
          <p:nvPr/>
        </p:nvPicPr>
        <p:blipFill rotWithShape="1">
          <a:blip r:embed="rId12">
            <a:alphaModFix/>
          </a:blip>
          <a:srcRect b="0" l="0" r="0" t="0"/>
          <a:stretch/>
        </p:blipFill>
        <p:spPr>
          <a:xfrm>
            <a:off x="7644960" y="3803760"/>
            <a:ext cx="773280" cy="386640"/>
          </a:xfrm>
          <a:prstGeom prst="rect">
            <a:avLst/>
          </a:prstGeom>
          <a:noFill/>
          <a:ln>
            <a:noFill/>
          </a:ln>
        </p:spPr>
      </p:pic>
      <p:sp>
        <p:nvSpPr>
          <p:cNvPr id="1133" name="Google Shape;1133;p177"/>
          <p:cNvSpPr/>
          <p:nvPr/>
        </p:nvSpPr>
        <p:spPr>
          <a:xfrm>
            <a:off x="7022520" y="3870720"/>
            <a:ext cx="199440" cy="252360"/>
          </a:xfrm>
          <a:prstGeom prst="chevron">
            <a:avLst>
              <a:gd fmla="val 50000" name="adj"/>
            </a:avLst>
          </a:prstGeom>
          <a:solidFill>
            <a:srgbClr val="7F7F7F"/>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77"/>
          <p:cNvSpPr/>
          <p:nvPr/>
        </p:nvSpPr>
        <p:spPr>
          <a:xfrm>
            <a:off x="0" y="0"/>
            <a:ext cx="830520" cy="39636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WHERE</a:t>
            </a:r>
            <a:endParaRPr b="0" i="0" sz="1400" u="none" cap="none" strike="noStrike">
              <a:latin typeface="Arial"/>
              <a:ea typeface="Arial"/>
              <a:cs typeface="Arial"/>
              <a:sym typeface="Arial"/>
            </a:endParaRPr>
          </a:p>
        </p:txBody>
      </p:sp>
      <p:sp>
        <p:nvSpPr>
          <p:cNvPr id="1135" name="Google Shape;1135;p177"/>
          <p:cNvSpPr/>
          <p:nvPr/>
        </p:nvSpPr>
        <p:spPr>
          <a:xfrm>
            <a:off x="5431680" y="213192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pic>
        <p:nvPicPr>
          <p:cNvPr id="1136" name="Google Shape;1136;p177"/>
          <p:cNvPicPr preferRelativeResize="0"/>
          <p:nvPr/>
        </p:nvPicPr>
        <p:blipFill rotWithShape="1">
          <a:blip r:embed="rId13">
            <a:alphaModFix/>
          </a:blip>
          <a:srcRect b="0" l="0" r="0" t="0"/>
          <a:stretch/>
        </p:blipFill>
        <p:spPr>
          <a:xfrm>
            <a:off x="7589880" y="2670120"/>
            <a:ext cx="883080" cy="883080"/>
          </a:xfrm>
          <a:prstGeom prst="rect">
            <a:avLst/>
          </a:prstGeom>
          <a:noFill/>
          <a:ln>
            <a:noFill/>
          </a:ln>
        </p:spPr>
      </p:pic>
      <p:pic>
        <p:nvPicPr>
          <p:cNvPr id="1137" name="Google Shape;1137;p177"/>
          <p:cNvPicPr preferRelativeResize="0"/>
          <p:nvPr/>
        </p:nvPicPr>
        <p:blipFill rotWithShape="1">
          <a:blip r:embed="rId14">
            <a:alphaModFix/>
          </a:blip>
          <a:srcRect b="0" l="0" r="0" t="0"/>
          <a:stretch/>
        </p:blipFill>
        <p:spPr>
          <a:xfrm>
            <a:off x="8050680" y="3130920"/>
            <a:ext cx="422280" cy="422280"/>
          </a:xfrm>
          <a:prstGeom prst="rect">
            <a:avLst/>
          </a:prstGeom>
          <a:noFill/>
          <a:ln>
            <a:noFill/>
          </a:ln>
        </p:spPr>
      </p:pic>
      <p:grpSp>
        <p:nvGrpSpPr>
          <p:cNvPr id="1138" name="Google Shape;1138;p177"/>
          <p:cNvGrpSpPr/>
          <p:nvPr/>
        </p:nvGrpSpPr>
        <p:grpSpPr>
          <a:xfrm>
            <a:off x="8549640" y="0"/>
            <a:ext cx="594000" cy="679680"/>
            <a:chOff x="8549640" y="0"/>
            <a:chExt cx="594000" cy="679680"/>
          </a:xfrm>
        </p:grpSpPr>
        <p:sp>
          <p:nvSpPr>
            <p:cNvPr id="1139" name="Google Shape;1139;p17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0" name="Google Shape;1140;p177"/>
            <p:cNvGrpSpPr/>
            <p:nvPr/>
          </p:nvGrpSpPr>
          <p:grpSpPr>
            <a:xfrm>
              <a:off x="8588160" y="0"/>
              <a:ext cx="555480" cy="679680"/>
              <a:chOff x="8588160" y="0"/>
              <a:chExt cx="555480" cy="679680"/>
            </a:xfrm>
          </p:grpSpPr>
          <p:pic>
            <p:nvPicPr>
              <p:cNvPr id="1141" name="Google Shape;1141;p177"/>
              <p:cNvPicPr preferRelativeResize="0"/>
              <p:nvPr/>
            </p:nvPicPr>
            <p:blipFill rotWithShape="1">
              <a:blip r:embed="rId15">
                <a:alphaModFix/>
              </a:blip>
              <a:srcRect b="0" l="20669" r="9844" t="0"/>
              <a:stretch/>
            </p:blipFill>
            <p:spPr>
              <a:xfrm>
                <a:off x="8588160" y="0"/>
                <a:ext cx="530640" cy="530640"/>
              </a:xfrm>
              <a:prstGeom prst="rect">
                <a:avLst/>
              </a:prstGeom>
              <a:noFill/>
              <a:ln>
                <a:noFill/>
              </a:ln>
            </p:spPr>
          </p:pic>
          <p:sp>
            <p:nvSpPr>
              <p:cNvPr id="1142" name="Google Shape;1142;p17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78"/>
          <p:cNvSpPr txBox="1"/>
          <p:nvPr/>
        </p:nvSpPr>
        <p:spPr>
          <a:xfrm>
            <a:off x="457200" y="171720"/>
            <a:ext cx="5555160" cy="34164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Integration Topology</a:t>
            </a:r>
            <a:endParaRPr b="0" i="0" sz="2000" u="none" cap="none" strike="noStrike">
              <a:solidFill>
                <a:srgbClr val="000000"/>
              </a:solidFill>
              <a:latin typeface="Arial"/>
              <a:ea typeface="Arial"/>
              <a:cs typeface="Arial"/>
              <a:sym typeface="Arial"/>
            </a:endParaRPr>
          </a:p>
        </p:txBody>
      </p:sp>
      <p:sp>
        <p:nvSpPr>
          <p:cNvPr id="1148" name="Google Shape;1148;p178"/>
          <p:cNvSpPr/>
          <p:nvPr/>
        </p:nvSpPr>
        <p:spPr>
          <a:xfrm>
            <a:off x="627840" y="3256200"/>
            <a:ext cx="2147040" cy="1397520"/>
          </a:xfrm>
          <a:prstGeom prst="roundRect">
            <a:avLst>
              <a:gd fmla="val 16667" name="adj"/>
            </a:avLst>
          </a:prstGeom>
          <a:solidFill>
            <a:srgbClr val="AEAEAE"/>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Ingestion (Sub):</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900" u="none" cap="none" strike="noStrike">
                <a:solidFill>
                  <a:srgbClr val="000000"/>
                </a:solidFill>
                <a:latin typeface="Arial"/>
                <a:ea typeface="Arial"/>
                <a:cs typeface="Arial"/>
                <a:sym typeface="Arial"/>
              </a:rPr>
              <a:t>Asset Repositories</a:t>
            </a:r>
            <a:endParaRPr b="0" i="0" sz="9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Data (GCP)</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Docs (Google)</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Catalogs (VDC + …)</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Metrics + Dimensions (Alation)</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Persona (HR, CISO, UX Profiles)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Other Digital Assets across VZ…</a:t>
            </a:r>
            <a:endParaRPr b="0" i="0" sz="700" u="none" cap="none" strike="noStrike">
              <a:latin typeface="Arial"/>
              <a:ea typeface="Arial"/>
              <a:cs typeface="Arial"/>
              <a:sym typeface="Arial"/>
            </a:endParaRPr>
          </a:p>
        </p:txBody>
      </p:sp>
      <p:sp>
        <p:nvSpPr>
          <p:cNvPr id="1149" name="Google Shape;1149;p178"/>
          <p:cNvSpPr/>
          <p:nvPr/>
        </p:nvSpPr>
        <p:spPr>
          <a:xfrm>
            <a:off x="2143800" y="1641960"/>
            <a:ext cx="1417680" cy="63684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Semantic Knowledge Layer</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(SKL)</a:t>
            </a:r>
            <a:endParaRPr b="0" i="0" sz="1000" u="none" cap="none" strike="noStrike">
              <a:latin typeface="Arial"/>
              <a:ea typeface="Arial"/>
              <a:cs typeface="Arial"/>
              <a:sym typeface="Arial"/>
            </a:endParaRPr>
          </a:p>
        </p:txBody>
      </p:sp>
      <p:sp>
        <p:nvSpPr>
          <p:cNvPr id="1150" name="Google Shape;1150;p178"/>
          <p:cNvSpPr/>
          <p:nvPr/>
        </p:nvSpPr>
        <p:spPr>
          <a:xfrm>
            <a:off x="2916360" y="3256200"/>
            <a:ext cx="2147040" cy="1172520"/>
          </a:xfrm>
          <a:prstGeom prst="roundRect">
            <a:avLst>
              <a:gd fmla="val 16667" name="adj"/>
            </a:avLst>
          </a:prstGeom>
          <a:solidFill>
            <a:srgbClr val="AEAEAE"/>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Learning (Sub):</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900" u="none" cap="none" strike="noStrike">
                <a:solidFill>
                  <a:srgbClr val="000000"/>
                </a:solidFill>
                <a:latin typeface="Arial"/>
                <a:ea typeface="Arial"/>
                <a:cs typeface="Arial"/>
                <a:sym typeface="Arial"/>
              </a:rPr>
              <a:t>AI Language Models</a:t>
            </a:r>
            <a:endParaRPr b="0" i="0" sz="9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Domain Specific (SLMs)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Enterprise (LLMs)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Vendor Platforms (incl. LLMs)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Solutions (VZ specific)</a:t>
            </a:r>
            <a:endParaRPr b="0" i="0" sz="700" u="none" cap="none" strike="noStrike">
              <a:latin typeface="Arial"/>
              <a:ea typeface="Arial"/>
              <a:cs typeface="Arial"/>
              <a:sym typeface="Arial"/>
            </a:endParaRPr>
          </a:p>
        </p:txBody>
      </p:sp>
      <p:sp>
        <p:nvSpPr>
          <p:cNvPr id="1151" name="Google Shape;1151;p178"/>
          <p:cNvSpPr/>
          <p:nvPr/>
        </p:nvSpPr>
        <p:spPr>
          <a:xfrm>
            <a:off x="144000" y="1374120"/>
            <a:ext cx="1599120" cy="1172520"/>
          </a:xfrm>
          <a:prstGeom prst="roundRect">
            <a:avLst>
              <a:gd fmla="val 16667" name="adj"/>
            </a:avLst>
          </a:prstGeom>
          <a:solidFill>
            <a:srgbClr val="C9DAF8"/>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Services (Pub):</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900" u="none" cap="none" strike="noStrike">
                <a:solidFill>
                  <a:srgbClr val="000000"/>
                </a:solidFill>
                <a:latin typeface="Arial"/>
                <a:ea typeface="Arial"/>
                <a:cs typeface="Arial"/>
                <a:sym typeface="Arial"/>
              </a:rPr>
              <a:t>Knowledge Curation:</a:t>
            </a:r>
            <a:endParaRPr b="0" i="0" sz="9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Domain-Specific Graphs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X-Domain Graphs</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Mapping (intra Domain)</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Mapping (inter Domain)</a:t>
            </a:r>
            <a:endParaRPr b="0" i="0" sz="700" u="none" cap="none" strike="noStrike">
              <a:latin typeface="Arial"/>
              <a:ea typeface="Arial"/>
              <a:cs typeface="Arial"/>
              <a:sym typeface="Arial"/>
            </a:endParaRPr>
          </a:p>
        </p:txBody>
      </p:sp>
      <p:sp>
        <p:nvSpPr>
          <p:cNvPr id="1152" name="Google Shape;1152;p178"/>
          <p:cNvSpPr/>
          <p:nvPr/>
        </p:nvSpPr>
        <p:spPr>
          <a:xfrm>
            <a:off x="4092120" y="764280"/>
            <a:ext cx="1457280" cy="1058760"/>
          </a:xfrm>
          <a:prstGeom prst="roundRect">
            <a:avLst>
              <a:gd fmla="val 16667" name="adj"/>
            </a:avLst>
          </a:prstGeom>
          <a:solidFill>
            <a:srgbClr val="A4C2F4"/>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Services (Pub):</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900" u="none" cap="none" strike="noStrike">
                <a:solidFill>
                  <a:srgbClr val="000000"/>
                </a:solidFill>
                <a:latin typeface="Arial"/>
                <a:ea typeface="Arial"/>
                <a:cs typeface="Arial"/>
                <a:sym typeface="Arial"/>
              </a:rPr>
              <a:t>Search (SKL Only):</a:t>
            </a:r>
            <a:endParaRPr b="0" i="0" sz="9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Token-Based</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Boolean</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Semantic</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Personalized</a:t>
            </a:r>
            <a:endParaRPr b="0" i="0" sz="700" u="none" cap="none" strike="noStrike">
              <a:latin typeface="Arial"/>
              <a:ea typeface="Arial"/>
              <a:cs typeface="Arial"/>
              <a:sym typeface="Arial"/>
            </a:endParaRPr>
          </a:p>
        </p:txBody>
      </p:sp>
      <p:sp>
        <p:nvSpPr>
          <p:cNvPr id="1153" name="Google Shape;1153;p178"/>
          <p:cNvSpPr/>
          <p:nvPr/>
        </p:nvSpPr>
        <p:spPr>
          <a:xfrm>
            <a:off x="4092120" y="1924920"/>
            <a:ext cx="1457280" cy="1058760"/>
          </a:xfrm>
          <a:prstGeom prst="roundRect">
            <a:avLst>
              <a:gd fmla="val 16667" name="adj"/>
            </a:avLst>
          </a:prstGeom>
          <a:solidFill>
            <a:srgbClr val="A4C2F4"/>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Services (Pub):</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900" u="none" cap="none" strike="noStrike">
                <a:solidFill>
                  <a:srgbClr val="000000"/>
                </a:solidFill>
                <a:latin typeface="Arial"/>
                <a:ea typeface="Arial"/>
                <a:cs typeface="Arial"/>
                <a:sym typeface="Arial"/>
              </a:rPr>
              <a:t>Search (SKL + AI):</a:t>
            </a:r>
            <a:endParaRPr b="0" i="0" sz="9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Augmented</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Interactive (NLP)</a:t>
            </a:r>
            <a:endParaRPr b="0" i="0" sz="700" u="none" cap="none" strike="noStrike">
              <a:latin typeface="Arial"/>
              <a:ea typeface="Arial"/>
              <a:cs typeface="Arial"/>
              <a:sym typeface="Arial"/>
            </a:endParaRPr>
          </a:p>
          <a:p>
            <a:pPr indent="-101160" lvl="0" marL="200160" marR="0" rtl="0" algn="l">
              <a:lnSpc>
                <a:spcPct val="115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Recommendation</a:t>
            </a:r>
            <a:endParaRPr b="0" i="0" sz="700" u="none" cap="none" strike="noStrike">
              <a:latin typeface="Arial"/>
              <a:ea typeface="Arial"/>
              <a:cs typeface="Arial"/>
              <a:sym typeface="Arial"/>
            </a:endParaRPr>
          </a:p>
        </p:txBody>
      </p:sp>
      <p:cxnSp>
        <p:nvCxnSpPr>
          <p:cNvPr id="1154" name="Google Shape;1154;p178"/>
          <p:cNvCxnSpPr/>
          <p:nvPr/>
        </p:nvCxnSpPr>
        <p:spPr>
          <a:xfrm flipH="1" rot="10800000">
            <a:off x="1701720" y="2279400"/>
            <a:ext cx="1150800" cy="976800"/>
          </a:xfrm>
          <a:prstGeom prst="curvedConnector3">
            <a:avLst>
              <a:gd fmla="val 0" name="adj1"/>
            </a:avLst>
          </a:prstGeom>
          <a:noFill/>
          <a:ln cap="flat" cmpd="sng" w="19075">
            <a:solidFill>
              <a:srgbClr val="CFCFCF"/>
            </a:solidFill>
            <a:prstDash val="solid"/>
            <a:round/>
            <a:headEnd len="sm" w="sm" type="none"/>
            <a:tailEnd len="med" w="med" type="triangle"/>
          </a:ln>
        </p:spPr>
      </p:cxnSp>
      <p:cxnSp>
        <p:nvCxnSpPr>
          <p:cNvPr id="1155" name="Google Shape;1155;p178"/>
          <p:cNvCxnSpPr/>
          <p:nvPr/>
        </p:nvCxnSpPr>
        <p:spPr>
          <a:xfrm rot="10800000">
            <a:off x="2852340" y="2279220"/>
            <a:ext cx="1137000" cy="976800"/>
          </a:xfrm>
          <a:prstGeom prst="curvedConnector3">
            <a:avLst>
              <a:gd fmla="val 0" name="adj1"/>
            </a:avLst>
          </a:prstGeom>
          <a:noFill/>
          <a:ln cap="flat" cmpd="sng" w="19075">
            <a:solidFill>
              <a:srgbClr val="CFCFCF"/>
            </a:solidFill>
            <a:prstDash val="solid"/>
            <a:round/>
            <a:headEnd len="sm" w="sm" type="none"/>
            <a:tailEnd len="med" w="med" type="triangle"/>
          </a:ln>
        </p:spPr>
      </p:cxnSp>
      <p:cxnSp>
        <p:nvCxnSpPr>
          <p:cNvPr id="1156" name="Google Shape;1156;p178"/>
          <p:cNvCxnSpPr/>
          <p:nvPr/>
        </p:nvCxnSpPr>
        <p:spPr>
          <a:xfrm rot="-5400000">
            <a:off x="3493800" y="2029080"/>
            <a:ext cx="666600" cy="529800"/>
          </a:xfrm>
          <a:prstGeom prst="curvedConnector3">
            <a:avLst>
              <a:gd fmla="val 0" name="adj1"/>
            </a:avLst>
          </a:prstGeom>
          <a:noFill/>
          <a:ln cap="flat" cmpd="sng" w="19075">
            <a:solidFill>
              <a:srgbClr val="CFCFCF"/>
            </a:solidFill>
            <a:prstDash val="solid"/>
            <a:round/>
            <a:headEnd len="sm" w="sm" type="none"/>
            <a:tailEnd len="med" w="med" type="triangle"/>
          </a:ln>
        </p:spPr>
      </p:cxnSp>
      <p:grpSp>
        <p:nvGrpSpPr>
          <p:cNvPr id="1157" name="Google Shape;1157;p178"/>
          <p:cNvGrpSpPr/>
          <p:nvPr/>
        </p:nvGrpSpPr>
        <p:grpSpPr>
          <a:xfrm>
            <a:off x="5953680" y="462600"/>
            <a:ext cx="2954160" cy="3101040"/>
            <a:chOff x="5953680" y="462600"/>
            <a:chExt cx="2954160" cy="3101040"/>
          </a:xfrm>
        </p:grpSpPr>
        <p:sp>
          <p:nvSpPr>
            <p:cNvPr id="1158" name="Google Shape;1158;p178"/>
            <p:cNvSpPr/>
            <p:nvPr/>
          </p:nvSpPr>
          <p:spPr>
            <a:xfrm>
              <a:off x="6442560" y="634320"/>
              <a:ext cx="709200" cy="660240"/>
            </a:xfrm>
            <a:prstGeom prst="ellipse">
              <a:avLst/>
            </a:prstGeom>
            <a:solidFill>
              <a:srgbClr val="FFFFFF"/>
            </a:solidFill>
            <a:ln cap="flat" cmpd="sng" w="28425">
              <a:solidFill>
                <a:srgbClr val="B4A7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VCG</a:t>
              </a:r>
              <a:endParaRPr b="0" i="0" sz="800" u="none" cap="none" strike="noStrike">
                <a:latin typeface="Arial"/>
                <a:ea typeface="Arial"/>
                <a:cs typeface="Arial"/>
                <a:sym typeface="Arial"/>
              </a:endParaRPr>
            </a:p>
          </p:txBody>
        </p:sp>
        <p:sp>
          <p:nvSpPr>
            <p:cNvPr id="1159" name="Google Shape;1159;p178"/>
            <p:cNvSpPr/>
            <p:nvPr/>
          </p:nvSpPr>
          <p:spPr>
            <a:xfrm>
              <a:off x="5953680" y="1220040"/>
              <a:ext cx="709200" cy="660240"/>
            </a:xfrm>
            <a:prstGeom prst="ellipse">
              <a:avLst/>
            </a:prstGeom>
            <a:solidFill>
              <a:srgbClr val="FFFFFF"/>
            </a:solidFill>
            <a:ln cap="flat" cmpd="sng" w="28425">
              <a:solidFill>
                <a:srgbClr val="9FC5E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VBG</a:t>
              </a:r>
              <a:endParaRPr b="0" i="0" sz="800" u="none" cap="none" strike="noStrike">
                <a:latin typeface="Arial"/>
                <a:ea typeface="Arial"/>
                <a:cs typeface="Arial"/>
                <a:sym typeface="Arial"/>
              </a:endParaRPr>
            </a:p>
          </p:txBody>
        </p:sp>
        <p:sp>
          <p:nvSpPr>
            <p:cNvPr id="1160" name="Google Shape;1160;p178"/>
            <p:cNvSpPr/>
            <p:nvPr/>
          </p:nvSpPr>
          <p:spPr>
            <a:xfrm>
              <a:off x="6017040" y="1907640"/>
              <a:ext cx="709200" cy="660240"/>
            </a:xfrm>
            <a:prstGeom prst="ellipse">
              <a:avLst/>
            </a:prstGeom>
            <a:solidFill>
              <a:srgbClr val="F2F2F2"/>
            </a:solidFill>
            <a:ln cap="flat" cmpd="sng" w="28425">
              <a:solidFill>
                <a:srgbClr val="A4C2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EA</a:t>
              </a:r>
              <a:endParaRPr b="0" i="0" sz="800" u="none" cap="none" strike="noStrike">
                <a:latin typeface="Arial"/>
                <a:ea typeface="Arial"/>
                <a:cs typeface="Arial"/>
                <a:sym typeface="Arial"/>
              </a:endParaRPr>
            </a:p>
          </p:txBody>
        </p:sp>
        <p:sp>
          <p:nvSpPr>
            <p:cNvPr id="1161" name="Google Shape;1161;p178"/>
            <p:cNvSpPr/>
            <p:nvPr/>
          </p:nvSpPr>
          <p:spPr>
            <a:xfrm>
              <a:off x="6500520" y="2500560"/>
              <a:ext cx="709200" cy="660240"/>
            </a:xfrm>
            <a:prstGeom prst="ellipse">
              <a:avLst/>
            </a:prstGeom>
            <a:solidFill>
              <a:srgbClr val="FFFFFF"/>
            </a:solidFill>
            <a:ln cap="flat" cmpd="sng" w="28425">
              <a:solidFill>
                <a:srgbClr val="A4C2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NTS</a:t>
              </a:r>
              <a:endParaRPr b="0" i="0" sz="800" u="none" cap="none" strike="noStrike">
                <a:latin typeface="Arial"/>
                <a:ea typeface="Arial"/>
                <a:cs typeface="Arial"/>
                <a:sym typeface="Arial"/>
              </a:endParaRPr>
            </a:p>
          </p:txBody>
        </p:sp>
        <p:sp>
          <p:nvSpPr>
            <p:cNvPr id="1162" name="Google Shape;1162;p178"/>
            <p:cNvSpPr/>
            <p:nvPr/>
          </p:nvSpPr>
          <p:spPr>
            <a:xfrm>
              <a:off x="7283160" y="2625120"/>
              <a:ext cx="709200" cy="660240"/>
            </a:xfrm>
            <a:prstGeom prst="ellipse">
              <a:avLst/>
            </a:prstGeom>
            <a:solidFill>
              <a:srgbClr val="FFFFFF"/>
            </a:solidFill>
            <a:ln cap="flat" cmpd="sng" w="28425">
              <a:solidFill>
                <a:srgbClr val="B6D7A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HR</a:t>
              </a:r>
              <a:endParaRPr b="0" i="0" sz="800" u="none" cap="none" strike="noStrike">
                <a:latin typeface="Arial"/>
                <a:ea typeface="Arial"/>
                <a:cs typeface="Arial"/>
                <a:sym typeface="Arial"/>
              </a:endParaRPr>
            </a:p>
          </p:txBody>
        </p:sp>
        <p:sp>
          <p:nvSpPr>
            <p:cNvPr id="1163" name="Google Shape;1163;p178"/>
            <p:cNvSpPr/>
            <p:nvPr/>
          </p:nvSpPr>
          <p:spPr>
            <a:xfrm>
              <a:off x="7907760" y="2224080"/>
              <a:ext cx="709200" cy="660240"/>
            </a:xfrm>
            <a:prstGeom prst="ellipse">
              <a:avLst/>
            </a:prstGeom>
            <a:solidFill>
              <a:srgbClr val="FFFFFF"/>
            </a:solidFill>
            <a:ln cap="flat" cmpd="sng" w="28425">
              <a:solidFill>
                <a:srgbClr val="FFE59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CISO</a:t>
              </a:r>
              <a:endParaRPr b="0" i="0" sz="800" u="none" cap="none" strike="noStrike">
                <a:latin typeface="Arial"/>
                <a:ea typeface="Arial"/>
                <a:cs typeface="Arial"/>
                <a:sym typeface="Arial"/>
              </a:endParaRPr>
            </a:p>
          </p:txBody>
        </p:sp>
        <p:sp>
          <p:nvSpPr>
            <p:cNvPr id="1164" name="Google Shape;1164;p178"/>
            <p:cNvSpPr/>
            <p:nvPr/>
          </p:nvSpPr>
          <p:spPr>
            <a:xfrm>
              <a:off x="8198640" y="1635840"/>
              <a:ext cx="709200" cy="660240"/>
            </a:xfrm>
            <a:prstGeom prst="ellipse">
              <a:avLst/>
            </a:prstGeom>
            <a:solidFill>
              <a:srgbClr val="F2F2F2"/>
            </a:solidFill>
            <a:ln cap="flat" cmpd="sng" w="28425">
              <a:solidFill>
                <a:srgbClr val="F9CB9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AI&amp;D</a:t>
              </a:r>
              <a:endParaRPr b="0" i="0" sz="800" u="none" cap="none" strike="noStrike">
                <a:latin typeface="Arial"/>
                <a:ea typeface="Arial"/>
                <a:cs typeface="Arial"/>
                <a:sym typeface="Arial"/>
              </a:endParaRPr>
            </a:p>
          </p:txBody>
        </p:sp>
        <p:sp>
          <p:nvSpPr>
            <p:cNvPr id="1165" name="Google Shape;1165;p178"/>
            <p:cNvSpPr/>
            <p:nvPr/>
          </p:nvSpPr>
          <p:spPr>
            <a:xfrm>
              <a:off x="7907760" y="822600"/>
              <a:ext cx="709200" cy="660240"/>
            </a:xfrm>
            <a:prstGeom prst="ellipse">
              <a:avLst/>
            </a:prstGeom>
            <a:solidFill>
              <a:srgbClr val="FFFFFF"/>
            </a:solidFill>
            <a:ln cap="flat" cmpd="sng" w="28425">
              <a:solidFill>
                <a:srgbClr val="EA9999"/>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Finance</a:t>
              </a:r>
              <a:endParaRPr b="0" i="0" sz="800" u="none" cap="none" strike="noStrike">
                <a:latin typeface="Arial"/>
                <a:ea typeface="Arial"/>
                <a:cs typeface="Arial"/>
                <a:sym typeface="Arial"/>
              </a:endParaRPr>
            </a:p>
          </p:txBody>
        </p:sp>
        <p:sp>
          <p:nvSpPr>
            <p:cNvPr id="1166" name="Google Shape;1166;p178"/>
            <p:cNvSpPr/>
            <p:nvPr/>
          </p:nvSpPr>
          <p:spPr>
            <a:xfrm>
              <a:off x="7198920" y="462600"/>
              <a:ext cx="709200" cy="660240"/>
            </a:xfrm>
            <a:prstGeom prst="ellipse">
              <a:avLst/>
            </a:prstGeom>
            <a:solidFill>
              <a:srgbClr val="FFFFFF"/>
            </a:solidFill>
            <a:ln cap="flat" cmpd="sng" w="28425">
              <a:solidFill>
                <a:srgbClr val="D5A6BD"/>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CSG</a:t>
              </a:r>
              <a:endParaRPr b="0" i="0" sz="800" u="none" cap="none" strike="noStrike">
                <a:latin typeface="Arial"/>
                <a:ea typeface="Arial"/>
                <a:cs typeface="Arial"/>
                <a:sym typeface="Arial"/>
              </a:endParaRPr>
            </a:p>
          </p:txBody>
        </p:sp>
        <p:cxnSp>
          <p:nvCxnSpPr>
            <p:cNvPr id="1167" name="Google Shape;1167;p178"/>
            <p:cNvCxnSpPr/>
            <p:nvPr/>
          </p:nvCxnSpPr>
          <p:spPr>
            <a:xfrm flipH="1" rot="-5400000">
              <a:off x="6837840" y="1177200"/>
              <a:ext cx="972360" cy="252720"/>
            </a:xfrm>
            <a:prstGeom prst="curvedConnector3">
              <a:avLst>
                <a:gd fmla="val 50000" name="adj1"/>
              </a:avLst>
            </a:prstGeom>
            <a:noFill/>
            <a:ln cap="flat" cmpd="sng" w="28425">
              <a:solidFill>
                <a:srgbClr val="D5A6BD"/>
              </a:solidFill>
              <a:prstDash val="solid"/>
              <a:round/>
              <a:headEnd len="sm" w="sm" type="none"/>
              <a:tailEnd len="sm" w="sm" type="none"/>
            </a:ln>
          </p:spPr>
        </p:cxnSp>
        <p:cxnSp>
          <p:nvCxnSpPr>
            <p:cNvPr id="1168" name="Google Shape;1168;p178"/>
            <p:cNvCxnSpPr/>
            <p:nvPr/>
          </p:nvCxnSpPr>
          <p:spPr>
            <a:xfrm flipH="1" rot="-5400000">
              <a:off x="6701040" y="1041840"/>
              <a:ext cx="591840" cy="903960"/>
            </a:xfrm>
            <a:prstGeom prst="curvedConnector3">
              <a:avLst>
                <a:gd fmla="val 58160" name="adj1"/>
              </a:avLst>
            </a:prstGeom>
            <a:noFill/>
            <a:ln cap="flat" cmpd="sng" w="28425">
              <a:solidFill>
                <a:srgbClr val="B4A7D6"/>
              </a:solidFill>
              <a:prstDash val="solid"/>
              <a:round/>
              <a:headEnd len="sm" w="sm" type="none"/>
              <a:tailEnd len="sm" w="sm" type="none"/>
            </a:ln>
          </p:spPr>
        </p:cxnSp>
        <p:cxnSp>
          <p:nvCxnSpPr>
            <p:cNvPr id="1169" name="Google Shape;1169;p178"/>
            <p:cNvCxnSpPr/>
            <p:nvPr/>
          </p:nvCxnSpPr>
          <p:spPr>
            <a:xfrm flipH="1" rot="-5400000">
              <a:off x="6736680" y="1452240"/>
              <a:ext cx="63000" cy="919440"/>
            </a:xfrm>
            <a:prstGeom prst="curvedConnector2">
              <a:avLst/>
            </a:prstGeom>
            <a:noFill/>
            <a:ln cap="flat" cmpd="sng" w="28425">
              <a:solidFill>
                <a:srgbClr val="9FC5E8"/>
              </a:solidFill>
              <a:prstDash val="solid"/>
              <a:round/>
              <a:headEnd len="sm" w="sm" type="none"/>
              <a:tailEnd len="sm" w="sm" type="none"/>
            </a:ln>
          </p:spPr>
        </p:cxnSp>
        <p:cxnSp>
          <p:nvCxnSpPr>
            <p:cNvPr id="1170" name="Google Shape;1170;p178"/>
            <p:cNvCxnSpPr/>
            <p:nvPr/>
          </p:nvCxnSpPr>
          <p:spPr>
            <a:xfrm rot="-5400000">
              <a:off x="6661440" y="1905120"/>
              <a:ext cx="527040" cy="605160"/>
            </a:xfrm>
            <a:prstGeom prst="curvedConnector4">
              <a:avLst>
                <a:gd fmla="val 11688" name="adj1"/>
                <a:gd fmla="val 58590" name="adj2"/>
              </a:avLst>
            </a:prstGeom>
            <a:noFill/>
            <a:ln cap="flat" cmpd="sng" w="28425">
              <a:solidFill>
                <a:srgbClr val="A4C2F4"/>
              </a:solidFill>
              <a:prstDash val="solid"/>
              <a:round/>
              <a:headEnd len="sm" w="sm" type="none"/>
              <a:tailEnd len="sm" w="sm" type="none"/>
            </a:ln>
          </p:spPr>
        </p:cxnSp>
        <p:cxnSp>
          <p:nvCxnSpPr>
            <p:cNvPr id="1171" name="Google Shape;1171;p178"/>
            <p:cNvCxnSpPr/>
            <p:nvPr/>
          </p:nvCxnSpPr>
          <p:spPr>
            <a:xfrm flipH="1" rot="10800000">
              <a:off x="7209000" y="2831040"/>
              <a:ext cx="240120" cy="732600"/>
            </a:xfrm>
            <a:prstGeom prst="curvedConnector2">
              <a:avLst/>
            </a:prstGeom>
            <a:noFill/>
            <a:ln cap="flat" cmpd="sng" w="28425">
              <a:solidFill>
                <a:srgbClr val="A2C4C9"/>
              </a:solidFill>
              <a:prstDash val="solid"/>
              <a:round/>
              <a:headEnd len="sm" w="sm" type="none"/>
              <a:tailEnd len="sm" w="sm" type="none"/>
            </a:ln>
          </p:spPr>
        </p:cxnSp>
        <p:cxnSp>
          <p:nvCxnSpPr>
            <p:cNvPr id="1172" name="Google Shape;1172;p178"/>
            <p:cNvCxnSpPr/>
            <p:nvPr/>
          </p:nvCxnSpPr>
          <p:spPr>
            <a:xfrm flipH="1" rot="5400000">
              <a:off x="7363800" y="2197080"/>
              <a:ext cx="642240" cy="407520"/>
            </a:xfrm>
            <a:prstGeom prst="curvedConnector3">
              <a:avLst>
                <a:gd fmla="val 57527" name="adj1"/>
              </a:avLst>
            </a:prstGeom>
            <a:noFill/>
            <a:ln cap="flat" cmpd="sng" w="28425">
              <a:solidFill>
                <a:srgbClr val="B6D7A8"/>
              </a:solidFill>
              <a:prstDash val="solid"/>
              <a:round/>
              <a:headEnd len="sm" w="sm" type="none"/>
              <a:tailEnd len="sm" w="sm" type="none"/>
            </a:ln>
          </p:spPr>
        </p:cxnSp>
        <p:cxnSp>
          <p:nvCxnSpPr>
            <p:cNvPr id="1173" name="Google Shape;1173;p178"/>
            <p:cNvCxnSpPr/>
            <p:nvPr/>
          </p:nvCxnSpPr>
          <p:spPr>
            <a:xfrm flipH="1" rot="5400000">
              <a:off x="7904880" y="1712160"/>
              <a:ext cx="376200" cy="840240"/>
            </a:xfrm>
            <a:prstGeom prst="curvedConnector2">
              <a:avLst/>
            </a:prstGeom>
            <a:noFill/>
            <a:ln cap="flat" cmpd="sng" w="28425">
              <a:solidFill>
                <a:srgbClr val="FFE599"/>
              </a:solidFill>
              <a:prstDash val="solid"/>
              <a:round/>
              <a:headEnd len="sm" w="sm" type="none"/>
              <a:tailEnd len="sm" w="sm" type="none"/>
            </a:ln>
          </p:spPr>
        </p:cxnSp>
        <p:cxnSp>
          <p:nvCxnSpPr>
            <p:cNvPr id="1174" name="Google Shape;1174;p178"/>
            <p:cNvCxnSpPr/>
            <p:nvPr/>
          </p:nvCxnSpPr>
          <p:spPr>
            <a:xfrm rot="5400000">
              <a:off x="7882200" y="1523160"/>
              <a:ext cx="211320" cy="629280"/>
            </a:xfrm>
            <a:prstGeom prst="curvedConnector4">
              <a:avLst>
                <a:gd fmla="val 21860" name="adj1"/>
                <a:gd fmla="val 58261" name="adj2"/>
              </a:avLst>
            </a:prstGeom>
            <a:noFill/>
            <a:ln cap="flat" cmpd="sng" w="28425">
              <a:solidFill>
                <a:srgbClr val="F9CB9C"/>
              </a:solidFill>
              <a:prstDash val="solid"/>
              <a:round/>
              <a:headEnd len="sm" w="sm" type="none"/>
              <a:tailEnd len="sm" w="sm" type="none"/>
            </a:ln>
          </p:spPr>
        </p:cxnSp>
        <p:cxnSp>
          <p:nvCxnSpPr>
            <p:cNvPr id="1175" name="Google Shape;1175;p178"/>
            <p:cNvCxnSpPr/>
            <p:nvPr/>
          </p:nvCxnSpPr>
          <p:spPr>
            <a:xfrm flipH="1">
              <a:off x="7450560" y="1153080"/>
              <a:ext cx="457200" cy="636840"/>
            </a:xfrm>
            <a:prstGeom prst="curvedConnector2">
              <a:avLst/>
            </a:prstGeom>
            <a:noFill/>
            <a:ln cap="flat" cmpd="sng" w="28425">
              <a:solidFill>
                <a:srgbClr val="EA9999"/>
              </a:solidFill>
              <a:prstDash val="solid"/>
              <a:round/>
              <a:headEnd len="sm" w="sm" type="none"/>
              <a:tailEnd len="sm" w="sm" type="none"/>
            </a:ln>
          </p:spPr>
        </p:cxnSp>
        <p:sp>
          <p:nvSpPr>
            <p:cNvPr id="1176" name="Google Shape;1176;p178"/>
            <p:cNvSpPr/>
            <p:nvPr/>
          </p:nvSpPr>
          <p:spPr>
            <a:xfrm>
              <a:off x="7228080" y="1790280"/>
              <a:ext cx="444240" cy="30744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78"/>
            <p:cNvSpPr/>
            <p:nvPr/>
          </p:nvSpPr>
          <p:spPr>
            <a:xfrm>
              <a:off x="7063200" y="1621080"/>
              <a:ext cx="825480" cy="591840"/>
            </a:xfrm>
            <a:prstGeom prst="roundRect">
              <a:avLst>
                <a:gd fmla="val 16667" name="adj"/>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Consumers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Human + Machine</a:t>
              </a:r>
              <a:endParaRPr b="0" i="0" sz="500" u="none" cap="none" strike="noStrike">
                <a:latin typeface="Arial"/>
                <a:ea typeface="Arial"/>
                <a:cs typeface="Arial"/>
                <a:sym typeface="Arial"/>
              </a:endParaRPr>
            </a:p>
          </p:txBody>
        </p:sp>
      </p:grpSp>
      <p:cxnSp>
        <p:nvCxnSpPr>
          <p:cNvPr id="1178" name="Google Shape;1178;p178"/>
          <p:cNvCxnSpPr/>
          <p:nvPr/>
        </p:nvCxnSpPr>
        <p:spPr>
          <a:xfrm>
            <a:off x="3561840" y="1960560"/>
            <a:ext cx="529800" cy="493500"/>
          </a:xfrm>
          <a:prstGeom prst="curvedConnector3">
            <a:avLst>
              <a:gd fmla="val 50011" name="adj1"/>
            </a:avLst>
          </a:prstGeom>
          <a:noFill/>
          <a:ln cap="flat" cmpd="sng" w="19075">
            <a:solidFill>
              <a:srgbClr val="CFCFCF"/>
            </a:solidFill>
            <a:prstDash val="solid"/>
            <a:round/>
            <a:headEnd len="sm" w="sm" type="none"/>
            <a:tailEnd len="med" w="med" type="triangle"/>
          </a:ln>
        </p:spPr>
      </p:cxnSp>
      <p:cxnSp>
        <p:nvCxnSpPr>
          <p:cNvPr id="1179" name="Google Shape;1179;p178"/>
          <p:cNvCxnSpPr/>
          <p:nvPr/>
        </p:nvCxnSpPr>
        <p:spPr>
          <a:xfrm flipH="1">
            <a:off x="1743240" y="1960560"/>
            <a:ext cx="400200" cy="600"/>
          </a:xfrm>
          <a:prstGeom prst="curvedConnector3">
            <a:avLst>
              <a:gd fmla="val 50018" name="adj1"/>
            </a:avLst>
          </a:prstGeom>
          <a:noFill/>
          <a:ln cap="flat" cmpd="sng" w="19075">
            <a:solidFill>
              <a:srgbClr val="CFCFCF"/>
            </a:solidFill>
            <a:prstDash val="solid"/>
            <a:round/>
            <a:headEnd len="med" w="med" type="triangle"/>
            <a:tailEnd len="med" w="med" type="triangle"/>
          </a:ln>
        </p:spPr>
      </p:cxnSp>
      <p:grpSp>
        <p:nvGrpSpPr>
          <p:cNvPr id="1180" name="Google Shape;1180;p178"/>
          <p:cNvGrpSpPr/>
          <p:nvPr/>
        </p:nvGrpSpPr>
        <p:grpSpPr>
          <a:xfrm>
            <a:off x="8549640" y="0"/>
            <a:ext cx="594000" cy="679680"/>
            <a:chOff x="8549640" y="0"/>
            <a:chExt cx="594000" cy="679680"/>
          </a:xfrm>
        </p:grpSpPr>
        <p:sp>
          <p:nvSpPr>
            <p:cNvPr id="1181" name="Google Shape;1181;p17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2" name="Google Shape;1182;p178"/>
            <p:cNvGrpSpPr/>
            <p:nvPr/>
          </p:nvGrpSpPr>
          <p:grpSpPr>
            <a:xfrm>
              <a:off x="8588160" y="0"/>
              <a:ext cx="555480" cy="679680"/>
              <a:chOff x="8588160" y="0"/>
              <a:chExt cx="555480" cy="679680"/>
            </a:xfrm>
          </p:grpSpPr>
          <p:pic>
            <p:nvPicPr>
              <p:cNvPr id="1183" name="Google Shape;1183;p178"/>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184" name="Google Shape;1184;p17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79"/>
          <p:cNvSpPr txBox="1"/>
          <p:nvPr/>
        </p:nvSpPr>
        <p:spPr>
          <a:xfrm>
            <a:off x="457200" y="171720"/>
            <a:ext cx="5555160" cy="34164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Cloud Spanner Topology &amp; Flow</a:t>
            </a:r>
            <a:endParaRPr b="0" i="0" sz="2000" u="none" cap="none" strike="noStrike">
              <a:solidFill>
                <a:srgbClr val="000000"/>
              </a:solidFill>
              <a:latin typeface="Arial"/>
              <a:ea typeface="Arial"/>
              <a:cs typeface="Arial"/>
              <a:sym typeface="Arial"/>
            </a:endParaRPr>
          </a:p>
        </p:txBody>
      </p:sp>
      <p:sp>
        <p:nvSpPr>
          <p:cNvPr id="1190" name="Google Shape;1190;p179"/>
          <p:cNvSpPr/>
          <p:nvPr/>
        </p:nvSpPr>
        <p:spPr>
          <a:xfrm>
            <a:off x="3679200" y="604080"/>
            <a:ext cx="2147040" cy="895320"/>
          </a:xfrm>
          <a:prstGeom prst="roundRect">
            <a:avLst>
              <a:gd fmla="val 16667" name="adj"/>
            </a:avLst>
          </a:prstGeom>
          <a:solidFill>
            <a:srgbClr val="AEAEAE"/>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Semantic Governance (RDF Layer)</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Metaphactory + GraphDB</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 Vocabularies, Taxonomies, Ontologies</a:t>
            </a:r>
            <a:endParaRPr b="0" i="0" sz="900" u="none" cap="none" strike="noStrike">
              <a:latin typeface="Arial"/>
              <a:ea typeface="Arial"/>
              <a:cs typeface="Arial"/>
              <a:sym typeface="Arial"/>
            </a:endParaRPr>
          </a:p>
        </p:txBody>
      </p:sp>
      <p:sp>
        <p:nvSpPr>
          <p:cNvPr id="1191" name="Google Shape;1191;p179"/>
          <p:cNvSpPr/>
          <p:nvPr/>
        </p:nvSpPr>
        <p:spPr>
          <a:xfrm>
            <a:off x="4043520" y="2090520"/>
            <a:ext cx="1417680" cy="11023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Cloud Spanner</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(central data hub)</a:t>
            </a:r>
            <a:endParaRPr b="0" i="0" sz="1000" u="none" cap="none" strike="noStrike">
              <a:latin typeface="Arial"/>
              <a:ea typeface="Arial"/>
              <a:cs typeface="Arial"/>
              <a:sym typeface="Arial"/>
            </a:endParaRPr>
          </a:p>
          <a:p>
            <a:pPr indent="-114120" lvl="0" marL="17136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Row-based OLTP</a:t>
            </a:r>
            <a:endParaRPr b="0" i="0" sz="900" u="none" cap="none" strike="noStrike">
              <a:latin typeface="Arial"/>
              <a:ea typeface="Arial"/>
              <a:cs typeface="Arial"/>
              <a:sym typeface="Arial"/>
            </a:endParaRPr>
          </a:p>
          <a:p>
            <a:pPr indent="-114120" lvl="0" marL="17136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Columnar OLAP</a:t>
            </a:r>
            <a:endParaRPr b="0" i="0" sz="900" u="none" cap="none" strike="noStrike">
              <a:latin typeface="Arial"/>
              <a:ea typeface="Arial"/>
              <a:cs typeface="Arial"/>
              <a:sym typeface="Arial"/>
            </a:endParaRPr>
          </a:p>
        </p:txBody>
      </p:sp>
      <p:sp>
        <p:nvSpPr>
          <p:cNvPr id="1192" name="Google Shape;1192;p179"/>
          <p:cNvSpPr/>
          <p:nvPr/>
        </p:nvSpPr>
        <p:spPr>
          <a:xfrm>
            <a:off x="3905640" y="3937680"/>
            <a:ext cx="1702800" cy="649440"/>
          </a:xfrm>
          <a:prstGeom prst="roundRect">
            <a:avLst>
              <a:gd fmla="val 16667" name="adj"/>
            </a:avLst>
          </a:prstGeom>
          <a:solidFill>
            <a:srgbClr val="AEAEAE"/>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Graph Analytics (LGP Layer)</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101160" lvl="0" marL="200160" marR="0" rtl="0" algn="ctr">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Neo4j</a:t>
            </a:r>
            <a:endParaRPr b="0" i="0" sz="900" u="none" cap="none" strike="noStrike">
              <a:latin typeface="Arial"/>
              <a:ea typeface="Arial"/>
              <a:cs typeface="Arial"/>
              <a:sym typeface="Arial"/>
            </a:endParaRPr>
          </a:p>
        </p:txBody>
      </p:sp>
      <p:sp>
        <p:nvSpPr>
          <p:cNvPr id="1193" name="Google Shape;1193;p179"/>
          <p:cNvSpPr/>
          <p:nvPr/>
        </p:nvSpPr>
        <p:spPr>
          <a:xfrm>
            <a:off x="1053000" y="2052720"/>
            <a:ext cx="1599120" cy="1172520"/>
          </a:xfrm>
          <a:prstGeom prst="roundRect">
            <a:avLst>
              <a:gd fmla="val 16667" name="adj"/>
            </a:avLst>
          </a:prstGeom>
          <a:solidFill>
            <a:srgbClr val="C9DAF8"/>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Source Systems</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Apps</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Data</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BigQ</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Teradata</a:t>
            </a:r>
            <a:endParaRPr b="0" i="0" sz="900" u="none" cap="none" strike="noStrike">
              <a:latin typeface="Arial"/>
              <a:ea typeface="Arial"/>
              <a:cs typeface="Arial"/>
              <a:sym typeface="Arial"/>
            </a:endParaRPr>
          </a:p>
          <a:p>
            <a:pPr indent="-17100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Others…</a:t>
            </a:r>
            <a:endParaRPr b="0" i="0" sz="900" u="none" cap="none" strike="noStrike">
              <a:latin typeface="Arial"/>
              <a:ea typeface="Arial"/>
              <a:cs typeface="Arial"/>
              <a:sym typeface="Arial"/>
            </a:endParaRPr>
          </a:p>
        </p:txBody>
      </p:sp>
      <p:sp>
        <p:nvSpPr>
          <p:cNvPr id="1194" name="Google Shape;1194;p179"/>
          <p:cNvSpPr/>
          <p:nvPr/>
        </p:nvSpPr>
        <p:spPr>
          <a:xfrm>
            <a:off x="6895080" y="2109600"/>
            <a:ext cx="1457280" cy="1058760"/>
          </a:xfrm>
          <a:prstGeom prst="roundRect">
            <a:avLst>
              <a:gd fmla="val 16667" name="adj"/>
            </a:avLst>
          </a:prstGeom>
          <a:solidFill>
            <a:srgbClr val="A4C2F4"/>
          </a:solidFill>
          <a:ln cap="flat" cmpd="sng" w="9525">
            <a:solidFill>
              <a:srgbClr val="F3EDE0"/>
            </a:solidFill>
            <a:prstDash val="dashDot"/>
            <a:round/>
            <a:headEnd len="sm" w="sm" type="none"/>
            <a:tailEnd len="sm" w="sm" type="none"/>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b="1" i="0" lang="en-US" sz="900" u="none" cap="none" strike="noStrike">
                <a:solidFill>
                  <a:srgbClr val="000000"/>
                </a:solidFill>
                <a:latin typeface="Arial"/>
                <a:ea typeface="Arial"/>
                <a:cs typeface="Arial"/>
                <a:sym typeface="Arial"/>
              </a:rPr>
              <a:t>Analytics &amp; Reporting</a:t>
            </a:r>
            <a:endParaRPr b="0" i="0" sz="9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900" u="none" cap="none" strike="noStrike">
              <a:latin typeface="Arial"/>
              <a:ea typeface="Arial"/>
              <a:cs typeface="Arial"/>
              <a:sym typeface="Arial"/>
            </a:endParaRPr>
          </a:p>
          <a:p>
            <a:pPr indent="-114120" lvl="0" marL="20016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LookML</a:t>
            </a:r>
            <a:endParaRPr b="0" i="0" sz="900" u="none" cap="none" strike="noStrike">
              <a:latin typeface="Arial"/>
              <a:ea typeface="Arial"/>
              <a:cs typeface="Arial"/>
              <a:sym typeface="Arial"/>
            </a:endParaRPr>
          </a:p>
          <a:p>
            <a:pPr indent="-114120" lvl="0" marL="20016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Looker</a:t>
            </a:r>
            <a:endParaRPr b="0" i="0" sz="900" u="none" cap="none" strike="noStrike">
              <a:latin typeface="Arial"/>
              <a:ea typeface="Arial"/>
              <a:cs typeface="Arial"/>
              <a:sym typeface="Arial"/>
            </a:endParaRPr>
          </a:p>
          <a:p>
            <a:pPr indent="-114120" lvl="0" marL="200160" marR="0" rtl="0" algn="l">
              <a:lnSpc>
                <a:spcPct val="115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1VZ Data (ETL)</a:t>
            </a:r>
            <a:endParaRPr b="0" i="0" sz="900" u="none" cap="none" strike="noStrike">
              <a:latin typeface="Arial"/>
              <a:ea typeface="Arial"/>
              <a:cs typeface="Arial"/>
              <a:sym typeface="Arial"/>
            </a:endParaRPr>
          </a:p>
        </p:txBody>
      </p:sp>
      <p:cxnSp>
        <p:nvCxnSpPr>
          <p:cNvPr id="1195" name="Google Shape;1195;p179"/>
          <p:cNvCxnSpPr/>
          <p:nvPr/>
        </p:nvCxnSpPr>
        <p:spPr>
          <a:xfrm flipH="1" rot="-5400000">
            <a:off x="4456590" y="1794810"/>
            <a:ext cx="590700" cy="600"/>
          </a:xfrm>
          <a:prstGeom prst="curvedConnector3">
            <a:avLst>
              <a:gd fmla="val 50006" name="adj1"/>
            </a:avLst>
          </a:prstGeom>
          <a:noFill/>
          <a:ln cap="flat" cmpd="sng" w="19075">
            <a:solidFill>
              <a:srgbClr val="777777"/>
            </a:solidFill>
            <a:prstDash val="solid"/>
            <a:round/>
            <a:headEnd len="sm" w="sm" type="none"/>
            <a:tailEnd len="med" w="med" type="triangle"/>
          </a:ln>
        </p:spPr>
      </p:cxnSp>
      <p:cxnSp>
        <p:nvCxnSpPr>
          <p:cNvPr id="1196" name="Google Shape;1196;p179"/>
          <p:cNvCxnSpPr/>
          <p:nvPr/>
        </p:nvCxnSpPr>
        <p:spPr>
          <a:xfrm flipH="1" rot="5400000">
            <a:off x="4382730" y="3563730"/>
            <a:ext cx="743700" cy="4200"/>
          </a:xfrm>
          <a:prstGeom prst="curvedConnector3">
            <a:avLst>
              <a:gd fmla="val 50013" name="adj1"/>
            </a:avLst>
          </a:prstGeom>
          <a:noFill/>
          <a:ln cap="flat" cmpd="sng" w="19075">
            <a:solidFill>
              <a:srgbClr val="777777"/>
            </a:solidFill>
            <a:prstDash val="solid"/>
            <a:round/>
            <a:headEnd len="med" w="med" type="triangle"/>
            <a:tailEnd len="sm" w="sm" type="none"/>
          </a:ln>
        </p:spPr>
      </p:cxnSp>
      <p:cxnSp>
        <p:nvCxnSpPr>
          <p:cNvPr id="1197" name="Google Shape;1197;p179"/>
          <p:cNvCxnSpPr/>
          <p:nvPr/>
        </p:nvCxnSpPr>
        <p:spPr>
          <a:xfrm flipH="1" rot="10800000">
            <a:off x="5461560" y="2642160"/>
            <a:ext cx="1433400" cy="2400"/>
          </a:xfrm>
          <a:prstGeom prst="curvedConnector3">
            <a:avLst>
              <a:gd fmla="val 50001" name="adj1"/>
            </a:avLst>
          </a:prstGeom>
          <a:noFill/>
          <a:ln cap="flat" cmpd="sng" w="19075">
            <a:solidFill>
              <a:srgbClr val="777777"/>
            </a:solidFill>
            <a:prstDash val="solid"/>
            <a:round/>
            <a:headEnd len="sm" w="sm" type="none"/>
            <a:tailEnd len="med" w="med" type="triangle"/>
          </a:ln>
        </p:spPr>
      </p:cxnSp>
      <p:cxnSp>
        <p:nvCxnSpPr>
          <p:cNvPr id="1198" name="Google Shape;1198;p179"/>
          <p:cNvCxnSpPr/>
          <p:nvPr/>
        </p:nvCxnSpPr>
        <p:spPr>
          <a:xfrm rot="10800000">
            <a:off x="2652720" y="2639640"/>
            <a:ext cx="1390800" cy="2400"/>
          </a:xfrm>
          <a:prstGeom prst="curvedConnector3">
            <a:avLst>
              <a:gd fmla="val 49996" name="adj1"/>
            </a:avLst>
          </a:prstGeom>
          <a:noFill/>
          <a:ln cap="flat" cmpd="sng" w="19075">
            <a:solidFill>
              <a:srgbClr val="777777"/>
            </a:solidFill>
            <a:prstDash val="solid"/>
            <a:round/>
            <a:headEnd len="med" w="med" type="triangle"/>
            <a:tailEnd len="sm" w="sm" type="none"/>
          </a:ln>
        </p:spPr>
      </p:cxnSp>
      <p:sp>
        <p:nvSpPr>
          <p:cNvPr id="1199" name="Google Shape;1199;p179"/>
          <p:cNvSpPr/>
          <p:nvPr/>
        </p:nvSpPr>
        <p:spPr>
          <a:xfrm>
            <a:off x="2959200" y="2180520"/>
            <a:ext cx="77724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Data Ingestion</a:t>
            </a:r>
            <a:endParaRPr b="0" i="0" sz="900" u="none" cap="none" strike="noStrike">
              <a:latin typeface="Arial"/>
              <a:ea typeface="Arial"/>
              <a:cs typeface="Arial"/>
              <a:sym typeface="Arial"/>
            </a:endParaRPr>
          </a:p>
        </p:txBody>
      </p:sp>
      <p:sp>
        <p:nvSpPr>
          <p:cNvPr id="1200" name="Google Shape;1200;p179"/>
          <p:cNvSpPr/>
          <p:nvPr/>
        </p:nvSpPr>
        <p:spPr>
          <a:xfrm>
            <a:off x="4752360" y="1539720"/>
            <a:ext cx="1599120" cy="59472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Ontology Mapping to Bottom-Up Structures </a:t>
            </a:r>
            <a:endParaRPr b="0" i="0" sz="900" u="none" cap="none" strike="noStrike">
              <a:latin typeface="Arial"/>
              <a:ea typeface="Arial"/>
              <a:cs typeface="Arial"/>
              <a:sym typeface="Arial"/>
            </a:endParaRPr>
          </a:p>
        </p:txBody>
      </p:sp>
      <p:sp>
        <p:nvSpPr>
          <p:cNvPr id="1201" name="Google Shape;1201;p179"/>
          <p:cNvSpPr/>
          <p:nvPr/>
        </p:nvSpPr>
        <p:spPr>
          <a:xfrm>
            <a:off x="5608800" y="2180520"/>
            <a:ext cx="109404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RT Analytics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 &amp; Deep Insights</a:t>
            </a:r>
            <a:endParaRPr b="0" i="0" sz="900" u="none" cap="none" strike="noStrike">
              <a:latin typeface="Arial"/>
              <a:ea typeface="Arial"/>
              <a:cs typeface="Arial"/>
              <a:sym typeface="Arial"/>
            </a:endParaRPr>
          </a:p>
        </p:txBody>
      </p:sp>
      <p:cxnSp>
        <p:nvCxnSpPr>
          <p:cNvPr id="1202" name="Google Shape;1202;p179"/>
          <p:cNvCxnSpPr/>
          <p:nvPr/>
        </p:nvCxnSpPr>
        <p:spPr>
          <a:xfrm rot="10800000">
            <a:off x="5826540" y="1052220"/>
            <a:ext cx="1797000" cy="1057200"/>
          </a:xfrm>
          <a:prstGeom prst="curvedConnector2">
            <a:avLst/>
          </a:prstGeom>
          <a:noFill/>
          <a:ln cap="flat" cmpd="sng" w="19075">
            <a:solidFill>
              <a:srgbClr val="CFCFCF"/>
            </a:solidFill>
            <a:prstDash val="solid"/>
            <a:round/>
            <a:headEnd len="med" w="med" type="triangle"/>
            <a:tailEnd len="sm" w="sm" type="none"/>
          </a:ln>
        </p:spPr>
      </p:cxnSp>
      <p:cxnSp>
        <p:nvCxnSpPr>
          <p:cNvPr id="1203" name="Google Shape;1203;p179"/>
          <p:cNvCxnSpPr/>
          <p:nvPr/>
        </p:nvCxnSpPr>
        <p:spPr>
          <a:xfrm flipH="1">
            <a:off x="1852680" y="1051920"/>
            <a:ext cx="1825800" cy="1000500"/>
          </a:xfrm>
          <a:prstGeom prst="curvedConnector2">
            <a:avLst/>
          </a:prstGeom>
          <a:noFill/>
          <a:ln cap="flat" cmpd="sng" w="19075">
            <a:solidFill>
              <a:srgbClr val="CFCFCF"/>
            </a:solidFill>
            <a:prstDash val="solid"/>
            <a:round/>
            <a:headEnd len="med" w="med" type="triangle"/>
            <a:tailEnd len="sm" w="sm" type="none"/>
          </a:ln>
        </p:spPr>
      </p:cxnSp>
      <p:sp>
        <p:nvSpPr>
          <p:cNvPr id="1204" name="Google Shape;1204;p179"/>
          <p:cNvSpPr/>
          <p:nvPr/>
        </p:nvSpPr>
        <p:spPr>
          <a:xfrm>
            <a:off x="1993320" y="978840"/>
            <a:ext cx="77724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Schema Ingestion</a:t>
            </a:r>
            <a:endParaRPr b="0" i="0" sz="700" u="none" cap="none" strike="noStrike">
              <a:latin typeface="Arial"/>
              <a:ea typeface="Arial"/>
              <a:cs typeface="Arial"/>
              <a:sym typeface="Arial"/>
            </a:endParaRPr>
          </a:p>
        </p:txBody>
      </p:sp>
      <p:sp>
        <p:nvSpPr>
          <p:cNvPr id="1205" name="Google Shape;1205;p179"/>
          <p:cNvSpPr/>
          <p:nvPr/>
        </p:nvSpPr>
        <p:spPr>
          <a:xfrm>
            <a:off x="6807960" y="1009800"/>
            <a:ext cx="1170000" cy="3999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F7F7F"/>
                </a:solidFill>
                <a:latin typeface="Arial"/>
                <a:ea typeface="Arial"/>
                <a:cs typeface="Arial"/>
                <a:sym typeface="Arial"/>
              </a:rPr>
              <a:t>Taxonomy &amp; Vocabulary Publishing</a:t>
            </a:r>
            <a:endParaRPr b="0" i="0" sz="700" u="none" cap="none" strike="noStrike">
              <a:latin typeface="Arial"/>
              <a:ea typeface="Arial"/>
              <a:cs typeface="Arial"/>
              <a:sym typeface="Arial"/>
            </a:endParaRPr>
          </a:p>
        </p:txBody>
      </p:sp>
      <p:sp>
        <p:nvSpPr>
          <p:cNvPr id="1206" name="Google Shape;1206;p179"/>
          <p:cNvSpPr/>
          <p:nvPr/>
        </p:nvSpPr>
        <p:spPr>
          <a:xfrm>
            <a:off x="4757400" y="3265560"/>
            <a:ext cx="1457280" cy="59472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Mapping to Bottom-Up Structures + Data Instances</a:t>
            </a:r>
            <a:endParaRPr b="0" i="0" sz="900" u="none" cap="none" strike="noStrike">
              <a:latin typeface="Arial"/>
              <a:ea typeface="Arial"/>
              <a:cs typeface="Arial"/>
              <a:sym typeface="Arial"/>
            </a:endParaRPr>
          </a:p>
        </p:txBody>
      </p:sp>
      <p:grpSp>
        <p:nvGrpSpPr>
          <p:cNvPr id="1207" name="Google Shape;1207;p179"/>
          <p:cNvGrpSpPr/>
          <p:nvPr/>
        </p:nvGrpSpPr>
        <p:grpSpPr>
          <a:xfrm>
            <a:off x="8549640" y="0"/>
            <a:ext cx="594000" cy="679680"/>
            <a:chOff x="8549640" y="0"/>
            <a:chExt cx="594000" cy="679680"/>
          </a:xfrm>
        </p:grpSpPr>
        <p:sp>
          <p:nvSpPr>
            <p:cNvPr id="1208" name="Google Shape;1208;p17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9" name="Google Shape;1209;p179"/>
            <p:cNvGrpSpPr/>
            <p:nvPr/>
          </p:nvGrpSpPr>
          <p:grpSpPr>
            <a:xfrm>
              <a:off x="8588160" y="0"/>
              <a:ext cx="555480" cy="679680"/>
              <a:chOff x="8588160" y="0"/>
              <a:chExt cx="555480" cy="679680"/>
            </a:xfrm>
          </p:grpSpPr>
          <p:pic>
            <p:nvPicPr>
              <p:cNvPr id="1210" name="Google Shape;1210;p179"/>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211" name="Google Shape;1211;p17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80"/>
          <p:cNvSpPr txBox="1"/>
          <p:nvPr/>
        </p:nvSpPr>
        <p:spPr>
          <a:xfrm>
            <a:off x="457200" y="931680"/>
            <a:ext cx="2864160" cy="3211560"/>
          </a:xfrm>
          <a:prstGeom prst="rect">
            <a:avLst/>
          </a:prstGeom>
          <a:solidFill>
            <a:srgbClr val="666666"/>
          </a:solidFill>
          <a:ln>
            <a:noFill/>
          </a:ln>
        </p:spPr>
        <p:txBody>
          <a:bodyPr anchorCtr="0" anchor="ctr" bIns="0" lIns="0" spcFirstLastPara="1" rIns="0" wrap="square" tIns="0">
            <a:normAutofit/>
          </a:bodyPr>
          <a:lstStyle/>
          <a:p>
            <a:pPr indent="0" lvl="0" marL="17136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Core Taxonomies form the DNA </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of our Knowledge Fabric</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1001"/>
              </a:spcBef>
              <a:spcAft>
                <a:spcPts val="0"/>
              </a:spcAft>
              <a:buNone/>
            </a:pPr>
            <a:r>
              <a:rPr b="0" i="0" lang="en-US" sz="1200" u="none" cap="none" strike="noStrike">
                <a:solidFill>
                  <a:srgbClr val="FFFFFF"/>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901"/>
              </a:spcBef>
              <a:spcAft>
                <a:spcPts val="0"/>
              </a:spcAft>
              <a:buNone/>
            </a:pPr>
            <a:r>
              <a:rPr b="0" i="0" lang="en-US" sz="1200" u="none" cap="none" strike="noStrike">
                <a:solidFill>
                  <a:srgbClr val="FFFFFF"/>
                </a:solidFill>
                <a:latin typeface="Arial"/>
                <a:ea typeface="Arial"/>
                <a:cs typeface="Arial"/>
                <a:sym typeface="Arial"/>
              </a:rPr>
              <a:t>Federated Knowledge Graphs (Business Domains) delivers “Meaning at Scale”</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1001"/>
              </a:spcBef>
              <a:spcAft>
                <a:spcPts val="0"/>
              </a:spcAft>
              <a:buNone/>
            </a:pPr>
            <a:r>
              <a:rPr b="0" i="0" lang="en-US" sz="1200" u="none" cap="none" strike="noStrike">
                <a:solidFill>
                  <a:srgbClr val="FFFFFF"/>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901"/>
              </a:spcBef>
              <a:spcAft>
                <a:spcPts val="0"/>
              </a:spcAft>
              <a:buNone/>
            </a:pPr>
            <a:r>
              <a:rPr b="0" i="0" lang="en-US" sz="1200" u="none" cap="none" strike="noStrike">
                <a:solidFill>
                  <a:srgbClr val="FFFFFF"/>
                </a:solidFill>
                <a:latin typeface="Arial"/>
                <a:ea typeface="Arial"/>
                <a:cs typeface="Arial"/>
                <a:sym typeface="Arial"/>
              </a:rPr>
              <a:t>Federated RDF Stores delivers linear performance for search, discovery, unified analytics, and learning  </a:t>
            </a:r>
            <a:endParaRPr b="0" i="0" sz="1200" u="none" cap="none" strike="noStrike">
              <a:solidFill>
                <a:srgbClr val="000000"/>
              </a:solidFill>
              <a:latin typeface="Arial"/>
              <a:ea typeface="Arial"/>
              <a:cs typeface="Arial"/>
              <a:sym typeface="Arial"/>
            </a:endParaRPr>
          </a:p>
          <a:p>
            <a:pPr indent="0" lvl="0" marL="171360" marR="0" rtl="0" algn="ctr">
              <a:lnSpc>
                <a:spcPct val="100000"/>
              </a:lnSpc>
              <a:spcBef>
                <a:spcPts val="901"/>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901"/>
              </a:spcBef>
              <a:spcAft>
                <a:spcPts val="0"/>
              </a:spcAft>
              <a:buNone/>
            </a:pPr>
            <a:r>
              <a:rPr b="1" i="0" lang="en-US" sz="1100" u="none" cap="none" strike="noStrike">
                <a:solidFill>
                  <a:srgbClr val="FFBC3D"/>
                </a:solidFill>
                <a:latin typeface="Arial"/>
                <a:ea typeface="Arial"/>
                <a:cs typeface="Arial"/>
                <a:sym typeface="Arial"/>
              </a:rPr>
              <a:t>Evolutionary Approach</a:t>
            </a:r>
            <a:endParaRPr b="0" i="0" sz="1100" u="none" cap="none" strike="noStrike">
              <a:solidFill>
                <a:srgbClr val="000000"/>
              </a:solidFill>
              <a:latin typeface="Arial"/>
              <a:ea typeface="Arial"/>
              <a:cs typeface="Arial"/>
              <a:sym typeface="Arial"/>
            </a:endParaRPr>
          </a:p>
        </p:txBody>
      </p:sp>
      <p:pic>
        <p:nvPicPr>
          <p:cNvPr id="1217" name="Google Shape;1217;p180"/>
          <p:cNvPicPr preferRelativeResize="0"/>
          <p:nvPr/>
        </p:nvPicPr>
        <p:blipFill rotWithShape="1">
          <a:blip r:embed="rId3">
            <a:alphaModFix/>
          </a:blip>
          <a:srcRect b="0" l="0" r="0" t="0"/>
          <a:stretch/>
        </p:blipFill>
        <p:spPr>
          <a:xfrm>
            <a:off x="3321720" y="631800"/>
            <a:ext cx="5517360" cy="3743280"/>
          </a:xfrm>
          <a:prstGeom prst="rect">
            <a:avLst/>
          </a:prstGeom>
          <a:noFill/>
          <a:ln>
            <a:noFill/>
          </a:ln>
        </p:spPr>
      </p:pic>
      <p:sp>
        <p:nvSpPr>
          <p:cNvPr id="1218" name="Google Shape;1218;p180"/>
          <p:cNvSpPr txBox="1"/>
          <p:nvPr/>
        </p:nvSpPr>
        <p:spPr>
          <a:xfrm>
            <a:off x="457200" y="110880"/>
            <a:ext cx="69318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Target State: Positioning the Semantic Knowledge Layer</a:t>
            </a:r>
            <a:endParaRPr b="0" i="0" sz="2000" u="none" cap="none" strike="noStrike">
              <a:solidFill>
                <a:srgbClr val="000000"/>
              </a:solidFill>
              <a:latin typeface="Arial"/>
              <a:ea typeface="Arial"/>
              <a:cs typeface="Arial"/>
              <a:sym typeface="Arial"/>
            </a:endParaRPr>
          </a:p>
        </p:txBody>
      </p:sp>
      <p:grpSp>
        <p:nvGrpSpPr>
          <p:cNvPr id="1219" name="Google Shape;1219;p180"/>
          <p:cNvGrpSpPr/>
          <p:nvPr/>
        </p:nvGrpSpPr>
        <p:grpSpPr>
          <a:xfrm>
            <a:off x="8549640" y="0"/>
            <a:ext cx="594000" cy="679680"/>
            <a:chOff x="8549640" y="0"/>
            <a:chExt cx="594000" cy="679680"/>
          </a:xfrm>
        </p:grpSpPr>
        <p:sp>
          <p:nvSpPr>
            <p:cNvPr id="1220" name="Google Shape;1220;p18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1" name="Google Shape;1221;p180"/>
            <p:cNvGrpSpPr/>
            <p:nvPr/>
          </p:nvGrpSpPr>
          <p:grpSpPr>
            <a:xfrm>
              <a:off x="8588160" y="0"/>
              <a:ext cx="555480" cy="679680"/>
              <a:chOff x="8588160" y="0"/>
              <a:chExt cx="555480" cy="679680"/>
            </a:xfrm>
          </p:grpSpPr>
          <p:pic>
            <p:nvPicPr>
              <p:cNvPr id="1222" name="Google Shape;1222;p180"/>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1223" name="Google Shape;1223;p18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81"/>
          <p:cNvSpPr/>
          <p:nvPr/>
        </p:nvSpPr>
        <p:spPr>
          <a:xfrm>
            <a:off x="2635560" y="515160"/>
            <a:ext cx="6199920" cy="4268520"/>
          </a:xfrm>
          <a:prstGeom prst="rect">
            <a:avLst/>
          </a:prstGeom>
          <a:noFill/>
          <a:ln cap="flat" cmpd="sng" w="28425">
            <a:solidFill>
              <a:srgbClr val="A5A5A5"/>
            </a:solidFill>
            <a:prstDash val="dashDot"/>
            <a:round/>
            <a:headEnd len="sm" w="sm" type="none"/>
            <a:tailEnd len="sm" w="sm" type="none"/>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400" u="none" cap="none" strike="noStrike">
                <a:solidFill>
                  <a:srgbClr val="7F7F7F"/>
                </a:solidFill>
                <a:latin typeface="Arial"/>
                <a:ea typeface="Arial"/>
                <a:cs typeface="Arial"/>
                <a:sym typeface="Arial"/>
              </a:rPr>
              <a:t>Agent: Reference Model</a:t>
            </a:r>
            <a:endParaRPr b="0" i="0" sz="1400" u="none" cap="none" strike="noStrike">
              <a:latin typeface="Arial"/>
              <a:ea typeface="Arial"/>
              <a:cs typeface="Arial"/>
              <a:sym typeface="Arial"/>
            </a:endParaRPr>
          </a:p>
        </p:txBody>
      </p:sp>
      <p:sp>
        <p:nvSpPr>
          <p:cNvPr id="1229" name="Google Shape;1229;p181"/>
          <p:cNvSpPr/>
          <p:nvPr/>
        </p:nvSpPr>
        <p:spPr>
          <a:xfrm>
            <a:off x="4647600" y="1796040"/>
            <a:ext cx="2111760" cy="758880"/>
          </a:xfrm>
          <a:prstGeom prst="roundRect">
            <a:avLst>
              <a:gd fmla="val 16667" name="adj"/>
            </a:avLst>
          </a:prstGeom>
          <a:solidFill>
            <a:srgbClr val="747676"/>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Arial"/>
                <a:ea typeface="Arial"/>
                <a:cs typeface="Arial"/>
                <a:sym typeface="Arial"/>
              </a:rPr>
              <a:t>Agent</a:t>
            </a:r>
            <a:endParaRPr b="0" i="0" sz="1500" u="none" cap="none" strike="noStrike">
              <a:latin typeface="Arial"/>
              <a:ea typeface="Arial"/>
              <a:cs typeface="Arial"/>
              <a:sym typeface="Arial"/>
            </a:endParaRPr>
          </a:p>
        </p:txBody>
      </p:sp>
      <p:sp>
        <p:nvSpPr>
          <p:cNvPr id="1230" name="Google Shape;1230;p181"/>
          <p:cNvSpPr/>
          <p:nvPr/>
        </p:nvSpPr>
        <p:spPr>
          <a:xfrm>
            <a:off x="7394040" y="1755000"/>
            <a:ext cx="1227600" cy="7999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Sense</a:t>
            </a:r>
            <a:r>
              <a:rPr b="0" i="0" lang="en-US" sz="1500" u="none" cap="none" strike="noStrike">
                <a:solidFill>
                  <a:srgbClr val="EE0000"/>
                </a:solidFill>
                <a:latin typeface="Arial"/>
                <a:ea typeface="Arial"/>
                <a:cs typeface="Arial"/>
                <a:sym typeface="Arial"/>
              </a:rPr>
              <a:t>*</a:t>
            </a:r>
            <a:endParaRPr b="0" i="0" sz="15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&amp; Understand</a:t>
            </a:r>
            <a:endParaRPr b="0" i="0" sz="1500" u="none" cap="none" strike="noStrike">
              <a:latin typeface="Arial"/>
              <a:ea typeface="Arial"/>
              <a:cs typeface="Arial"/>
              <a:sym typeface="Arial"/>
            </a:endParaRPr>
          </a:p>
        </p:txBody>
      </p:sp>
      <p:sp>
        <p:nvSpPr>
          <p:cNvPr id="1231" name="Google Shape;1231;p181"/>
          <p:cNvSpPr/>
          <p:nvPr/>
        </p:nvSpPr>
        <p:spPr>
          <a:xfrm>
            <a:off x="5140080" y="4090680"/>
            <a:ext cx="1126080" cy="5043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Act</a:t>
            </a:r>
            <a:endParaRPr b="0" i="0" sz="1500" u="none" cap="none" strike="noStrike">
              <a:latin typeface="Arial"/>
              <a:ea typeface="Arial"/>
              <a:cs typeface="Arial"/>
              <a:sym typeface="Arial"/>
            </a:endParaRPr>
          </a:p>
        </p:txBody>
      </p:sp>
      <p:sp>
        <p:nvSpPr>
          <p:cNvPr id="1232" name="Google Shape;1232;p181"/>
          <p:cNvSpPr/>
          <p:nvPr/>
        </p:nvSpPr>
        <p:spPr>
          <a:xfrm>
            <a:off x="5172480" y="691200"/>
            <a:ext cx="1061280" cy="4255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Goals</a:t>
            </a:r>
            <a:endParaRPr b="0" i="0" sz="1500" u="none" cap="none" strike="noStrike">
              <a:latin typeface="Arial"/>
              <a:ea typeface="Arial"/>
              <a:cs typeface="Arial"/>
              <a:sym typeface="Arial"/>
            </a:endParaRPr>
          </a:p>
        </p:txBody>
      </p:sp>
      <p:sp>
        <p:nvSpPr>
          <p:cNvPr id="1233" name="Google Shape;1233;p181"/>
          <p:cNvSpPr/>
          <p:nvPr/>
        </p:nvSpPr>
        <p:spPr>
          <a:xfrm>
            <a:off x="6779880" y="88164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Memory</a:t>
            </a:r>
            <a:endParaRPr b="0" i="0" sz="1500" u="none" cap="none" strike="noStrike">
              <a:latin typeface="Arial"/>
              <a:ea typeface="Arial"/>
              <a:cs typeface="Arial"/>
              <a:sym typeface="Arial"/>
            </a:endParaRPr>
          </a:p>
        </p:txBody>
      </p:sp>
      <p:sp>
        <p:nvSpPr>
          <p:cNvPr id="1234" name="Google Shape;1234;p181"/>
          <p:cNvSpPr/>
          <p:nvPr/>
        </p:nvSpPr>
        <p:spPr>
          <a:xfrm>
            <a:off x="3090600" y="188460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Reason</a:t>
            </a:r>
            <a:endParaRPr b="0" i="0" sz="1500" u="none" cap="none" strike="noStrike">
              <a:latin typeface="Arial"/>
              <a:ea typeface="Arial"/>
              <a:cs typeface="Arial"/>
              <a:sym typeface="Arial"/>
            </a:endParaRPr>
          </a:p>
        </p:txBody>
      </p:sp>
      <p:sp>
        <p:nvSpPr>
          <p:cNvPr id="1235" name="Google Shape;1235;p181"/>
          <p:cNvSpPr/>
          <p:nvPr/>
        </p:nvSpPr>
        <p:spPr>
          <a:xfrm>
            <a:off x="5140080" y="347040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Coordinate</a:t>
            </a:r>
            <a:endParaRPr b="0" i="0" sz="1500" u="none" cap="none" strike="noStrike">
              <a:latin typeface="Arial"/>
              <a:ea typeface="Arial"/>
              <a:cs typeface="Arial"/>
              <a:sym typeface="Arial"/>
            </a:endParaRPr>
          </a:p>
        </p:txBody>
      </p:sp>
      <p:sp>
        <p:nvSpPr>
          <p:cNvPr id="1236" name="Google Shape;1236;p181"/>
          <p:cNvSpPr/>
          <p:nvPr/>
        </p:nvSpPr>
        <p:spPr>
          <a:xfrm>
            <a:off x="5140080" y="280044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Plan</a:t>
            </a:r>
            <a:endParaRPr b="0" i="0" sz="1500" u="none" cap="none" strike="noStrike">
              <a:latin typeface="Arial"/>
              <a:ea typeface="Arial"/>
              <a:cs typeface="Arial"/>
              <a:sym typeface="Arial"/>
            </a:endParaRPr>
          </a:p>
        </p:txBody>
      </p:sp>
      <p:sp>
        <p:nvSpPr>
          <p:cNvPr id="1237" name="Google Shape;1237;p181"/>
          <p:cNvSpPr/>
          <p:nvPr/>
        </p:nvSpPr>
        <p:spPr>
          <a:xfrm>
            <a:off x="3090960" y="3031920"/>
            <a:ext cx="1061280" cy="582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Learn</a:t>
            </a:r>
            <a:r>
              <a:rPr b="0" i="0" lang="en-US" sz="1500" u="none" cap="none" strike="noStrike">
                <a:solidFill>
                  <a:srgbClr val="EE0000"/>
                </a:solidFill>
                <a:latin typeface="Arial"/>
                <a:ea typeface="Arial"/>
                <a:cs typeface="Arial"/>
                <a:sym typeface="Arial"/>
              </a:rPr>
              <a:t>*</a:t>
            </a:r>
            <a:endParaRPr b="0" i="0" sz="1500" u="none" cap="none" strike="noStrike">
              <a:latin typeface="Arial"/>
              <a:ea typeface="Arial"/>
              <a:cs typeface="Arial"/>
              <a:sym typeface="Arial"/>
            </a:endParaRPr>
          </a:p>
        </p:txBody>
      </p:sp>
      <p:sp>
        <p:nvSpPr>
          <p:cNvPr id="1238" name="Google Shape;1238;p181"/>
          <p:cNvSpPr/>
          <p:nvPr/>
        </p:nvSpPr>
        <p:spPr>
          <a:xfrm rot="10800000">
            <a:off x="5703120" y="1117080"/>
            <a:ext cx="360" cy="6789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1239" name="Google Shape;1239;p181"/>
          <p:cNvSpPr/>
          <p:nvPr/>
        </p:nvSpPr>
        <p:spPr>
          <a:xfrm>
            <a:off x="5703480" y="2555280"/>
            <a:ext cx="360" cy="245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1240" name="Google Shape;1240;p181"/>
          <p:cNvSpPr/>
          <p:nvPr/>
        </p:nvSpPr>
        <p:spPr>
          <a:xfrm>
            <a:off x="5703480" y="3175920"/>
            <a:ext cx="360" cy="29412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1241" name="Google Shape;1241;p181"/>
          <p:cNvSpPr/>
          <p:nvPr/>
        </p:nvSpPr>
        <p:spPr>
          <a:xfrm>
            <a:off x="5703480" y="3845520"/>
            <a:ext cx="360" cy="245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1242" name="Google Shape;1242;p181"/>
          <p:cNvSpPr/>
          <p:nvPr/>
        </p:nvSpPr>
        <p:spPr>
          <a:xfrm rot="10800000">
            <a:off x="4152600" y="2175120"/>
            <a:ext cx="495000" cy="3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sp>
        <p:nvSpPr>
          <p:cNvPr id="1243" name="Google Shape;1243;p181"/>
          <p:cNvSpPr/>
          <p:nvPr/>
        </p:nvSpPr>
        <p:spPr>
          <a:xfrm flipH="1">
            <a:off x="4152600" y="2988360"/>
            <a:ext cx="987120" cy="3344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1244" name="Google Shape;1244;p181"/>
          <p:cNvSpPr/>
          <p:nvPr/>
        </p:nvSpPr>
        <p:spPr>
          <a:xfrm rot="10800000">
            <a:off x="4152960" y="3323520"/>
            <a:ext cx="987120" cy="3344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1245" name="Google Shape;1245;p181"/>
          <p:cNvSpPr/>
          <p:nvPr/>
        </p:nvSpPr>
        <p:spPr>
          <a:xfrm>
            <a:off x="3621240" y="2466720"/>
            <a:ext cx="360" cy="56484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cxnSp>
        <p:nvCxnSpPr>
          <p:cNvPr id="1246" name="Google Shape;1246;p181"/>
          <p:cNvCxnSpPr/>
          <p:nvPr/>
        </p:nvCxnSpPr>
        <p:spPr>
          <a:xfrm flipH="1" rot="10800000">
            <a:off x="5703300" y="1173060"/>
            <a:ext cx="1076100" cy="622800"/>
          </a:xfrm>
          <a:prstGeom prst="curvedConnector2">
            <a:avLst/>
          </a:prstGeom>
          <a:noFill/>
          <a:ln cap="flat" cmpd="sng" w="19075">
            <a:solidFill>
              <a:srgbClr val="AEAEAE"/>
            </a:solidFill>
            <a:prstDash val="solid"/>
            <a:round/>
            <a:headEnd len="sm" w="sm" type="none"/>
            <a:tailEnd len="med" w="med" type="triangle"/>
          </a:ln>
        </p:spPr>
      </p:cxnSp>
      <p:cxnSp>
        <p:nvCxnSpPr>
          <p:cNvPr id="1247" name="Google Shape;1247;p181"/>
          <p:cNvCxnSpPr/>
          <p:nvPr/>
        </p:nvCxnSpPr>
        <p:spPr>
          <a:xfrm rot="5400000">
            <a:off x="6679830" y="1544370"/>
            <a:ext cx="711300" cy="550800"/>
          </a:xfrm>
          <a:prstGeom prst="curvedConnector2">
            <a:avLst/>
          </a:prstGeom>
          <a:noFill/>
          <a:ln cap="flat" cmpd="sng" w="19075">
            <a:solidFill>
              <a:srgbClr val="AEAEAE"/>
            </a:solidFill>
            <a:prstDash val="solid"/>
            <a:round/>
            <a:headEnd len="sm" w="sm" type="none"/>
            <a:tailEnd len="med" w="med" type="triangle"/>
          </a:ln>
        </p:spPr>
      </p:cxnSp>
      <p:sp>
        <p:nvSpPr>
          <p:cNvPr id="1248" name="Google Shape;1248;p181"/>
          <p:cNvSpPr/>
          <p:nvPr/>
        </p:nvSpPr>
        <p:spPr>
          <a:xfrm>
            <a:off x="365400" y="931320"/>
            <a:ext cx="1798560" cy="1581840"/>
          </a:xfrm>
          <a:prstGeom prst="rect">
            <a:avLst/>
          </a:prstGeom>
          <a:solidFill>
            <a:srgbClr val="FFE599"/>
          </a:solid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Arial"/>
                <a:ea typeface="Arial"/>
                <a:cs typeface="Arial"/>
                <a:sym typeface="Arial"/>
              </a:rPr>
              <a:t>Convergence of 4 separate disciplines:</a:t>
            </a:r>
            <a:endParaRPr b="0" i="0" sz="1300" u="none" cap="none" strike="noStrike">
              <a:latin typeface="Arial"/>
              <a:ea typeface="Arial"/>
              <a:cs typeface="Arial"/>
              <a:sym typeface="Arial"/>
            </a:endParaRPr>
          </a:p>
          <a:p>
            <a:pPr indent="-190080" lvl="0" marL="216000" marR="0" rtl="0" algn="l">
              <a:lnSpc>
                <a:spcPct val="100000"/>
              </a:lnSpc>
              <a:spcBef>
                <a:spcPts val="1001"/>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BI (analytic)</a:t>
            </a:r>
            <a:endParaRPr b="0" i="0" sz="1300" u="none" cap="none" strike="noStrike">
              <a:latin typeface="Arial"/>
              <a:ea typeface="Arial"/>
              <a:cs typeface="Arial"/>
              <a:sym typeface="Arial"/>
            </a:endParaRPr>
          </a:p>
          <a:p>
            <a:pPr indent="-190080" lvl="0" marL="2160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AI (probabilistic)</a:t>
            </a:r>
            <a:endParaRPr b="0" i="0" sz="1300" u="none" cap="none" strike="noStrike">
              <a:latin typeface="Arial"/>
              <a:ea typeface="Arial"/>
              <a:cs typeface="Arial"/>
              <a:sym typeface="Arial"/>
            </a:endParaRPr>
          </a:p>
          <a:p>
            <a:pPr indent="-190080" lvl="0" marL="2160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SI (deterministic)</a:t>
            </a:r>
            <a:endParaRPr b="0" i="0" sz="1300" u="none" cap="none" strike="noStrike">
              <a:latin typeface="Arial"/>
              <a:ea typeface="Arial"/>
              <a:cs typeface="Arial"/>
              <a:sym typeface="Arial"/>
            </a:endParaRPr>
          </a:p>
          <a:p>
            <a:pPr indent="-209160" lvl="0" marL="2160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DI (decisions)</a:t>
            </a:r>
            <a:endParaRPr b="0" i="0" sz="13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300" u="none" cap="none" strike="noStrike">
              <a:latin typeface="Arial"/>
              <a:ea typeface="Arial"/>
              <a:cs typeface="Arial"/>
              <a:sym typeface="Arial"/>
            </a:endParaRPr>
          </a:p>
        </p:txBody>
      </p:sp>
      <p:sp>
        <p:nvSpPr>
          <p:cNvPr id="1249" name="Google Shape;1249;p181"/>
          <p:cNvSpPr txBox="1"/>
          <p:nvPr/>
        </p:nvSpPr>
        <p:spPr>
          <a:xfrm>
            <a:off x="457200" y="75960"/>
            <a:ext cx="6365160" cy="343080"/>
          </a:xfrm>
          <a:prstGeom prst="rect">
            <a:avLst/>
          </a:prstGeom>
          <a:noFill/>
          <a:ln>
            <a:noFill/>
          </a:ln>
        </p:spPr>
        <p:txBody>
          <a:bodyPr anchorCtr="0" anchor="ctr" bIns="34200" lIns="68400" spcFirstLastPara="1" rIns="68400" wrap="square" tIns="34200">
            <a:normAutofit/>
          </a:bodyPr>
          <a:lstStyle/>
          <a:p>
            <a:pPr indent="0" lvl="0" marL="0" marR="0" rtl="0" algn="l">
              <a:lnSpc>
                <a:spcPct val="90000"/>
              </a:lnSpc>
              <a:spcBef>
                <a:spcPts val="0"/>
              </a:spcBef>
              <a:spcAft>
                <a:spcPts val="0"/>
              </a:spcAft>
              <a:buNone/>
            </a:pPr>
            <a:r>
              <a:rPr b="1" i="0" lang="en-US" sz="1800" u="none" cap="none" strike="noStrike">
                <a:solidFill>
                  <a:srgbClr val="000000"/>
                </a:solidFill>
                <a:latin typeface="Arial"/>
                <a:ea typeface="Arial"/>
                <a:cs typeface="Arial"/>
                <a:sym typeface="Arial"/>
              </a:rPr>
              <a:t>Emergent Intelligence via Agents</a:t>
            </a:r>
            <a:endParaRPr b="0" i="0" sz="1800" u="none" cap="none" strike="noStrike">
              <a:solidFill>
                <a:srgbClr val="000000"/>
              </a:solidFill>
              <a:latin typeface="Arial"/>
              <a:ea typeface="Arial"/>
              <a:cs typeface="Arial"/>
              <a:sym typeface="Arial"/>
            </a:endParaRPr>
          </a:p>
        </p:txBody>
      </p:sp>
      <p:sp>
        <p:nvSpPr>
          <p:cNvPr id="1250" name="Google Shape;1250;p181"/>
          <p:cNvSpPr/>
          <p:nvPr/>
        </p:nvSpPr>
        <p:spPr>
          <a:xfrm flipH="1" rot="10800000">
            <a:off x="6759720" y="2175480"/>
            <a:ext cx="634320" cy="201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pic>
        <p:nvPicPr>
          <p:cNvPr id="1251" name="Google Shape;1251;p181"/>
          <p:cNvPicPr preferRelativeResize="0"/>
          <p:nvPr/>
        </p:nvPicPr>
        <p:blipFill rotWithShape="1">
          <a:blip r:embed="rId3">
            <a:alphaModFix/>
          </a:blip>
          <a:srcRect b="0" l="0" r="0" t="0"/>
          <a:stretch/>
        </p:blipFill>
        <p:spPr>
          <a:xfrm>
            <a:off x="524520" y="3845520"/>
            <a:ext cx="1480320" cy="564840"/>
          </a:xfrm>
          <a:prstGeom prst="rect">
            <a:avLst/>
          </a:prstGeom>
          <a:noFill/>
          <a:ln>
            <a:noFill/>
          </a:ln>
        </p:spPr>
      </p:pic>
      <p:sp>
        <p:nvSpPr>
          <p:cNvPr id="1252" name="Google Shape;1252;p181"/>
          <p:cNvSpPr/>
          <p:nvPr/>
        </p:nvSpPr>
        <p:spPr>
          <a:xfrm>
            <a:off x="379080" y="3040920"/>
            <a:ext cx="898560" cy="40500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LLM</a:t>
            </a:r>
            <a:endParaRPr b="0" i="0" sz="1500" u="none" cap="none" strike="noStrike">
              <a:latin typeface="Arial"/>
              <a:ea typeface="Arial"/>
              <a:cs typeface="Arial"/>
              <a:sym typeface="Arial"/>
            </a:endParaRPr>
          </a:p>
        </p:txBody>
      </p:sp>
      <p:sp>
        <p:nvSpPr>
          <p:cNvPr id="1253" name="Google Shape;1253;p181"/>
          <p:cNvSpPr/>
          <p:nvPr/>
        </p:nvSpPr>
        <p:spPr>
          <a:xfrm>
            <a:off x="1364040" y="304092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i="0" lang="en-US" sz="900" u="none" cap="none" strike="noStrike">
                <a:solidFill>
                  <a:srgbClr val="0E2841"/>
                </a:solidFill>
                <a:latin typeface="Arial"/>
                <a:ea typeface="Arial"/>
                <a:cs typeface="Arial"/>
                <a:sym typeface="Arial"/>
              </a:rPr>
              <a:t>SLM</a:t>
            </a:r>
            <a:endParaRPr b="0" i="0" sz="900" u="none" cap="none" strike="noStrike">
              <a:latin typeface="Arial"/>
              <a:ea typeface="Arial"/>
              <a:cs typeface="Arial"/>
              <a:sym typeface="Arial"/>
            </a:endParaRPr>
          </a:p>
        </p:txBody>
      </p:sp>
      <p:sp>
        <p:nvSpPr>
          <p:cNvPr id="1254" name="Google Shape;1254;p181"/>
          <p:cNvSpPr/>
          <p:nvPr/>
        </p:nvSpPr>
        <p:spPr>
          <a:xfrm>
            <a:off x="1516680" y="319356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i="0" lang="en-US" sz="900" u="none" cap="none" strike="noStrike">
                <a:solidFill>
                  <a:srgbClr val="0E2841"/>
                </a:solidFill>
                <a:latin typeface="Arial"/>
                <a:ea typeface="Arial"/>
                <a:cs typeface="Arial"/>
                <a:sym typeface="Arial"/>
              </a:rPr>
              <a:t>SLM</a:t>
            </a:r>
            <a:endParaRPr b="0" i="0" sz="900" u="none" cap="none" strike="noStrike">
              <a:latin typeface="Arial"/>
              <a:ea typeface="Arial"/>
              <a:cs typeface="Arial"/>
              <a:sym typeface="Arial"/>
            </a:endParaRPr>
          </a:p>
        </p:txBody>
      </p:sp>
      <p:sp>
        <p:nvSpPr>
          <p:cNvPr id="1255" name="Google Shape;1255;p181"/>
          <p:cNvSpPr/>
          <p:nvPr/>
        </p:nvSpPr>
        <p:spPr>
          <a:xfrm>
            <a:off x="1668960" y="3345840"/>
            <a:ext cx="495000" cy="24516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1" i="0" lang="en-US" sz="900" u="none" cap="none" strike="noStrike">
                <a:solidFill>
                  <a:srgbClr val="0E2841"/>
                </a:solidFill>
                <a:latin typeface="Arial"/>
                <a:ea typeface="Arial"/>
                <a:cs typeface="Arial"/>
                <a:sym typeface="Arial"/>
              </a:rPr>
              <a:t>SLM</a:t>
            </a:r>
            <a:endParaRPr b="0" i="0" sz="900" u="none" cap="none" strike="noStrike">
              <a:latin typeface="Arial"/>
              <a:ea typeface="Arial"/>
              <a:cs typeface="Arial"/>
              <a:sym typeface="Arial"/>
            </a:endParaRPr>
          </a:p>
        </p:txBody>
      </p:sp>
      <p:sp>
        <p:nvSpPr>
          <p:cNvPr id="1256" name="Google Shape;1256;p181"/>
          <p:cNvSpPr/>
          <p:nvPr/>
        </p:nvSpPr>
        <p:spPr>
          <a:xfrm>
            <a:off x="828360" y="3446280"/>
            <a:ext cx="468720" cy="39888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1257" name="Google Shape;1257;p181"/>
          <p:cNvSpPr/>
          <p:nvPr/>
        </p:nvSpPr>
        <p:spPr>
          <a:xfrm flipH="1">
            <a:off x="1274400" y="3484440"/>
            <a:ext cx="245160" cy="3747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med" w="med" type="triangle"/>
            <a:tailEnd len="med" w="med" type="triangle"/>
          </a:ln>
        </p:spPr>
      </p:sp>
      <p:sp>
        <p:nvSpPr>
          <p:cNvPr id="1258" name="Google Shape;1258;p181"/>
          <p:cNvSpPr/>
          <p:nvPr/>
        </p:nvSpPr>
        <p:spPr>
          <a:xfrm>
            <a:off x="248760" y="2921760"/>
            <a:ext cx="1982520" cy="1647000"/>
          </a:xfrm>
          <a:prstGeom prst="roundRect">
            <a:avLst>
              <a:gd fmla="val 16667" name="adj"/>
            </a:avLst>
          </a:prstGeom>
          <a:no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81"/>
          <p:cNvSpPr/>
          <p:nvPr/>
        </p:nvSpPr>
        <p:spPr>
          <a:xfrm>
            <a:off x="6715080" y="2800440"/>
            <a:ext cx="1126080" cy="375120"/>
          </a:xfrm>
          <a:prstGeom prst="roundRect">
            <a:avLst>
              <a:gd fmla="val 16667" name="adj"/>
            </a:avLst>
          </a:prstGeom>
          <a:solidFill>
            <a:srgbClr val="D8DADA"/>
          </a:solidFill>
          <a:ln cap="flat" cmpd="sng" w="19075">
            <a:solidFill>
              <a:srgbClr val="082836"/>
            </a:solidFill>
            <a:prstDash val="solid"/>
            <a:miter lim="8000"/>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1500" u="none" cap="none" strike="noStrike">
                <a:solidFill>
                  <a:srgbClr val="0E2841"/>
                </a:solidFill>
                <a:latin typeface="Arial"/>
                <a:ea typeface="Arial"/>
                <a:cs typeface="Arial"/>
                <a:sym typeface="Arial"/>
              </a:rPr>
              <a:t>Decide</a:t>
            </a:r>
            <a:endParaRPr b="0" i="0" sz="1500" u="none" cap="none" strike="noStrike">
              <a:latin typeface="Arial"/>
              <a:ea typeface="Arial"/>
              <a:cs typeface="Arial"/>
              <a:sym typeface="Arial"/>
            </a:endParaRPr>
          </a:p>
        </p:txBody>
      </p:sp>
      <p:sp>
        <p:nvSpPr>
          <p:cNvPr id="1260" name="Google Shape;1260;p181"/>
          <p:cNvSpPr/>
          <p:nvPr/>
        </p:nvSpPr>
        <p:spPr>
          <a:xfrm rot="10800000">
            <a:off x="6266880" y="2988000"/>
            <a:ext cx="448200" cy="360"/>
          </a:xfrm>
          <a:custGeom>
            <a:rect b="b" l="l" r="r" t="t"/>
            <a:pathLst>
              <a:path extrusionOk="0" h="21600" w="21600">
                <a:moveTo>
                  <a:pt x="0" y="0"/>
                </a:moveTo>
                <a:lnTo>
                  <a:pt x="21600" y="21600"/>
                </a:lnTo>
              </a:path>
            </a:pathLst>
          </a:custGeom>
          <a:noFill/>
          <a:ln cap="flat" cmpd="sng" w="19075">
            <a:solidFill>
              <a:srgbClr val="AEAEAE"/>
            </a:solidFill>
            <a:prstDash val="solid"/>
            <a:miter lim="8000"/>
            <a:headEnd len="sm" w="sm" type="none"/>
            <a:tailEnd len="med" w="med" type="triangle"/>
          </a:ln>
        </p:spPr>
      </p:sp>
      <p:cxnSp>
        <p:nvCxnSpPr>
          <p:cNvPr id="1261" name="Google Shape;1261;p181"/>
          <p:cNvCxnSpPr/>
          <p:nvPr/>
        </p:nvCxnSpPr>
        <p:spPr>
          <a:xfrm rot="5400000">
            <a:off x="7708410" y="2688450"/>
            <a:ext cx="432600" cy="165900"/>
          </a:xfrm>
          <a:prstGeom prst="curvedConnector2">
            <a:avLst/>
          </a:prstGeom>
          <a:noFill/>
          <a:ln cap="flat" cmpd="sng" w="19075">
            <a:solidFill>
              <a:srgbClr val="AEAEAE"/>
            </a:solidFill>
            <a:prstDash val="solid"/>
            <a:round/>
            <a:headEnd len="sm" w="sm" type="none"/>
            <a:tailEnd len="med" w="med" type="triangle"/>
          </a:ln>
        </p:spPr>
      </p:cxnSp>
      <p:grpSp>
        <p:nvGrpSpPr>
          <p:cNvPr id="1262" name="Google Shape;1262;p181"/>
          <p:cNvGrpSpPr/>
          <p:nvPr/>
        </p:nvGrpSpPr>
        <p:grpSpPr>
          <a:xfrm>
            <a:off x="8549640" y="0"/>
            <a:ext cx="594000" cy="679680"/>
            <a:chOff x="8549640" y="0"/>
            <a:chExt cx="594000" cy="679680"/>
          </a:xfrm>
        </p:grpSpPr>
        <p:sp>
          <p:nvSpPr>
            <p:cNvPr id="1263" name="Google Shape;1263;p181"/>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4" name="Google Shape;1264;p181"/>
            <p:cNvGrpSpPr/>
            <p:nvPr/>
          </p:nvGrpSpPr>
          <p:grpSpPr>
            <a:xfrm>
              <a:off x="8588160" y="0"/>
              <a:ext cx="555480" cy="679680"/>
              <a:chOff x="8588160" y="0"/>
              <a:chExt cx="555480" cy="679680"/>
            </a:xfrm>
          </p:grpSpPr>
          <p:pic>
            <p:nvPicPr>
              <p:cNvPr id="1265" name="Google Shape;1265;p181"/>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1266" name="Google Shape;1266;p181"/>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0" name="Shape 1270"/>
        <p:cNvGrpSpPr/>
        <p:nvPr/>
      </p:nvGrpSpPr>
      <p:grpSpPr>
        <a:xfrm>
          <a:off x="0" y="0"/>
          <a:ext cx="0" cy="0"/>
          <a:chOff x="0" y="0"/>
          <a:chExt cx="0" cy="0"/>
        </a:xfrm>
      </p:grpSpPr>
      <p:sp>
        <p:nvSpPr>
          <p:cNvPr id="1271" name="Google Shape;1271;p182"/>
          <p:cNvSpPr/>
          <p:nvPr/>
        </p:nvSpPr>
        <p:spPr>
          <a:xfrm>
            <a:off x="6847200" y="2672280"/>
            <a:ext cx="909720" cy="4446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Federated Search</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72" name="Google Shape;1272;p182"/>
          <p:cNvSpPr/>
          <p:nvPr/>
        </p:nvSpPr>
        <p:spPr>
          <a:xfrm>
            <a:off x="507960" y="2646720"/>
            <a:ext cx="604440" cy="335880"/>
          </a:xfrm>
          <a:prstGeom prst="can">
            <a:avLst>
              <a:gd fmla="val 25000" name="adj"/>
            </a:avLst>
          </a:prstGeom>
          <a:solidFill>
            <a:srgbClr val="F4CCCC"/>
          </a:solidFill>
          <a:ln cap="flat" cmpd="sng" w="12600">
            <a:solidFill>
              <a:srgbClr val="C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Sources</a:t>
            </a:r>
            <a:endParaRPr b="0" i="0" sz="800" u="none" cap="none" strike="noStrike">
              <a:latin typeface="Arial"/>
              <a:ea typeface="Arial"/>
              <a:cs typeface="Arial"/>
              <a:sym typeface="Arial"/>
            </a:endParaRPr>
          </a:p>
        </p:txBody>
      </p:sp>
      <p:sp>
        <p:nvSpPr>
          <p:cNvPr id="1273" name="Google Shape;1273;p182"/>
          <p:cNvSpPr/>
          <p:nvPr/>
        </p:nvSpPr>
        <p:spPr>
          <a:xfrm>
            <a:off x="603000" y="2733120"/>
            <a:ext cx="604440" cy="335880"/>
          </a:xfrm>
          <a:prstGeom prst="can">
            <a:avLst>
              <a:gd fmla="val 25000" name="adj"/>
            </a:avLst>
          </a:prstGeom>
          <a:solidFill>
            <a:srgbClr val="F4CCCC"/>
          </a:solidFill>
          <a:ln cap="flat" cmpd="sng" w="12600">
            <a:solidFill>
              <a:srgbClr val="C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Sources</a:t>
            </a:r>
            <a:endParaRPr b="0" i="0" sz="800" u="none" cap="none" strike="noStrike">
              <a:latin typeface="Arial"/>
              <a:ea typeface="Arial"/>
              <a:cs typeface="Arial"/>
              <a:sym typeface="Arial"/>
            </a:endParaRPr>
          </a:p>
        </p:txBody>
      </p:sp>
      <p:sp>
        <p:nvSpPr>
          <p:cNvPr id="1274" name="Google Shape;1274;p182"/>
          <p:cNvSpPr/>
          <p:nvPr/>
        </p:nvSpPr>
        <p:spPr>
          <a:xfrm>
            <a:off x="698040" y="2819160"/>
            <a:ext cx="604440" cy="335880"/>
          </a:xfrm>
          <a:prstGeom prst="can">
            <a:avLst>
              <a:gd fmla="val 25000" name="adj"/>
            </a:avLst>
          </a:prstGeom>
          <a:solidFill>
            <a:srgbClr val="F4CCCC"/>
          </a:solidFill>
          <a:ln cap="flat" cmpd="sng" w="12600">
            <a:solidFill>
              <a:srgbClr val="C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Sources</a:t>
            </a:r>
            <a:endParaRPr b="0" i="0" sz="800" u="none" cap="none" strike="noStrike">
              <a:latin typeface="Arial"/>
              <a:ea typeface="Arial"/>
              <a:cs typeface="Arial"/>
              <a:sym typeface="Arial"/>
            </a:endParaRPr>
          </a:p>
        </p:txBody>
      </p:sp>
      <p:sp>
        <p:nvSpPr>
          <p:cNvPr id="1275" name="Google Shape;1275;p182"/>
          <p:cNvSpPr/>
          <p:nvPr/>
        </p:nvSpPr>
        <p:spPr>
          <a:xfrm>
            <a:off x="934200" y="521640"/>
            <a:ext cx="4392720" cy="147600"/>
          </a:xfrm>
          <a:prstGeom prst="rect">
            <a:avLst/>
          </a:prstGeom>
          <a:solidFill>
            <a:srgbClr val="F3F3F3"/>
          </a:solidFill>
          <a:ln>
            <a:noFill/>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Taxonomy &amp; Ontology Publishing</a:t>
            </a:r>
            <a:endParaRPr b="0" i="0" sz="800" u="none" cap="none" strike="noStrike">
              <a:latin typeface="Arial"/>
              <a:ea typeface="Arial"/>
              <a:cs typeface="Arial"/>
              <a:sym typeface="Arial"/>
            </a:endParaRPr>
          </a:p>
        </p:txBody>
      </p:sp>
      <p:sp>
        <p:nvSpPr>
          <p:cNvPr id="1276" name="Google Shape;1276;p182"/>
          <p:cNvSpPr/>
          <p:nvPr/>
        </p:nvSpPr>
        <p:spPr>
          <a:xfrm>
            <a:off x="6847200" y="202464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Visualization</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77" name="Google Shape;1277;p182"/>
          <p:cNvSpPr/>
          <p:nvPr/>
        </p:nvSpPr>
        <p:spPr>
          <a:xfrm>
            <a:off x="3978000" y="84060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82"/>
          <p:cNvSpPr/>
          <p:nvPr/>
        </p:nvSpPr>
        <p:spPr>
          <a:xfrm>
            <a:off x="5565240" y="269280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Semantic Harmonization</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79" name="Google Shape;1279;p182"/>
          <p:cNvSpPr/>
          <p:nvPr/>
        </p:nvSpPr>
        <p:spPr>
          <a:xfrm>
            <a:off x="1614960" y="2184840"/>
            <a:ext cx="909720" cy="2556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Classification</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a:t>
            </a:r>
            <a:endParaRPr b="0" i="0" sz="800" u="none" cap="none" strike="noStrike">
              <a:latin typeface="Arial"/>
              <a:ea typeface="Arial"/>
              <a:cs typeface="Arial"/>
              <a:sym typeface="Arial"/>
            </a:endParaRPr>
          </a:p>
        </p:txBody>
      </p:sp>
      <p:sp>
        <p:nvSpPr>
          <p:cNvPr id="1280" name="Google Shape;1280;p182"/>
          <p:cNvSpPr/>
          <p:nvPr/>
        </p:nvSpPr>
        <p:spPr>
          <a:xfrm rot="5400000">
            <a:off x="2027880" y="2539440"/>
            <a:ext cx="147600" cy="59040"/>
          </a:xfrm>
          <a:prstGeom prst="lef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82"/>
          <p:cNvSpPr/>
          <p:nvPr/>
        </p:nvSpPr>
        <p:spPr>
          <a:xfrm>
            <a:off x="6580800" y="28285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82"/>
          <p:cNvSpPr/>
          <p:nvPr/>
        </p:nvSpPr>
        <p:spPr>
          <a:xfrm rot="10800000">
            <a:off x="6580800" y="29221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82"/>
          <p:cNvSpPr/>
          <p:nvPr/>
        </p:nvSpPr>
        <p:spPr>
          <a:xfrm rot="5400000">
            <a:off x="1703160" y="1929960"/>
            <a:ext cx="368640" cy="59040"/>
          </a:xfrm>
          <a:prstGeom prst="rightArrow">
            <a:avLst>
              <a:gd fmla="val 50000" name="adj1"/>
              <a:gd fmla="val 50000" name="adj2"/>
            </a:avLst>
          </a:prstGeom>
          <a:solidFill>
            <a:srgbClr val="7F7F7F"/>
          </a:solidFill>
          <a:ln cap="flat" cmpd="sng" w="19075">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82"/>
          <p:cNvSpPr/>
          <p:nvPr/>
        </p:nvSpPr>
        <p:spPr>
          <a:xfrm rot="-5400000">
            <a:off x="2102400" y="1922400"/>
            <a:ext cx="368640" cy="59040"/>
          </a:xfrm>
          <a:prstGeom prst="rightArrow">
            <a:avLst>
              <a:gd fmla="val 50000" name="adj1"/>
              <a:gd fmla="val 50000" name="adj2"/>
            </a:avLst>
          </a:prstGeom>
          <a:solidFill>
            <a:srgbClr val="7F7F7F"/>
          </a:solidFill>
          <a:ln cap="flat" cmpd="sng" w="19075">
            <a:solidFill>
              <a:srgbClr val="7F7F7F"/>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1300" u="none" cap="none" strike="noStrike">
                <a:solidFill>
                  <a:srgbClr val="FFFFFF"/>
                </a:solidFill>
                <a:latin typeface="Calibri"/>
                <a:ea typeface="Calibri"/>
                <a:cs typeface="Calibri"/>
                <a:sym typeface="Calibri"/>
              </a:rPr>
              <a:t>`</a:t>
            </a:r>
            <a:endParaRPr b="0" i="0" sz="1300" u="none" cap="none" strike="noStrike">
              <a:latin typeface="Arial"/>
              <a:ea typeface="Arial"/>
              <a:cs typeface="Arial"/>
              <a:sym typeface="Arial"/>
            </a:endParaRPr>
          </a:p>
        </p:txBody>
      </p:sp>
      <p:sp>
        <p:nvSpPr>
          <p:cNvPr id="1285" name="Google Shape;1285;p182"/>
          <p:cNvSpPr/>
          <p:nvPr/>
        </p:nvSpPr>
        <p:spPr>
          <a:xfrm>
            <a:off x="1616400" y="269712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Integration</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cxnSp>
        <p:nvCxnSpPr>
          <p:cNvPr id="1286" name="Google Shape;1286;p182"/>
          <p:cNvCxnSpPr/>
          <p:nvPr/>
        </p:nvCxnSpPr>
        <p:spPr>
          <a:xfrm flipH="1" rot="10800000">
            <a:off x="2526480" y="2295060"/>
            <a:ext cx="725100" cy="543900"/>
          </a:xfrm>
          <a:prstGeom prst="bentConnector2">
            <a:avLst/>
          </a:prstGeom>
          <a:noFill/>
          <a:ln cap="flat" cmpd="sng" w="19075">
            <a:solidFill>
              <a:srgbClr val="7F7F7F"/>
            </a:solidFill>
            <a:prstDash val="solid"/>
            <a:miter lim="8000"/>
            <a:headEnd len="med" w="med" type="triangle"/>
            <a:tailEnd len="med" w="med" type="triangle"/>
          </a:ln>
        </p:spPr>
      </p:cxnSp>
      <p:sp>
        <p:nvSpPr>
          <p:cNvPr id="1287" name="Google Shape;1287;p182"/>
          <p:cNvSpPr/>
          <p:nvPr/>
        </p:nvSpPr>
        <p:spPr>
          <a:xfrm>
            <a:off x="8185320" y="2262240"/>
            <a:ext cx="695520" cy="107928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Consumers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(human &amp; machine)</a:t>
            </a:r>
            <a:endParaRPr b="0" i="0" sz="800" u="none" cap="none" strike="noStrike">
              <a:latin typeface="Arial"/>
              <a:ea typeface="Arial"/>
              <a:cs typeface="Arial"/>
              <a:sym typeface="Arial"/>
            </a:endParaRPr>
          </a:p>
        </p:txBody>
      </p:sp>
      <p:sp>
        <p:nvSpPr>
          <p:cNvPr id="1288" name="Google Shape;1288;p182"/>
          <p:cNvSpPr/>
          <p:nvPr/>
        </p:nvSpPr>
        <p:spPr>
          <a:xfrm>
            <a:off x="1378080" y="28335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82"/>
          <p:cNvSpPr/>
          <p:nvPr/>
        </p:nvSpPr>
        <p:spPr>
          <a:xfrm rot="10800000">
            <a:off x="1378080" y="292680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182"/>
          <p:cNvGrpSpPr/>
          <p:nvPr/>
        </p:nvGrpSpPr>
        <p:grpSpPr>
          <a:xfrm>
            <a:off x="7194600" y="2476080"/>
            <a:ext cx="162000" cy="147960"/>
            <a:chOff x="7194600" y="2476080"/>
            <a:chExt cx="162000" cy="147960"/>
          </a:xfrm>
        </p:grpSpPr>
        <p:sp>
          <p:nvSpPr>
            <p:cNvPr id="1291" name="Google Shape;1291;p182"/>
            <p:cNvSpPr/>
            <p:nvPr/>
          </p:nvSpPr>
          <p:spPr>
            <a:xfrm rot="-5400000">
              <a:off x="7150320" y="252072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82"/>
            <p:cNvSpPr/>
            <p:nvPr/>
          </p:nvSpPr>
          <p:spPr>
            <a:xfrm rot="5400000">
              <a:off x="7253280" y="252036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3" name="Google Shape;1293;p182"/>
          <p:cNvSpPr/>
          <p:nvPr/>
        </p:nvSpPr>
        <p:spPr>
          <a:xfrm>
            <a:off x="1614960" y="1494720"/>
            <a:ext cx="909720" cy="2556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Profiling</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a:t>
            </a:r>
            <a:endParaRPr b="0" i="0" sz="800" u="none" cap="none" strike="noStrike">
              <a:latin typeface="Arial"/>
              <a:ea typeface="Arial"/>
              <a:cs typeface="Arial"/>
              <a:sym typeface="Arial"/>
            </a:endParaRPr>
          </a:p>
        </p:txBody>
      </p:sp>
      <p:sp>
        <p:nvSpPr>
          <p:cNvPr id="1294" name="Google Shape;1294;p182"/>
          <p:cNvSpPr/>
          <p:nvPr/>
        </p:nvSpPr>
        <p:spPr>
          <a:xfrm>
            <a:off x="2796480" y="1494720"/>
            <a:ext cx="909720" cy="2556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Enrichment</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a:t>
            </a:r>
            <a:endParaRPr b="0" i="0" sz="800" u="none" cap="none" strike="noStrike">
              <a:latin typeface="Arial"/>
              <a:ea typeface="Arial"/>
              <a:cs typeface="Arial"/>
              <a:sym typeface="Arial"/>
            </a:endParaRPr>
          </a:p>
        </p:txBody>
      </p:sp>
      <p:sp>
        <p:nvSpPr>
          <p:cNvPr id="1295" name="Google Shape;1295;p182"/>
          <p:cNvSpPr/>
          <p:nvPr/>
        </p:nvSpPr>
        <p:spPr>
          <a:xfrm rot="10800000">
            <a:off x="2588400" y="1586520"/>
            <a:ext cx="144720" cy="60120"/>
          </a:xfrm>
          <a:prstGeom prst="lef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82"/>
          <p:cNvSpPr/>
          <p:nvPr/>
        </p:nvSpPr>
        <p:spPr>
          <a:xfrm>
            <a:off x="1105560" y="350784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Transformation</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97" name="Google Shape;1297;p182"/>
          <p:cNvSpPr/>
          <p:nvPr/>
        </p:nvSpPr>
        <p:spPr>
          <a:xfrm>
            <a:off x="2247840" y="350784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Quality Profiling</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98" name="Google Shape;1298;p182"/>
          <p:cNvSpPr/>
          <p:nvPr/>
        </p:nvSpPr>
        <p:spPr>
          <a:xfrm>
            <a:off x="5565240" y="334296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Analytic Agents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299" name="Google Shape;1299;p182"/>
          <p:cNvSpPr/>
          <p:nvPr/>
        </p:nvSpPr>
        <p:spPr>
          <a:xfrm>
            <a:off x="2053440" y="36529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82"/>
          <p:cNvSpPr/>
          <p:nvPr/>
        </p:nvSpPr>
        <p:spPr>
          <a:xfrm rot="10800000">
            <a:off x="2053440" y="37465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1" name="Google Shape;1301;p182"/>
          <p:cNvGrpSpPr/>
          <p:nvPr/>
        </p:nvGrpSpPr>
        <p:grpSpPr>
          <a:xfrm>
            <a:off x="2020680" y="3222360"/>
            <a:ext cx="162000" cy="147960"/>
            <a:chOff x="2020680" y="3222360"/>
            <a:chExt cx="162000" cy="147960"/>
          </a:xfrm>
        </p:grpSpPr>
        <p:sp>
          <p:nvSpPr>
            <p:cNvPr id="1302" name="Google Shape;1302;p182"/>
            <p:cNvSpPr/>
            <p:nvPr/>
          </p:nvSpPr>
          <p:spPr>
            <a:xfrm rot="-5400000">
              <a:off x="1976400" y="326700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82"/>
            <p:cNvSpPr/>
            <p:nvPr/>
          </p:nvSpPr>
          <p:spPr>
            <a:xfrm rot="5400000">
              <a:off x="2079360" y="326664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4" name="Google Shape;1304;p182"/>
          <p:cNvSpPr/>
          <p:nvPr/>
        </p:nvSpPr>
        <p:spPr>
          <a:xfrm>
            <a:off x="6475320" y="1219680"/>
            <a:ext cx="822960" cy="403200"/>
          </a:xfrm>
          <a:prstGeom prst="roundRect">
            <a:avLst>
              <a:gd fmla="val 0" name="adj"/>
            </a:avLst>
          </a:prstGeom>
          <a:solidFill>
            <a:srgbClr val="E06666"/>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Auditing &amp; Instrumentation</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Agents</a:t>
            </a:r>
            <a:endParaRPr b="0" i="0" sz="600" u="none" cap="none" strike="noStrike">
              <a:latin typeface="Arial"/>
              <a:ea typeface="Arial"/>
              <a:cs typeface="Arial"/>
              <a:sym typeface="Arial"/>
            </a:endParaRPr>
          </a:p>
        </p:txBody>
      </p:sp>
      <p:sp>
        <p:nvSpPr>
          <p:cNvPr id="1305" name="Google Shape;1305;p182"/>
          <p:cNvSpPr/>
          <p:nvPr/>
        </p:nvSpPr>
        <p:spPr>
          <a:xfrm>
            <a:off x="2978640" y="296748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Protection Agents</a:t>
            </a:r>
            <a:endParaRPr b="0" i="0" sz="800" u="none" cap="none" strike="noStrike">
              <a:latin typeface="Arial"/>
              <a:ea typeface="Arial"/>
              <a:cs typeface="Arial"/>
              <a:sym typeface="Arial"/>
            </a:endParaRPr>
          </a:p>
        </p:txBody>
      </p:sp>
      <p:sp>
        <p:nvSpPr>
          <p:cNvPr id="1306" name="Google Shape;1306;p182"/>
          <p:cNvSpPr/>
          <p:nvPr/>
        </p:nvSpPr>
        <p:spPr>
          <a:xfrm>
            <a:off x="6847200" y="334296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Explanatory</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307" name="Google Shape;1307;p182"/>
          <p:cNvSpPr/>
          <p:nvPr/>
        </p:nvSpPr>
        <p:spPr>
          <a:xfrm>
            <a:off x="6580800" y="345708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82"/>
          <p:cNvSpPr/>
          <p:nvPr/>
        </p:nvSpPr>
        <p:spPr>
          <a:xfrm rot="10800000">
            <a:off x="6580800" y="355068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9" name="Google Shape;1309;p182"/>
          <p:cNvGrpSpPr/>
          <p:nvPr/>
        </p:nvGrpSpPr>
        <p:grpSpPr>
          <a:xfrm>
            <a:off x="5932080" y="3165120"/>
            <a:ext cx="162000" cy="147960"/>
            <a:chOff x="5932080" y="3165120"/>
            <a:chExt cx="162000" cy="147960"/>
          </a:xfrm>
        </p:grpSpPr>
        <p:sp>
          <p:nvSpPr>
            <p:cNvPr id="1310" name="Google Shape;1310;p182"/>
            <p:cNvSpPr/>
            <p:nvPr/>
          </p:nvSpPr>
          <p:spPr>
            <a:xfrm rot="-5400000">
              <a:off x="5887800" y="320976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82"/>
            <p:cNvSpPr/>
            <p:nvPr/>
          </p:nvSpPr>
          <p:spPr>
            <a:xfrm rot="5400000">
              <a:off x="5990760" y="320940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182"/>
          <p:cNvGrpSpPr/>
          <p:nvPr/>
        </p:nvGrpSpPr>
        <p:grpSpPr>
          <a:xfrm>
            <a:off x="7202160" y="3165120"/>
            <a:ext cx="162000" cy="147960"/>
            <a:chOff x="7202160" y="3165120"/>
            <a:chExt cx="162000" cy="147960"/>
          </a:xfrm>
        </p:grpSpPr>
        <p:sp>
          <p:nvSpPr>
            <p:cNvPr id="1313" name="Google Shape;1313;p182"/>
            <p:cNvSpPr/>
            <p:nvPr/>
          </p:nvSpPr>
          <p:spPr>
            <a:xfrm rot="-5400000">
              <a:off x="7157880" y="320976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82"/>
            <p:cNvSpPr/>
            <p:nvPr/>
          </p:nvSpPr>
          <p:spPr>
            <a:xfrm rot="5400000">
              <a:off x="7260840" y="3209400"/>
              <a:ext cx="1476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5" name="Google Shape;1315;p182"/>
          <p:cNvSpPr/>
          <p:nvPr/>
        </p:nvSpPr>
        <p:spPr>
          <a:xfrm>
            <a:off x="7876080" y="28285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82"/>
          <p:cNvSpPr/>
          <p:nvPr/>
        </p:nvSpPr>
        <p:spPr>
          <a:xfrm rot="10800000">
            <a:off x="7876080" y="292212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82"/>
          <p:cNvSpPr txBox="1"/>
          <p:nvPr/>
        </p:nvSpPr>
        <p:spPr>
          <a:xfrm>
            <a:off x="457200" y="114480"/>
            <a:ext cx="7086240" cy="2520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Conceptual overview of Agent-Based Insights &amp; Governance</a:t>
            </a:r>
            <a:endParaRPr b="0" i="0" sz="1800" u="none" cap="none" strike="noStrike">
              <a:solidFill>
                <a:srgbClr val="000000"/>
              </a:solidFill>
              <a:latin typeface="Arial"/>
              <a:ea typeface="Arial"/>
              <a:cs typeface="Arial"/>
              <a:sym typeface="Arial"/>
            </a:endParaRPr>
          </a:p>
        </p:txBody>
      </p:sp>
      <p:sp>
        <p:nvSpPr>
          <p:cNvPr id="1318" name="Google Shape;1318;p182"/>
          <p:cNvSpPr/>
          <p:nvPr/>
        </p:nvSpPr>
        <p:spPr>
          <a:xfrm>
            <a:off x="2692800" y="27867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82"/>
          <p:cNvSpPr/>
          <p:nvPr/>
        </p:nvSpPr>
        <p:spPr>
          <a:xfrm rot="10800000">
            <a:off x="2692800" y="28803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82"/>
          <p:cNvSpPr/>
          <p:nvPr/>
        </p:nvSpPr>
        <p:spPr>
          <a:xfrm>
            <a:off x="2979000" y="242748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Identity &amp; Access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321" name="Google Shape;1321;p182"/>
          <p:cNvSpPr/>
          <p:nvPr/>
        </p:nvSpPr>
        <p:spPr>
          <a:xfrm>
            <a:off x="1104840" y="4041000"/>
            <a:ext cx="90972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Mastering</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322" name="Google Shape;1322;p182"/>
          <p:cNvSpPr/>
          <p:nvPr/>
        </p:nvSpPr>
        <p:spPr>
          <a:xfrm>
            <a:off x="6847200" y="633960"/>
            <a:ext cx="822960" cy="403200"/>
          </a:xfrm>
          <a:prstGeom prst="roundRect">
            <a:avLst>
              <a:gd fmla="val 0" name="adj"/>
            </a:avLst>
          </a:prstGeom>
          <a:solidFill>
            <a:srgbClr val="E06666"/>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Data Lineage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Agents</a:t>
            </a:r>
            <a:endParaRPr b="0" i="0" sz="600" u="none" cap="none" strike="noStrike">
              <a:latin typeface="Arial"/>
              <a:ea typeface="Arial"/>
              <a:cs typeface="Arial"/>
              <a:sym typeface="Arial"/>
            </a:endParaRPr>
          </a:p>
        </p:txBody>
      </p:sp>
      <p:sp>
        <p:nvSpPr>
          <p:cNvPr id="1323" name="Google Shape;1323;p182"/>
          <p:cNvSpPr/>
          <p:nvPr/>
        </p:nvSpPr>
        <p:spPr>
          <a:xfrm>
            <a:off x="7837560" y="633960"/>
            <a:ext cx="822960" cy="403200"/>
          </a:xfrm>
          <a:prstGeom prst="roundRect">
            <a:avLst>
              <a:gd fmla="val 0" name="adj"/>
            </a:avLst>
          </a:prstGeom>
          <a:solidFill>
            <a:srgbClr val="E06666"/>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Data Observability</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Agents</a:t>
            </a:r>
            <a:endParaRPr b="0" i="0" sz="600" u="none" cap="none" strike="noStrike">
              <a:latin typeface="Arial"/>
              <a:ea typeface="Arial"/>
              <a:cs typeface="Arial"/>
              <a:sym typeface="Arial"/>
            </a:endParaRPr>
          </a:p>
        </p:txBody>
      </p:sp>
      <p:sp>
        <p:nvSpPr>
          <p:cNvPr id="1324" name="Google Shape;1324;p182"/>
          <p:cNvSpPr/>
          <p:nvPr/>
        </p:nvSpPr>
        <p:spPr>
          <a:xfrm>
            <a:off x="4026240" y="27867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82"/>
          <p:cNvSpPr/>
          <p:nvPr/>
        </p:nvSpPr>
        <p:spPr>
          <a:xfrm rot="10800000">
            <a:off x="4026240" y="28803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6" name="Google Shape;1326;p182"/>
          <p:cNvGrpSpPr/>
          <p:nvPr/>
        </p:nvGrpSpPr>
        <p:grpSpPr>
          <a:xfrm>
            <a:off x="2438640" y="686880"/>
            <a:ext cx="1345320" cy="430560"/>
            <a:chOff x="2438640" y="686880"/>
            <a:chExt cx="1345320" cy="430560"/>
          </a:xfrm>
        </p:grpSpPr>
        <p:sp>
          <p:nvSpPr>
            <p:cNvPr id="1327" name="Google Shape;1327;p182"/>
            <p:cNvSpPr/>
            <p:nvPr/>
          </p:nvSpPr>
          <p:spPr>
            <a:xfrm>
              <a:off x="2438640" y="686880"/>
              <a:ext cx="1345320" cy="43056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t"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Domain Specific Ontologies</a:t>
              </a:r>
              <a:endParaRPr b="0" i="0" sz="800" u="none" cap="none" strike="noStrike">
                <a:latin typeface="Arial"/>
                <a:ea typeface="Arial"/>
                <a:cs typeface="Arial"/>
                <a:sym typeface="Arial"/>
              </a:endParaRPr>
            </a:p>
          </p:txBody>
        </p:sp>
        <p:pic>
          <p:nvPicPr>
            <p:cNvPr id="1328" name="Google Shape;1328;p182"/>
            <p:cNvPicPr preferRelativeResize="0"/>
            <p:nvPr/>
          </p:nvPicPr>
          <p:blipFill rotWithShape="1">
            <a:blip r:embed="rId3">
              <a:alphaModFix/>
            </a:blip>
            <a:srcRect b="0" l="0" r="0" t="0"/>
            <a:stretch/>
          </p:blipFill>
          <p:spPr>
            <a:xfrm>
              <a:off x="2572200" y="860040"/>
              <a:ext cx="309600" cy="209520"/>
            </a:xfrm>
            <a:prstGeom prst="rect">
              <a:avLst/>
            </a:prstGeom>
            <a:noFill/>
            <a:ln>
              <a:noFill/>
            </a:ln>
          </p:spPr>
        </p:pic>
        <p:pic>
          <p:nvPicPr>
            <p:cNvPr id="1329" name="Google Shape;1329;p182"/>
            <p:cNvPicPr preferRelativeResize="0"/>
            <p:nvPr/>
          </p:nvPicPr>
          <p:blipFill rotWithShape="1">
            <a:blip r:embed="rId4">
              <a:alphaModFix/>
            </a:blip>
            <a:srcRect b="0" l="0" r="0" t="0"/>
            <a:stretch/>
          </p:blipFill>
          <p:spPr>
            <a:xfrm>
              <a:off x="2999880" y="860040"/>
              <a:ext cx="291600" cy="209520"/>
            </a:xfrm>
            <a:prstGeom prst="rect">
              <a:avLst/>
            </a:prstGeom>
            <a:noFill/>
            <a:ln>
              <a:noFill/>
            </a:ln>
          </p:spPr>
        </p:pic>
        <p:pic>
          <p:nvPicPr>
            <p:cNvPr id="1330" name="Google Shape;1330;p182"/>
            <p:cNvPicPr preferRelativeResize="0"/>
            <p:nvPr/>
          </p:nvPicPr>
          <p:blipFill rotWithShape="1">
            <a:blip r:embed="rId5">
              <a:alphaModFix/>
            </a:blip>
            <a:srcRect b="0" l="0" r="0" t="0"/>
            <a:stretch/>
          </p:blipFill>
          <p:spPr>
            <a:xfrm>
              <a:off x="3412800" y="860040"/>
              <a:ext cx="291600" cy="209520"/>
            </a:xfrm>
            <a:prstGeom prst="rect">
              <a:avLst/>
            </a:prstGeom>
            <a:noFill/>
            <a:ln>
              <a:noFill/>
            </a:ln>
          </p:spPr>
        </p:pic>
      </p:grpSp>
      <p:sp>
        <p:nvSpPr>
          <p:cNvPr id="1331" name="Google Shape;1331;p182"/>
          <p:cNvSpPr/>
          <p:nvPr/>
        </p:nvSpPr>
        <p:spPr>
          <a:xfrm>
            <a:off x="4329720" y="633960"/>
            <a:ext cx="1134000" cy="42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Domain Specific KGs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(Knowledge Fabric)</a:t>
            </a:r>
            <a:endParaRPr b="0" i="0" sz="800" u="none" cap="none" strike="noStrike">
              <a:latin typeface="Arial"/>
              <a:ea typeface="Arial"/>
              <a:cs typeface="Arial"/>
              <a:sym typeface="Arial"/>
            </a:endParaRPr>
          </a:p>
        </p:txBody>
      </p:sp>
      <p:pic>
        <p:nvPicPr>
          <p:cNvPr id="1332" name="Google Shape;1332;p182"/>
          <p:cNvPicPr preferRelativeResize="0"/>
          <p:nvPr/>
        </p:nvPicPr>
        <p:blipFill rotWithShape="1">
          <a:blip r:embed="rId6">
            <a:alphaModFix/>
          </a:blip>
          <a:srcRect b="0" l="0" r="0" t="0"/>
          <a:stretch/>
        </p:blipFill>
        <p:spPr>
          <a:xfrm>
            <a:off x="1545480" y="727200"/>
            <a:ext cx="334080" cy="286200"/>
          </a:xfrm>
          <a:prstGeom prst="rect">
            <a:avLst/>
          </a:prstGeom>
          <a:noFill/>
          <a:ln>
            <a:noFill/>
          </a:ln>
        </p:spPr>
      </p:pic>
      <p:grpSp>
        <p:nvGrpSpPr>
          <p:cNvPr id="1333" name="Google Shape;1333;p182"/>
          <p:cNvGrpSpPr/>
          <p:nvPr/>
        </p:nvGrpSpPr>
        <p:grpSpPr>
          <a:xfrm>
            <a:off x="4281480" y="1071360"/>
            <a:ext cx="1230480" cy="732240"/>
            <a:chOff x="4281480" y="1071360"/>
            <a:chExt cx="1230480" cy="732240"/>
          </a:xfrm>
        </p:grpSpPr>
        <p:pic>
          <p:nvPicPr>
            <p:cNvPr id="1334" name="Google Shape;1334;p182"/>
            <p:cNvPicPr preferRelativeResize="0"/>
            <p:nvPr/>
          </p:nvPicPr>
          <p:blipFill rotWithShape="1">
            <a:blip r:embed="rId7">
              <a:alphaModFix/>
            </a:blip>
            <a:srcRect b="0" l="0" r="0" t="0"/>
            <a:stretch/>
          </p:blipFill>
          <p:spPr>
            <a:xfrm>
              <a:off x="4748760" y="1508040"/>
              <a:ext cx="270360" cy="295560"/>
            </a:xfrm>
            <a:prstGeom prst="rect">
              <a:avLst/>
            </a:prstGeom>
            <a:noFill/>
            <a:ln>
              <a:noFill/>
            </a:ln>
          </p:spPr>
        </p:pic>
        <p:pic>
          <p:nvPicPr>
            <p:cNvPr id="1335" name="Google Shape;1335;p182"/>
            <p:cNvPicPr preferRelativeResize="0"/>
            <p:nvPr/>
          </p:nvPicPr>
          <p:blipFill rotWithShape="1">
            <a:blip r:embed="rId8">
              <a:alphaModFix/>
            </a:blip>
            <a:srcRect b="0" l="0" r="0" t="0"/>
            <a:stretch/>
          </p:blipFill>
          <p:spPr>
            <a:xfrm>
              <a:off x="4281480" y="1496520"/>
              <a:ext cx="270360" cy="295560"/>
            </a:xfrm>
            <a:prstGeom prst="rect">
              <a:avLst/>
            </a:prstGeom>
            <a:noFill/>
            <a:ln>
              <a:noFill/>
            </a:ln>
          </p:spPr>
        </p:pic>
        <p:pic>
          <p:nvPicPr>
            <p:cNvPr id="1336" name="Google Shape;1336;p182"/>
            <p:cNvPicPr preferRelativeResize="0"/>
            <p:nvPr/>
          </p:nvPicPr>
          <p:blipFill rotWithShape="1">
            <a:blip r:embed="rId9">
              <a:alphaModFix/>
            </a:blip>
            <a:srcRect b="0" l="0" r="0" t="0"/>
            <a:stretch/>
          </p:blipFill>
          <p:spPr>
            <a:xfrm>
              <a:off x="4748760" y="1071360"/>
              <a:ext cx="270360" cy="295560"/>
            </a:xfrm>
            <a:prstGeom prst="rect">
              <a:avLst/>
            </a:prstGeom>
            <a:noFill/>
            <a:ln>
              <a:noFill/>
            </a:ln>
          </p:spPr>
        </p:pic>
        <p:pic>
          <p:nvPicPr>
            <p:cNvPr id="1337" name="Google Shape;1337;p182"/>
            <p:cNvPicPr preferRelativeResize="0"/>
            <p:nvPr/>
          </p:nvPicPr>
          <p:blipFill rotWithShape="1">
            <a:blip r:embed="rId10">
              <a:alphaModFix/>
            </a:blip>
            <a:srcRect b="0" l="0" r="0" t="0"/>
            <a:stretch/>
          </p:blipFill>
          <p:spPr>
            <a:xfrm>
              <a:off x="5241600" y="1508040"/>
              <a:ext cx="270360" cy="295560"/>
            </a:xfrm>
            <a:prstGeom prst="rect">
              <a:avLst/>
            </a:prstGeom>
            <a:noFill/>
            <a:ln>
              <a:noFill/>
            </a:ln>
          </p:spPr>
        </p:pic>
        <p:sp>
          <p:nvSpPr>
            <p:cNvPr id="1338" name="Google Shape;1338;p182"/>
            <p:cNvSpPr/>
            <p:nvPr/>
          </p:nvSpPr>
          <p:spPr>
            <a:xfrm flipH="1">
              <a:off x="4415400" y="1367280"/>
              <a:ext cx="466920" cy="128520"/>
            </a:xfrm>
            <a:custGeom>
              <a:rect b="b" l="l" r="r" t="t"/>
              <a:pathLst>
                <a:path extrusionOk="0" h="21600" w="21600">
                  <a:moveTo>
                    <a:pt x="0" y="0"/>
                  </a:moveTo>
                  <a:lnTo>
                    <a:pt x="21600" y="21600"/>
                  </a:lnTo>
                </a:path>
              </a:pathLst>
            </a:custGeom>
            <a:noFill/>
            <a:ln cap="flat" cmpd="sng" w="9525">
              <a:solidFill>
                <a:srgbClr val="A5A5A5"/>
              </a:solidFill>
              <a:prstDash val="solid"/>
              <a:round/>
              <a:headEnd len="sm" w="sm" type="none"/>
              <a:tailEnd len="sm" w="sm" type="none"/>
            </a:ln>
          </p:spPr>
        </p:sp>
        <p:sp>
          <p:nvSpPr>
            <p:cNvPr id="1339" name="Google Shape;1339;p182"/>
            <p:cNvSpPr/>
            <p:nvPr/>
          </p:nvSpPr>
          <p:spPr>
            <a:xfrm>
              <a:off x="4884120" y="1367280"/>
              <a:ext cx="360" cy="140040"/>
            </a:xfrm>
            <a:custGeom>
              <a:rect b="b" l="l" r="r" t="t"/>
              <a:pathLst>
                <a:path extrusionOk="0" h="21600" w="21600">
                  <a:moveTo>
                    <a:pt x="0" y="0"/>
                  </a:moveTo>
                  <a:lnTo>
                    <a:pt x="21600" y="21600"/>
                  </a:lnTo>
                </a:path>
              </a:pathLst>
            </a:custGeom>
            <a:noFill/>
            <a:ln cap="flat" cmpd="sng" w="9525">
              <a:solidFill>
                <a:srgbClr val="A5A5A5"/>
              </a:solidFill>
              <a:prstDash val="solid"/>
              <a:round/>
              <a:headEnd len="sm" w="sm" type="none"/>
              <a:tailEnd len="sm" w="sm" type="none"/>
            </a:ln>
          </p:spPr>
        </p:sp>
        <p:sp>
          <p:nvSpPr>
            <p:cNvPr id="1340" name="Google Shape;1340;p182"/>
            <p:cNvSpPr/>
            <p:nvPr/>
          </p:nvSpPr>
          <p:spPr>
            <a:xfrm>
              <a:off x="4884120" y="1367280"/>
              <a:ext cx="492480" cy="140040"/>
            </a:xfrm>
            <a:custGeom>
              <a:rect b="b" l="l" r="r" t="t"/>
              <a:pathLst>
                <a:path extrusionOk="0" h="21600" w="21600">
                  <a:moveTo>
                    <a:pt x="0" y="0"/>
                  </a:moveTo>
                  <a:lnTo>
                    <a:pt x="21600" y="21600"/>
                  </a:lnTo>
                </a:path>
              </a:pathLst>
            </a:custGeom>
            <a:noFill/>
            <a:ln cap="flat" cmpd="sng" w="9525">
              <a:solidFill>
                <a:srgbClr val="A5A5A5"/>
              </a:solidFill>
              <a:prstDash val="solid"/>
              <a:round/>
              <a:headEnd len="sm" w="sm" type="none"/>
              <a:tailEnd len="sm" w="sm" type="none"/>
            </a:ln>
          </p:spPr>
        </p:sp>
      </p:grpSp>
      <p:sp>
        <p:nvSpPr>
          <p:cNvPr id="1341" name="Google Shape;1341;p182"/>
          <p:cNvSpPr/>
          <p:nvPr/>
        </p:nvSpPr>
        <p:spPr>
          <a:xfrm>
            <a:off x="7476840" y="1219680"/>
            <a:ext cx="822960" cy="403200"/>
          </a:xfrm>
          <a:prstGeom prst="roundRect">
            <a:avLst>
              <a:gd fmla="val 0" name="adj"/>
            </a:avLst>
          </a:prstGeom>
          <a:solidFill>
            <a:srgbClr val="E06666"/>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Change Data Capture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FFFFFF"/>
                </a:solidFill>
                <a:latin typeface="Calibri"/>
                <a:ea typeface="Calibri"/>
                <a:cs typeface="Calibri"/>
                <a:sym typeface="Calibri"/>
              </a:rPr>
              <a:t>Agents</a:t>
            </a:r>
            <a:endParaRPr b="0" i="0" sz="600" u="none" cap="none" strike="noStrike">
              <a:latin typeface="Arial"/>
              <a:ea typeface="Arial"/>
              <a:cs typeface="Arial"/>
              <a:sym typeface="Arial"/>
            </a:endParaRPr>
          </a:p>
        </p:txBody>
      </p:sp>
      <p:sp>
        <p:nvSpPr>
          <p:cNvPr id="1342" name="Google Shape;1342;p182"/>
          <p:cNvSpPr/>
          <p:nvPr/>
        </p:nvSpPr>
        <p:spPr>
          <a:xfrm>
            <a:off x="4283280" y="2692800"/>
            <a:ext cx="968400" cy="403200"/>
          </a:xfrm>
          <a:prstGeom prst="roundRect">
            <a:avLst>
              <a:gd fmla="val 0" name="adj"/>
            </a:avLst>
          </a:prstGeom>
          <a:solidFill>
            <a:srgbClr val="D8DADA"/>
          </a:solidFill>
          <a:ln cap="flat" cmpd="sng" w="12600">
            <a:solidFill>
              <a:srgbClr val="000000"/>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Data &amp; Component Assembly</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Calibri"/>
                <a:ea typeface="Calibri"/>
                <a:cs typeface="Calibri"/>
                <a:sym typeface="Calibri"/>
              </a:rPr>
              <a:t>Agents</a:t>
            </a:r>
            <a:endParaRPr b="0" i="0" sz="800" u="none" cap="none" strike="noStrike">
              <a:latin typeface="Arial"/>
              <a:ea typeface="Arial"/>
              <a:cs typeface="Arial"/>
              <a:sym typeface="Arial"/>
            </a:endParaRPr>
          </a:p>
        </p:txBody>
      </p:sp>
      <p:sp>
        <p:nvSpPr>
          <p:cNvPr id="1343" name="Google Shape;1343;p182"/>
          <p:cNvSpPr/>
          <p:nvPr/>
        </p:nvSpPr>
        <p:spPr>
          <a:xfrm>
            <a:off x="5327280" y="27867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82"/>
          <p:cNvSpPr/>
          <p:nvPr/>
        </p:nvSpPr>
        <p:spPr>
          <a:xfrm rot="10800000">
            <a:off x="5327280" y="2880360"/>
            <a:ext cx="162720" cy="536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82"/>
          <p:cNvSpPr/>
          <p:nvPr/>
        </p:nvSpPr>
        <p:spPr>
          <a:xfrm>
            <a:off x="2067480" y="82440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82"/>
          <p:cNvSpPr/>
          <p:nvPr/>
        </p:nvSpPr>
        <p:spPr>
          <a:xfrm>
            <a:off x="5672520" y="145728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82"/>
          <p:cNvSpPr/>
          <p:nvPr/>
        </p:nvSpPr>
        <p:spPr>
          <a:xfrm rot="2553600">
            <a:off x="5497920" y="188352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82"/>
          <p:cNvSpPr/>
          <p:nvPr/>
        </p:nvSpPr>
        <p:spPr>
          <a:xfrm rot="5400000">
            <a:off x="4767480" y="200628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82"/>
          <p:cNvSpPr/>
          <p:nvPr/>
        </p:nvSpPr>
        <p:spPr>
          <a:xfrm rot="7663200">
            <a:off x="4028400" y="188388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82"/>
          <p:cNvSpPr/>
          <p:nvPr/>
        </p:nvSpPr>
        <p:spPr>
          <a:xfrm rot="10795800">
            <a:off x="3908880" y="1495080"/>
            <a:ext cx="259200" cy="59040"/>
          </a:xfrm>
          <a:prstGeom prst="rightArrow">
            <a:avLst>
              <a:gd fmla="val 50000" name="adj1"/>
              <a:gd fmla="val 50000" name="adj2"/>
            </a:avLst>
          </a:prstGeom>
          <a:solidFill>
            <a:srgbClr val="7F7F7F"/>
          </a:solidFill>
          <a:ln cap="flat" cmpd="sng" w="12600">
            <a:solidFill>
              <a:srgbClr val="7F7F7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1" name="Google Shape;1351;p182"/>
          <p:cNvGrpSpPr/>
          <p:nvPr/>
        </p:nvGrpSpPr>
        <p:grpSpPr>
          <a:xfrm>
            <a:off x="8549640" y="0"/>
            <a:ext cx="594000" cy="679680"/>
            <a:chOff x="8549640" y="0"/>
            <a:chExt cx="594000" cy="679680"/>
          </a:xfrm>
        </p:grpSpPr>
        <p:sp>
          <p:nvSpPr>
            <p:cNvPr id="1352" name="Google Shape;1352;p18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3" name="Google Shape;1353;p182"/>
            <p:cNvGrpSpPr/>
            <p:nvPr/>
          </p:nvGrpSpPr>
          <p:grpSpPr>
            <a:xfrm>
              <a:off x="8588160" y="0"/>
              <a:ext cx="555480" cy="679680"/>
              <a:chOff x="8588160" y="0"/>
              <a:chExt cx="555480" cy="679680"/>
            </a:xfrm>
          </p:grpSpPr>
          <p:pic>
            <p:nvPicPr>
              <p:cNvPr id="1354" name="Google Shape;1354;p182"/>
              <p:cNvPicPr preferRelativeResize="0"/>
              <p:nvPr/>
            </p:nvPicPr>
            <p:blipFill rotWithShape="1">
              <a:blip r:embed="rId11">
                <a:alphaModFix/>
              </a:blip>
              <a:srcRect b="0" l="20669" r="9844" t="0"/>
              <a:stretch/>
            </p:blipFill>
            <p:spPr>
              <a:xfrm>
                <a:off x="8588160" y="0"/>
                <a:ext cx="530640" cy="530640"/>
              </a:xfrm>
              <a:prstGeom prst="rect">
                <a:avLst/>
              </a:prstGeom>
              <a:noFill/>
              <a:ln>
                <a:noFill/>
              </a:ln>
            </p:spPr>
          </p:pic>
          <p:sp>
            <p:nvSpPr>
              <p:cNvPr id="1355" name="Google Shape;1355;p18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83"/>
          <p:cNvSpPr txBox="1"/>
          <p:nvPr/>
        </p:nvSpPr>
        <p:spPr>
          <a:xfrm>
            <a:off x="509400" y="108720"/>
            <a:ext cx="6171840" cy="29484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Integrating AI + LLMs with Knowledge Graphs</a:t>
            </a:r>
            <a:endParaRPr b="0" i="0" sz="1800" u="none" cap="none" strike="noStrike">
              <a:solidFill>
                <a:srgbClr val="000000"/>
              </a:solidFill>
              <a:latin typeface="Arial"/>
              <a:ea typeface="Arial"/>
              <a:cs typeface="Arial"/>
              <a:sym typeface="Arial"/>
            </a:endParaRPr>
          </a:p>
        </p:txBody>
      </p:sp>
      <p:sp>
        <p:nvSpPr>
          <p:cNvPr id="1361" name="Google Shape;1361;p183"/>
          <p:cNvSpPr/>
          <p:nvPr/>
        </p:nvSpPr>
        <p:spPr>
          <a:xfrm>
            <a:off x="457200" y="731520"/>
            <a:ext cx="8229240" cy="3759480"/>
          </a:xfrm>
          <a:prstGeom prst="rect">
            <a:avLst/>
          </a:prstGeom>
          <a:noFill/>
          <a:ln>
            <a:noFill/>
          </a:ln>
        </p:spPr>
        <p:txBody>
          <a:bodyPr anchorCtr="0" anchor="t" bIns="68400" lIns="68400" spcFirstLastPara="1" rIns="68400" wrap="square" tIns="68400">
            <a:noAutofit/>
          </a:bodyPr>
          <a:lstStyle/>
          <a:p>
            <a:pPr indent="0" lvl="0" marL="0" marR="0" rtl="0" algn="l">
              <a:lnSpc>
                <a:spcPct val="100000"/>
              </a:lnSpc>
              <a:spcBef>
                <a:spcPts val="0"/>
              </a:spcBef>
              <a:spcAft>
                <a:spcPts val="0"/>
              </a:spcAft>
              <a:buNone/>
            </a:pPr>
            <a:r>
              <a:rPr b="0" i="0" lang="en-US" sz="1400" u="none" cap="none" strike="noStrike">
                <a:solidFill>
                  <a:srgbClr val="242424"/>
                </a:solidFill>
                <a:latin typeface="Arial"/>
                <a:ea typeface="Arial"/>
                <a:cs typeface="Arial"/>
                <a:sym typeface="Arial"/>
              </a:rPr>
              <a:t>The semantic layer maps all digital assets to more easily identify, search, assemble, provision, and protect them. It also provides a progressive roadmap for analysis, queries, and delivering self-service analytics and explanatory responses to complex questions agnostic of any interface (Executive Interface, Conversational Interface  - Slack, and Analytic Interface via one or more BI Tools).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242424"/>
                </a:solidFill>
                <a:latin typeface="Arial"/>
                <a:ea typeface="Arial"/>
                <a:cs typeface="Arial"/>
                <a:sym typeface="Arial"/>
              </a:rPr>
              <a:t>The semantic layer can detect conflicts in definitions, duplicate meanings, across systems and trigger alerts for consumers and even suggest remedies.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242424"/>
                </a:solidFill>
                <a:latin typeface="Arial"/>
                <a:ea typeface="Arial"/>
                <a:cs typeface="Arial"/>
                <a:sym typeface="Arial"/>
              </a:rPr>
              <a:t>The semantic layer is the “</a:t>
            </a:r>
            <a:r>
              <a:rPr b="1" i="0" lang="en-US" sz="1400" u="none" cap="none" strike="noStrike">
                <a:solidFill>
                  <a:srgbClr val="980000"/>
                </a:solidFill>
                <a:latin typeface="Arial"/>
                <a:ea typeface="Arial"/>
                <a:cs typeface="Arial"/>
                <a:sym typeface="Arial"/>
              </a:rPr>
              <a:t>expert in the middle</a:t>
            </a:r>
            <a:r>
              <a:rPr b="0" i="0" lang="en-US" sz="1400" u="none" cap="none" strike="noStrike">
                <a:solidFill>
                  <a:srgbClr val="242424"/>
                </a:solidFill>
                <a:latin typeface="Arial"/>
                <a:ea typeface="Arial"/>
                <a:cs typeface="Arial"/>
                <a:sym typeface="Arial"/>
              </a:rPr>
              <a:t>” that understands the query and the data who can resolve ambiguity and can promote the consumer for clarification. Implementing generative AI tools and LLM is problematic and can lead to spurious results without a semantic layer to address ambiguity and provide consistent meaning at scale.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242424"/>
                </a:solidFill>
                <a:latin typeface="Arial"/>
                <a:ea typeface="Arial"/>
                <a:cs typeface="Arial"/>
                <a:sym typeface="Arial"/>
              </a:rPr>
              <a:t>Soon, we will be able to introduce retrieval augmented generation (</a:t>
            </a:r>
            <a:r>
              <a:rPr b="1" i="0" lang="en-US" sz="1400" u="none" cap="none" strike="noStrike">
                <a:solidFill>
                  <a:srgbClr val="747676"/>
                </a:solidFill>
                <a:latin typeface="Arial"/>
                <a:ea typeface="Arial"/>
                <a:cs typeface="Arial"/>
                <a:sym typeface="Arial"/>
              </a:rPr>
              <a:t>RAG</a:t>
            </a:r>
            <a:r>
              <a:rPr b="0" i="0" lang="en-US" sz="1400" u="none" cap="none" strike="noStrike">
                <a:solidFill>
                  <a:srgbClr val="242424"/>
                </a:solidFill>
                <a:latin typeface="Arial"/>
                <a:ea typeface="Arial"/>
                <a:cs typeface="Arial"/>
                <a:sym typeface="Arial"/>
              </a:rPr>
              <a:t>) using Knowledge Graphs to support LLMs to improve accuracy. The semantic layer provides a highly accurate foundation for curating and training our Custom LLMs and SLMs (smaller, domain-specific) and significantly reduce the likelihood of hallucinations.  </a:t>
            </a:r>
            <a:endParaRPr b="0" i="0" sz="1400" u="none" cap="none" strike="noStrike">
              <a:latin typeface="Arial"/>
              <a:ea typeface="Arial"/>
              <a:cs typeface="Arial"/>
              <a:sym typeface="Arial"/>
            </a:endParaRPr>
          </a:p>
        </p:txBody>
      </p:sp>
      <p:grpSp>
        <p:nvGrpSpPr>
          <p:cNvPr id="1362" name="Google Shape;1362;p183"/>
          <p:cNvGrpSpPr/>
          <p:nvPr/>
        </p:nvGrpSpPr>
        <p:grpSpPr>
          <a:xfrm>
            <a:off x="8549640" y="0"/>
            <a:ext cx="594000" cy="679680"/>
            <a:chOff x="8549640" y="0"/>
            <a:chExt cx="594000" cy="679680"/>
          </a:xfrm>
        </p:grpSpPr>
        <p:sp>
          <p:nvSpPr>
            <p:cNvPr id="1363" name="Google Shape;1363;p183"/>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4" name="Google Shape;1364;p183"/>
            <p:cNvGrpSpPr/>
            <p:nvPr/>
          </p:nvGrpSpPr>
          <p:grpSpPr>
            <a:xfrm>
              <a:off x="8588160" y="0"/>
              <a:ext cx="555480" cy="679680"/>
              <a:chOff x="8588160" y="0"/>
              <a:chExt cx="555480" cy="679680"/>
            </a:xfrm>
          </p:grpSpPr>
          <p:pic>
            <p:nvPicPr>
              <p:cNvPr id="1365" name="Google Shape;1365;p183"/>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366" name="Google Shape;1366;p183"/>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84"/>
          <p:cNvSpPr/>
          <p:nvPr/>
        </p:nvSpPr>
        <p:spPr>
          <a:xfrm flipH="1">
            <a:off x="3982320" y="1251360"/>
            <a:ext cx="243360" cy="78372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sp>
        <p:nvSpPr>
          <p:cNvPr id="1372" name="Google Shape;1372;p184"/>
          <p:cNvSpPr txBox="1"/>
          <p:nvPr/>
        </p:nvSpPr>
        <p:spPr>
          <a:xfrm>
            <a:off x="457200" y="113400"/>
            <a:ext cx="8229240" cy="2952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Layer Role in the Ecosystem </a:t>
            </a:r>
            <a:endParaRPr b="0" i="0" sz="2000" u="none" cap="none" strike="noStrike">
              <a:solidFill>
                <a:srgbClr val="000000"/>
              </a:solidFill>
              <a:latin typeface="Arial"/>
              <a:ea typeface="Arial"/>
              <a:cs typeface="Arial"/>
              <a:sym typeface="Arial"/>
            </a:endParaRPr>
          </a:p>
        </p:txBody>
      </p:sp>
      <p:sp>
        <p:nvSpPr>
          <p:cNvPr id="1373" name="Google Shape;1373;p184"/>
          <p:cNvSpPr/>
          <p:nvPr/>
        </p:nvSpPr>
        <p:spPr>
          <a:xfrm>
            <a:off x="738000" y="2766240"/>
            <a:ext cx="1618920" cy="91512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1VZ Data</a:t>
            </a:r>
            <a:endParaRPr b="0" i="0" sz="1100" u="none" cap="none" strike="noStrike">
              <a:latin typeface="Arial"/>
              <a:ea typeface="Arial"/>
              <a:cs typeface="Arial"/>
              <a:sym typeface="Arial"/>
            </a:endParaRPr>
          </a:p>
        </p:txBody>
      </p:sp>
      <p:sp>
        <p:nvSpPr>
          <p:cNvPr id="1374" name="Google Shape;1374;p184"/>
          <p:cNvSpPr/>
          <p:nvPr/>
        </p:nvSpPr>
        <p:spPr>
          <a:xfrm>
            <a:off x="683640" y="425412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375" name="Google Shape;1375;p184"/>
          <p:cNvSpPr/>
          <p:nvPr/>
        </p:nvSpPr>
        <p:spPr>
          <a:xfrm>
            <a:off x="1306080" y="407916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376" name="Google Shape;1376;p184"/>
          <p:cNvSpPr/>
          <p:nvPr/>
        </p:nvSpPr>
        <p:spPr>
          <a:xfrm>
            <a:off x="1922040" y="421740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377" name="Google Shape;1377;p184"/>
          <p:cNvSpPr/>
          <p:nvPr/>
        </p:nvSpPr>
        <p:spPr>
          <a:xfrm flipH="1" rot="10800000">
            <a:off x="2357640" y="3223800"/>
            <a:ext cx="815040" cy="365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78" name="Google Shape;1378;p184"/>
          <p:cNvSpPr/>
          <p:nvPr/>
        </p:nvSpPr>
        <p:spPr>
          <a:xfrm flipH="1" rot="10800000">
            <a:off x="925560" y="4254120"/>
            <a:ext cx="622080" cy="5724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79" name="Google Shape;1379;p184"/>
          <p:cNvSpPr/>
          <p:nvPr/>
        </p:nvSpPr>
        <p:spPr>
          <a:xfrm rot="10800000">
            <a:off x="1547280" y="3682080"/>
            <a:ext cx="360" cy="3970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80" name="Google Shape;1380;p184"/>
          <p:cNvSpPr/>
          <p:nvPr/>
        </p:nvSpPr>
        <p:spPr>
          <a:xfrm rot="10800000">
            <a:off x="1548000" y="3681720"/>
            <a:ext cx="615960" cy="5356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81" name="Google Shape;1381;p184"/>
          <p:cNvSpPr/>
          <p:nvPr/>
        </p:nvSpPr>
        <p:spPr>
          <a:xfrm>
            <a:off x="4226040" y="1251360"/>
            <a:ext cx="2059920" cy="67032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sp>
        <p:nvSpPr>
          <p:cNvPr id="1382" name="Google Shape;1382;p184"/>
          <p:cNvSpPr/>
          <p:nvPr/>
        </p:nvSpPr>
        <p:spPr>
          <a:xfrm>
            <a:off x="1024200" y="1910520"/>
            <a:ext cx="1046160" cy="621720"/>
          </a:xfrm>
          <a:prstGeom prst="can">
            <a:avLst>
              <a:gd fmla="val 25000" name="adj"/>
            </a:avLst>
          </a:prstGeom>
          <a:solidFill>
            <a:srgbClr val="E6B8A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Virtual Catalog</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(RDF Store)</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EE0000"/>
                </a:solidFill>
                <a:latin typeface="Arial"/>
                <a:ea typeface="Arial"/>
                <a:cs typeface="Arial"/>
                <a:sym typeface="Arial"/>
              </a:rPr>
              <a:t>Unified Context</a:t>
            </a:r>
            <a:endParaRPr b="0" i="0" sz="800" u="none" cap="none" strike="noStrike">
              <a:latin typeface="Arial"/>
              <a:ea typeface="Arial"/>
              <a:cs typeface="Arial"/>
              <a:sym typeface="Arial"/>
            </a:endParaRPr>
          </a:p>
        </p:txBody>
      </p:sp>
      <p:sp>
        <p:nvSpPr>
          <p:cNvPr id="1383" name="Google Shape;1383;p184"/>
          <p:cNvSpPr/>
          <p:nvPr/>
        </p:nvSpPr>
        <p:spPr>
          <a:xfrm rot="10800000">
            <a:off x="1547280" y="2533320"/>
            <a:ext cx="360" cy="2329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84" name="Google Shape;1384;p184"/>
          <p:cNvSpPr/>
          <p:nvPr/>
        </p:nvSpPr>
        <p:spPr>
          <a:xfrm>
            <a:off x="1125000" y="543240"/>
            <a:ext cx="6201360" cy="708120"/>
          </a:xfrm>
          <a:prstGeom prst="roundRect">
            <a:avLst>
              <a:gd fmla="val 16667" name="adj"/>
            </a:avLst>
          </a:prstGeom>
          <a:solidFill>
            <a:srgbClr val="E6B8AF"/>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Semantic Layer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EE0000"/>
                </a:solidFill>
                <a:latin typeface="Arial"/>
                <a:ea typeface="Arial"/>
                <a:cs typeface="Arial"/>
                <a:sym typeface="Arial"/>
              </a:rPr>
              <a:t>Discover, Search, Unified Context</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666666"/>
                </a:solidFill>
                <a:latin typeface="Arial"/>
                <a:ea typeface="Arial"/>
                <a:cs typeface="Arial"/>
                <a:sym typeface="Arial"/>
              </a:rPr>
              <a:t>Unified Grounding (Causality)</a:t>
            </a:r>
            <a:endParaRPr b="0" i="0" sz="800" u="none" cap="none" strike="noStrike">
              <a:latin typeface="Arial"/>
              <a:ea typeface="Arial"/>
              <a:cs typeface="Arial"/>
              <a:sym typeface="Arial"/>
            </a:endParaRPr>
          </a:p>
        </p:txBody>
      </p:sp>
      <p:sp>
        <p:nvSpPr>
          <p:cNvPr id="1385" name="Google Shape;1385;p184"/>
          <p:cNvSpPr/>
          <p:nvPr/>
        </p:nvSpPr>
        <p:spPr>
          <a:xfrm>
            <a:off x="2070720" y="2221560"/>
            <a:ext cx="1101600" cy="6361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cxnSp>
        <p:nvCxnSpPr>
          <p:cNvPr id="1386" name="Google Shape;1386;p184"/>
          <p:cNvCxnSpPr/>
          <p:nvPr/>
        </p:nvCxnSpPr>
        <p:spPr>
          <a:xfrm rot="5400000">
            <a:off x="411150" y="1509030"/>
            <a:ext cx="1323600" cy="100500"/>
          </a:xfrm>
          <a:prstGeom prst="bentConnector3">
            <a:avLst>
              <a:gd fmla="val 0" name="adj1"/>
            </a:avLst>
          </a:prstGeom>
          <a:noFill/>
          <a:ln cap="flat" cmpd="sng" w="9525">
            <a:solidFill>
              <a:srgbClr val="CC4125"/>
            </a:solidFill>
            <a:prstDash val="dashDot"/>
            <a:round/>
            <a:headEnd len="med" w="med" type="triangle"/>
            <a:tailEnd len="sm" w="sm" type="none"/>
          </a:ln>
        </p:spPr>
      </p:cxnSp>
      <p:grpSp>
        <p:nvGrpSpPr>
          <p:cNvPr id="1387" name="Google Shape;1387;p184"/>
          <p:cNvGrpSpPr/>
          <p:nvPr/>
        </p:nvGrpSpPr>
        <p:grpSpPr>
          <a:xfrm>
            <a:off x="5608440" y="3256920"/>
            <a:ext cx="1355760" cy="619200"/>
            <a:chOff x="5608440" y="3256920"/>
            <a:chExt cx="1355760" cy="619200"/>
          </a:xfrm>
        </p:grpSpPr>
        <p:sp>
          <p:nvSpPr>
            <p:cNvPr id="1388" name="Google Shape;1388;p184"/>
            <p:cNvSpPr/>
            <p:nvPr/>
          </p:nvSpPr>
          <p:spPr>
            <a:xfrm>
              <a:off x="5608440" y="3256920"/>
              <a:ext cx="1355760" cy="61920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AI</a:t>
              </a:r>
              <a:endParaRPr b="0" i="0" sz="1100" u="none" cap="none" strike="noStrike">
                <a:latin typeface="Arial"/>
                <a:ea typeface="Arial"/>
                <a:cs typeface="Arial"/>
                <a:sym typeface="Arial"/>
              </a:endParaRPr>
            </a:p>
          </p:txBody>
        </p:sp>
        <p:sp>
          <p:nvSpPr>
            <p:cNvPr id="1389" name="Google Shape;1389;p184"/>
            <p:cNvSpPr/>
            <p:nvPr/>
          </p:nvSpPr>
          <p:spPr>
            <a:xfrm>
              <a:off x="5912640" y="3536640"/>
              <a:ext cx="784080" cy="11916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1390" name="Google Shape;1390;p184"/>
            <p:cNvSpPr/>
            <p:nvPr/>
          </p:nvSpPr>
          <p:spPr>
            <a:xfrm>
              <a:off x="5912640" y="3700440"/>
              <a:ext cx="784080" cy="11916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1391" name="Google Shape;1391;p184"/>
          <p:cNvSpPr/>
          <p:nvPr/>
        </p:nvSpPr>
        <p:spPr>
          <a:xfrm>
            <a:off x="4226040" y="1251360"/>
            <a:ext cx="2060280" cy="200520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grpSp>
        <p:nvGrpSpPr>
          <p:cNvPr id="1392" name="Google Shape;1392;p184"/>
          <p:cNvGrpSpPr/>
          <p:nvPr/>
        </p:nvGrpSpPr>
        <p:grpSpPr>
          <a:xfrm>
            <a:off x="5608080" y="1922040"/>
            <a:ext cx="1355760" cy="550800"/>
            <a:chOff x="5608080" y="1922040"/>
            <a:chExt cx="1355760" cy="550800"/>
          </a:xfrm>
        </p:grpSpPr>
        <p:sp>
          <p:nvSpPr>
            <p:cNvPr id="1393" name="Google Shape;1393;p184"/>
            <p:cNvSpPr/>
            <p:nvPr/>
          </p:nvSpPr>
          <p:spPr>
            <a:xfrm>
              <a:off x="5608080" y="1922040"/>
              <a:ext cx="1355760" cy="55080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Analytics</a:t>
              </a:r>
              <a:endParaRPr b="0" i="0" sz="1100" u="none" cap="none" strike="noStrike">
                <a:latin typeface="Arial"/>
                <a:ea typeface="Arial"/>
                <a:cs typeface="Arial"/>
                <a:sym typeface="Arial"/>
              </a:endParaRPr>
            </a:p>
          </p:txBody>
        </p:sp>
        <p:sp>
          <p:nvSpPr>
            <p:cNvPr id="1394" name="Google Shape;1394;p184"/>
            <p:cNvSpPr/>
            <p:nvPr/>
          </p:nvSpPr>
          <p:spPr>
            <a:xfrm>
              <a:off x="5975280" y="2239920"/>
              <a:ext cx="582120" cy="132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Metrics</a:t>
              </a:r>
              <a:endParaRPr b="0" i="0" sz="800" u="none" cap="none" strike="noStrike">
                <a:latin typeface="Arial"/>
                <a:ea typeface="Arial"/>
                <a:cs typeface="Arial"/>
                <a:sym typeface="Arial"/>
              </a:endParaRPr>
            </a:p>
          </p:txBody>
        </p:sp>
      </p:grpSp>
      <p:sp>
        <p:nvSpPr>
          <p:cNvPr id="1395" name="Google Shape;1395;p184"/>
          <p:cNvSpPr/>
          <p:nvPr/>
        </p:nvSpPr>
        <p:spPr>
          <a:xfrm flipH="1" rot="10800000">
            <a:off x="4790520" y="2858400"/>
            <a:ext cx="816120" cy="660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96" name="Google Shape;1396;p184"/>
          <p:cNvSpPr/>
          <p:nvPr/>
        </p:nvSpPr>
        <p:spPr>
          <a:xfrm>
            <a:off x="4791960" y="2858400"/>
            <a:ext cx="816120" cy="7081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97" name="Google Shape;1397;p184"/>
          <p:cNvSpPr/>
          <p:nvPr/>
        </p:nvSpPr>
        <p:spPr>
          <a:xfrm rot="10800000">
            <a:off x="6285960" y="2473200"/>
            <a:ext cx="360" cy="7837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398" name="Google Shape;1398;p184"/>
          <p:cNvSpPr/>
          <p:nvPr/>
        </p:nvSpPr>
        <p:spPr>
          <a:xfrm>
            <a:off x="7243560" y="1978560"/>
            <a:ext cx="807480" cy="437760"/>
          </a:xfrm>
          <a:prstGeom prst="can">
            <a:avLst>
              <a:gd fmla="val 23622"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Staged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Analytics &amp; Aggregates</a:t>
            </a:r>
            <a:endParaRPr b="0" i="0" sz="700" u="none" cap="none" strike="noStrike">
              <a:latin typeface="Arial"/>
              <a:ea typeface="Arial"/>
              <a:cs typeface="Arial"/>
              <a:sym typeface="Arial"/>
            </a:endParaRPr>
          </a:p>
        </p:txBody>
      </p:sp>
      <p:sp>
        <p:nvSpPr>
          <p:cNvPr id="1399" name="Google Shape;1399;p184"/>
          <p:cNvSpPr/>
          <p:nvPr/>
        </p:nvSpPr>
        <p:spPr>
          <a:xfrm rot="5400000">
            <a:off x="7467480" y="2720520"/>
            <a:ext cx="2167920" cy="44892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 Demand Insights</a:t>
            </a:r>
            <a:endParaRPr b="0" i="0" sz="800" u="none" cap="none" strike="noStrike">
              <a:latin typeface="Arial"/>
              <a:ea typeface="Arial"/>
              <a:cs typeface="Arial"/>
              <a:sym typeface="Arial"/>
            </a:endParaRPr>
          </a:p>
        </p:txBody>
      </p:sp>
      <p:sp>
        <p:nvSpPr>
          <p:cNvPr id="1400" name="Google Shape;1400;p184"/>
          <p:cNvSpPr/>
          <p:nvPr/>
        </p:nvSpPr>
        <p:spPr>
          <a:xfrm>
            <a:off x="6964200" y="2197440"/>
            <a:ext cx="27936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cxnSp>
        <p:nvCxnSpPr>
          <p:cNvPr id="1401" name="Google Shape;1401;p184"/>
          <p:cNvCxnSpPr/>
          <p:nvPr/>
        </p:nvCxnSpPr>
        <p:spPr>
          <a:xfrm>
            <a:off x="7326720" y="897480"/>
            <a:ext cx="1224600" cy="963600"/>
          </a:xfrm>
          <a:prstGeom prst="bentConnector2">
            <a:avLst/>
          </a:prstGeom>
          <a:noFill/>
          <a:ln cap="flat" cmpd="sng" w="9525">
            <a:solidFill>
              <a:srgbClr val="CC4125"/>
            </a:solidFill>
            <a:prstDash val="dashDot"/>
            <a:round/>
            <a:headEnd len="med" w="med" type="triangle"/>
            <a:tailEnd len="sm" w="sm" type="none"/>
          </a:ln>
        </p:spPr>
      </p:cxnSp>
      <p:sp>
        <p:nvSpPr>
          <p:cNvPr id="1402" name="Google Shape;1402;p184"/>
          <p:cNvSpPr/>
          <p:nvPr/>
        </p:nvSpPr>
        <p:spPr>
          <a:xfrm>
            <a:off x="8156520" y="865800"/>
            <a:ext cx="80748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Search &amp; Exploration</a:t>
            </a:r>
            <a:endParaRPr b="0" i="0" sz="700" u="none" cap="none" strike="noStrike">
              <a:latin typeface="Arial"/>
              <a:ea typeface="Arial"/>
              <a:cs typeface="Arial"/>
              <a:sym typeface="Arial"/>
            </a:endParaRPr>
          </a:p>
        </p:txBody>
      </p:sp>
      <p:cxnSp>
        <p:nvCxnSpPr>
          <p:cNvPr id="1403" name="Google Shape;1403;p184"/>
          <p:cNvCxnSpPr/>
          <p:nvPr/>
        </p:nvCxnSpPr>
        <p:spPr>
          <a:xfrm>
            <a:off x="7647840" y="2416680"/>
            <a:ext cx="678900" cy="528600"/>
          </a:xfrm>
          <a:prstGeom prst="bentConnector2">
            <a:avLst/>
          </a:prstGeom>
          <a:noFill/>
          <a:ln cap="flat" cmpd="sng" w="9525">
            <a:solidFill>
              <a:srgbClr val="747676"/>
            </a:solidFill>
            <a:prstDash val="solid"/>
            <a:round/>
            <a:headEnd len="sm" w="sm" type="none"/>
            <a:tailEnd len="sm" w="sm" type="none"/>
          </a:ln>
        </p:spPr>
      </p:cxnSp>
      <p:cxnSp>
        <p:nvCxnSpPr>
          <p:cNvPr id="1404" name="Google Shape;1404;p184"/>
          <p:cNvCxnSpPr/>
          <p:nvPr/>
        </p:nvCxnSpPr>
        <p:spPr>
          <a:xfrm flipH="1" rot="10800000">
            <a:off x="6963480" y="3566880"/>
            <a:ext cx="1362000" cy="621000"/>
          </a:xfrm>
          <a:prstGeom prst="bentConnector3">
            <a:avLst>
              <a:gd fmla="val 49997" name="adj1"/>
            </a:avLst>
          </a:prstGeom>
          <a:noFill/>
          <a:ln cap="flat" cmpd="sng" w="9525">
            <a:solidFill>
              <a:srgbClr val="747676"/>
            </a:solidFill>
            <a:prstDash val="solid"/>
            <a:round/>
            <a:headEnd len="sm" w="sm" type="none"/>
            <a:tailEnd len="med" w="med" type="triangle"/>
          </a:ln>
        </p:spPr>
      </p:cxnSp>
      <p:sp>
        <p:nvSpPr>
          <p:cNvPr id="1405" name="Google Shape;1405;p184"/>
          <p:cNvSpPr/>
          <p:nvPr/>
        </p:nvSpPr>
        <p:spPr>
          <a:xfrm>
            <a:off x="5335200" y="2685600"/>
            <a:ext cx="80748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Reasoning</a:t>
            </a:r>
            <a:endParaRPr b="0" i="0" sz="700" u="none" cap="none" strike="noStrike">
              <a:latin typeface="Arial"/>
              <a:ea typeface="Arial"/>
              <a:cs typeface="Arial"/>
              <a:sym typeface="Arial"/>
            </a:endParaRPr>
          </a:p>
        </p:txBody>
      </p:sp>
      <p:sp>
        <p:nvSpPr>
          <p:cNvPr id="1406" name="Google Shape;1406;p184"/>
          <p:cNvSpPr/>
          <p:nvPr/>
        </p:nvSpPr>
        <p:spPr>
          <a:xfrm>
            <a:off x="4954320" y="1555200"/>
            <a:ext cx="80748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Causality &amp; Impact</a:t>
            </a:r>
            <a:endParaRPr b="0" i="0" sz="700" u="none" cap="none" strike="noStrike">
              <a:latin typeface="Arial"/>
              <a:ea typeface="Arial"/>
              <a:cs typeface="Arial"/>
              <a:sym typeface="Arial"/>
            </a:endParaRPr>
          </a:p>
        </p:txBody>
      </p:sp>
      <p:sp>
        <p:nvSpPr>
          <p:cNvPr id="1407" name="Google Shape;1407;p184"/>
          <p:cNvSpPr/>
          <p:nvPr/>
        </p:nvSpPr>
        <p:spPr>
          <a:xfrm>
            <a:off x="3606840" y="1651320"/>
            <a:ext cx="80748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Discovery</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(meaning)</a:t>
            </a:r>
            <a:endParaRPr b="0" i="0" sz="700" u="none" cap="none" strike="noStrike">
              <a:latin typeface="Arial"/>
              <a:ea typeface="Arial"/>
              <a:cs typeface="Arial"/>
              <a:sym typeface="Arial"/>
            </a:endParaRPr>
          </a:p>
        </p:txBody>
      </p:sp>
      <p:sp>
        <p:nvSpPr>
          <p:cNvPr id="1408" name="Google Shape;1408;p184"/>
          <p:cNvSpPr/>
          <p:nvPr/>
        </p:nvSpPr>
        <p:spPr>
          <a:xfrm>
            <a:off x="2154600" y="2165400"/>
            <a:ext cx="80748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Semantic Discovery</a:t>
            </a:r>
            <a:endParaRPr b="0" i="0" sz="700" u="none" cap="none" strike="noStrike">
              <a:latin typeface="Arial"/>
              <a:ea typeface="Arial"/>
              <a:cs typeface="Arial"/>
              <a:sym typeface="Arial"/>
            </a:endParaRPr>
          </a:p>
        </p:txBody>
      </p:sp>
      <p:sp>
        <p:nvSpPr>
          <p:cNvPr id="1409" name="Google Shape;1409;p184"/>
          <p:cNvSpPr/>
          <p:nvPr/>
        </p:nvSpPr>
        <p:spPr>
          <a:xfrm>
            <a:off x="2405520" y="2851200"/>
            <a:ext cx="58824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Precise Extraction </a:t>
            </a:r>
            <a:endParaRPr b="0" i="0" sz="700" u="none" cap="none" strike="noStrike">
              <a:latin typeface="Arial"/>
              <a:ea typeface="Arial"/>
              <a:cs typeface="Arial"/>
              <a:sym typeface="Arial"/>
            </a:endParaRPr>
          </a:p>
        </p:txBody>
      </p:sp>
      <p:grpSp>
        <p:nvGrpSpPr>
          <p:cNvPr id="1410" name="Google Shape;1410;p184"/>
          <p:cNvGrpSpPr/>
          <p:nvPr/>
        </p:nvGrpSpPr>
        <p:grpSpPr>
          <a:xfrm>
            <a:off x="3172680" y="2035080"/>
            <a:ext cx="1618920" cy="1645920"/>
            <a:chOff x="3172680" y="2035080"/>
            <a:chExt cx="1618920" cy="1645920"/>
          </a:xfrm>
        </p:grpSpPr>
        <p:sp>
          <p:nvSpPr>
            <p:cNvPr id="1411" name="Google Shape;1411;p184"/>
            <p:cNvSpPr/>
            <p:nvPr/>
          </p:nvSpPr>
          <p:spPr>
            <a:xfrm>
              <a:off x="3172680" y="2035080"/>
              <a:ext cx="1618920" cy="164592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Integration Services</a:t>
              </a:r>
              <a:endParaRPr b="0" i="0" sz="1100" u="none" cap="none" strike="noStrike">
                <a:latin typeface="Arial"/>
                <a:ea typeface="Arial"/>
                <a:cs typeface="Arial"/>
                <a:sym typeface="Arial"/>
              </a:endParaRPr>
            </a:p>
          </p:txBody>
        </p:sp>
        <p:sp>
          <p:nvSpPr>
            <p:cNvPr id="1412" name="Google Shape;1412;p184"/>
            <p:cNvSpPr/>
            <p:nvPr/>
          </p:nvSpPr>
          <p:spPr>
            <a:xfrm>
              <a:off x="3500640" y="2695680"/>
              <a:ext cx="977760" cy="1627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MicroServices</a:t>
              </a:r>
              <a:endParaRPr b="0" i="0" sz="800" u="none" cap="none" strike="noStrike">
                <a:latin typeface="Arial"/>
                <a:ea typeface="Arial"/>
                <a:cs typeface="Arial"/>
                <a:sym typeface="Arial"/>
              </a:endParaRPr>
            </a:p>
          </p:txBody>
        </p:sp>
        <p:sp>
          <p:nvSpPr>
            <p:cNvPr id="1413" name="Google Shape;1413;p184"/>
            <p:cNvSpPr/>
            <p:nvPr/>
          </p:nvSpPr>
          <p:spPr>
            <a:xfrm>
              <a:off x="3500640" y="2476080"/>
              <a:ext cx="977760" cy="1627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Workflow</a:t>
              </a:r>
              <a:endParaRPr b="0" i="0" sz="800" u="none" cap="none" strike="noStrike">
                <a:latin typeface="Arial"/>
                <a:ea typeface="Arial"/>
                <a:cs typeface="Arial"/>
                <a:sym typeface="Arial"/>
              </a:endParaRPr>
            </a:p>
          </p:txBody>
        </p:sp>
        <p:sp>
          <p:nvSpPr>
            <p:cNvPr id="1414" name="Google Shape;1414;p184"/>
            <p:cNvSpPr/>
            <p:nvPr/>
          </p:nvSpPr>
          <p:spPr>
            <a:xfrm>
              <a:off x="3500640" y="2924280"/>
              <a:ext cx="977760" cy="241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Data Transforms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(DBTs)</a:t>
              </a:r>
              <a:endParaRPr b="0" i="0" sz="600" u="none" cap="none" strike="noStrike">
                <a:latin typeface="Arial"/>
                <a:ea typeface="Arial"/>
                <a:cs typeface="Arial"/>
                <a:sym typeface="Arial"/>
              </a:endParaRPr>
            </a:p>
          </p:txBody>
        </p:sp>
        <p:sp>
          <p:nvSpPr>
            <p:cNvPr id="1415" name="Google Shape;1415;p184"/>
            <p:cNvSpPr/>
            <p:nvPr/>
          </p:nvSpPr>
          <p:spPr>
            <a:xfrm>
              <a:off x="3508560" y="3210120"/>
              <a:ext cx="961920" cy="1609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Provisioning</a:t>
              </a:r>
              <a:endParaRPr b="0" i="0" sz="800" u="none" cap="none" strike="noStrike">
                <a:latin typeface="Arial"/>
                <a:ea typeface="Arial"/>
                <a:cs typeface="Arial"/>
                <a:sym typeface="Arial"/>
              </a:endParaRPr>
            </a:p>
          </p:txBody>
        </p:sp>
        <p:sp>
          <p:nvSpPr>
            <p:cNvPr id="1416" name="Google Shape;1416;p184"/>
            <p:cNvSpPr/>
            <p:nvPr/>
          </p:nvSpPr>
          <p:spPr>
            <a:xfrm>
              <a:off x="3508560" y="3438720"/>
              <a:ext cx="961920" cy="1609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grpSp>
        <p:nvGrpSpPr>
          <p:cNvPr id="1417" name="Google Shape;1417;p184"/>
          <p:cNvGrpSpPr/>
          <p:nvPr/>
        </p:nvGrpSpPr>
        <p:grpSpPr>
          <a:xfrm>
            <a:off x="19080" y="1926000"/>
            <a:ext cx="588240" cy="535680"/>
            <a:chOff x="19080" y="1926000"/>
            <a:chExt cx="588240" cy="535680"/>
          </a:xfrm>
        </p:grpSpPr>
        <p:sp>
          <p:nvSpPr>
            <p:cNvPr id="1418" name="Google Shape;1418;p184"/>
            <p:cNvSpPr/>
            <p:nvPr/>
          </p:nvSpPr>
          <p:spPr>
            <a:xfrm>
              <a:off x="19080" y="1926000"/>
              <a:ext cx="588240" cy="535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AI + LLM</a:t>
              </a:r>
              <a:endParaRPr b="0" i="0" sz="800" u="none" cap="none" strike="noStrike">
                <a:latin typeface="Arial"/>
                <a:ea typeface="Arial"/>
                <a:cs typeface="Arial"/>
                <a:sym typeface="Arial"/>
              </a:endParaRPr>
            </a:p>
          </p:txBody>
        </p:sp>
        <p:sp>
          <p:nvSpPr>
            <p:cNvPr id="1419" name="Google Shape;1419;p184"/>
            <p:cNvSpPr/>
            <p:nvPr/>
          </p:nvSpPr>
          <p:spPr>
            <a:xfrm>
              <a:off x="88560" y="2171880"/>
              <a:ext cx="449280" cy="231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Custom Models</a:t>
              </a:r>
              <a:endParaRPr b="0" i="0" sz="500" u="none" cap="none" strike="noStrike">
                <a:latin typeface="Arial"/>
                <a:ea typeface="Arial"/>
                <a:cs typeface="Arial"/>
                <a:sym typeface="Arial"/>
              </a:endParaRPr>
            </a:p>
          </p:txBody>
        </p:sp>
      </p:grpSp>
      <p:cxnSp>
        <p:nvCxnSpPr>
          <p:cNvPr id="1420" name="Google Shape;1420;p184"/>
          <p:cNvCxnSpPr/>
          <p:nvPr/>
        </p:nvCxnSpPr>
        <p:spPr>
          <a:xfrm rot="5400000">
            <a:off x="218400" y="1287180"/>
            <a:ext cx="1296300" cy="516900"/>
          </a:xfrm>
          <a:prstGeom prst="bentConnector3">
            <a:avLst>
              <a:gd fmla="val 0" name="adj1"/>
            </a:avLst>
          </a:prstGeom>
          <a:noFill/>
          <a:ln cap="flat" cmpd="sng" w="9525">
            <a:solidFill>
              <a:srgbClr val="CC4125"/>
            </a:solidFill>
            <a:prstDash val="dashDot"/>
            <a:round/>
            <a:headEnd len="med" w="med" type="triangle"/>
            <a:tailEnd len="sm" w="sm" type="none"/>
          </a:ln>
        </p:spPr>
      </p:cxnSp>
      <p:sp>
        <p:nvSpPr>
          <p:cNvPr id="1421" name="Google Shape;1421;p184"/>
          <p:cNvSpPr/>
          <p:nvPr/>
        </p:nvSpPr>
        <p:spPr>
          <a:xfrm>
            <a:off x="242280" y="1524240"/>
            <a:ext cx="122436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Profiling &amp; Enrichment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(includes Classification)</a:t>
            </a:r>
            <a:endParaRPr b="0" i="0" sz="700" u="none" cap="none" strike="noStrike">
              <a:latin typeface="Arial"/>
              <a:ea typeface="Arial"/>
              <a:cs typeface="Arial"/>
              <a:sym typeface="Arial"/>
            </a:endParaRPr>
          </a:p>
        </p:txBody>
      </p:sp>
      <p:grpSp>
        <p:nvGrpSpPr>
          <p:cNvPr id="1422" name="Google Shape;1422;p184"/>
          <p:cNvGrpSpPr/>
          <p:nvPr/>
        </p:nvGrpSpPr>
        <p:grpSpPr>
          <a:xfrm>
            <a:off x="8549640" y="0"/>
            <a:ext cx="594000" cy="679680"/>
            <a:chOff x="8549640" y="0"/>
            <a:chExt cx="594000" cy="679680"/>
          </a:xfrm>
        </p:grpSpPr>
        <p:sp>
          <p:nvSpPr>
            <p:cNvPr id="1423" name="Google Shape;1423;p18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4" name="Google Shape;1424;p184"/>
            <p:cNvGrpSpPr/>
            <p:nvPr/>
          </p:nvGrpSpPr>
          <p:grpSpPr>
            <a:xfrm>
              <a:off x="8588160" y="0"/>
              <a:ext cx="555480" cy="679680"/>
              <a:chOff x="8588160" y="0"/>
              <a:chExt cx="555480" cy="679680"/>
            </a:xfrm>
          </p:grpSpPr>
          <p:pic>
            <p:nvPicPr>
              <p:cNvPr id="1425" name="Google Shape;1425;p184"/>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426" name="Google Shape;1426;p18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185"/>
          <p:cNvSpPr/>
          <p:nvPr/>
        </p:nvSpPr>
        <p:spPr>
          <a:xfrm flipH="1">
            <a:off x="1546200" y="1231560"/>
            <a:ext cx="2331000" cy="113580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sp>
        <p:nvSpPr>
          <p:cNvPr id="1432" name="Google Shape;1432;p185"/>
          <p:cNvSpPr/>
          <p:nvPr/>
        </p:nvSpPr>
        <p:spPr>
          <a:xfrm flipH="1">
            <a:off x="3982320" y="1837440"/>
            <a:ext cx="239040" cy="65448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sp>
        <p:nvSpPr>
          <p:cNvPr id="1433" name="Google Shape;1433;p185"/>
          <p:cNvSpPr txBox="1"/>
          <p:nvPr/>
        </p:nvSpPr>
        <p:spPr>
          <a:xfrm>
            <a:off x="457200" y="113400"/>
            <a:ext cx="8229240" cy="2952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Integrating Graphs &amp; AI LLMs into the Semantic Knowledge Layer </a:t>
            </a:r>
            <a:endParaRPr b="0" i="0" sz="2000" u="none" cap="none" strike="noStrike">
              <a:solidFill>
                <a:srgbClr val="000000"/>
              </a:solidFill>
              <a:latin typeface="Arial"/>
              <a:ea typeface="Arial"/>
              <a:cs typeface="Arial"/>
              <a:sym typeface="Arial"/>
            </a:endParaRPr>
          </a:p>
        </p:txBody>
      </p:sp>
      <p:sp>
        <p:nvSpPr>
          <p:cNvPr id="1434" name="Google Shape;1434;p185"/>
          <p:cNvSpPr/>
          <p:nvPr/>
        </p:nvSpPr>
        <p:spPr>
          <a:xfrm>
            <a:off x="738000" y="3223440"/>
            <a:ext cx="1618920" cy="91512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1VZ Data</a:t>
            </a:r>
            <a:endParaRPr b="0" i="0" sz="1100" u="none" cap="none" strike="noStrike">
              <a:latin typeface="Arial"/>
              <a:ea typeface="Arial"/>
              <a:cs typeface="Arial"/>
              <a:sym typeface="Arial"/>
            </a:endParaRPr>
          </a:p>
        </p:txBody>
      </p:sp>
      <p:sp>
        <p:nvSpPr>
          <p:cNvPr id="1435" name="Google Shape;1435;p185"/>
          <p:cNvSpPr/>
          <p:nvPr/>
        </p:nvSpPr>
        <p:spPr>
          <a:xfrm>
            <a:off x="683640" y="471132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436" name="Google Shape;1436;p185"/>
          <p:cNvSpPr/>
          <p:nvPr/>
        </p:nvSpPr>
        <p:spPr>
          <a:xfrm>
            <a:off x="1306080" y="453636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437" name="Google Shape;1437;p185"/>
          <p:cNvSpPr/>
          <p:nvPr/>
        </p:nvSpPr>
        <p:spPr>
          <a:xfrm>
            <a:off x="1922040" y="4674600"/>
            <a:ext cx="483120" cy="2952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SOR</a:t>
            </a:r>
            <a:endParaRPr b="0" i="0" sz="1100" u="none" cap="none" strike="noStrike">
              <a:latin typeface="Arial"/>
              <a:ea typeface="Arial"/>
              <a:cs typeface="Arial"/>
              <a:sym typeface="Arial"/>
            </a:endParaRPr>
          </a:p>
        </p:txBody>
      </p:sp>
      <p:sp>
        <p:nvSpPr>
          <p:cNvPr id="1438" name="Google Shape;1438;p185"/>
          <p:cNvSpPr/>
          <p:nvPr/>
        </p:nvSpPr>
        <p:spPr>
          <a:xfrm flipH="1" rot="10800000">
            <a:off x="2357640" y="3681000"/>
            <a:ext cx="815040" cy="365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39" name="Google Shape;1439;p185"/>
          <p:cNvSpPr/>
          <p:nvPr/>
        </p:nvSpPr>
        <p:spPr>
          <a:xfrm flipH="1" rot="10800000">
            <a:off x="925560" y="4711320"/>
            <a:ext cx="622080" cy="5724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40" name="Google Shape;1440;p185"/>
          <p:cNvSpPr/>
          <p:nvPr/>
        </p:nvSpPr>
        <p:spPr>
          <a:xfrm rot="10800000">
            <a:off x="1547280" y="4139280"/>
            <a:ext cx="360" cy="3970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41" name="Google Shape;1441;p185"/>
          <p:cNvSpPr/>
          <p:nvPr/>
        </p:nvSpPr>
        <p:spPr>
          <a:xfrm rot="10800000">
            <a:off x="1548000" y="4138920"/>
            <a:ext cx="615960" cy="5356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42" name="Google Shape;1442;p185"/>
          <p:cNvSpPr/>
          <p:nvPr/>
        </p:nvSpPr>
        <p:spPr>
          <a:xfrm>
            <a:off x="4221720" y="1234800"/>
            <a:ext cx="2063880" cy="114408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sp>
        <p:nvSpPr>
          <p:cNvPr id="1443" name="Google Shape;1443;p185"/>
          <p:cNvSpPr/>
          <p:nvPr/>
        </p:nvSpPr>
        <p:spPr>
          <a:xfrm>
            <a:off x="1024200" y="2367720"/>
            <a:ext cx="1046160" cy="621720"/>
          </a:xfrm>
          <a:prstGeom prst="can">
            <a:avLst>
              <a:gd fmla="val 25000" name="adj"/>
            </a:avLst>
          </a:prstGeom>
          <a:solidFill>
            <a:srgbClr val="E6B8A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Virtual Catalog</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(RDF Store)</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EE0000"/>
                </a:solidFill>
                <a:latin typeface="Arial"/>
                <a:ea typeface="Arial"/>
                <a:cs typeface="Arial"/>
                <a:sym typeface="Arial"/>
              </a:rPr>
              <a:t>Unified Context</a:t>
            </a:r>
            <a:endParaRPr b="0" i="0" sz="800" u="none" cap="none" strike="noStrike">
              <a:latin typeface="Arial"/>
              <a:ea typeface="Arial"/>
              <a:cs typeface="Arial"/>
              <a:sym typeface="Arial"/>
            </a:endParaRPr>
          </a:p>
        </p:txBody>
      </p:sp>
      <p:sp>
        <p:nvSpPr>
          <p:cNvPr id="1444" name="Google Shape;1444;p185"/>
          <p:cNvSpPr/>
          <p:nvPr/>
        </p:nvSpPr>
        <p:spPr>
          <a:xfrm rot="10800000">
            <a:off x="1547280" y="2990520"/>
            <a:ext cx="360" cy="2329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1445" name="Google Shape;1445;p185"/>
          <p:cNvGrpSpPr/>
          <p:nvPr/>
        </p:nvGrpSpPr>
        <p:grpSpPr>
          <a:xfrm>
            <a:off x="1199520" y="475200"/>
            <a:ext cx="6044040" cy="759240"/>
            <a:chOff x="1199520" y="475200"/>
            <a:chExt cx="6044040" cy="759240"/>
          </a:xfrm>
        </p:grpSpPr>
        <p:sp>
          <p:nvSpPr>
            <p:cNvPr id="1446" name="Google Shape;1446;p185"/>
            <p:cNvSpPr/>
            <p:nvPr/>
          </p:nvSpPr>
          <p:spPr>
            <a:xfrm>
              <a:off x="1199520" y="475200"/>
              <a:ext cx="6044040" cy="759240"/>
            </a:xfrm>
            <a:prstGeom prst="roundRect">
              <a:avLst>
                <a:gd fmla="val 16667" name="adj"/>
              </a:avLst>
            </a:prstGeom>
            <a:solidFill>
              <a:srgbClr val="E6B8AF"/>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Semantic Layer</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Discover, Search, Unified Context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666666"/>
                  </a:solidFill>
                  <a:latin typeface="Arial"/>
                  <a:ea typeface="Arial"/>
                  <a:cs typeface="Arial"/>
                  <a:sym typeface="Arial"/>
                </a:rPr>
                <a:t>Unified Grounding (Causality)</a:t>
              </a:r>
              <a:endParaRPr b="0" i="0" sz="700" u="none" cap="none" strike="noStrike">
                <a:latin typeface="Arial"/>
                <a:ea typeface="Arial"/>
                <a:cs typeface="Arial"/>
                <a:sym typeface="Arial"/>
              </a:endParaRPr>
            </a:p>
          </p:txBody>
        </p:sp>
        <p:sp>
          <p:nvSpPr>
            <p:cNvPr id="1447" name="Google Shape;1447;p185"/>
            <p:cNvSpPr/>
            <p:nvPr/>
          </p:nvSpPr>
          <p:spPr>
            <a:xfrm>
              <a:off x="1529640" y="6994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(Finance)</a:t>
              </a:r>
              <a:endParaRPr b="0" i="0" sz="600" u="none" cap="none" strike="noStrike">
                <a:latin typeface="Arial"/>
                <a:ea typeface="Arial"/>
                <a:cs typeface="Arial"/>
                <a:sym typeface="Arial"/>
              </a:endParaRPr>
            </a:p>
          </p:txBody>
        </p:sp>
        <p:sp>
          <p:nvSpPr>
            <p:cNvPr id="1448" name="Google Shape;1448;p185"/>
            <p:cNvSpPr/>
            <p:nvPr/>
          </p:nvSpPr>
          <p:spPr>
            <a:xfrm>
              <a:off x="152964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(Legal)</a:t>
              </a:r>
              <a:endParaRPr b="0" i="0" sz="600" u="none" cap="none" strike="noStrike">
                <a:latin typeface="Arial"/>
                <a:ea typeface="Arial"/>
                <a:cs typeface="Arial"/>
                <a:sym typeface="Arial"/>
              </a:endParaRPr>
            </a:p>
          </p:txBody>
        </p:sp>
        <p:sp>
          <p:nvSpPr>
            <p:cNvPr id="1449" name="Google Shape;1449;p185"/>
            <p:cNvSpPr/>
            <p:nvPr/>
          </p:nvSpPr>
          <p:spPr>
            <a:xfrm>
              <a:off x="2476800" y="6994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(Sales)</a:t>
              </a:r>
              <a:endParaRPr b="0" i="0" sz="600" u="none" cap="none" strike="noStrike">
                <a:latin typeface="Arial"/>
                <a:ea typeface="Arial"/>
                <a:cs typeface="Arial"/>
                <a:sym typeface="Arial"/>
              </a:endParaRPr>
            </a:p>
          </p:txBody>
        </p:sp>
        <p:sp>
          <p:nvSpPr>
            <p:cNvPr id="1450" name="Google Shape;1450;p185"/>
            <p:cNvSpPr/>
            <p:nvPr/>
          </p:nvSpPr>
          <p:spPr>
            <a:xfrm>
              <a:off x="247680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(Marketing)</a:t>
              </a:r>
              <a:endParaRPr b="0" i="0" sz="600" u="none" cap="none" strike="noStrike">
                <a:latin typeface="Arial"/>
                <a:ea typeface="Arial"/>
                <a:cs typeface="Arial"/>
                <a:sym typeface="Arial"/>
              </a:endParaRPr>
            </a:p>
          </p:txBody>
        </p:sp>
        <p:sp>
          <p:nvSpPr>
            <p:cNvPr id="1451" name="Google Shape;1451;p185"/>
            <p:cNvSpPr/>
            <p:nvPr/>
          </p:nvSpPr>
          <p:spPr>
            <a:xfrm>
              <a:off x="342360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(Global Tech)</a:t>
              </a:r>
              <a:endParaRPr b="0" i="0" sz="600" u="none" cap="none" strike="noStrike">
                <a:latin typeface="Arial"/>
                <a:ea typeface="Arial"/>
                <a:cs typeface="Arial"/>
                <a:sym typeface="Arial"/>
              </a:endParaRPr>
            </a:p>
          </p:txBody>
        </p:sp>
        <p:sp>
          <p:nvSpPr>
            <p:cNvPr id="1452" name="Google Shape;1452;p185"/>
            <p:cNvSpPr/>
            <p:nvPr/>
          </p:nvSpPr>
          <p:spPr>
            <a:xfrm>
              <a:off x="437040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(HR)</a:t>
              </a:r>
              <a:endParaRPr b="0" i="0" sz="600" u="none" cap="none" strike="noStrike">
                <a:latin typeface="Arial"/>
                <a:ea typeface="Arial"/>
                <a:cs typeface="Arial"/>
                <a:sym typeface="Arial"/>
              </a:endParaRPr>
            </a:p>
          </p:txBody>
        </p:sp>
        <p:sp>
          <p:nvSpPr>
            <p:cNvPr id="1453" name="Google Shape;1453;p185"/>
            <p:cNvSpPr/>
            <p:nvPr/>
          </p:nvSpPr>
          <p:spPr>
            <a:xfrm>
              <a:off x="531756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(Wireless)</a:t>
              </a:r>
              <a:endParaRPr b="0" i="0" sz="600" u="none" cap="none" strike="noStrike">
                <a:latin typeface="Arial"/>
                <a:ea typeface="Arial"/>
                <a:cs typeface="Arial"/>
                <a:sym typeface="Arial"/>
              </a:endParaRPr>
            </a:p>
          </p:txBody>
        </p:sp>
        <p:sp>
          <p:nvSpPr>
            <p:cNvPr id="1454" name="Google Shape;1454;p185"/>
            <p:cNvSpPr/>
            <p:nvPr/>
          </p:nvSpPr>
          <p:spPr>
            <a:xfrm>
              <a:off x="6264360" y="9568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(Wireline)</a:t>
              </a:r>
              <a:endParaRPr b="0" i="0" sz="600" u="none" cap="none" strike="noStrike">
                <a:latin typeface="Arial"/>
                <a:ea typeface="Arial"/>
                <a:cs typeface="Arial"/>
                <a:sym typeface="Arial"/>
              </a:endParaRPr>
            </a:p>
          </p:txBody>
        </p:sp>
        <p:sp>
          <p:nvSpPr>
            <p:cNvPr id="1455" name="Google Shape;1455;p185"/>
            <p:cNvSpPr/>
            <p:nvPr/>
          </p:nvSpPr>
          <p:spPr>
            <a:xfrm>
              <a:off x="5691240" y="699480"/>
              <a:ext cx="846000" cy="205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Graphs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(Network)</a:t>
              </a:r>
              <a:endParaRPr b="0" i="0" sz="600" u="none" cap="none" strike="noStrike">
                <a:latin typeface="Arial"/>
                <a:ea typeface="Arial"/>
                <a:cs typeface="Arial"/>
                <a:sym typeface="Arial"/>
              </a:endParaRPr>
            </a:p>
          </p:txBody>
        </p:sp>
      </p:grpSp>
      <p:sp>
        <p:nvSpPr>
          <p:cNvPr id="1456" name="Google Shape;1456;p185"/>
          <p:cNvSpPr/>
          <p:nvPr/>
        </p:nvSpPr>
        <p:spPr>
          <a:xfrm>
            <a:off x="2070720" y="2678760"/>
            <a:ext cx="1101600" cy="6361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1457" name="Google Shape;1457;p185"/>
          <p:cNvGrpSpPr/>
          <p:nvPr/>
        </p:nvGrpSpPr>
        <p:grpSpPr>
          <a:xfrm>
            <a:off x="5608440" y="3714120"/>
            <a:ext cx="1355760" cy="619200"/>
            <a:chOff x="5608440" y="3714120"/>
            <a:chExt cx="1355760" cy="619200"/>
          </a:xfrm>
        </p:grpSpPr>
        <p:sp>
          <p:nvSpPr>
            <p:cNvPr id="1458" name="Google Shape;1458;p185"/>
            <p:cNvSpPr/>
            <p:nvPr/>
          </p:nvSpPr>
          <p:spPr>
            <a:xfrm>
              <a:off x="5608440" y="3714120"/>
              <a:ext cx="1355760" cy="61920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AI</a:t>
              </a:r>
              <a:endParaRPr b="0" i="0" sz="1100" u="none" cap="none" strike="noStrike">
                <a:latin typeface="Arial"/>
                <a:ea typeface="Arial"/>
                <a:cs typeface="Arial"/>
                <a:sym typeface="Arial"/>
              </a:endParaRPr>
            </a:p>
          </p:txBody>
        </p:sp>
        <p:sp>
          <p:nvSpPr>
            <p:cNvPr id="1459" name="Google Shape;1459;p185"/>
            <p:cNvSpPr/>
            <p:nvPr/>
          </p:nvSpPr>
          <p:spPr>
            <a:xfrm>
              <a:off x="5912640" y="3993840"/>
              <a:ext cx="784080" cy="11916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1460" name="Google Shape;1460;p185"/>
            <p:cNvSpPr/>
            <p:nvPr/>
          </p:nvSpPr>
          <p:spPr>
            <a:xfrm>
              <a:off x="5912640" y="4157640"/>
              <a:ext cx="784080" cy="11916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1461" name="Google Shape;1461;p185"/>
          <p:cNvSpPr/>
          <p:nvPr/>
        </p:nvSpPr>
        <p:spPr>
          <a:xfrm>
            <a:off x="4221720" y="1837440"/>
            <a:ext cx="2064240" cy="187632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grpSp>
        <p:nvGrpSpPr>
          <p:cNvPr id="1462" name="Google Shape;1462;p185"/>
          <p:cNvGrpSpPr/>
          <p:nvPr/>
        </p:nvGrpSpPr>
        <p:grpSpPr>
          <a:xfrm>
            <a:off x="5608080" y="2379240"/>
            <a:ext cx="1355760" cy="550800"/>
            <a:chOff x="5608080" y="2379240"/>
            <a:chExt cx="1355760" cy="550800"/>
          </a:xfrm>
        </p:grpSpPr>
        <p:sp>
          <p:nvSpPr>
            <p:cNvPr id="1463" name="Google Shape;1463;p185"/>
            <p:cNvSpPr/>
            <p:nvPr/>
          </p:nvSpPr>
          <p:spPr>
            <a:xfrm>
              <a:off x="5608080" y="2379240"/>
              <a:ext cx="1355760" cy="55080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Analytics</a:t>
              </a:r>
              <a:endParaRPr b="0" i="0" sz="1100" u="none" cap="none" strike="noStrike">
                <a:latin typeface="Arial"/>
                <a:ea typeface="Arial"/>
                <a:cs typeface="Arial"/>
                <a:sym typeface="Arial"/>
              </a:endParaRPr>
            </a:p>
          </p:txBody>
        </p:sp>
        <p:sp>
          <p:nvSpPr>
            <p:cNvPr id="1464" name="Google Shape;1464;p185"/>
            <p:cNvSpPr/>
            <p:nvPr/>
          </p:nvSpPr>
          <p:spPr>
            <a:xfrm>
              <a:off x="5975280" y="2697120"/>
              <a:ext cx="582120" cy="132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Metrics</a:t>
              </a:r>
              <a:endParaRPr b="0" i="0" sz="800" u="none" cap="none" strike="noStrike">
                <a:latin typeface="Arial"/>
                <a:ea typeface="Arial"/>
                <a:cs typeface="Arial"/>
                <a:sym typeface="Arial"/>
              </a:endParaRPr>
            </a:p>
          </p:txBody>
        </p:sp>
      </p:grpSp>
      <p:sp>
        <p:nvSpPr>
          <p:cNvPr id="1465" name="Google Shape;1465;p185"/>
          <p:cNvSpPr/>
          <p:nvPr/>
        </p:nvSpPr>
        <p:spPr>
          <a:xfrm flipH="1" rot="10800000">
            <a:off x="4790520" y="3315600"/>
            <a:ext cx="816120" cy="660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66" name="Google Shape;1466;p185"/>
          <p:cNvSpPr/>
          <p:nvPr/>
        </p:nvSpPr>
        <p:spPr>
          <a:xfrm>
            <a:off x="4791960" y="3315600"/>
            <a:ext cx="816120" cy="7081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67" name="Google Shape;1467;p185"/>
          <p:cNvSpPr/>
          <p:nvPr/>
        </p:nvSpPr>
        <p:spPr>
          <a:xfrm rot="10800000">
            <a:off x="6285960" y="2930400"/>
            <a:ext cx="360" cy="7837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468" name="Google Shape;1468;p185"/>
          <p:cNvSpPr/>
          <p:nvPr/>
        </p:nvSpPr>
        <p:spPr>
          <a:xfrm>
            <a:off x="7243560" y="2435760"/>
            <a:ext cx="807480" cy="437760"/>
          </a:xfrm>
          <a:prstGeom prst="can">
            <a:avLst>
              <a:gd fmla="val 23622"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Staged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Analytics &amp; Aggregates</a:t>
            </a:r>
            <a:endParaRPr b="0" i="0" sz="700" u="none" cap="none" strike="noStrike">
              <a:latin typeface="Arial"/>
              <a:ea typeface="Arial"/>
              <a:cs typeface="Arial"/>
              <a:sym typeface="Arial"/>
            </a:endParaRPr>
          </a:p>
        </p:txBody>
      </p:sp>
      <p:sp>
        <p:nvSpPr>
          <p:cNvPr id="1469" name="Google Shape;1469;p185"/>
          <p:cNvSpPr/>
          <p:nvPr/>
        </p:nvSpPr>
        <p:spPr>
          <a:xfrm rot="5400000">
            <a:off x="7467480" y="3177720"/>
            <a:ext cx="2167920" cy="44892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 Demand Insights</a:t>
            </a:r>
            <a:endParaRPr b="0" i="0" sz="800" u="none" cap="none" strike="noStrike">
              <a:latin typeface="Arial"/>
              <a:ea typeface="Arial"/>
              <a:cs typeface="Arial"/>
              <a:sym typeface="Arial"/>
            </a:endParaRPr>
          </a:p>
        </p:txBody>
      </p:sp>
      <p:sp>
        <p:nvSpPr>
          <p:cNvPr id="1470" name="Google Shape;1470;p185"/>
          <p:cNvSpPr/>
          <p:nvPr/>
        </p:nvSpPr>
        <p:spPr>
          <a:xfrm>
            <a:off x="6964200" y="2654640"/>
            <a:ext cx="27936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cxnSp>
        <p:nvCxnSpPr>
          <p:cNvPr id="1471" name="Google Shape;1471;p185"/>
          <p:cNvCxnSpPr/>
          <p:nvPr/>
        </p:nvCxnSpPr>
        <p:spPr>
          <a:xfrm flipH="1" rot="-5400000">
            <a:off x="7165770" y="933150"/>
            <a:ext cx="1463400" cy="1307100"/>
          </a:xfrm>
          <a:prstGeom prst="bentConnector2">
            <a:avLst/>
          </a:prstGeom>
          <a:noFill/>
          <a:ln cap="flat" cmpd="sng" w="9525">
            <a:solidFill>
              <a:srgbClr val="CC4125"/>
            </a:solidFill>
            <a:prstDash val="dashDot"/>
            <a:round/>
            <a:headEnd len="med" w="med" type="triangle"/>
            <a:tailEnd len="sm" w="sm" type="none"/>
          </a:ln>
        </p:spPr>
      </p:cxnSp>
      <p:sp>
        <p:nvSpPr>
          <p:cNvPr id="1472" name="Google Shape;1472;p185"/>
          <p:cNvSpPr/>
          <p:nvPr/>
        </p:nvSpPr>
        <p:spPr>
          <a:xfrm>
            <a:off x="8156520" y="928440"/>
            <a:ext cx="712080" cy="2332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Search &amp; Exploration</a:t>
            </a:r>
            <a:endParaRPr b="0" i="0" sz="700" u="none" cap="none" strike="noStrike">
              <a:latin typeface="Arial"/>
              <a:ea typeface="Arial"/>
              <a:cs typeface="Arial"/>
              <a:sym typeface="Arial"/>
            </a:endParaRPr>
          </a:p>
        </p:txBody>
      </p:sp>
      <p:cxnSp>
        <p:nvCxnSpPr>
          <p:cNvPr id="1473" name="Google Shape;1473;p185"/>
          <p:cNvCxnSpPr/>
          <p:nvPr/>
        </p:nvCxnSpPr>
        <p:spPr>
          <a:xfrm>
            <a:off x="7647840" y="2873880"/>
            <a:ext cx="678900" cy="528600"/>
          </a:xfrm>
          <a:prstGeom prst="bentConnector2">
            <a:avLst/>
          </a:prstGeom>
          <a:noFill/>
          <a:ln cap="flat" cmpd="sng" w="9525">
            <a:solidFill>
              <a:srgbClr val="747676"/>
            </a:solidFill>
            <a:prstDash val="solid"/>
            <a:round/>
            <a:headEnd len="sm" w="sm" type="none"/>
            <a:tailEnd len="sm" w="sm" type="none"/>
          </a:ln>
        </p:spPr>
      </p:cxnSp>
      <p:cxnSp>
        <p:nvCxnSpPr>
          <p:cNvPr id="1474" name="Google Shape;1474;p185"/>
          <p:cNvCxnSpPr/>
          <p:nvPr/>
        </p:nvCxnSpPr>
        <p:spPr>
          <a:xfrm flipH="1" rot="10800000">
            <a:off x="6963480" y="4024080"/>
            <a:ext cx="1362000" cy="621000"/>
          </a:xfrm>
          <a:prstGeom prst="bentConnector3">
            <a:avLst>
              <a:gd fmla="val 49997" name="adj1"/>
            </a:avLst>
          </a:prstGeom>
          <a:noFill/>
          <a:ln cap="flat" cmpd="sng" w="9525">
            <a:solidFill>
              <a:srgbClr val="747676"/>
            </a:solidFill>
            <a:prstDash val="solid"/>
            <a:round/>
            <a:headEnd len="sm" w="sm" type="none"/>
            <a:tailEnd len="med" w="med" type="triangle"/>
          </a:ln>
        </p:spPr>
      </p:cxnSp>
      <p:sp>
        <p:nvSpPr>
          <p:cNvPr id="1475" name="Google Shape;1475;p185"/>
          <p:cNvSpPr/>
          <p:nvPr/>
        </p:nvSpPr>
        <p:spPr>
          <a:xfrm>
            <a:off x="5438160" y="3131280"/>
            <a:ext cx="622080" cy="1756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Reasoning</a:t>
            </a:r>
            <a:endParaRPr b="0" i="0" sz="700" u="none" cap="none" strike="noStrike">
              <a:latin typeface="Arial"/>
              <a:ea typeface="Arial"/>
              <a:cs typeface="Arial"/>
              <a:sym typeface="Arial"/>
            </a:endParaRPr>
          </a:p>
        </p:txBody>
      </p:sp>
      <p:sp>
        <p:nvSpPr>
          <p:cNvPr id="1476" name="Google Shape;1476;p185"/>
          <p:cNvSpPr/>
          <p:nvPr/>
        </p:nvSpPr>
        <p:spPr>
          <a:xfrm>
            <a:off x="5426280" y="1944720"/>
            <a:ext cx="612000" cy="2332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Causality &amp; Impact</a:t>
            </a:r>
            <a:endParaRPr b="0" i="0" sz="700" u="none" cap="none" strike="noStrike">
              <a:latin typeface="Arial"/>
              <a:ea typeface="Arial"/>
              <a:cs typeface="Arial"/>
              <a:sym typeface="Arial"/>
            </a:endParaRPr>
          </a:p>
        </p:txBody>
      </p:sp>
      <p:sp>
        <p:nvSpPr>
          <p:cNvPr id="1477" name="Google Shape;1477;p185"/>
          <p:cNvSpPr/>
          <p:nvPr/>
        </p:nvSpPr>
        <p:spPr>
          <a:xfrm>
            <a:off x="3706200" y="2048040"/>
            <a:ext cx="712080" cy="2332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Discovery</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(meaning)</a:t>
            </a:r>
            <a:endParaRPr b="0" i="0" sz="700" u="none" cap="none" strike="noStrike">
              <a:latin typeface="Arial"/>
              <a:ea typeface="Arial"/>
              <a:cs typeface="Arial"/>
              <a:sym typeface="Arial"/>
            </a:endParaRPr>
          </a:p>
        </p:txBody>
      </p:sp>
      <p:sp>
        <p:nvSpPr>
          <p:cNvPr id="1478" name="Google Shape;1478;p185"/>
          <p:cNvSpPr/>
          <p:nvPr/>
        </p:nvSpPr>
        <p:spPr>
          <a:xfrm>
            <a:off x="2405520" y="3308400"/>
            <a:ext cx="58824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Precise Extraction </a:t>
            </a:r>
            <a:endParaRPr b="0" i="0" sz="700" u="none" cap="none" strike="noStrike">
              <a:latin typeface="Arial"/>
              <a:ea typeface="Arial"/>
              <a:cs typeface="Arial"/>
              <a:sym typeface="Arial"/>
            </a:endParaRPr>
          </a:p>
        </p:txBody>
      </p:sp>
      <p:grpSp>
        <p:nvGrpSpPr>
          <p:cNvPr id="1479" name="Google Shape;1479;p185"/>
          <p:cNvGrpSpPr/>
          <p:nvPr/>
        </p:nvGrpSpPr>
        <p:grpSpPr>
          <a:xfrm>
            <a:off x="3172680" y="2492280"/>
            <a:ext cx="1618920" cy="1645920"/>
            <a:chOff x="3172680" y="2492280"/>
            <a:chExt cx="1618920" cy="1645920"/>
          </a:xfrm>
        </p:grpSpPr>
        <p:sp>
          <p:nvSpPr>
            <p:cNvPr id="1480" name="Google Shape;1480;p185"/>
            <p:cNvSpPr/>
            <p:nvPr/>
          </p:nvSpPr>
          <p:spPr>
            <a:xfrm>
              <a:off x="3172680" y="2492280"/>
              <a:ext cx="1618920" cy="164592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Integration Services</a:t>
              </a:r>
              <a:endParaRPr b="0" i="0" sz="1100" u="none" cap="none" strike="noStrike">
                <a:latin typeface="Arial"/>
                <a:ea typeface="Arial"/>
                <a:cs typeface="Arial"/>
                <a:sym typeface="Arial"/>
              </a:endParaRPr>
            </a:p>
          </p:txBody>
        </p:sp>
        <p:sp>
          <p:nvSpPr>
            <p:cNvPr id="1481" name="Google Shape;1481;p185"/>
            <p:cNvSpPr/>
            <p:nvPr/>
          </p:nvSpPr>
          <p:spPr>
            <a:xfrm>
              <a:off x="3500640" y="3152880"/>
              <a:ext cx="977760" cy="1627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MicroServices</a:t>
              </a:r>
              <a:endParaRPr b="0" i="0" sz="800" u="none" cap="none" strike="noStrike">
                <a:latin typeface="Arial"/>
                <a:ea typeface="Arial"/>
                <a:cs typeface="Arial"/>
                <a:sym typeface="Arial"/>
              </a:endParaRPr>
            </a:p>
          </p:txBody>
        </p:sp>
        <p:sp>
          <p:nvSpPr>
            <p:cNvPr id="1482" name="Google Shape;1482;p185"/>
            <p:cNvSpPr/>
            <p:nvPr/>
          </p:nvSpPr>
          <p:spPr>
            <a:xfrm>
              <a:off x="3500640" y="2933280"/>
              <a:ext cx="977760" cy="1627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Workflow</a:t>
              </a:r>
              <a:endParaRPr b="0" i="0" sz="800" u="none" cap="none" strike="noStrike">
                <a:latin typeface="Arial"/>
                <a:ea typeface="Arial"/>
                <a:cs typeface="Arial"/>
                <a:sym typeface="Arial"/>
              </a:endParaRPr>
            </a:p>
          </p:txBody>
        </p:sp>
        <p:sp>
          <p:nvSpPr>
            <p:cNvPr id="1483" name="Google Shape;1483;p185"/>
            <p:cNvSpPr/>
            <p:nvPr/>
          </p:nvSpPr>
          <p:spPr>
            <a:xfrm>
              <a:off x="3500640" y="3381480"/>
              <a:ext cx="977760" cy="2412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Data Transforms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(DBTs)</a:t>
              </a:r>
              <a:endParaRPr b="0" i="0" sz="600" u="none" cap="none" strike="noStrike">
                <a:latin typeface="Arial"/>
                <a:ea typeface="Arial"/>
                <a:cs typeface="Arial"/>
                <a:sym typeface="Arial"/>
              </a:endParaRPr>
            </a:p>
          </p:txBody>
        </p:sp>
        <p:sp>
          <p:nvSpPr>
            <p:cNvPr id="1484" name="Google Shape;1484;p185"/>
            <p:cNvSpPr/>
            <p:nvPr/>
          </p:nvSpPr>
          <p:spPr>
            <a:xfrm>
              <a:off x="3508560" y="3667320"/>
              <a:ext cx="961920" cy="1609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Provisioning</a:t>
              </a:r>
              <a:endParaRPr b="0" i="0" sz="800" u="none" cap="none" strike="noStrike">
                <a:latin typeface="Arial"/>
                <a:ea typeface="Arial"/>
                <a:cs typeface="Arial"/>
                <a:sym typeface="Arial"/>
              </a:endParaRPr>
            </a:p>
          </p:txBody>
        </p:sp>
        <p:sp>
          <p:nvSpPr>
            <p:cNvPr id="1485" name="Google Shape;1485;p185"/>
            <p:cNvSpPr/>
            <p:nvPr/>
          </p:nvSpPr>
          <p:spPr>
            <a:xfrm>
              <a:off x="3508560" y="3895920"/>
              <a:ext cx="961920" cy="1609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1486" name="Google Shape;1486;p185"/>
          <p:cNvSpPr/>
          <p:nvPr/>
        </p:nvSpPr>
        <p:spPr>
          <a:xfrm>
            <a:off x="235440" y="1856880"/>
            <a:ext cx="588240" cy="535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AI + LLM</a:t>
            </a:r>
            <a:endParaRPr b="0" i="0" sz="700" u="none" cap="none" strike="noStrike">
              <a:latin typeface="Arial"/>
              <a:ea typeface="Arial"/>
              <a:cs typeface="Arial"/>
              <a:sym typeface="Arial"/>
            </a:endParaRPr>
          </a:p>
        </p:txBody>
      </p:sp>
      <p:cxnSp>
        <p:nvCxnSpPr>
          <p:cNvPr id="1487" name="Google Shape;1487;p185"/>
          <p:cNvCxnSpPr/>
          <p:nvPr/>
        </p:nvCxnSpPr>
        <p:spPr>
          <a:xfrm rot="5400000">
            <a:off x="362370" y="1021050"/>
            <a:ext cx="1001400" cy="669300"/>
          </a:xfrm>
          <a:prstGeom prst="bentConnector2">
            <a:avLst/>
          </a:prstGeom>
          <a:noFill/>
          <a:ln cap="flat" cmpd="sng" w="9525">
            <a:solidFill>
              <a:srgbClr val="CC4125"/>
            </a:solidFill>
            <a:prstDash val="dashDot"/>
            <a:round/>
            <a:headEnd len="med" w="med" type="triangle"/>
            <a:tailEnd len="sm" w="sm" type="none"/>
          </a:ln>
        </p:spPr>
      </p:cxnSp>
      <p:sp>
        <p:nvSpPr>
          <p:cNvPr id="1488" name="Google Shape;1488;p185"/>
          <p:cNvSpPr/>
          <p:nvPr/>
        </p:nvSpPr>
        <p:spPr>
          <a:xfrm>
            <a:off x="-25200" y="1319760"/>
            <a:ext cx="1191960" cy="29520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Profiling &amp; Enrichment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(includes Classification)</a:t>
            </a:r>
            <a:endParaRPr b="0" i="0" sz="700" u="none" cap="none" strike="noStrike">
              <a:latin typeface="Arial"/>
              <a:ea typeface="Arial"/>
              <a:cs typeface="Arial"/>
              <a:sym typeface="Arial"/>
            </a:endParaRPr>
          </a:p>
        </p:txBody>
      </p:sp>
      <p:cxnSp>
        <p:nvCxnSpPr>
          <p:cNvPr id="1489" name="Google Shape;1489;p185"/>
          <p:cNvCxnSpPr/>
          <p:nvPr/>
        </p:nvCxnSpPr>
        <p:spPr>
          <a:xfrm>
            <a:off x="530100" y="2392740"/>
            <a:ext cx="493800" cy="285600"/>
          </a:xfrm>
          <a:prstGeom prst="bentConnector2">
            <a:avLst/>
          </a:prstGeom>
          <a:noFill/>
          <a:ln cap="flat" cmpd="sng" w="9525">
            <a:solidFill>
              <a:srgbClr val="CC4125"/>
            </a:solidFill>
            <a:prstDash val="dashDot"/>
            <a:round/>
            <a:headEnd len="med" w="med" type="triangle"/>
            <a:tailEnd len="sm" w="sm" type="none"/>
          </a:ln>
        </p:spPr>
      </p:cxnSp>
      <p:grpSp>
        <p:nvGrpSpPr>
          <p:cNvPr id="1490" name="Google Shape;1490;p185"/>
          <p:cNvGrpSpPr/>
          <p:nvPr/>
        </p:nvGrpSpPr>
        <p:grpSpPr>
          <a:xfrm>
            <a:off x="1199520" y="1286280"/>
            <a:ext cx="6044040" cy="550800"/>
            <a:chOff x="1199520" y="1286280"/>
            <a:chExt cx="6044040" cy="550800"/>
          </a:xfrm>
        </p:grpSpPr>
        <p:sp>
          <p:nvSpPr>
            <p:cNvPr id="1491" name="Google Shape;1491;p185"/>
            <p:cNvSpPr/>
            <p:nvPr/>
          </p:nvSpPr>
          <p:spPr>
            <a:xfrm>
              <a:off x="1199520" y="1286280"/>
              <a:ext cx="6044040" cy="550800"/>
            </a:xfrm>
            <a:prstGeom prst="roundRect">
              <a:avLst>
                <a:gd fmla="val 16667" name="adj"/>
              </a:avLst>
            </a:prstGeom>
            <a:solidFill>
              <a:srgbClr val="E6B8AF"/>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AI Models</a:t>
              </a:r>
              <a:endParaRPr b="0" i="0" sz="1000" u="none" cap="none" strike="noStrike">
                <a:latin typeface="Arial"/>
                <a:ea typeface="Arial"/>
                <a:cs typeface="Arial"/>
                <a:sym typeface="Arial"/>
              </a:endParaRPr>
            </a:p>
          </p:txBody>
        </p:sp>
        <p:sp>
          <p:nvSpPr>
            <p:cNvPr id="1492" name="Google Shape;1492;p185"/>
            <p:cNvSpPr/>
            <p:nvPr/>
          </p:nvSpPr>
          <p:spPr>
            <a:xfrm>
              <a:off x="1529640" y="137484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(Finance)</a:t>
              </a:r>
              <a:endParaRPr b="0" i="0" sz="600" u="none" cap="none" strike="noStrike">
                <a:latin typeface="Arial"/>
                <a:ea typeface="Arial"/>
                <a:cs typeface="Arial"/>
                <a:sym typeface="Arial"/>
              </a:endParaRPr>
            </a:p>
          </p:txBody>
        </p:sp>
        <p:sp>
          <p:nvSpPr>
            <p:cNvPr id="1493" name="Google Shape;1493;p185"/>
            <p:cNvSpPr/>
            <p:nvPr/>
          </p:nvSpPr>
          <p:spPr>
            <a:xfrm>
              <a:off x="1529640" y="159732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(Legal)</a:t>
              </a:r>
              <a:endParaRPr b="0" i="0" sz="600" u="none" cap="none" strike="noStrike">
                <a:latin typeface="Arial"/>
                <a:ea typeface="Arial"/>
                <a:cs typeface="Arial"/>
                <a:sym typeface="Arial"/>
              </a:endParaRPr>
            </a:p>
          </p:txBody>
        </p:sp>
        <p:sp>
          <p:nvSpPr>
            <p:cNvPr id="1494" name="Google Shape;1494;p185"/>
            <p:cNvSpPr/>
            <p:nvPr/>
          </p:nvSpPr>
          <p:spPr>
            <a:xfrm>
              <a:off x="2476800" y="137484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(Sales)</a:t>
              </a:r>
              <a:endParaRPr b="0" i="0" sz="600" u="none" cap="none" strike="noStrike">
                <a:latin typeface="Arial"/>
                <a:ea typeface="Arial"/>
                <a:cs typeface="Arial"/>
                <a:sym typeface="Arial"/>
              </a:endParaRPr>
            </a:p>
          </p:txBody>
        </p:sp>
        <p:sp>
          <p:nvSpPr>
            <p:cNvPr id="1495" name="Google Shape;1495;p185"/>
            <p:cNvSpPr/>
            <p:nvPr/>
          </p:nvSpPr>
          <p:spPr>
            <a:xfrm>
              <a:off x="2476800" y="159732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(Marketing)</a:t>
              </a:r>
              <a:endParaRPr b="0" i="0" sz="600" u="none" cap="none" strike="noStrike">
                <a:latin typeface="Arial"/>
                <a:ea typeface="Arial"/>
                <a:cs typeface="Arial"/>
                <a:sym typeface="Arial"/>
              </a:endParaRPr>
            </a:p>
          </p:txBody>
        </p:sp>
        <p:sp>
          <p:nvSpPr>
            <p:cNvPr id="1496" name="Google Shape;1496;p185"/>
            <p:cNvSpPr/>
            <p:nvPr/>
          </p:nvSpPr>
          <p:spPr>
            <a:xfrm>
              <a:off x="3423600" y="159732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(Global Tech)</a:t>
              </a:r>
              <a:endParaRPr b="0" i="0" sz="600" u="none" cap="none" strike="noStrike">
                <a:latin typeface="Arial"/>
                <a:ea typeface="Arial"/>
                <a:cs typeface="Arial"/>
                <a:sym typeface="Arial"/>
              </a:endParaRPr>
            </a:p>
          </p:txBody>
        </p:sp>
        <p:sp>
          <p:nvSpPr>
            <p:cNvPr id="1497" name="Google Shape;1497;p185"/>
            <p:cNvSpPr/>
            <p:nvPr/>
          </p:nvSpPr>
          <p:spPr>
            <a:xfrm>
              <a:off x="4370400" y="159732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(HR)</a:t>
              </a:r>
              <a:endParaRPr b="0" i="0" sz="600" u="none" cap="none" strike="noStrike">
                <a:latin typeface="Arial"/>
                <a:ea typeface="Arial"/>
                <a:cs typeface="Arial"/>
                <a:sym typeface="Arial"/>
              </a:endParaRPr>
            </a:p>
          </p:txBody>
        </p:sp>
        <p:sp>
          <p:nvSpPr>
            <p:cNvPr id="1498" name="Google Shape;1498;p185"/>
            <p:cNvSpPr/>
            <p:nvPr/>
          </p:nvSpPr>
          <p:spPr>
            <a:xfrm>
              <a:off x="5317560" y="1597320"/>
              <a:ext cx="9018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Wireless Services</a:t>
              </a:r>
              <a:endParaRPr b="0" i="0" sz="600" u="none" cap="none" strike="noStrike">
                <a:latin typeface="Arial"/>
                <a:ea typeface="Arial"/>
                <a:cs typeface="Arial"/>
                <a:sym typeface="Arial"/>
              </a:endParaRPr>
            </a:p>
          </p:txBody>
        </p:sp>
        <p:sp>
          <p:nvSpPr>
            <p:cNvPr id="1499" name="Google Shape;1499;p185"/>
            <p:cNvSpPr/>
            <p:nvPr/>
          </p:nvSpPr>
          <p:spPr>
            <a:xfrm>
              <a:off x="6264360" y="159732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Wireline Services</a:t>
              </a:r>
              <a:endParaRPr b="0" i="0" sz="600" u="none" cap="none" strike="noStrike">
                <a:latin typeface="Arial"/>
                <a:ea typeface="Arial"/>
                <a:cs typeface="Arial"/>
                <a:sym typeface="Arial"/>
              </a:endParaRPr>
            </a:p>
          </p:txBody>
        </p:sp>
        <p:sp>
          <p:nvSpPr>
            <p:cNvPr id="1500" name="Google Shape;1500;p185"/>
            <p:cNvSpPr/>
            <p:nvPr/>
          </p:nvSpPr>
          <p:spPr>
            <a:xfrm>
              <a:off x="5811840" y="1374840"/>
              <a:ext cx="846000" cy="17712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AI LLMs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(Network Ops)</a:t>
              </a:r>
              <a:endParaRPr b="0" i="0" sz="600" u="none" cap="none" strike="noStrike">
                <a:latin typeface="Arial"/>
                <a:ea typeface="Arial"/>
                <a:cs typeface="Arial"/>
                <a:sym typeface="Arial"/>
              </a:endParaRPr>
            </a:p>
          </p:txBody>
        </p:sp>
      </p:grpSp>
      <p:sp>
        <p:nvSpPr>
          <p:cNvPr id="1501" name="Google Shape;1501;p185"/>
          <p:cNvSpPr/>
          <p:nvPr/>
        </p:nvSpPr>
        <p:spPr>
          <a:xfrm>
            <a:off x="2280240" y="2837880"/>
            <a:ext cx="622080" cy="2332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Semantic Discovery</a:t>
            </a:r>
            <a:endParaRPr b="0" i="0" sz="700" u="none" cap="none" strike="noStrike">
              <a:latin typeface="Arial"/>
              <a:ea typeface="Arial"/>
              <a:cs typeface="Arial"/>
              <a:sym typeface="Arial"/>
            </a:endParaRPr>
          </a:p>
        </p:txBody>
      </p:sp>
      <p:sp>
        <p:nvSpPr>
          <p:cNvPr id="1502" name="Google Shape;1502;p185"/>
          <p:cNvSpPr/>
          <p:nvPr/>
        </p:nvSpPr>
        <p:spPr>
          <a:xfrm>
            <a:off x="1824120" y="1971000"/>
            <a:ext cx="678960" cy="2332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EE0000"/>
                </a:solidFill>
                <a:latin typeface="Arial"/>
                <a:ea typeface="Arial"/>
                <a:cs typeface="Arial"/>
                <a:sym typeface="Arial"/>
              </a:rPr>
              <a:t>Semantic Publishing</a:t>
            </a:r>
            <a:endParaRPr b="0" i="0" sz="700" u="none" cap="none" strike="noStrike">
              <a:latin typeface="Arial"/>
              <a:ea typeface="Arial"/>
              <a:cs typeface="Arial"/>
              <a:sym typeface="Arial"/>
            </a:endParaRPr>
          </a:p>
        </p:txBody>
      </p:sp>
      <p:sp>
        <p:nvSpPr>
          <p:cNvPr id="1503" name="Google Shape;1503;p185"/>
          <p:cNvSpPr/>
          <p:nvPr/>
        </p:nvSpPr>
        <p:spPr>
          <a:xfrm>
            <a:off x="2809440" y="4741200"/>
            <a:ext cx="3893760" cy="365400"/>
          </a:xfrm>
          <a:prstGeom prst="roundRect">
            <a:avLst>
              <a:gd fmla="val 16667" name="adj"/>
            </a:avLst>
          </a:prstGeom>
          <a:solidFill>
            <a:srgbClr val="FFFFFF"/>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The Design for the Semantic Layer follows a component model built using Domain Driven Design (DDD Principles) to enable Federation of Intelligent Agents delivering services orchestrated using an Event Driven Architecture</a:t>
            </a:r>
            <a:endParaRPr b="0" i="0" sz="800" u="none" cap="none" strike="noStrike">
              <a:latin typeface="Arial"/>
              <a:ea typeface="Arial"/>
              <a:cs typeface="Arial"/>
              <a:sym typeface="Arial"/>
            </a:endParaRPr>
          </a:p>
        </p:txBody>
      </p:sp>
      <p:sp>
        <p:nvSpPr>
          <p:cNvPr id="1504" name="Google Shape;1504;p185"/>
          <p:cNvSpPr/>
          <p:nvPr/>
        </p:nvSpPr>
        <p:spPr>
          <a:xfrm>
            <a:off x="645480" y="158184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05" name="Google Shape;1505;p185"/>
          <p:cNvSpPr/>
          <p:nvPr/>
        </p:nvSpPr>
        <p:spPr>
          <a:xfrm>
            <a:off x="2452680" y="201708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06" name="Google Shape;1506;p185"/>
          <p:cNvSpPr/>
          <p:nvPr/>
        </p:nvSpPr>
        <p:spPr>
          <a:xfrm>
            <a:off x="2373840" y="306108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07" name="Google Shape;1507;p185"/>
          <p:cNvSpPr/>
          <p:nvPr/>
        </p:nvSpPr>
        <p:spPr>
          <a:xfrm>
            <a:off x="2615400" y="359244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08" name="Google Shape;1508;p185"/>
          <p:cNvSpPr/>
          <p:nvPr/>
        </p:nvSpPr>
        <p:spPr>
          <a:xfrm>
            <a:off x="3380400" y="212724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09" name="Google Shape;1509;p185"/>
          <p:cNvSpPr/>
          <p:nvPr/>
        </p:nvSpPr>
        <p:spPr>
          <a:xfrm>
            <a:off x="6026760" y="198432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10" name="Google Shape;1510;p185"/>
          <p:cNvSpPr/>
          <p:nvPr/>
        </p:nvSpPr>
        <p:spPr>
          <a:xfrm>
            <a:off x="5438160" y="3325680"/>
            <a:ext cx="44892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11" name="Google Shape;1511;p185"/>
          <p:cNvSpPr/>
          <p:nvPr/>
        </p:nvSpPr>
        <p:spPr>
          <a:xfrm>
            <a:off x="6509520" y="379512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12" name="Google Shape;1512;p185"/>
          <p:cNvSpPr/>
          <p:nvPr/>
        </p:nvSpPr>
        <p:spPr>
          <a:xfrm>
            <a:off x="6538320" y="2437560"/>
            <a:ext cx="41580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13" name="Google Shape;1513;p185"/>
          <p:cNvSpPr/>
          <p:nvPr/>
        </p:nvSpPr>
        <p:spPr>
          <a:xfrm>
            <a:off x="3751560" y="4251960"/>
            <a:ext cx="49392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514" name="Google Shape;1514;p185"/>
          <p:cNvSpPr/>
          <p:nvPr/>
        </p:nvSpPr>
        <p:spPr>
          <a:xfrm>
            <a:off x="305280" y="2138760"/>
            <a:ext cx="44928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515" name="Google Shape;1515;p185"/>
          <p:cNvSpPr/>
          <p:nvPr/>
        </p:nvSpPr>
        <p:spPr>
          <a:xfrm>
            <a:off x="7792200" y="968040"/>
            <a:ext cx="448920" cy="154080"/>
          </a:xfrm>
          <a:prstGeom prst="flowChartAlternateProcess">
            <a:avLst/>
          </a:prstGeom>
          <a:no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grpSp>
        <p:nvGrpSpPr>
          <p:cNvPr id="1516" name="Google Shape;1516;p185"/>
          <p:cNvGrpSpPr/>
          <p:nvPr/>
        </p:nvGrpSpPr>
        <p:grpSpPr>
          <a:xfrm>
            <a:off x="8549640" y="0"/>
            <a:ext cx="594000" cy="679680"/>
            <a:chOff x="8549640" y="0"/>
            <a:chExt cx="594000" cy="679680"/>
          </a:xfrm>
        </p:grpSpPr>
        <p:sp>
          <p:nvSpPr>
            <p:cNvPr id="1517" name="Google Shape;1517;p18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8" name="Google Shape;1518;p185"/>
            <p:cNvGrpSpPr/>
            <p:nvPr/>
          </p:nvGrpSpPr>
          <p:grpSpPr>
            <a:xfrm>
              <a:off x="8588160" y="0"/>
              <a:ext cx="555480" cy="679680"/>
              <a:chOff x="8588160" y="0"/>
              <a:chExt cx="555480" cy="679680"/>
            </a:xfrm>
          </p:grpSpPr>
          <p:pic>
            <p:nvPicPr>
              <p:cNvPr id="1519" name="Google Shape;1519;p185"/>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520" name="Google Shape;1520;p18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186"/>
          <p:cNvSpPr txBox="1"/>
          <p:nvPr/>
        </p:nvSpPr>
        <p:spPr>
          <a:xfrm>
            <a:off x="421920" y="158040"/>
            <a:ext cx="7692480" cy="240480"/>
          </a:xfrm>
          <a:prstGeom prst="rect">
            <a:avLst/>
          </a:prstGeom>
          <a:noFill/>
          <a:ln>
            <a:noFill/>
          </a:ln>
        </p:spPr>
        <p:txBody>
          <a:bodyPr anchorCtr="0" anchor="ctr" bIns="0" lIns="0" spcFirstLastPara="1" rIns="0" wrap="square" tIns="9000">
            <a:noAutofit/>
          </a:bodyPr>
          <a:lstStyle/>
          <a:p>
            <a:pPr indent="0" lvl="0" marL="1260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Semantic Pilot - Build &amp; Deploy Standard Reporting Hierarchy</a:t>
            </a:r>
            <a:endParaRPr b="0" i="0" sz="2000" u="none" cap="none" strike="noStrike">
              <a:solidFill>
                <a:srgbClr val="000000"/>
              </a:solidFill>
              <a:latin typeface="Arial"/>
              <a:ea typeface="Arial"/>
              <a:cs typeface="Arial"/>
              <a:sym typeface="Arial"/>
            </a:endParaRPr>
          </a:p>
        </p:txBody>
      </p:sp>
      <p:pic>
        <p:nvPicPr>
          <p:cNvPr id="1526" name="Google Shape;1526;p186"/>
          <p:cNvPicPr preferRelativeResize="0"/>
          <p:nvPr/>
        </p:nvPicPr>
        <p:blipFill rotWithShape="1">
          <a:blip r:embed="rId3">
            <a:alphaModFix/>
          </a:blip>
          <a:srcRect b="0" l="0" r="0" t="0"/>
          <a:stretch/>
        </p:blipFill>
        <p:spPr>
          <a:xfrm>
            <a:off x="5334840" y="1745280"/>
            <a:ext cx="1131480" cy="662400"/>
          </a:xfrm>
          <a:prstGeom prst="rect">
            <a:avLst/>
          </a:prstGeom>
          <a:noFill/>
          <a:ln>
            <a:noFill/>
          </a:ln>
        </p:spPr>
      </p:pic>
      <p:sp>
        <p:nvSpPr>
          <p:cNvPr id="1527" name="Google Shape;1527;p186"/>
          <p:cNvSpPr/>
          <p:nvPr/>
        </p:nvSpPr>
        <p:spPr>
          <a:xfrm>
            <a:off x="5130360" y="1707840"/>
            <a:ext cx="187560" cy="737280"/>
          </a:xfrm>
          <a:prstGeom prst="rightBrace">
            <a:avLst>
              <a:gd fmla="val 50000" name="adj1"/>
              <a:gd fmla="val 50000" name="adj2"/>
            </a:avLst>
          </a:prstGeom>
          <a:no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86"/>
          <p:cNvSpPr/>
          <p:nvPr/>
        </p:nvSpPr>
        <p:spPr>
          <a:xfrm>
            <a:off x="7278840" y="3216240"/>
            <a:ext cx="1131480" cy="35028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Dimensions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 Custom)</a:t>
            </a:r>
            <a:endParaRPr b="0" i="0" sz="700" u="none" cap="none" strike="noStrike">
              <a:latin typeface="Arial"/>
              <a:ea typeface="Arial"/>
              <a:cs typeface="Arial"/>
              <a:sym typeface="Arial"/>
            </a:endParaRPr>
          </a:p>
        </p:txBody>
      </p:sp>
      <p:sp>
        <p:nvSpPr>
          <p:cNvPr id="1529" name="Google Shape;1529;p186"/>
          <p:cNvSpPr/>
          <p:nvPr/>
        </p:nvSpPr>
        <p:spPr>
          <a:xfrm>
            <a:off x="457200" y="1063440"/>
            <a:ext cx="3443040" cy="3054240"/>
          </a:xfrm>
          <a:prstGeom prst="rect">
            <a:avLst/>
          </a:prstGeom>
          <a:noFill/>
          <a:ln>
            <a:noFill/>
          </a:ln>
        </p:spPr>
        <p:txBody>
          <a:bodyPr anchorCtr="0" anchor="t" bIns="68400" lIns="68400" spcFirstLastPara="1" rIns="68400" wrap="square" tIns="68400">
            <a:noAutofit/>
          </a:bodyPr>
          <a:lstStyle/>
          <a:p>
            <a:pPr indent="0" lvl="0" marL="0" marR="0" rtl="0" algn="l">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Building standard reporting hierarchies using core taxonomies and domain-specific ontologies:</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100" u="none" cap="none" strike="noStrike">
                <a:solidFill>
                  <a:srgbClr val="222222"/>
                </a:solidFill>
                <a:latin typeface="Arial"/>
                <a:ea typeface="Arial"/>
                <a:cs typeface="Arial"/>
                <a:sym typeface="Arial"/>
              </a:rPr>
              <a:t>5-Step Approach</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1. Establish a structured vocabulary</a:t>
            </a:r>
            <a:endParaRPr b="0" i="0" sz="1100" u="none" cap="none" strike="noStrike">
              <a:latin typeface="Arial"/>
              <a:ea typeface="Arial"/>
              <a:cs typeface="Arial"/>
              <a:sym typeface="Arial"/>
            </a:endParaRPr>
          </a:p>
          <a:p>
            <a:pPr indent="0" lvl="0" marL="0" marR="0" rtl="0" algn="l">
              <a:lnSpc>
                <a:spcPct val="100000"/>
              </a:lnSpc>
              <a:spcBef>
                <a:spcPts val="799"/>
              </a:spcBef>
              <a:spcAft>
                <a:spcPts val="0"/>
              </a:spcAft>
              <a:buNone/>
            </a:pPr>
            <a:r>
              <a:rPr b="0" i="0" lang="en-US" sz="1100" u="none" cap="none" strike="noStrike">
                <a:solidFill>
                  <a:srgbClr val="222222"/>
                </a:solidFill>
                <a:latin typeface="Arial"/>
                <a:ea typeface="Arial"/>
                <a:cs typeface="Arial"/>
                <a:sym typeface="Arial"/>
              </a:rPr>
              <a:t>2. Create a classification system of core taxonomies (enterprise building blocks)</a:t>
            </a:r>
            <a:endParaRPr b="0" i="0" sz="1100" u="none" cap="none" strike="noStrike">
              <a:latin typeface="Arial"/>
              <a:ea typeface="Arial"/>
              <a:cs typeface="Arial"/>
              <a:sym typeface="Arial"/>
            </a:endParaRPr>
          </a:p>
          <a:p>
            <a:pPr indent="0" lvl="0" marL="0" marR="0" rtl="0" algn="l">
              <a:lnSpc>
                <a:spcPct val="100000"/>
              </a:lnSpc>
              <a:spcBef>
                <a:spcPts val="799"/>
              </a:spcBef>
              <a:spcAft>
                <a:spcPts val="0"/>
              </a:spcAft>
              <a:buNone/>
            </a:pPr>
            <a:r>
              <a:rPr b="0" i="0" lang="en-US" sz="1100" u="none" cap="none" strike="noStrike">
                <a:solidFill>
                  <a:srgbClr val="222222"/>
                </a:solidFill>
                <a:latin typeface="Arial"/>
                <a:ea typeface="Arial"/>
                <a:cs typeface="Arial"/>
                <a:sym typeface="Arial"/>
              </a:rPr>
              <a:t>3. Define domain specific ontologies supporting the main categories and subcategories of your data</a:t>
            </a:r>
            <a:endParaRPr b="0" i="0" sz="1100" u="none" cap="none" strike="noStrike">
              <a:latin typeface="Arial"/>
              <a:ea typeface="Arial"/>
              <a:cs typeface="Arial"/>
              <a:sym typeface="Arial"/>
            </a:endParaRPr>
          </a:p>
          <a:p>
            <a:pPr indent="0" lvl="0" marL="0" marR="0" rtl="0" algn="l">
              <a:lnSpc>
                <a:spcPct val="100000"/>
              </a:lnSpc>
              <a:spcBef>
                <a:spcPts val="799"/>
              </a:spcBef>
              <a:spcAft>
                <a:spcPts val="0"/>
              </a:spcAft>
              <a:buNone/>
            </a:pPr>
            <a:r>
              <a:rPr b="0" i="0" lang="en-US" sz="1100" u="none" cap="none" strike="noStrike">
                <a:solidFill>
                  <a:srgbClr val="222222"/>
                </a:solidFill>
                <a:latin typeface="Arial"/>
                <a:ea typeface="Arial"/>
                <a:cs typeface="Arial"/>
                <a:sym typeface="Arial"/>
              </a:rPr>
              <a:t>4. Conduct discovery with domain SMEs and Add deeper relationships and context between classes in a composite ontology (representing the hierarchy)</a:t>
            </a:r>
            <a:endParaRPr b="0" i="0" sz="1100" u="none" cap="none" strike="noStrike">
              <a:latin typeface="Arial"/>
              <a:ea typeface="Arial"/>
              <a:cs typeface="Arial"/>
              <a:sym typeface="Arial"/>
            </a:endParaRPr>
          </a:p>
          <a:p>
            <a:pPr indent="0" lvl="0" marL="0" marR="0" rtl="0" algn="l">
              <a:lnSpc>
                <a:spcPct val="100000"/>
              </a:lnSpc>
              <a:spcBef>
                <a:spcPts val="799"/>
              </a:spcBef>
              <a:spcAft>
                <a:spcPts val="0"/>
              </a:spcAft>
              <a:buNone/>
            </a:pPr>
            <a:r>
              <a:rPr b="0" i="0" lang="en-US" sz="1100" u="none" cap="none" strike="noStrike">
                <a:solidFill>
                  <a:srgbClr val="222222"/>
                </a:solidFill>
                <a:latin typeface="Arial"/>
                <a:ea typeface="Arial"/>
                <a:cs typeface="Arial"/>
                <a:sym typeface="Arial"/>
              </a:rPr>
              <a:t>5. Introduce more complex connections to enable more nuanced analysis and reporting for the data</a:t>
            </a:r>
            <a:endParaRPr b="0" i="0" sz="1100" u="none" cap="none" strike="noStrike">
              <a:latin typeface="Arial"/>
              <a:ea typeface="Arial"/>
              <a:cs typeface="Arial"/>
              <a:sym typeface="Arial"/>
            </a:endParaRPr>
          </a:p>
        </p:txBody>
      </p:sp>
      <p:pic>
        <p:nvPicPr>
          <p:cNvPr id="1530" name="Google Shape;1530;p186"/>
          <p:cNvPicPr preferRelativeResize="0"/>
          <p:nvPr/>
        </p:nvPicPr>
        <p:blipFill rotWithShape="1">
          <a:blip r:embed="rId4">
            <a:alphaModFix/>
          </a:blip>
          <a:srcRect b="0" l="0" r="0" t="0"/>
          <a:stretch/>
        </p:blipFill>
        <p:spPr>
          <a:xfrm>
            <a:off x="7121880" y="819000"/>
            <a:ext cx="1502640" cy="2359800"/>
          </a:xfrm>
          <a:prstGeom prst="rect">
            <a:avLst/>
          </a:prstGeom>
          <a:noFill/>
          <a:ln>
            <a:noFill/>
          </a:ln>
        </p:spPr>
      </p:pic>
      <p:sp>
        <p:nvSpPr>
          <p:cNvPr id="1531" name="Google Shape;1531;p186"/>
          <p:cNvSpPr/>
          <p:nvPr/>
        </p:nvSpPr>
        <p:spPr>
          <a:xfrm>
            <a:off x="6726960" y="1658160"/>
            <a:ext cx="187560" cy="737280"/>
          </a:xfrm>
          <a:prstGeom prst="rightBrace">
            <a:avLst>
              <a:gd fmla="val 50000" name="adj1"/>
              <a:gd fmla="val 50000" name="adj2"/>
            </a:avLst>
          </a:prstGeom>
          <a:no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86"/>
          <p:cNvSpPr/>
          <p:nvPr/>
        </p:nvSpPr>
        <p:spPr>
          <a:xfrm>
            <a:off x="3978360" y="3626640"/>
            <a:ext cx="1381320" cy="384120"/>
          </a:xfrm>
          <a:prstGeom prst="chevron">
            <a:avLst>
              <a:gd fmla="val 50000" name="adj"/>
            </a:avLst>
          </a:prstGeom>
          <a:solidFill>
            <a:srgbClr val="ADD0F2"/>
          </a:solidFill>
          <a:ln cap="flat" cmpd="sng" w="1907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Extend &amp; Curate Vocabulary</a:t>
            </a:r>
            <a:endParaRPr b="0" i="0" sz="800" u="none" cap="none" strike="noStrike">
              <a:latin typeface="Arial"/>
              <a:ea typeface="Arial"/>
              <a:cs typeface="Arial"/>
              <a:sym typeface="Arial"/>
            </a:endParaRPr>
          </a:p>
        </p:txBody>
      </p:sp>
      <p:sp>
        <p:nvSpPr>
          <p:cNvPr id="1533" name="Google Shape;1533;p186"/>
          <p:cNvSpPr/>
          <p:nvPr/>
        </p:nvSpPr>
        <p:spPr>
          <a:xfrm>
            <a:off x="5422680" y="3626640"/>
            <a:ext cx="1463760" cy="384120"/>
          </a:xfrm>
          <a:prstGeom prst="chevron">
            <a:avLst>
              <a:gd fmla="val 50000" name="adj"/>
            </a:avLst>
          </a:prstGeom>
          <a:solidFill>
            <a:srgbClr val="ADD0F2"/>
          </a:solidFill>
          <a:ln cap="flat" cmpd="sng" w="1907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Curate Taxonomies &amp; Ontologies</a:t>
            </a:r>
            <a:endParaRPr b="0" i="0" sz="800" u="none" cap="none" strike="noStrike">
              <a:latin typeface="Arial"/>
              <a:ea typeface="Arial"/>
              <a:cs typeface="Arial"/>
              <a:sym typeface="Arial"/>
            </a:endParaRPr>
          </a:p>
        </p:txBody>
      </p:sp>
      <p:sp>
        <p:nvSpPr>
          <p:cNvPr id="1534" name="Google Shape;1534;p186"/>
          <p:cNvSpPr/>
          <p:nvPr/>
        </p:nvSpPr>
        <p:spPr>
          <a:xfrm>
            <a:off x="6886800" y="3626640"/>
            <a:ext cx="1800000" cy="384120"/>
          </a:xfrm>
          <a:prstGeom prst="chevron">
            <a:avLst>
              <a:gd fmla="val 50000" name="adj"/>
            </a:avLst>
          </a:prstGeom>
          <a:solidFill>
            <a:srgbClr val="ADD0F2"/>
          </a:solidFill>
          <a:ln cap="flat" cmpd="sng" w="1907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Build and Publish Standard Hierarchy(s)</a:t>
            </a:r>
            <a:endParaRPr b="0" i="0" sz="800" u="none" cap="none" strike="noStrike">
              <a:latin typeface="Arial"/>
              <a:ea typeface="Arial"/>
              <a:cs typeface="Arial"/>
              <a:sym typeface="Arial"/>
            </a:endParaRPr>
          </a:p>
        </p:txBody>
      </p:sp>
      <p:pic>
        <p:nvPicPr>
          <p:cNvPr id="1535" name="Google Shape;1535;p186"/>
          <p:cNvPicPr preferRelativeResize="0"/>
          <p:nvPr/>
        </p:nvPicPr>
        <p:blipFill rotWithShape="1">
          <a:blip r:embed="rId5">
            <a:alphaModFix/>
          </a:blip>
          <a:srcRect b="0" l="0" r="0" t="0"/>
          <a:stretch/>
        </p:blipFill>
        <p:spPr>
          <a:xfrm>
            <a:off x="4161240" y="956880"/>
            <a:ext cx="707760" cy="2139840"/>
          </a:xfrm>
          <a:prstGeom prst="rect">
            <a:avLst/>
          </a:prstGeom>
          <a:noFill/>
          <a:ln>
            <a:noFill/>
          </a:ln>
        </p:spPr>
      </p:pic>
      <p:grpSp>
        <p:nvGrpSpPr>
          <p:cNvPr id="1536" name="Google Shape;1536;p186"/>
          <p:cNvGrpSpPr/>
          <p:nvPr/>
        </p:nvGrpSpPr>
        <p:grpSpPr>
          <a:xfrm>
            <a:off x="8549640" y="0"/>
            <a:ext cx="594000" cy="679680"/>
            <a:chOff x="8549640" y="0"/>
            <a:chExt cx="594000" cy="679680"/>
          </a:xfrm>
        </p:grpSpPr>
        <p:sp>
          <p:nvSpPr>
            <p:cNvPr id="1537" name="Google Shape;1537;p18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8" name="Google Shape;1538;p186"/>
            <p:cNvGrpSpPr/>
            <p:nvPr/>
          </p:nvGrpSpPr>
          <p:grpSpPr>
            <a:xfrm>
              <a:off x="8588160" y="0"/>
              <a:ext cx="555480" cy="679680"/>
              <a:chOff x="8588160" y="0"/>
              <a:chExt cx="555480" cy="679680"/>
            </a:xfrm>
          </p:grpSpPr>
          <p:pic>
            <p:nvPicPr>
              <p:cNvPr id="1539" name="Google Shape;1539;p186"/>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1540" name="Google Shape;1540;p18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cxnSp>
        <p:nvCxnSpPr>
          <p:cNvPr id="1545" name="Google Shape;1545;p187"/>
          <p:cNvCxnSpPr/>
          <p:nvPr/>
        </p:nvCxnSpPr>
        <p:spPr>
          <a:xfrm>
            <a:off x="2381760" y="1929600"/>
            <a:ext cx="2603100" cy="534900"/>
          </a:xfrm>
          <a:prstGeom prst="curvedConnector3">
            <a:avLst>
              <a:gd fmla="val 50001" name="adj1"/>
            </a:avLst>
          </a:prstGeom>
          <a:noFill/>
          <a:ln cap="flat" cmpd="sng" w="9525">
            <a:solidFill>
              <a:srgbClr val="000000"/>
            </a:solidFill>
            <a:prstDash val="dashDot"/>
            <a:round/>
            <a:headEnd len="sm" w="sm" type="none"/>
            <a:tailEnd len="sm" w="sm" type="none"/>
          </a:ln>
        </p:spPr>
      </p:cxnSp>
      <p:grpSp>
        <p:nvGrpSpPr>
          <p:cNvPr id="1546" name="Google Shape;1546;p187"/>
          <p:cNvGrpSpPr/>
          <p:nvPr/>
        </p:nvGrpSpPr>
        <p:grpSpPr>
          <a:xfrm>
            <a:off x="1664280" y="1436400"/>
            <a:ext cx="717120" cy="636840"/>
            <a:chOff x="1664280" y="1436400"/>
            <a:chExt cx="717120" cy="636840"/>
          </a:xfrm>
        </p:grpSpPr>
        <p:pic>
          <p:nvPicPr>
            <p:cNvPr id="1547" name="Google Shape;1547;p187"/>
            <p:cNvPicPr preferRelativeResize="0"/>
            <p:nvPr/>
          </p:nvPicPr>
          <p:blipFill rotWithShape="1">
            <a:blip r:embed="rId3">
              <a:alphaModFix/>
            </a:blip>
            <a:srcRect b="0" l="0" r="0" t="0"/>
            <a:stretch/>
          </p:blipFill>
          <p:spPr>
            <a:xfrm>
              <a:off x="1801080" y="1436400"/>
              <a:ext cx="443520" cy="383760"/>
            </a:xfrm>
            <a:prstGeom prst="rect">
              <a:avLst/>
            </a:prstGeom>
            <a:noFill/>
            <a:ln>
              <a:noFill/>
            </a:ln>
          </p:spPr>
        </p:pic>
        <p:sp>
          <p:nvSpPr>
            <p:cNvPr id="1548" name="Google Shape;1548;p187"/>
            <p:cNvSpPr/>
            <p:nvPr/>
          </p:nvSpPr>
          <p:spPr>
            <a:xfrm>
              <a:off x="1664280" y="178344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grpSp>
      <p:grpSp>
        <p:nvGrpSpPr>
          <p:cNvPr id="1549" name="Google Shape;1549;p187"/>
          <p:cNvGrpSpPr/>
          <p:nvPr/>
        </p:nvGrpSpPr>
        <p:grpSpPr>
          <a:xfrm>
            <a:off x="2953440" y="1026720"/>
            <a:ext cx="983520" cy="595440"/>
            <a:chOff x="2953440" y="1026720"/>
            <a:chExt cx="983520" cy="595440"/>
          </a:xfrm>
        </p:grpSpPr>
        <p:pic>
          <p:nvPicPr>
            <p:cNvPr id="1550" name="Google Shape;1550;p187"/>
            <p:cNvPicPr preferRelativeResize="0"/>
            <p:nvPr/>
          </p:nvPicPr>
          <p:blipFill rotWithShape="1">
            <a:blip r:embed="rId4">
              <a:alphaModFix/>
            </a:blip>
            <a:srcRect b="0" l="0" r="0" t="0"/>
            <a:stretch/>
          </p:blipFill>
          <p:spPr>
            <a:xfrm>
              <a:off x="3278160" y="1026720"/>
              <a:ext cx="334080" cy="298080"/>
            </a:xfrm>
            <a:prstGeom prst="rect">
              <a:avLst/>
            </a:prstGeom>
            <a:noFill/>
            <a:ln>
              <a:noFill/>
            </a:ln>
          </p:spPr>
        </p:pic>
        <p:sp>
          <p:nvSpPr>
            <p:cNvPr id="1551" name="Google Shape;1551;p187"/>
            <p:cNvSpPr/>
            <p:nvPr/>
          </p:nvSpPr>
          <p:spPr>
            <a:xfrm>
              <a:off x="2953440" y="133236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grpSp>
      <p:grpSp>
        <p:nvGrpSpPr>
          <p:cNvPr id="1552" name="Google Shape;1552;p187"/>
          <p:cNvGrpSpPr/>
          <p:nvPr/>
        </p:nvGrpSpPr>
        <p:grpSpPr>
          <a:xfrm>
            <a:off x="807120" y="2410560"/>
            <a:ext cx="717120" cy="619920"/>
            <a:chOff x="807120" y="2410560"/>
            <a:chExt cx="717120" cy="619920"/>
          </a:xfrm>
        </p:grpSpPr>
        <p:sp>
          <p:nvSpPr>
            <p:cNvPr id="1553" name="Google Shape;1553;p187"/>
            <p:cNvSpPr/>
            <p:nvPr/>
          </p:nvSpPr>
          <p:spPr>
            <a:xfrm>
              <a:off x="807120" y="2740680"/>
              <a:ext cx="717120" cy="2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Vocabulary</a:t>
              </a:r>
              <a:endParaRPr b="0" i="0" sz="700" u="none" cap="none" strike="noStrike">
                <a:latin typeface="Arial"/>
                <a:ea typeface="Arial"/>
                <a:cs typeface="Arial"/>
                <a:sym typeface="Arial"/>
              </a:endParaRPr>
            </a:p>
          </p:txBody>
        </p:sp>
        <p:pic>
          <p:nvPicPr>
            <p:cNvPr id="1554" name="Google Shape;1554;p187"/>
            <p:cNvPicPr preferRelativeResize="0"/>
            <p:nvPr/>
          </p:nvPicPr>
          <p:blipFill rotWithShape="1">
            <a:blip r:embed="rId5">
              <a:alphaModFix/>
            </a:blip>
            <a:srcRect b="0" l="0" r="0" t="0"/>
            <a:stretch/>
          </p:blipFill>
          <p:spPr>
            <a:xfrm>
              <a:off x="1036080" y="2410560"/>
              <a:ext cx="163080" cy="372600"/>
            </a:xfrm>
            <a:prstGeom prst="rect">
              <a:avLst/>
            </a:prstGeom>
            <a:noFill/>
            <a:ln>
              <a:noFill/>
            </a:ln>
          </p:spPr>
        </p:pic>
      </p:grpSp>
      <p:grpSp>
        <p:nvGrpSpPr>
          <p:cNvPr id="1555" name="Google Shape;1555;p187"/>
          <p:cNvGrpSpPr/>
          <p:nvPr/>
        </p:nvGrpSpPr>
        <p:grpSpPr>
          <a:xfrm>
            <a:off x="1664280" y="2401920"/>
            <a:ext cx="717120" cy="636840"/>
            <a:chOff x="1664280" y="2401920"/>
            <a:chExt cx="717120" cy="636840"/>
          </a:xfrm>
        </p:grpSpPr>
        <p:pic>
          <p:nvPicPr>
            <p:cNvPr id="1556" name="Google Shape;1556;p187"/>
            <p:cNvPicPr preferRelativeResize="0"/>
            <p:nvPr/>
          </p:nvPicPr>
          <p:blipFill rotWithShape="1">
            <a:blip r:embed="rId3">
              <a:alphaModFix/>
            </a:blip>
            <a:srcRect b="0" l="0" r="0" t="0"/>
            <a:stretch/>
          </p:blipFill>
          <p:spPr>
            <a:xfrm>
              <a:off x="1801080" y="2401920"/>
              <a:ext cx="443520" cy="383760"/>
            </a:xfrm>
            <a:prstGeom prst="rect">
              <a:avLst/>
            </a:prstGeom>
            <a:noFill/>
            <a:ln>
              <a:noFill/>
            </a:ln>
          </p:spPr>
        </p:pic>
        <p:sp>
          <p:nvSpPr>
            <p:cNvPr id="1557" name="Google Shape;1557;p187"/>
            <p:cNvSpPr/>
            <p:nvPr/>
          </p:nvSpPr>
          <p:spPr>
            <a:xfrm>
              <a:off x="1664280" y="274896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grpSp>
      <p:grpSp>
        <p:nvGrpSpPr>
          <p:cNvPr id="1558" name="Google Shape;1558;p187"/>
          <p:cNvGrpSpPr/>
          <p:nvPr/>
        </p:nvGrpSpPr>
        <p:grpSpPr>
          <a:xfrm>
            <a:off x="1664280" y="3215160"/>
            <a:ext cx="717120" cy="637200"/>
            <a:chOff x="1664280" y="3215160"/>
            <a:chExt cx="717120" cy="637200"/>
          </a:xfrm>
        </p:grpSpPr>
        <p:pic>
          <p:nvPicPr>
            <p:cNvPr id="1559" name="Google Shape;1559;p187"/>
            <p:cNvPicPr preferRelativeResize="0"/>
            <p:nvPr/>
          </p:nvPicPr>
          <p:blipFill rotWithShape="1">
            <a:blip r:embed="rId3">
              <a:alphaModFix/>
            </a:blip>
            <a:srcRect b="0" l="0" r="0" t="0"/>
            <a:stretch/>
          </p:blipFill>
          <p:spPr>
            <a:xfrm>
              <a:off x="1801080" y="3215160"/>
              <a:ext cx="443520" cy="383760"/>
            </a:xfrm>
            <a:prstGeom prst="rect">
              <a:avLst/>
            </a:prstGeom>
            <a:noFill/>
            <a:ln>
              <a:noFill/>
            </a:ln>
          </p:spPr>
        </p:pic>
        <p:sp>
          <p:nvSpPr>
            <p:cNvPr id="1560" name="Google Shape;1560;p187"/>
            <p:cNvSpPr/>
            <p:nvPr/>
          </p:nvSpPr>
          <p:spPr>
            <a:xfrm>
              <a:off x="1664280" y="356256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grpSp>
      <p:grpSp>
        <p:nvGrpSpPr>
          <p:cNvPr id="1561" name="Google Shape;1561;p187"/>
          <p:cNvGrpSpPr/>
          <p:nvPr/>
        </p:nvGrpSpPr>
        <p:grpSpPr>
          <a:xfrm>
            <a:off x="2953440" y="1794240"/>
            <a:ext cx="983520" cy="595440"/>
            <a:chOff x="2953440" y="1794240"/>
            <a:chExt cx="983520" cy="595440"/>
          </a:xfrm>
        </p:grpSpPr>
        <p:pic>
          <p:nvPicPr>
            <p:cNvPr id="1562" name="Google Shape;1562;p187"/>
            <p:cNvPicPr preferRelativeResize="0"/>
            <p:nvPr/>
          </p:nvPicPr>
          <p:blipFill rotWithShape="1">
            <a:blip r:embed="rId4">
              <a:alphaModFix/>
            </a:blip>
            <a:srcRect b="0" l="0" r="0" t="0"/>
            <a:stretch/>
          </p:blipFill>
          <p:spPr>
            <a:xfrm>
              <a:off x="3278160" y="1794240"/>
              <a:ext cx="334080" cy="298080"/>
            </a:xfrm>
            <a:prstGeom prst="rect">
              <a:avLst/>
            </a:prstGeom>
            <a:noFill/>
            <a:ln>
              <a:noFill/>
            </a:ln>
          </p:spPr>
        </p:pic>
        <p:sp>
          <p:nvSpPr>
            <p:cNvPr id="1563" name="Google Shape;1563;p187"/>
            <p:cNvSpPr/>
            <p:nvPr/>
          </p:nvSpPr>
          <p:spPr>
            <a:xfrm>
              <a:off x="2953440" y="2099880"/>
              <a:ext cx="983520" cy="2898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grpSp>
      <p:grpSp>
        <p:nvGrpSpPr>
          <p:cNvPr id="1564" name="Google Shape;1564;p187"/>
          <p:cNvGrpSpPr/>
          <p:nvPr/>
        </p:nvGrpSpPr>
        <p:grpSpPr>
          <a:xfrm>
            <a:off x="2953440" y="2751120"/>
            <a:ext cx="983520" cy="595440"/>
            <a:chOff x="2953440" y="2751120"/>
            <a:chExt cx="983520" cy="595440"/>
          </a:xfrm>
        </p:grpSpPr>
        <p:pic>
          <p:nvPicPr>
            <p:cNvPr id="1565" name="Google Shape;1565;p187"/>
            <p:cNvPicPr preferRelativeResize="0"/>
            <p:nvPr/>
          </p:nvPicPr>
          <p:blipFill rotWithShape="1">
            <a:blip r:embed="rId4">
              <a:alphaModFix/>
            </a:blip>
            <a:srcRect b="0" l="0" r="0" t="0"/>
            <a:stretch/>
          </p:blipFill>
          <p:spPr>
            <a:xfrm>
              <a:off x="3278160" y="2751120"/>
              <a:ext cx="334080" cy="298080"/>
            </a:xfrm>
            <a:prstGeom prst="rect">
              <a:avLst/>
            </a:prstGeom>
            <a:noFill/>
            <a:ln>
              <a:noFill/>
            </a:ln>
          </p:spPr>
        </p:pic>
        <p:sp>
          <p:nvSpPr>
            <p:cNvPr id="1566" name="Google Shape;1566;p187"/>
            <p:cNvSpPr/>
            <p:nvPr/>
          </p:nvSpPr>
          <p:spPr>
            <a:xfrm>
              <a:off x="2953440" y="305676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grpSp>
      <p:grpSp>
        <p:nvGrpSpPr>
          <p:cNvPr id="1567" name="Google Shape;1567;p187"/>
          <p:cNvGrpSpPr/>
          <p:nvPr/>
        </p:nvGrpSpPr>
        <p:grpSpPr>
          <a:xfrm>
            <a:off x="2953440" y="3508200"/>
            <a:ext cx="983520" cy="595440"/>
            <a:chOff x="2953440" y="3508200"/>
            <a:chExt cx="983520" cy="595440"/>
          </a:xfrm>
        </p:grpSpPr>
        <p:pic>
          <p:nvPicPr>
            <p:cNvPr id="1568" name="Google Shape;1568;p187"/>
            <p:cNvPicPr preferRelativeResize="0"/>
            <p:nvPr/>
          </p:nvPicPr>
          <p:blipFill rotWithShape="1">
            <a:blip r:embed="rId4">
              <a:alphaModFix/>
            </a:blip>
            <a:srcRect b="0" l="0" r="0" t="0"/>
            <a:stretch/>
          </p:blipFill>
          <p:spPr>
            <a:xfrm>
              <a:off x="3278160" y="3508200"/>
              <a:ext cx="334080" cy="298080"/>
            </a:xfrm>
            <a:prstGeom prst="rect">
              <a:avLst/>
            </a:prstGeom>
            <a:noFill/>
            <a:ln>
              <a:noFill/>
            </a:ln>
          </p:spPr>
        </p:pic>
        <p:sp>
          <p:nvSpPr>
            <p:cNvPr id="1569" name="Google Shape;1569;p187"/>
            <p:cNvSpPr/>
            <p:nvPr/>
          </p:nvSpPr>
          <p:spPr>
            <a:xfrm>
              <a:off x="2953440" y="381384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grpSp>
      <p:cxnSp>
        <p:nvCxnSpPr>
          <p:cNvPr id="1570" name="Google Shape;1570;p187"/>
          <p:cNvCxnSpPr/>
          <p:nvPr/>
        </p:nvCxnSpPr>
        <p:spPr>
          <a:xfrm rot="-5400000">
            <a:off x="1098480" y="2698320"/>
            <a:ext cx="667200" cy="464400"/>
          </a:xfrm>
          <a:prstGeom prst="curvedConnector3">
            <a:avLst>
              <a:gd fmla="val 0" name="adj1"/>
            </a:avLst>
          </a:prstGeom>
          <a:noFill/>
          <a:ln cap="flat" cmpd="sng" w="9525">
            <a:solidFill>
              <a:srgbClr val="222222"/>
            </a:solidFill>
            <a:prstDash val="solid"/>
            <a:round/>
            <a:headEnd len="sm" w="sm" type="none"/>
            <a:tailEnd len="sm" w="sm" type="none"/>
          </a:ln>
        </p:spPr>
      </p:cxnSp>
      <p:cxnSp>
        <p:nvCxnSpPr>
          <p:cNvPr id="1571" name="Google Shape;1571;p187"/>
          <p:cNvCxnSpPr/>
          <p:nvPr/>
        </p:nvCxnSpPr>
        <p:spPr>
          <a:xfrm flipH="1" rot="10800000">
            <a:off x="1198800" y="2597160"/>
            <a:ext cx="600900" cy="2400"/>
          </a:xfrm>
          <a:prstGeom prst="curvedConnector3">
            <a:avLst>
              <a:gd fmla="val 50004" name="adj1"/>
            </a:avLst>
          </a:prstGeom>
          <a:noFill/>
          <a:ln cap="flat" cmpd="sng" w="9525">
            <a:solidFill>
              <a:srgbClr val="222222"/>
            </a:solidFill>
            <a:prstDash val="solid"/>
            <a:round/>
            <a:headEnd len="sm" w="sm" type="none"/>
            <a:tailEnd len="sm" w="sm" type="none"/>
          </a:ln>
        </p:spPr>
      </p:cxnSp>
      <p:cxnSp>
        <p:nvCxnSpPr>
          <p:cNvPr id="1572" name="Google Shape;1572;p187"/>
          <p:cNvCxnSpPr/>
          <p:nvPr/>
        </p:nvCxnSpPr>
        <p:spPr>
          <a:xfrm flipH="1" rot="-5400000">
            <a:off x="1095330" y="2701590"/>
            <a:ext cx="810000" cy="600900"/>
          </a:xfrm>
          <a:prstGeom prst="curvedConnector3">
            <a:avLst>
              <a:gd fmla="val 0" name="adj1"/>
            </a:avLst>
          </a:prstGeom>
          <a:noFill/>
          <a:ln cap="flat" cmpd="sng" w="9525">
            <a:solidFill>
              <a:srgbClr val="222222"/>
            </a:solidFill>
            <a:prstDash val="solid"/>
            <a:round/>
            <a:headEnd len="sm" w="sm" type="none"/>
            <a:tailEnd len="sm" w="sm" type="none"/>
          </a:ln>
        </p:spPr>
      </p:cxnSp>
      <p:cxnSp>
        <p:nvCxnSpPr>
          <p:cNvPr id="1573" name="Google Shape;1573;p187"/>
          <p:cNvCxnSpPr/>
          <p:nvPr/>
        </p:nvCxnSpPr>
        <p:spPr>
          <a:xfrm flipH="1" rot="10800000">
            <a:off x="2380680" y="1929720"/>
            <a:ext cx="571200" cy="450600"/>
          </a:xfrm>
          <a:prstGeom prst="curvedConnector3">
            <a:avLst>
              <a:gd fmla="val 50004" name="adj1"/>
            </a:avLst>
          </a:prstGeom>
          <a:noFill/>
          <a:ln cap="flat" cmpd="sng" w="9525">
            <a:solidFill>
              <a:srgbClr val="222222"/>
            </a:solidFill>
            <a:prstDash val="solid"/>
            <a:round/>
            <a:headEnd len="sm" w="sm" type="none"/>
            <a:tailEnd len="sm" w="sm" type="none"/>
          </a:ln>
        </p:spPr>
      </p:cxnSp>
      <p:cxnSp>
        <p:nvCxnSpPr>
          <p:cNvPr id="1574" name="Google Shape;1574;p187"/>
          <p:cNvCxnSpPr/>
          <p:nvPr/>
        </p:nvCxnSpPr>
        <p:spPr>
          <a:xfrm rot="-5400000">
            <a:off x="1957980" y="3318180"/>
            <a:ext cx="1416600" cy="571200"/>
          </a:xfrm>
          <a:prstGeom prst="curvedConnector3">
            <a:avLst>
              <a:gd fmla="val 0" name="adj1"/>
            </a:avLst>
          </a:prstGeom>
          <a:noFill/>
          <a:ln cap="flat" cmpd="sng" w="9525">
            <a:solidFill>
              <a:srgbClr val="222222"/>
            </a:solidFill>
            <a:prstDash val="solid"/>
            <a:round/>
            <a:headEnd len="sm" w="sm" type="none"/>
            <a:tailEnd len="sm" w="sm" type="none"/>
          </a:ln>
        </p:spPr>
      </p:cxnSp>
      <p:pic>
        <p:nvPicPr>
          <p:cNvPr id="1575" name="Google Shape;1575;p187"/>
          <p:cNvPicPr preferRelativeResize="0"/>
          <p:nvPr/>
        </p:nvPicPr>
        <p:blipFill rotWithShape="1">
          <a:blip r:embed="rId6">
            <a:alphaModFix/>
          </a:blip>
          <a:srcRect b="0" l="0" r="0" t="0"/>
          <a:stretch/>
        </p:blipFill>
        <p:spPr>
          <a:xfrm>
            <a:off x="4984920" y="1073880"/>
            <a:ext cx="2521800" cy="2781720"/>
          </a:xfrm>
          <a:prstGeom prst="rect">
            <a:avLst/>
          </a:prstGeom>
          <a:noFill/>
          <a:ln>
            <a:noFill/>
          </a:ln>
        </p:spPr>
      </p:pic>
      <p:cxnSp>
        <p:nvCxnSpPr>
          <p:cNvPr id="1576" name="Google Shape;1576;p187"/>
          <p:cNvCxnSpPr/>
          <p:nvPr/>
        </p:nvCxnSpPr>
        <p:spPr>
          <a:xfrm>
            <a:off x="3937320" y="1478520"/>
            <a:ext cx="1047300" cy="986100"/>
          </a:xfrm>
          <a:prstGeom prst="curvedConnector3">
            <a:avLst>
              <a:gd fmla="val 49999" name="adj1"/>
            </a:avLst>
          </a:prstGeom>
          <a:noFill/>
          <a:ln cap="flat" cmpd="sng" w="9525">
            <a:solidFill>
              <a:srgbClr val="000000"/>
            </a:solidFill>
            <a:prstDash val="dashDot"/>
            <a:round/>
            <a:headEnd len="sm" w="sm" type="none"/>
            <a:tailEnd len="sm" w="sm" type="none"/>
          </a:ln>
        </p:spPr>
      </p:cxnSp>
      <p:cxnSp>
        <p:nvCxnSpPr>
          <p:cNvPr id="1577" name="Google Shape;1577;p187"/>
          <p:cNvCxnSpPr/>
          <p:nvPr/>
        </p:nvCxnSpPr>
        <p:spPr>
          <a:xfrm flipH="1" rot="10800000">
            <a:off x="2380320" y="2895480"/>
            <a:ext cx="2603100" cy="430200"/>
          </a:xfrm>
          <a:prstGeom prst="curvedConnector3">
            <a:avLst>
              <a:gd fmla="val 50001" name="adj1"/>
            </a:avLst>
          </a:prstGeom>
          <a:noFill/>
          <a:ln cap="flat" cmpd="sng" w="9525">
            <a:solidFill>
              <a:srgbClr val="000000"/>
            </a:solidFill>
            <a:prstDash val="dashDot"/>
            <a:round/>
            <a:headEnd len="sm" w="sm" type="none"/>
            <a:tailEnd len="sm" w="sm" type="none"/>
          </a:ln>
        </p:spPr>
      </p:cxnSp>
      <p:sp>
        <p:nvSpPr>
          <p:cNvPr id="1578" name="Google Shape;1578;p187"/>
          <p:cNvSpPr txBox="1"/>
          <p:nvPr/>
        </p:nvSpPr>
        <p:spPr>
          <a:xfrm>
            <a:off x="473760" y="87480"/>
            <a:ext cx="7917840" cy="38124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Component Design for Modeling </a:t>
            </a:r>
            <a:r>
              <a:rPr b="1" i="0" lang="en-US" sz="2100" u="none" cap="none" strike="noStrike">
                <a:solidFill>
                  <a:srgbClr val="F50A23"/>
                </a:solidFill>
                <a:latin typeface="Arial"/>
                <a:ea typeface="Arial"/>
                <a:cs typeface="Arial"/>
                <a:sym typeface="Arial"/>
              </a:rPr>
              <a:t>Business Knowledge</a:t>
            </a:r>
            <a:r>
              <a:rPr b="1" i="0" lang="en-US" sz="2100" u="none" cap="none" strike="noStrike">
                <a:solidFill>
                  <a:srgbClr val="000000"/>
                </a:solidFill>
                <a:latin typeface="Arial"/>
                <a:ea typeface="Arial"/>
                <a:cs typeface="Arial"/>
                <a:sym typeface="Arial"/>
              </a:rPr>
              <a:t> at Scale</a:t>
            </a:r>
            <a:endParaRPr b="0" i="0" sz="2100" u="none" cap="none" strike="noStrike">
              <a:solidFill>
                <a:srgbClr val="000000"/>
              </a:solidFill>
              <a:latin typeface="Arial"/>
              <a:ea typeface="Arial"/>
              <a:cs typeface="Arial"/>
              <a:sym typeface="Arial"/>
            </a:endParaRPr>
          </a:p>
        </p:txBody>
      </p:sp>
      <p:grpSp>
        <p:nvGrpSpPr>
          <p:cNvPr id="1579" name="Google Shape;1579;p187"/>
          <p:cNvGrpSpPr/>
          <p:nvPr/>
        </p:nvGrpSpPr>
        <p:grpSpPr>
          <a:xfrm>
            <a:off x="8549640" y="0"/>
            <a:ext cx="594000" cy="679680"/>
            <a:chOff x="8549640" y="0"/>
            <a:chExt cx="594000" cy="679680"/>
          </a:xfrm>
        </p:grpSpPr>
        <p:sp>
          <p:nvSpPr>
            <p:cNvPr id="1580" name="Google Shape;1580;p18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1" name="Google Shape;1581;p187"/>
            <p:cNvGrpSpPr/>
            <p:nvPr/>
          </p:nvGrpSpPr>
          <p:grpSpPr>
            <a:xfrm>
              <a:off x="8588160" y="0"/>
              <a:ext cx="555480" cy="679680"/>
              <a:chOff x="8588160" y="0"/>
              <a:chExt cx="555480" cy="679680"/>
            </a:xfrm>
          </p:grpSpPr>
          <p:pic>
            <p:nvPicPr>
              <p:cNvPr id="1582" name="Google Shape;1582;p187"/>
              <p:cNvPicPr preferRelativeResize="0"/>
              <p:nvPr/>
            </p:nvPicPr>
            <p:blipFill rotWithShape="1">
              <a:blip r:embed="rId7">
                <a:alphaModFix/>
              </a:blip>
              <a:srcRect b="0" l="20669" r="9844" t="0"/>
              <a:stretch/>
            </p:blipFill>
            <p:spPr>
              <a:xfrm>
                <a:off x="8588160" y="0"/>
                <a:ext cx="530640" cy="530640"/>
              </a:xfrm>
              <a:prstGeom prst="rect">
                <a:avLst/>
              </a:prstGeom>
              <a:noFill/>
              <a:ln>
                <a:noFill/>
              </a:ln>
            </p:spPr>
          </p:pic>
          <p:sp>
            <p:nvSpPr>
              <p:cNvPr id="1583" name="Google Shape;1583;p18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188"/>
          <p:cNvSpPr/>
          <p:nvPr/>
        </p:nvSpPr>
        <p:spPr>
          <a:xfrm>
            <a:off x="489960" y="166680"/>
            <a:ext cx="3093840" cy="29052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700" u="none" cap="none" strike="noStrike">
                <a:solidFill>
                  <a:srgbClr val="000000"/>
                </a:solidFill>
                <a:latin typeface="Arial"/>
                <a:ea typeface="Arial"/>
                <a:cs typeface="Arial"/>
                <a:sym typeface="Arial"/>
              </a:rPr>
              <a:t>SKL &amp; Semantic Metrics Layer</a:t>
            </a:r>
            <a:endParaRPr b="0" i="0" sz="1700" u="none" cap="none" strike="noStrike">
              <a:latin typeface="Arial"/>
              <a:ea typeface="Arial"/>
              <a:cs typeface="Arial"/>
              <a:sym typeface="Arial"/>
            </a:endParaRPr>
          </a:p>
        </p:txBody>
      </p:sp>
      <p:sp>
        <p:nvSpPr>
          <p:cNvPr id="1589" name="Google Shape;1589;p188"/>
          <p:cNvSpPr/>
          <p:nvPr/>
        </p:nvSpPr>
        <p:spPr>
          <a:xfrm>
            <a:off x="4669200" y="3167640"/>
            <a:ext cx="767520" cy="326160"/>
          </a:xfrm>
          <a:prstGeom prst="can">
            <a:avLst>
              <a:gd fmla="val 25000" name="adj"/>
            </a:avLst>
          </a:prstGeom>
          <a:solidFill>
            <a:srgbClr val="C9DAF8"/>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Staged</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Data</a:t>
            </a:r>
            <a:endParaRPr b="0" i="0" sz="800" u="none" cap="none" strike="noStrike">
              <a:latin typeface="Arial"/>
              <a:ea typeface="Arial"/>
              <a:cs typeface="Arial"/>
              <a:sym typeface="Arial"/>
            </a:endParaRPr>
          </a:p>
        </p:txBody>
      </p:sp>
      <p:sp>
        <p:nvSpPr>
          <p:cNvPr id="1590" name="Google Shape;1590;p188"/>
          <p:cNvSpPr/>
          <p:nvPr/>
        </p:nvSpPr>
        <p:spPr>
          <a:xfrm>
            <a:off x="3929040" y="419832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OLAP</a:t>
            </a:r>
            <a:endParaRPr b="0" i="0" sz="700" u="none" cap="none" strike="noStrike">
              <a:latin typeface="Arial"/>
              <a:ea typeface="Arial"/>
              <a:cs typeface="Arial"/>
              <a:sym typeface="Arial"/>
            </a:endParaRPr>
          </a:p>
        </p:txBody>
      </p:sp>
      <p:sp>
        <p:nvSpPr>
          <p:cNvPr id="1591" name="Google Shape;1591;p188"/>
          <p:cNvSpPr/>
          <p:nvPr/>
        </p:nvSpPr>
        <p:spPr>
          <a:xfrm>
            <a:off x="5033520" y="417276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OLTP</a:t>
            </a:r>
            <a:endParaRPr b="0" i="0" sz="700" u="none" cap="none" strike="noStrike">
              <a:latin typeface="Arial"/>
              <a:ea typeface="Arial"/>
              <a:cs typeface="Arial"/>
              <a:sym typeface="Arial"/>
            </a:endParaRPr>
          </a:p>
        </p:txBody>
      </p:sp>
      <p:sp>
        <p:nvSpPr>
          <p:cNvPr id="1592" name="Google Shape;1592;p188"/>
          <p:cNvSpPr/>
          <p:nvPr/>
        </p:nvSpPr>
        <p:spPr>
          <a:xfrm>
            <a:off x="3732480" y="3686040"/>
            <a:ext cx="4348440" cy="169920"/>
          </a:xfrm>
          <a:prstGeom prst="flowChartProcess">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Data Access Layer</a:t>
            </a:r>
            <a:endParaRPr b="0" i="0" sz="800" u="none" cap="none" strike="noStrike">
              <a:latin typeface="Arial"/>
              <a:ea typeface="Arial"/>
              <a:cs typeface="Arial"/>
              <a:sym typeface="Arial"/>
            </a:endParaRPr>
          </a:p>
        </p:txBody>
      </p:sp>
      <p:sp>
        <p:nvSpPr>
          <p:cNvPr id="1593" name="Google Shape;1593;p188"/>
          <p:cNvSpPr/>
          <p:nvPr/>
        </p:nvSpPr>
        <p:spPr>
          <a:xfrm>
            <a:off x="4028760" y="429876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OLAP</a:t>
            </a:r>
            <a:endParaRPr b="0" i="0" sz="700" u="none" cap="none" strike="noStrike">
              <a:latin typeface="Arial"/>
              <a:ea typeface="Arial"/>
              <a:cs typeface="Arial"/>
              <a:sym typeface="Arial"/>
            </a:endParaRPr>
          </a:p>
        </p:txBody>
      </p:sp>
      <p:sp>
        <p:nvSpPr>
          <p:cNvPr id="1594" name="Google Shape;1594;p188"/>
          <p:cNvSpPr/>
          <p:nvPr/>
        </p:nvSpPr>
        <p:spPr>
          <a:xfrm>
            <a:off x="4128120" y="439920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OLAP</a:t>
            </a:r>
            <a:endParaRPr b="0" i="0" sz="700" u="none" cap="none" strike="noStrike">
              <a:latin typeface="Arial"/>
              <a:ea typeface="Arial"/>
              <a:cs typeface="Arial"/>
              <a:sym typeface="Arial"/>
            </a:endParaRPr>
          </a:p>
        </p:txBody>
      </p:sp>
      <p:sp>
        <p:nvSpPr>
          <p:cNvPr id="1595" name="Google Shape;1595;p188"/>
          <p:cNvSpPr/>
          <p:nvPr/>
        </p:nvSpPr>
        <p:spPr>
          <a:xfrm>
            <a:off x="4227480" y="449964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OLAP</a:t>
            </a:r>
            <a:endParaRPr b="0" i="0" sz="700" u="none" cap="none" strike="noStrike">
              <a:latin typeface="Arial"/>
              <a:ea typeface="Arial"/>
              <a:cs typeface="Arial"/>
              <a:sym typeface="Arial"/>
            </a:endParaRPr>
          </a:p>
        </p:txBody>
      </p:sp>
      <p:sp>
        <p:nvSpPr>
          <p:cNvPr id="1596" name="Google Shape;1596;p188"/>
          <p:cNvSpPr/>
          <p:nvPr/>
        </p:nvSpPr>
        <p:spPr>
          <a:xfrm>
            <a:off x="5132880" y="427320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OLTP</a:t>
            </a:r>
            <a:endParaRPr b="0" i="0" sz="700" u="none" cap="none" strike="noStrike">
              <a:latin typeface="Arial"/>
              <a:ea typeface="Arial"/>
              <a:cs typeface="Arial"/>
              <a:sym typeface="Arial"/>
            </a:endParaRPr>
          </a:p>
        </p:txBody>
      </p:sp>
      <p:sp>
        <p:nvSpPr>
          <p:cNvPr id="1597" name="Google Shape;1597;p188"/>
          <p:cNvSpPr/>
          <p:nvPr/>
        </p:nvSpPr>
        <p:spPr>
          <a:xfrm>
            <a:off x="5232240" y="437364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OLTP</a:t>
            </a:r>
            <a:endParaRPr b="0" i="0" sz="700" u="none" cap="none" strike="noStrike">
              <a:latin typeface="Arial"/>
              <a:ea typeface="Arial"/>
              <a:cs typeface="Arial"/>
              <a:sym typeface="Arial"/>
            </a:endParaRPr>
          </a:p>
        </p:txBody>
      </p:sp>
      <p:sp>
        <p:nvSpPr>
          <p:cNvPr id="1598" name="Google Shape;1598;p188"/>
          <p:cNvSpPr/>
          <p:nvPr/>
        </p:nvSpPr>
        <p:spPr>
          <a:xfrm>
            <a:off x="5331600" y="4474080"/>
            <a:ext cx="488160" cy="237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OLTP</a:t>
            </a:r>
            <a:endParaRPr b="0" i="0" sz="700" u="none" cap="none" strike="noStrike">
              <a:latin typeface="Arial"/>
              <a:ea typeface="Arial"/>
              <a:cs typeface="Arial"/>
              <a:sym typeface="Arial"/>
            </a:endParaRPr>
          </a:p>
        </p:txBody>
      </p:sp>
      <p:sp>
        <p:nvSpPr>
          <p:cNvPr id="1599" name="Google Shape;1599;p188"/>
          <p:cNvSpPr/>
          <p:nvPr/>
        </p:nvSpPr>
        <p:spPr>
          <a:xfrm>
            <a:off x="6137640" y="4172760"/>
            <a:ext cx="488160" cy="2376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600" name="Google Shape;1600;p188"/>
          <p:cNvSpPr/>
          <p:nvPr/>
        </p:nvSpPr>
        <p:spPr>
          <a:xfrm>
            <a:off x="6237000" y="4273200"/>
            <a:ext cx="488160" cy="2376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601" name="Google Shape;1601;p188"/>
          <p:cNvSpPr/>
          <p:nvPr/>
        </p:nvSpPr>
        <p:spPr>
          <a:xfrm>
            <a:off x="6336360" y="4373640"/>
            <a:ext cx="488160" cy="2376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602" name="Google Shape;1602;p188"/>
          <p:cNvSpPr/>
          <p:nvPr/>
        </p:nvSpPr>
        <p:spPr>
          <a:xfrm>
            <a:off x="6435720" y="4474080"/>
            <a:ext cx="488160" cy="2376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603" name="Google Shape;1603;p188"/>
          <p:cNvSpPr/>
          <p:nvPr/>
        </p:nvSpPr>
        <p:spPr>
          <a:xfrm>
            <a:off x="7142400" y="4189320"/>
            <a:ext cx="516240" cy="255240"/>
          </a:xfrm>
          <a:prstGeom prst="roundRect">
            <a:avLst>
              <a:gd fmla="val 16667" name="adj"/>
            </a:avLst>
          </a:prstGeom>
          <a:solidFill>
            <a:srgbClr val="AAAAA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Objects</a:t>
            </a:r>
            <a:endParaRPr b="0" i="0" sz="700" u="none" cap="none" strike="noStrike">
              <a:latin typeface="Arial"/>
              <a:ea typeface="Arial"/>
              <a:cs typeface="Arial"/>
              <a:sym typeface="Arial"/>
            </a:endParaRPr>
          </a:p>
        </p:txBody>
      </p:sp>
      <p:sp>
        <p:nvSpPr>
          <p:cNvPr id="1604" name="Google Shape;1604;p188"/>
          <p:cNvSpPr/>
          <p:nvPr/>
        </p:nvSpPr>
        <p:spPr>
          <a:xfrm>
            <a:off x="7241760" y="4289760"/>
            <a:ext cx="516240" cy="255240"/>
          </a:xfrm>
          <a:prstGeom prst="roundRect">
            <a:avLst>
              <a:gd fmla="val 16667" name="adj"/>
            </a:avLst>
          </a:prstGeom>
          <a:solidFill>
            <a:srgbClr val="AAAAA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Objects</a:t>
            </a:r>
            <a:endParaRPr b="0" i="0" sz="700" u="none" cap="none" strike="noStrike">
              <a:latin typeface="Arial"/>
              <a:ea typeface="Arial"/>
              <a:cs typeface="Arial"/>
              <a:sym typeface="Arial"/>
            </a:endParaRPr>
          </a:p>
        </p:txBody>
      </p:sp>
      <p:sp>
        <p:nvSpPr>
          <p:cNvPr id="1605" name="Google Shape;1605;p188"/>
          <p:cNvSpPr/>
          <p:nvPr/>
        </p:nvSpPr>
        <p:spPr>
          <a:xfrm>
            <a:off x="7341120" y="4390200"/>
            <a:ext cx="516240" cy="255240"/>
          </a:xfrm>
          <a:prstGeom prst="roundRect">
            <a:avLst>
              <a:gd fmla="val 16667" name="adj"/>
            </a:avLst>
          </a:prstGeom>
          <a:solidFill>
            <a:srgbClr val="AAAAA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Objects</a:t>
            </a:r>
            <a:endParaRPr b="0" i="0" sz="700" u="none" cap="none" strike="noStrike">
              <a:latin typeface="Arial"/>
              <a:ea typeface="Arial"/>
              <a:cs typeface="Arial"/>
              <a:sym typeface="Arial"/>
            </a:endParaRPr>
          </a:p>
        </p:txBody>
      </p:sp>
      <p:sp>
        <p:nvSpPr>
          <p:cNvPr id="1606" name="Google Shape;1606;p188"/>
          <p:cNvSpPr/>
          <p:nvPr/>
        </p:nvSpPr>
        <p:spPr>
          <a:xfrm>
            <a:off x="7440480" y="4490640"/>
            <a:ext cx="516240" cy="255240"/>
          </a:xfrm>
          <a:prstGeom prst="roundRect">
            <a:avLst>
              <a:gd fmla="val 16667" name="adj"/>
            </a:avLst>
          </a:prstGeom>
          <a:solidFill>
            <a:srgbClr val="AAAAA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Objects</a:t>
            </a:r>
            <a:endParaRPr b="0" i="0" sz="700" u="none" cap="none" strike="noStrike">
              <a:latin typeface="Arial"/>
              <a:ea typeface="Arial"/>
              <a:cs typeface="Arial"/>
              <a:sym typeface="Arial"/>
            </a:endParaRPr>
          </a:p>
        </p:txBody>
      </p:sp>
      <p:sp>
        <p:nvSpPr>
          <p:cNvPr id="1607" name="Google Shape;1607;p188"/>
          <p:cNvSpPr/>
          <p:nvPr/>
        </p:nvSpPr>
        <p:spPr>
          <a:xfrm>
            <a:off x="4123080" y="1068120"/>
            <a:ext cx="853920" cy="534600"/>
          </a:xfrm>
          <a:prstGeom prst="can">
            <a:avLst>
              <a:gd fmla="val 17919" name="adj"/>
            </a:avLst>
          </a:prstGeom>
          <a:solidFill>
            <a:srgbClr val="B6D7A8"/>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Semantic Knowledge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088CE"/>
                </a:solidFill>
                <a:latin typeface="Arial"/>
                <a:ea typeface="Arial"/>
                <a:cs typeface="Arial"/>
                <a:sym typeface="Arial"/>
              </a:rPr>
              <a:t>Personalization</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088CE"/>
                </a:solidFill>
                <a:latin typeface="Arial"/>
                <a:ea typeface="Arial"/>
                <a:cs typeface="Arial"/>
                <a:sym typeface="Arial"/>
              </a:rPr>
              <a:t>Causality + Impact</a:t>
            </a:r>
            <a:endParaRPr b="0" i="0" sz="600" u="none" cap="none" strike="noStrike">
              <a:latin typeface="Arial"/>
              <a:ea typeface="Arial"/>
              <a:cs typeface="Arial"/>
              <a:sym typeface="Arial"/>
            </a:endParaRPr>
          </a:p>
        </p:txBody>
      </p:sp>
      <p:sp>
        <p:nvSpPr>
          <p:cNvPr id="1608" name="Google Shape;1608;p188"/>
          <p:cNvSpPr/>
          <p:nvPr/>
        </p:nvSpPr>
        <p:spPr>
          <a:xfrm>
            <a:off x="3832560" y="3077280"/>
            <a:ext cx="767520" cy="326160"/>
          </a:xfrm>
          <a:prstGeom prst="can">
            <a:avLst>
              <a:gd fmla="val 25000" name="adj"/>
            </a:avLst>
          </a:prstGeom>
          <a:solidFill>
            <a:srgbClr val="C9DAF8"/>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Staged</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Aggregates</a:t>
            </a:r>
            <a:endParaRPr b="0" i="0" sz="800" u="none" cap="none" strike="noStrike">
              <a:latin typeface="Arial"/>
              <a:ea typeface="Arial"/>
              <a:cs typeface="Arial"/>
              <a:sym typeface="Arial"/>
            </a:endParaRPr>
          </a:p>
        </p:txBody>
      </p:sp>
      <p:sp>
        <p:nvSpPr>
          <p:cNvPr id="1609" name="Google Shape;1609;p188"/>
          <p:cNvSpPr/>
          <p:nvPr/>
        </p:nvSpPr>
        <p:spPr>
          <a:xfrm>
            <a:off x="4268160" y="2704320"/>
            <a:ext cx="767520" cy="326160"/>
          </a:xfrm>
          <a:prstGeom prst="can">
            <a:avLst>
              <a:gd fmla="val 25000" name="adj"/>
            </a:avLst>
          </a:prstGeom>
          <a:solidFill>
            <a:srgbClr val="C9DAF8"/>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Staged</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Calcs</a:t>
            </a:r>
            <a:endParaRPr b="0" i="0" sz="800" u="none" cap="none" strike="noStrike">
              <a:latin typeface="Arial"/>
              <a:ea typeface="Arial"/>
              <a:cs typeface="Arial"/>
              <a:sym typeface="Arial"/>
            </a:endParaRPr>
          </a:p>
        </p:txBody>
      </p:sp>
      <p:sp>
        <p:nvSpPr>
          <p:cNvPr id="1610" name="Google Shape;1610;p188"/>
          <p:cNvSpPr/>
          <p:nvPr/>
        </p:nvSpPr>
        <p:spPr>
          <a:xfrm>
            <a:off x="6444360" y="2558520"/>
            <a:ext cx="767520" cy="488520"/>
          </a:xfrm>
          <a:prstGeom prst="plaque">
            <a:avLst>
              <a:gd fmla="val 16667" name="adj"/>
            </a:avLst>
          </a:prstGeom>
          <a:solidFill>
            <a:srgbClr val="F4CCCC"/>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Semantic Metrics Hub</a:t>
            </a:r>
            <a:endParaRPr b="0" i="0" sz="800" u="none" cap="none" strike="noStrike">
              <a:latin typeface="Arial"/>
              <a:ea typeface="Arial"/>
              <a:cs typeface="Arial"/>
              <a:sym typeface="Arial"/>
            </a:endParaRPr>
          </a:p>
        </p:txBody>
      </p:sp>
      <p:pic>
        <p:nvPicPr>
          <p:cNvPr id="1611" name="Google Shape;1611;p188"/>
          <p:cNvPicPr preferRelativeResize="0"/>
          <p:nvPr/>
        </p:nvPicPr>
        <p:blipFill rotWithShape="1">
          <a:blip r:embed="rId3">
            <a:alphaModFix/>
          </a:blip>
          <a:srcRect b="0" l="0" r="0" t="0"/>
          <a:stretch/>
        </p:blipFill>
        <p:spPr>
          <a:xfrm>
            <a:off x="5470920" y="1044360"/>
            <a:ext cx="983520" cy="582120"/>
          </a:xfrm>
          <a:prstGeom prst="rect">
            <a:avLst/>
          </a:prstGeom>
          <a:noFill/>
          <a:ln>
            <a:noFill/>
          </a:ln>
        </p:spPr>
      </p:pic>
      <p:sp>
        <p:nvSpPr>
          <p:cNvPr id="1612" name="Google Shape;1612;p188"/>
          <p:cNvSpPr/>
          <p:nvPr/>
        </p:nvSpPr>
        <p:spPr>
          <a:xfrm rot="10800000">
            <a:off x="5293440" y="1011960"/>
            <a:ext cx="163080" cy="647640"/>
          </a:xfrm>
          <a:prstGeom prst="rightBrace">
            <a:avLst>
              <a:gd fmla="val 50000" name="adj1"/>
              <a:gd fmla="val 50000" name="adj2"/>
            </a:avLst>
          </a:prstGeom>
          <a:no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88"/>
          <p:cNvSpPr/>
          <p:nvPr/>
        </p:nvSpPr>
        <p:spPr>
          <a:xfrm>
            <a:off x="6797160" y="1646280"/>
            <a:ext cx="983520" cy="456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Dimensions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 Custom)</a:t>
            </a:r>
            <a:endParaRPr b="0" i="0" sz="700" u="none" cap="none" strike="noStrike">
              <a:latin typeface="Arial"/>
              <a:ea typeface="Arial"/>
              <a:cs typeface="Arial"/>
              <a:sym typeface="Arial"/>
            </a:endParaRPr>
          </a:p>
        </p:txBody>
      </p:sp>
      <p:sp>
        <p:nvSpPr>
          <p:cNvPr id="1614" name="Google Shape;1614;p188"/>
          <p:cNvSpPr/>
          <p:nvPr/>
        </p:nvSpPr>
        <p:spPr>
          <a:xfrm>
            <a:off x="5425200" y="1801800"/>
            <a:ext cx="801000" cy="294840"/>
          </a:xfrm>
          <a:prstGeom prst="can">
            <a:avLst>
              <a:gd fmla="val 25000" name="adj"/>
            </a:avLst>
          </a:prstGeom>
          <a:solidFill>
            <a:srgbClr val="C9DAF8"/>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Arial"/>
                <a:ea typeface="Arial"/>
                <a:cs typeface="Arial"/>
                <a:sym typeface="Arial"/>
              </a:rPr>
              <a:t>Metrics Library</a:t>
            </a:r>
            <a:endParaRPr b="0" i="0" sz="600" u="none" cap="none" strike="noStrike">
              <a:latin typeface="Arial"/>
              <a:ea typeface="Arial"/>
              <a:cs typeface="Arial"/>
              <a:sym typeface="Arial"/>
            </a:endParaRPr>
          </a:p>
        </p:txBody>
      </p:sp>
      <p:grpSp>
        <p:nvGrpSpPr>
          <p:cNvPr id="1615" name="Google Shape;1615;p188"/>
          <p:cNvGrpSpPr/>
          <p:nvPr/>
        </p:nvGrpSpPr>
        <p:grpSpPr>
          <a:xfrm>
            <a:off x="791640" y="1949040"/>
            <a:ext cx="602640" cy="534600"/>
            <a:chOff x="791640" y="1949040"/>
            <a:chExt cx="602640" cy="534600"/>
          </a:xfrm>
        </p:grpSpPr>
        <p:pic>
          <p:nvPicPr>
            <p:cNvPr id="1616" name="Google Shape;1616;p188"/>
            <p:cNvPicPr preferRelativeResize="0"/>
            <p:nvPr/>
          </p:nvPicPr>
          <p:blipFill rotWithShape="1">
            <a:blip r:embed="rId4">
              <a:alphaModFix/>
            </a:blip>
            <a:srcRect b="0" l="0" r="0" t="0"/>
            <a:stretch/>
          </p:blipFill>
          <p:spPr>
            <a:xfrm>
              <a:off x="891000" y="1949040"/>
              <a:ext cx="403560" cy="434160"/>
            </a:xfrm>
            <a:prstGeom prst="rect">
              <a:avLst/>
            </a:prstGeom>
            <a:noFill/>
            <a:ln>
              <a:noFill/>
            </a:ln>
          </p:spPr>
        </p:pic>
        <p:pic>
          <p:nvPicPr>
            <p:cNvPr id="1617" name="Google Shape;1617;p188"/>
            <p:cNvPicPr preferRelativeResize="0"/>
            <p:nvPr/>
          </p:nvPicPr>
          <p:blipFill rotWithShape="1">
            <a:blip r:embed="rId4">
              <a:alphaModFix/>
            </a:blip>
            <a:srcRect b="0" l="0" r="0" t="0"/>
            <a:stretch/>
          </p:blipFill>
          <p:spPr>
            <a:xfrm>
              <a:off x="990720" y="2049480"/>
              <a:ext cx="403560" cy="434160"/>
            </a:xfrm>
            <a:prstGeom prst="rect">
              <a:avLst/>
            </a:prstGeom>
            <a:noFill/>
            <a:ln>
              <a:noFill/>
            </a:ln>
          </p:spPr>
        </p:pic>
        <p:pic>
          <p:nvPicPr>
            <p:cNvPr id="1618" name="Google Shape;1618;p188"/>
            <p:cNvPicPr preferRelativeResize="0"/>
            <p:nvPr/>
          </p:nvPicPr>
          <p:blipFill rotWithShape="1">
            <a:blip r:embed="rId4">
              <a:alphaModFix/>
            </a:blip>
            <a:srcRect b="0" l="0" r="0" t="0"/>
            <a:stretch/>
          </p:blipFill>
          <p:spPr>
            <a:xfrm>
              <a:off x="791640" y="2049480"/>
              <a:ext cx="403560" cy="434160"/>
            </a:xfrm>
            <a:prstGeom prst="rect">
              <a:avLst/>
            </a:prstGeom>
            <a:noFill/>
            <a:ln>
              <a:noFill/>
            </a:ln>
          </p:spPr>
        </p:pic>
      </p:grpSp>
      <p:sp>
        <p:nvSpPr>
          <p:cNvPr id="1619" name="Google Shape;1619;p188"/>
          <p:cNvSpPr/>
          <p:nvPr/>
        </p:nvSpPr>
        <p:spPr>
          <a:xfrm rot="-5400000">
            <a:off x="1661040" y="3040920"/>
            <a:ext cx="563040" cy="220320"/>
          </a:xfrm>
          <a:prstGeom prst="flowChartProcess">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“Single Pane”</a:t>
            </a:r>
            <a:endParaRPr b="0" i="0" sz="800" u="none" cap="none" strike="noStrike">
              <a:latin typeface="Arial"/>
              <a:ea typeface="Arial"/>
              <a:cs typeface="Arial"/>
              <a:sym typeface="Arial"/>
            </a:endParaRPr>
          </a:p>
        </p:txBody>
      </p:sp>
      <p:sp>
        <p:nvSpPr>
          <p:cNvPr id="1620" name="Google Shape;1620;p188"/>
          <p:cNvSpPr/>
          <p:nvPr/>
        </p:nvSpPr>
        <p:spPr>
          <a:xfrm>
            <a:off x="2239560" y="2476080"/>
            <a:ext cx="801000" cy="45576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Intelligence</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Provisioning</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Protection</a:t>
            </a:r>
            <a:endParaRPr b="0" i="0" sz="700" u="none" cap="none" strike="noStrike">
              <a:latin typeface="Arial"/>
              <a:ea typeface="Arial"/>
              <a:cs typeface="Arial"/>
              <a:sym typeface="Arial"/>
            </a:endParaRPr>
          </a:p>
        </p:txBody>
      </p:sp>
      <p:cxnSp>
        <p:nvCxnSpPr>
          <p:cNvPr id="1621" name="Google Shape;1621;p188"/>
          <p:cNvCxnSpPr/>
          <p:nvPr/>
        </p:nvCxnSpPr>
        <p:spPr>
          <a:xfrm flipH="1" rot="-5400000">
            <a:off x="6030150" y="1760250"/>
            <a:ext cx="1222500" cy="373200"/>
          </a:xfrm>
          <a:prstGeom prst="bentConnector2">
            <a:avLst/>
          </a:prstGeom>
          <a:noFill/>
          <a:ln cap="flat" cmpd="sng" w="9525">
            <a:solidFill>
              <a:srgbClr val="00B845"/>
            </a:solidFill>
            <a:prstDash val="dashDot"/>
            <a:round/>
            <a:headEnd len="sm" w="sm" type="none"/>
            <a:tailEnd len="med" w="med" type="triangle"/>
          </a:ln>
        </p:spPr>
      </p:cxnSp>
      <p:sp>
        <p:nvSpPr>
          <p:cNvPr id="1622" name="Google Shape;1622;p188"/>
          <p:cNvSpPr/>
          <p:nvPr/>
        </p:nvSpPr>
        <p:spPr>
          <a:xfrm>
            <a:off x="2169000" y="1659600"/>
            <a:ext cx="853920" cy="488520"/>
          </a:xfrm>
          <a:prstGeom prst="can">
            <a:avLst>
              <a:gd fmla="val 25000" name="adj"/>
            </a:avLst>
          </a:prstGeom>
          <a:solidFill>
            <a:srgbClr val="ADD0F2"/>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Dynamic &amp; Temporal</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Analysis</a:t>
            </a:r>
            <a:endParaRPr b="0" i="0" sz="700" u="none" cap="none" strike="noStrike">
              <a:latin typeface="Arial"/>
              <a:ea typeface="Arial"/>
              <a:cs typeface="Arial"/>
              <a:sym typeface="Arial"/>
            </a:endParaRPr>
          </a:p>
        </p:txBody>
      </p:sp>
      <p:sp>
        <p:nvSpPr>
          <p:cNvPr id="1623" name="Google Shape;1623;p188"/>
          <p:cNvSpPr/>
          <p:nvPr/>
        </p:nvSpPr>
        <p:spPr>
          <a:xfrm>
            <a:off x="3732480" y="3927960"/>
            <a:ext cx="4348440" cy="169920"/>
          </a:xfrm>
          <a:prstGeom prst="flowChartProcess">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Data Protection</a:t>
            </a:r>
            <a:endParaRPr b="0" i="0" sz="800" u="none" cap="none" strike="noStrike">
              <a:latin typeface="Arial"/>
              <a:ea typeface="Arial"/>
              <a:cs typeface="Arial"/>
              <a:sym typeface="Arial"/>
            </a:endParaRPr>
          </a:p>
        </p:txBody>
      </p:sp>
      <p:sp>
        <p:nvSpPr>
          <p:cNvPr id="1624" name="Google Shape;1624;p188"/>
          <p:cNvSpPr/>
          <p:nvPr/>
        </p:nvSpPr>
        <p:spPr>
          <a:xfrm rot="-5400000">
            <a:off x="1099440" y="1800720"/>
            <a:ext cx="1685880" cy="220320"/>
          </a:xfrm>
          <a:prstGeom prst="flowChartProcess">
            <a:avLst/>
          </a:prstGeom>
          <a:solidFill>
            <a:srgbClr val="F4CCCC"/>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Adaptable &amp; Intelligent  UX</a:t>
            </a:r>
            <a:endParaRPr b="0" i="0" sz="800" u="none" cap="none" strike="noStrike">
              <a:latin typeface="Arial"/>
              <a:ea typeface="Arial"/>
              <a:cs typeface="Arial"/>
              <a:sym typeface="Arial"/>
            </a:endParaRPr>
          </a:p>
        </p:txBody>
      </p:sp>
      <p:grpSp>
        <p:nvGrpSpPr>
          <p:cNvPr id="1625" name="Google Shape;1625;p188"/>
          <p:cNvGrpSpPr/>
          <p:nvPr/>
        </p:nvGrpSpPr>
        <p:grpSpPr>
          <a:xfrm>
            <a:off x="5368680" y="511560"/>
            <a:ext cx="1076760" cy="336600"/>
            <a:chOff x="5368680" y="511560"/>
            <a:chExt cx="1076760" cy="336600"/>
          </a:xfrm>
        </p:grpSpPr>
        <p:sp>
          <p:nvSpPr>
            <p:cNvPr id="1626" name="Google Shape;1626;p188"/>
            <p:cNvSpPr/>
            <p:nvPr/>
          </p:nvSpPr>
          <p:spPr>
            <a:xfrm>
              <a:off x="5368680" y="511560"/>
              <a:ext cx="1076760" cy="336600"/>
            </a:xfrm>
            <a:prstGeom prst="cloud">
              <a:avLst/>
            </a:prstGeom>
            <a:solidFill>
              <a:srgbClr val="D8E2F3"/>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88"/>
            <p:cNvSpPr/>
            <p:nvPr/>
          </p:nvSpPr>
          <p:spPr>
            <a:xfrm>
              <a:off x="5368680" y="573480"/>
              <a:ext cx="983880" cy="24372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Gen AI</a:t>
              </a:r>
              <a:endParaRPr b="0" i="0" sz="700" u="none" cap="none" strike="noStrike">
                <a:latin typeface="Arial"/>
                <a:ea typeface="Arial"/>
                <a:cs typeface="Arial"/>
                <a:sym typeface="Arial"/>
              </a:endParaRPr>
            </a:p>
          </p:txBody>
        </p:sp>
      </p:grpSp>
      <p:sp>
        <p:nvSpPr>
          <p:cNvPr id="1628" name="Google Shape;1628;p188"/>
          <p:cNvSpPr/>
          <p:nvPr/>
        </p:nvSpPr>
        <p:spPr>
          <a:xfrm>
            <a:off x="4058280" y="527760"/>
            <a:ext cx="983520" cy="30384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AI + LLMs</a:t>
            </a:r>
            <a:endParaRPr b="0" i="0" sz="900" u="none" cap="none" strike="noStrike">
              <a:latin typeface="Arial"/>
              <a:ea typeface="Arial"/>
              <a:cs typeface="Arial"/>
              <a:sym typeface="Arial"/>
            </a:endParaRPr>
          </a:p>
        </p:txBody>
      </p:sp>
      <p:sp>
        <p:nvSpPr>
          <p:cNvPr id="1629" name="Google Shape;1629;p188"/>
          <p:cNvSpPr/>
          <p:nvPr/>
        </p:nvSpPr>
        <p:spPr>
          <a:xfrm rot="10800000">
            <a:off x="5042160" y="680040"/>
            <a:ext cx="326520" cy="165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cxnSp>
        <p:nvCxnSpPr>
          <p:cNvPr id="1630" name="Google Shape;1630;p188"/>
          <p:cNvCxnSpPr/>
          <p:nvPr/>
        </p:nvCxnSpPr>
        <p:spPr>
          <a:xfrm flipH="1">
            <a:off x="3021480" y="680040"/>
            <a:ext cx="1035000" cy="655500"/>
          </a:xfrm>
          <a:prstGeom prst="bentConnector3">
            <a:avLst>
              <a:gd fmla="val 48236" name="adj1"/>
            </a:avLst>
          </a:prstGeom>
          <a:noFill/>
          <a:ln cap="flat" cmpd="sng" w="9525">
            <a:solidFill>
              <a:srgbClr val="747676"/>
            </a:solidFill>
            <a:prstDash val="solid"/>
            <a:round/>
            <a:headEnd len="sm" w="sm" type="none"/>
            <a:tailEnd len="med" w="med" type="triangle"/>
          </a:ln>
        </p:spPr>
      </p:cxnSp>
      <p:sp>
        <p:nvSpPr>
          <p:cNvPr id="1631" name="Google Shape;1631;p188"/>
          <p:cNvSpPr/>
          <p:nvPr/>
        </p:nvSpPr>
        <p:spPr>
          <a:xfrm>
            <a:off x="2169000" y="1091520"/>
            <a:ext cx="853920" cy="488520"/>
          </a:xfrm>
          <a:prstGeom prst="can">
            <a:avLst>
              <a:gd fmla="val 25000" name="adj"/>
            </a:avLst>
          </a:prstGeom>
          <a:solidFill>
            <a:srgbClr val="ADD0F2"/>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Explain</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Recommend</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Intelligent Query</a:t>
            </a:r>
            <a:endParaRPr b="0" i="0" sz="700" u="none" cap="none" strike="noStrike">
              <a:latin typeface="Arial"/>
              <a:ea typeface="Arial"/>
              <a:cs typeface="Arial"/>
              <a:sym typeface="Arial"/>
            </a:endParaRPr>
          </a:p>
        </p:txBody>
      </p:sp>
      <p:cxnSp>
        <p:nvCxnSpPr>
          <p:cNvPr id="1632" name="Google Shape;1632;p188"/>
          <p:cNvCxnSpPr/>
          <p:nvPr/>
        </p:nvCxnSpPr>
        <p:spPr>
          <a:xfrm rot="10800000">
            <a:off x="3023400" y="1336200"/>
            <a:ext cx="1073400" cy="962400"/>
          </a:xfrm>
          <a:prstGeom prst="bentConnector3">
            <a:avLst>
              <a:gd fmla="val 50000" name="adj1"/>
            </a:avLst>
          </a:prstGeom>
          <a:noFill/>
          <a:ln cap="flat" cmpd="sng" w="9525">
            <a:solidFill>
              <a:srgbClr val="747676"/>
            </a:solidFill>
            <a:prstDash val="solid"/>
            <a:round/>
            <a:headEnd len="sm" w="sm" type="none"/>
            <a:tailEnd len="med" w="med" type="triangle"/>
          </a:ln>
        </p:spPr>
      </p:cxnSp>
      <p:cxnSp>
        <p:nvCxnSpPr>
          <p:cNvPr id="1633" name="Google Shape;1633;p188"/>
          <p:cNvCxnSpPr/>
          <p:nvPr/>
        </p:nvCxnSpPr>
        <p:spPr>
          <a:xfrm rot="10800000">
            <a:off x="3023400" y="1904400"/>
            <a:ext cx="1073400" cy="394200"/>
          </a:xfrm>
          <a:prstGeom prst="bentConnector3">
            <a:avLst>
              <a:gd fmla="val 50000" name="adj1"/>
            </a:avLst>
          </a:prstGeom>
          <a:noFill/>
          <a:ln cap="flat" cmpd="sng" w="9525">
            <a:solidFill>
              <a:srgbClr val="747676"/>
            </a:solidFill>
            <a:prstDash val="solid"/>
            <a:round/>
            <a:headEnd len="sm" w="sm" type="none"/>
            <a:tailEnd len="med" w="med" type="triangle"/>
          </a:ln>
        </p:spPr>
      </p:cxnSp>
      <p:sp>
        <p:nvSpPr>
          <p:cNvPr id="1634" name="Google Shape;1634;p188"/>
          <p:cNvSpPr/>
          <p:nvPr/>
        </p:nvSpPr>
        <p:spPr>
          <a:xfrm>
            <a:off x="4096800" y="2097360"/>
            <a:ext cx="1110240" cy="4024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Metrics Engine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(Headless BI)</a:t>
            </a:r>
            <a:endParaRPr b="0" i="0" sz="900" u="none" cap="none" strike="noStrike">
              <a:latin typeface="Arial"/>
              <a:ea typeface="Arial"/>
              <a:cs typeface="Arial"/>
              <a:sym typeface="Arial"/>
            </a:endParaRPr>
          </a:p>
        </p:txBody>
      </p:sp>
      <p:cxnSp>
        <p:nvCxnSpPr>
          <p:cNvPr id="1635" name="Google Shape;1635;p188"/>
          <p:cNvCxnSpPr/>
          <p:nvPr/>
        </p:nvCxnSpPr>
        <p:spPr>
          <a:xfrm flipH="1">
            <a:off x="3041040" y="2298600"/>
            <a:ext cx="1055400" cy="405300"/>
          </a:xfrm>
          <a:prstGeom prst="bentConnector3">
            <a:avLst>
              <a:gd fmla="val 50942" name="adj1"/>
            </a:avLst>
          </a:prstGeom>
          <a:noFill/>
          <a:ln cap="flat" cmpd="sng" w="9525">
            <a:solidFill>
              <a:srgbClr val="747676"/>
            </a:solidFill>
            <a:prstDash val="solid"/>
            <a:round/>
            <a:headEnd len="sm" w="sm" type="none"/>
            <a:tailEnd len="med" w="med" type="triangle"/>
          </a:ln>
        </p:spPr>
      </p:cxnSp>
      <p:cxnSp>
        <p:nvCxnSpPr>
          <p:cNvPr id="1636" name="Google Shape;1636;p188"/>
          <p:cNvCxnSpPr/>
          <p:nvPr/>
        </p:nvCxnSpPr>
        <p:spPr>
          <a:xfrm flipH="1">
            <a:off x="5207880" y="2097000"/>
            <a:ext cx="618000" cy="201300"/>
          </a:xfrm>
          <a:prstGeom prst="bentConnector2">
            <a:avLst/>
          </a:prstGeom>
          <a:noFill/>
          <a:ln cap="flat" cmpd="sng" w="9525">
            <a:solidFill>
              <a:srgbClr val="747676"/>
            </a:solidFill>
            <a:prstDash val="solid"/>
            <a:round/>
            <a:headEnd len="sm" w="sm" type="none"/>
            <a:tailEnd len="med" w="med" type="triangle"/>
          </a:ln>
        </p:spPr>
      </p:cxnSp>
      <p:cxnSp>
        <p:nvCxnSpPr>
          <p:cNvPr id="1637" name="Google Shape;1637;p188"/>
          <p:cNvCxnSpPr/>
          <p:nvPr/>
        </p:nvCxnSpPr>
        <p:spPr>
          <a:xfrm flipH="1" rot="10800000">
            <a:off x="5906880" y="3047640"/>
            <a:ext cx="921300" cy="638400"/>
          </a:xfrm>
          <a:prstGeom prst="bentConnector3">
            <a:avLst>
              <a:gd fmla="val 0" name="adj1"/>
            </a:avLst>
          </a:prstGeom>
          <a:noFill/>
          <a:ln cap="flat" cmpd="sng" w="9525">
            <a:solidFill>
              <a:srgbClr val="747676"/>
            </a:solidFill>
            <a:prstDash val="solid"/>
            <a:round/>
            <a:headEnd len="sm" w="sm" type="none"/>
            <a:tailEnd len="med" w="med" type="triangle"/>
          </a:ln>
        </p:spPr>
      </p:cxnSp>
      <p:sp>
        <p:nvSpPr>
          <p:cNvPr id="1638" name="Google Shape;1638;p188"/>
          <p:cNvSpPr/>
          <p:nvPr/>
        </p:nvSpPr>
        <p:spPr>
          <a:xfrm rot="10800000">
            <a:off x="1483200" y="1044720"/>
            <a:ext cx="163080" cy="2343960"/>
          </a:xfrm>
          <a:prstGeom prst="rightBrace">
            <a:avLst>
              <a:gd fmla="val 50000" name="adj1"/>
              <a:gd fmla="val 50000" name="adj2"/>
            </a:avLst>
          </a:prstGeom>
          <a:no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9" name="Google Shape;1639;p188"/>
          <p:cNvCxnSpPr/>
          <p:nvPr/>
        </p:nvCxnSpPr>
        <p:spPr>
          <a:xfrm rot="10800000">
            <a:off x="5207460" y="2298960"/>
            <a:ext cx="1236900" cy="504000"/>
          </a:xfrm>
          <a:prstGeom prst="bentConnector3">
            <a:avLst>
              <a:gd fmla="val 50003" name="adj1"/>
            </a:avLst>
          </a:prstGeom>
          <a:noFill/>
          <a:ln cap="flat" cmpd="sng" w="9525">
            <a:solidFill>
              <a:srgbClr val="747676"/>
            </a:solidFill>
            <a:prstDash val="solid"/>
            <a:round/>
            <a:headEnd len="sm" w="sm" type="none"/>
            <a:tailEnd len="med" w="med" type="triangle"/>
          </a:ln>
        </p:spPr>
      </p:cxnSp>
      <p:sp>
        <p:nvSpPr>
          <p:cNvPr id="1640" name="Google Shape;1640;p188"/>
          <p:cNvSpPr/>
          <p:nvPr/>
        </p:nvSpPr>
        <p:spPr>
          <a:xfrm>
            <a:off x="7241760" y="2619000"/>
            <a:ext cx="1110240" cy="5634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LookML</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(Dimensions, Unified Data Models, Calc Execution)</a:t>
            </a:r>
            <a:endParaRPr b="0" i="0" sz="700" u="none" cap="none" strike="noStrike">
              <a:latin typeface="Arial"/>
              <a:ea typeface="Arial"/>
              <a:cs typeface="Arial"/>
              <a:sym typeface="Arial"/>
            </a:endParaRPr>
          </a:p>
        </p:txBody>
      </p:sp>
      <p:sp>
        <p:nvSpPr>
          <p:cNvPr id="1641" name="Google Shape;1641;p188"/>
          <p:cNvSpPr/>
          <p:nvPr/>
        </p:nvSpPr>
        <p:spPr>
          <a:xfrm>
            <a:off x="6469560" y="897480"/>
            <a:ext cx="983520" cy="456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Core Taxonomies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(Standard Vocabulary)</a:t>
            </a:r>
            <a:endParaRPr b="0" i="0" sz="700" u="none" cap="none" strike="noStrike">
              <a:latin typeface="Arial"/>
              <a:ea typeface="Arial"/>
              <a:cs typeface="Arial"/>
              <a:sym typeface="Arial"/>
            </a:endParaRPr>
          </a:p>
        </p:txBody>
      </p:sp>
      <p:sp>
        <p:nvSpPr>
          <p:cNvPr id="1642" name="Google Shape;1642;p188"/>
          <p:cNvSpPr/>
          <p:nvPr/>
        </p:nvSpPr>
        <p:spPr>
          <a:xfrm>
            <a:off x="815040" y="2534760"/>
            <a:ext cx="556200" cy="24372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Persona</a:t>
            </a:r>
            <a:endParaRPr b="0" i="0" sz="700" u="none" cap="none" strike="noStrike">
              <a:latin typeface="Arial"/>
              <a:ea typeface="Arial"/>
              <a:cs typeface="Arial"/>
              <a:sym typeface="Arial"/>
            </a:endParaRPr>
          </a:p>
        </p:txBody>
      </p:sp>
      <p:cxnSp>
        <p:nvCxnSpPr>
          <p:cNvPr id="1643" name="Google Shape;1643;p188"/>
          <p:cNvCxnSpPr/>
          <p:nvPr/>
        </p:nvCxnSpPr>
        <p:spPr>
          <a:xfrm>
            <a:off x="4550400" y="1603080"/>
            <a:ext cx="874800" cy="346200"/>
          </a:xfrm>
          <a:prstGeom prst="bentConnector2">
            <a:avLst/>
          </a:prstGeom>
          <a:noFill/>
          <a:ln cap="flat" cmpd="sng" w="9525">
            <a:solidFill>
              <a:srgbClr val="747676"/>
            </a:solidFill>
            <a:prstDash val="solid"/>
            <a:round/>
            <a:headEnd len="sm" w="sm" type="none"/>
            <a:tailEnd len="med" w="med" type="triangle"/>
          </a:ln>
        </p:spPr>
      </p:cxnSp>
      <p:sp>
        <p:nvSpPr>
          <p:cNvPr id="1644" name="Google Shape;1644;p188"/>
          <p:cNvSpPr/>
          <p:nvPr/>
        </p:nvSpPr>
        <p:spPr>
          <a:xfrm rot="10800000">
            <a:off x="4549680" y="831960"/>
            <a:ext cx="360" cy="2361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645" name="Google Shape;1645;p188"/>
          <p:cNvSpPr/>
          <p:nvPr/>
        </p:nvSpPr>
        <p:spPr>
          <a:xfrm>
            <a:off x="4977360" y="1335600"/>
            <a:ext cx="31536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646" name="Google Shape;1646;p188"/>
          <p:cNvSpPr/>
          <p:nvPr/>
        </p:nvSpPr>
        <p:spPr>
          <a:xfrm flipH="1" rot="10800000">
            <a:off x="4215600" y="3077280"/>
            <a:ext cx="435240" cy="576720"/>
          </a:xfrm>
          <a:custGeom>
            <a:rect b="b" l="l" r="r" t="t"/>
            <a:pathLst>
              <a:path extrusionOk="0" h="21600" w="21600">
                <a:moveTo>
                  <a:pt x="0" y="0"/>
                </a:moveTo>
                <a:lnTo>
                  <a:pt x="21600" y="21600"/>
                </a:lnTo>
              </a:path>
            </a:pathLst>
          </a:custGeom>
          <a:noFill/>
          <a:ln cap="flat" cmpd="sng" w="9525">
            <a:solidFill>
              <a:srgbClr val="747676"/>
            </a:solidFill>
            <a:prstDash val="dashDot"/>
            <a:round/>
            <a:headEnd len="med" w="med" type="triangle"/>
            <a:tailEnd len="med" w="med" type="triangle"/>
          </a:ln>
        </p:spPr>
      </p:sp>
      <p:sp>
        <p:nvSpPr>
          <p:cNvPr id="1647" name="Google Shape;1647;p188"/>
          <p:cNvSpPr/>
          <p:nvPr/>
        </p:nvSpPr>
        <p:spPr>
          <a:xfrm rot="10800000">
            <a:off x="4652280" y="2500560"/>
            <a:ext cx="400680" cy="667080"/>
          </a:xfrm>
          <a:custGeom>
            <a:rect b="b" l="l" r="r" t="t"/>
            <a:pathLst>
              <a:path extrusionOk="0" h="21600" w="21600">
                <a:moveTo>
                  <a:pt x="0" y="0"/>
                </a:moveTo>
                <a:lnTo>
                  <a:pt x="21600" y="21600"/>
                </a:lnTo>
              </a:path>
            </a:pathLst>
          </a:custGeom>
          <a:noFill/>
          <a:ln cap="flat" cmpd="sng" w="9525">
            <a:solidFill>
              <a:srgbClr val="747676"/>
            </a:solidFill>
            <a:prstDash val="dashDot"/>
            <a:round/>
            <a:headEnd len="med" w="med" type="triangle"/>
            <a:tailEnd len="med" w="med" type="triangle"/>
          </a:ln>
        </p:spPr>
      </p:sp>
      <p:sp>
        <p:nvSpPr>
          <p:cNvPr id="1648" name="Google Shape;1648;p188"/>
          <p:cNvSpPr/>
          <p:nvPr/>
        </p:nvSpPr>
        <p:spPr>
          <a:xfrm rot="10800000">
            <a:off x="4651920" y="2500560"/>
            <a:ext cx="360" cy="203760"/>
          </a:xfrm>
          <a:custGeom>
            <a:rect b="b" l="l" r="r" t="t"/>
            <a:pathLst>
              <a:path extrusionOk="0" h="21600" w="21600">
                <a:moveTo>
                  <a:pt x="0" y="0"/>
                </a:moveTo>
                <a:lnTo>
                  <a:pt x="21600" y="21600"/>
                </a:lnTo>
              </a:path>
            </a:pathLst>
          </a:custGeom>
          <a:noFill/>
          <a:ln cap="flat" cmpd="sng" w="9525">
            <a:solidFill>
              <a:srgbClr val="747676"/>
            </a:solidFill>
            <a:prstDash val="dashDot"/>
            <a:round/>
            <a:headEnd len="med" w="med" type="triangle"/>
            <a:tailEnd len="med" w="med" type="triangle"/>
          </a:ln>
        </p:spPr>
      </p:sp>
      <p:grpSp>
        <p:nvGrpSpPr>
          <p:cNvPr id="1649" name="Google Shape;1649;p188"/>
          <p:cNvGrpSpPr/>
          <p:nvPr/>
        </p:nvGrpSpPr>
        <p:grpSpPr>
          <a:xfrm>
            <a:off x="981720" y="4099680"/>
            <a:ext cx="717120" cy="636840"/>
            <a:chOff x="981720" y="4099680"/>
            <a:chExt cx="717120" cy="636840"/>
          </a:xfrm>
        </p:grpSpPr>
        <p:pic>
          <p:nvPicPr>
            <p:cNvPr id="1650" name="Google Shape;1650;p188"/>
            <p:cNvPicPr preferRelativeResize="0"/>
            <p:nvPr/>
          </p:nvPicPr>
          <p:blipFill rotWithShape="1">
            <a:blip r:embed="rId5">
              <a:alphaModFix/>
            </a:blip>
            <a:srcRect b="0" l="0" r="0" t="0"/>
            <a:stretch/>
          </p:blipFill>
          <p:spPr>
            <a:xfrm>
              <a:off x="1118520" y="4099680"/>
              <a:ext cx="443520" cy="383760"/>
            </a:xfrm>
            <a:prstGeom prst="rect">
              <a:avLst/>
            </a:prstGeom>
            <a:noFill/>
            <a:ln>
              <a:noFill/>
            </a:ln>
          </p:spPr>
        </p:pic>
        <p:sp>
          <p:nvSpPr>
            <p:cNvPr id="1651" name="Google Shape;1651;p188"/>
            <p:cNvSpPr/>
            <p:nvPr/>
          </p:nvSpPr>
          <p:spPr>
            <a:xfrm>
              <a:off x="981720" y="444672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grpSp>
      <p:grpSp>
        <p:nvGrpSpPr>
          <p:cNvPr id="1652" name="Google Shape;1652;p188"/>
          <p:cNvGrpSpPr/>
          <p:nvPr/>
        </p:nvGrpSpPr>
        <p:grpSpPr>
          <a:xfrm>
            <a:off x="1708200" y="4142520"/>
            <a:ext cx="983520" cy="595440"/>
            <a:chOff x="1708200" y="4142520"/>
            <a:chExt cx="983520" cy="595440"/>
          </a:xfrm>
        </p:grpSpPr>
        <p:pic>
          <p:nvPicPr>
            <p:cNvPr id="1653" name="Google Shape;1653;p188"/>
            <p:cNvPicPr preferRelativeResize="0"/>
            <p:nvPr/>
          </p:nvPicPr>
          <p:blipFill rotWithShape="1">
            <a:blip r:embed="rId6">
              <a:alphaModFix/>
            </a:blip>
            <a:srcRect b="0" l="0" r="0" t="0"/>
            <a:stretch/>
          </p:blipFill>
          <p:spPr>
            <a:xfrm>
              <a:off x="2033280" y="4142520"/>
              <a:ext cx="334080" cy="298080"/>
            </a:xfrm>
            <a:prstGeom prst="rect">
              <a:avLst/>
            </a:prstGeom>
            <a:noFill/>
            <a:ln>
              <a:noFill/>
            </a:ln>
          </p:spPr>
        </p:pic>
        <p:sp>
          <p:nvSpPr>
            <p:cNvPr id="1654" name="Google Shape;1654;p188"/>
            <p:cNvSpPr/>
            <p:nvPr/>
          </p:nvSpPr>
          <p:spPr>
            <a:xfrm>
              <a:off x="1708200" y="444816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grpSp>
      <p:grpSp>
        <p:nvGrpSpPr>
          <p:cNvPr id="1655" name="Google Shape;1655;p188"/>
          <p:cNvGrpSpPr/>
          <p:nvPr/>
        </p:nvGrpSpPr>
        <p:grpSpPr>
          <a:xfrm>
            <a:off x="143640" y="4116600"/>
            <a:ext cx="717120" cy="619920"/>
            <a:chOff x="143640" y="4116600"/>
            <a:chExt cx="717120" cy="619920"/>
          </a:xfrm>
        </p:grpSpPr>
        <p:sp>
          <p:nvSpPr>
            <p:cNvPr id="1656" name="Google Shape;1656;p188"/>
            <p:cNvSpPr/>
            <p:nvPr/>
          </p:nvSpPr>
          <p:spPr>
            <a:xfrm>
              <a:off x="143640" y="4446720"/>
              <a:ext cx="717120" cy="2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Vocabulary</a:t>
              </a:r>
              <a:endParaRPr b="0" i="0" sz="700" u="none" cap="none" strike="noStrike">
                <a:latin typeface="Arial"/>
                <a:ea typeface="Arial"/>
                <a:cs typeface="Arial"/>
                <a:sym typeface="Arial"/>
              </a:endParaRPr>
            </a:p>
          </p:txBody>
        </p:sp>
        <p:pic>
          <p:nvPicPr>
            <p:cNvPr id="1657" name="Google Shape;1657;p188"/>
            <p:cNvPicPr preferRelativeResize="0"/>
            <p:nvPr/>
          </p:nvPicPr>
          <p:blipFill rotWithShape="1">
            <a:blip r:embed="rId7">
              <a:alphaModFix/>
            </a:blip>
            <a:srcRect b="0" l="0" r="0" t="0"/>
            <a:stretch/>
          </p:blipFill>
          <p:spPr>
            <a:xfrm>
              <a:off x="372600" y="4116600"/>
              <a:ext cx="163080" cy="372600"/>
            </a:xfrm>
            <a:prstGeom prst="rect">
              <a:avLst/>
            </a:prstGeom>
            <a:noFill/>
            <a:ln>
              <a:noFill/>
            </a:ln>
          </p:spPr>
        </p:pic>
      </p:grpSp>
      <p:grpSp>
        <p:nvGrpSpPr>
          <p:cNvPr id="1658" name="Google Shape;1658;p188"/>
          <p:cNvGrpSpPr/>
          <p:nvPr/>
        </p:nvGrpSpPr>
        <p:grpSpPr>
          <a:xfrm>
            <a:off x="8549640" y="0"/>
            <a:ext cx="594000" cy="679680"/>
            <a:chOff x="8549640" y="0"/>
            <a:chExt cx="594000" cy="679680"/>
          </a:xfrm>
        </p:grpSpPr>
        <p:sp>
          <p:nvSpPr>
            <p:cNvPr id="1659" name="Google Shape;1659;p18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0" name="Google Shape;1660;p188"/>
            <p:cNvGrpSpPr/>
            <p:nvPr/>
          </p:nvGrpSpPr>
          <p:grpSpPr>
            <a:xfrm>
              <a:off x="8588160" y="0"/>
              <a:ext cx="555480" cy="679680"/>
              <a:chOff x="8588160" y="0"/>
              <a:chExt cx="555480" cy="679680"/>
            </a:xfrm>
          </p:grpSpPr>
          <p:pic>
            <p:nvPicPr>
              <p:cNvPr id="1661" name="Google Shape;1661;p188"/>
              <p:cNvPicPr preferRelativeResize="0"/>
              <p:nvPr/>
            </p:nvPicPr>
            <p:blipFill rotWithShape="1">
              <a:blip r:embed="rId8">
                <a:alphaModFix/>
              </a:blip>
              <a:srcRect b="0" l="20669" r="9844" t="0"/>
              <a:stretch/>
            </p:blipFill>
            <p:spPr>
              <a:xfrm>
                <a:off x="8588160" y="0"/>
                <a:ext cx="530640" cy="530640"/>
              </a:xfrm>
              <a:prstGeom prst="rect">
                <a:avLst/>
              </a:prstGeom>
              <a:noFill/>
              <a:ln>
                <a:noFill/>
              </a:ln>
            </p:spPr>
          </p:pic>
          <p:sp>
            <p:nvSpPr>
              <p:cNvPr id="1662" name="Google Shape;1662;p18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189"/>
          <p:cNvSpPr/>
          <p:nvPr/>
        </p:nvSpPr>
        <p:spPr>
          <a:xfrm>
            <a:off x="7253280" y="1679760"/>
            <a:ext cx="1039320" cy="2531880"/>
          </a:xfrm>
          <a:prstGeom prst="flowChartAlternateProcess">
            <a:avLst/>
          </a:prstGeom>
          <a:solidFill>
            <a:srgbClr val="45818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89"/>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DQ + MDM +Data Integrity(DI) + Semantic Quality (SQ) = Trust</a:t>
            </a:r>
            <a:endParaRPr b="0" i="0" sz="2000" u="none" cap="none" strike="noStrike">
              <a:latin typeface="Arial"/>
              <a:ea typeface="Arial"/>
              <a:cs typeface="Arial"/>
              <a:sym typeface="Arial"/>
            </a:endParaRPr>
          </a:p>
        </p:txBody>
      </p:sp>
      <p:sp>
        <p:nvSpPr>
          <p:cNvPr id="1669" name="Google Shape;1669;p189"/>
          <p:cNvSpPr/>
          <p:nvPr/>
        </p:nvSpPr>
        <p:spPr>
          <a:xfrm>
            <a:off x="3020760" y="2461680"/>
            <a:ext cx="911160" cy="495360"/>
          </a:xfrm>
          <a:prstGeom prst="can">
            <a:avLst>
              <a:gd fmla="val 25000" name="adj"/>
            </a:avLst>
          </a:prstGeom>
          <a:solidFill>
            <a:srgbClr val="FFFFFF"/>
          </a:solidFill>
          <a:ln cap="flat" cmpd="sng" w="9525">
            <a:solidFill>
              <a:srgbClr val="7F7F7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Data</a:t>
            </a:r>
            <a:endParaRPr b="0" i="0" sz="1100" u="none" cap="none" strike="noStrike">
              <a:latin typeface="Arial"/>
              <a:ea typeface="Arial"/>
              <a:cs typeface="Arial"/>
              <a:sym typeface="Arial"/>
            </a:endParaRPr>
          </a:p>
        </p:txBody>
      </p:sp>
      <p:sp>
        <p:nvSpPr>
          <p:cNvPr id="1670" name="Google Shape;1670;p189"/>
          <p:cNvSpPr/>
          <p:nvPr/>
        </p:nvSpPr>
        <p:spPr>
          <a:xfrm>
            <a:off x="1814760" y="1930680"/>
            <a:ext cx="688320" cy="595080"/>
          </a:xfrm>
          <a:prstGeom prst="flowChartProcess">
            <a:avLst/>
          </a:prstGeom>
          <a:solidFill>
            <a:srgbClr val="C9DAF8"/>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l">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Time_ID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Day</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Week</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Month</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Year</a:t>
            </a:r>
            <a:endParaRPr b="0" i="0" sz="700" u="none" cap="none" strike="noStrike">
              <a:latin typeface="Arial"/>
              <a:ea typeface="Arial"/>
              <a:cs typeface="Arial"/>
              <a:sym typeface="Arial"/>
            </a:endParaRPr>
          </a:p>
        </p:txBody>
      </p:sp>
      <p:sp>
        <p:nvSpPr>
          <p:cNvPr id="1671" name="Google Shape;1671;p189"/>
          <p:cNvSpPr/>
          <p:nvPr/>
        </p:nvSpPr>
        <p:spPr>
          <a:xfrm>
            <a:off x="1814760" y="2917080"/>
            <a:ext cx="688320" cy="595080"/>
          </a:xfrm>
          <a:prstGeom prst="flowChartProcess">
            <a:avLst/>
          </a:prstGeom>
          <a:solidFill>
            <a:srgbClr val="C9DAF8"/>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l">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Location_ID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Street_Name</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City</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State</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Zip</a:t>
            </a:r>
            <a:endParaRPr b="0" i="0" sz="700" u="none" cap="none" strike="noStrike">
              <a:latin typeface="Arial"/>
              <a:ea typeface="Arial"/>
              <a:cs typeface="Arial"/>
              <a:sym typeface="Arial"/>
            </a:endParaRPr>
          </a:p>
        </p:txBody>
      </p:sp>
      <p:sp>
        <p:nvSpPr>
          <p:cNvPr id="1672" name="Google Shape;1672;p189"/>
          <p:cNvSpPr/>
          <p:nvPr/>
        </p:nvSpPr>
        <p:spPr>
          <a:xfrm>
            <a:off x="4321080" y="1930680"/>
            <a:ext cx="688320" cy="595080"/>
          </a:xfrm>
          <a:prstGeom prst="flowChartProcess">
            <a:avLst/>
          </a:prstGeom>
          <a:solidFill>
            <a:srgbClr val="C9DAF8"/>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l">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Product_ID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Description</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Category</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Brand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Color</a:t>
            </a:r>
            <a:endParaRPr b="0" i="0" sz="700" u="none" cap="none" strike="noStrike">
              <a:latin typeface="Arial"/>
              <a:ea typeface="Arial"/>
              <a:cs typeface="Arial"/>
              <a:sym typeface="Arial"/>
            </a:endParaRPr>
          </a:p>
        </p:txBody>
      </p:sp>
      <p:sp>
        <p:nvSpPr>
          <p:cNvPr id="1673" name="Google Shape;1673;p189"/>
          <p:cNvSpPr/>
          <p:nvPr/>
        </p:nvSpPr>
        <p:spPr>
          <a:xfrm>
            <a:off x="4321080" y="2917080"/>
            <a:ext cx="807120" cy="595080"/>
          </a:xfrm>
          <a:prstGeom prst="flowChartProcess">
            <a:avLst/>
          </a:prstGeom>
          <a:solidFill>
            <a:srgbClr val="C9DAF8"/>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l">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Customer_ID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Name</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Profile_ID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Preference_ID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Demographics</a:t>
            </a:r>
            <a:endParaRPr b="0" i="0" sz="700" u="none" cap="none" strike="noStrike">
              <a:latin typeface="Arial"/>
              <a:ea typeface="Arial"/>
              <a:cs typeface="Arial"/>
              <a:sym typeface="Arial"/>
            </a:endParaRPr>
          </a:p>
        </p:txBody>
      </p:sp>
      <p:sp>
        <p:nvSpPr>
          <p:cNvPr id="1674" name="Google Shape;1674;p189"/>
          <p:cNvSpPr/>
          <p:nvPr/>
        </p:nvSpPr>
        <p:spPr>
          <a:xfrm>
            <a:off x="3072600" y="3272040"/>
            <a:ext cx="807120" cy="839160"/>
          </a:xfrm>
          <a:prstGeom prst="flowChartProcess">
            <a:avLst/>
          </a:prstGeom>
          <a:solidFill>
            <a:srgbClr val="D9D9D9"/>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l">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FACTS</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Time_ID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Location_ID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Product_ID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Customer_ID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Units Sold</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Price per Unit</a:t>
            </a:r>
            <a:endParaRPr b="0"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700" u="none" cap="none" strike="noStrike">
              <a:latin typeface="Arial"/>
              <a:ea typeface="Arial"/>
              <a:cs typeface="Arial"/>
              <a:sym typeface="Arial"/>
            </a:endParaRPr>
          </a:p>
        </p:txBody>
      </p:sp>
      <p:sp>
        <p:nvSpPr>
          <p:cNvPr id="1675" name="Google Shape;1675;p189"/>
          <p:cNvSpPr/>
          <p:nvPr/>
        </p:nvSpPr>
        <p:spPr>
          <a:xfrm>
            <a:off x="7369560" y="1855080"/>
            <a:ext cx="807120" cy="495360"/>
          </a:xfrm>
          <a:prstGeom prst="can">
            <a:avLst>
              <a:gd fmla="val 25000" name="adj"/>
            </a:avLst>
          </a:prstGeom>
          <a:solidFill>
            <a:srgbClr val="FFFFFF"/>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Data Products</a:t>
            </a:r>
            <a:endParaRPr b="0" i="0" sz="800" u="none" cap="none" strike="noStrike">
              <a:latin typeface="Arial"/>
              <a:ea typeface="Arial"/>
              <a:cs typeface="Arial"/>
              <a:sym typeface="Arial"/>
            </a:endParaRPr>
          </a:p>
        </p:txBody>
      </p:sp>
      <p:sp>
        <p:nvSpPr>
          <p:cNvPr id="1676" name="Google Shape;1676;p189"/>
          <p:cNvSpPr/>
          <p:nvPr/>
        </p:nvSpPr>
        <p:spPr>
          <a:xfrm>
            <a:off x="7393320" y="2722680"/>
            <a:ext cx="744480" cy="458640"/>
          </a:xfrm>
          <a:prstGeom prst="flowChartDocument">
            <a:avLst/>
          </a:prstGeom>
          <a:solidFill>
            <a:srgbClr val="FFFFFF"/>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Metrics &amp; Reports</a:t>
            </a:r>
            <a:endParaRPr b="0" i="0" sz="800" u="none" cap="none" strike="noStrike">
              <a:latin typeface="Arial"/>
              <a:ea typeface="Arial"/>
              <a:cs typeface="Arial"/>
              <a:sym typeface="Arial"/>
            </a:endParaRPr>
          </a:p>
        </p:txBody>
      </p:sp>
      <p:sp>
        <p:nvSpPr>
          <p:cNvPr id="1677" name="Google Shape;1677;p189"/>
          <p:cNvSpPr/>
          <p:nvPr/>
        </p:nvSpPr>
        <p:spPr>
          <a:xfrm>
            <a:off x="7393320" y="3527280"/>
            <a:ext cx="715320" cy="387000"/>
          </a:xfrm>
          <a:prstGeom prst="roundRect">
            <a:avLst>
              <a:gd fmla="val 16667" name="adj"/>
            </a:avLst>
          </a:prstGeom>
          <a:solidFill>
            <a:srgbClr val="FFFFFF"/>
          </a:solid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AI Models</a:t>
            </a:r>
            <a:endParaRPr b="0" i="0" sz="800" u="none" cap="none" strike="noStrike">
              <a:latin typeface="Arial"/>
              <a:ea typeface="Arial"/>
              <a:cs typeface="Arial"/>
              <a:sym typeface="Arial"/>
            </a:endParaRPr>
          </a:p>
        </p:txBody>
      </p:sp>
      <p:cxnSp>
        <p:nvCxnSpPr>
          <p:cNvPr id="1678" name="Google Shape;1678;p189"/>
          <p:cNvCxnSpPr/>
          <p:nvPr/>
        </p:nvCxnSpPr>
        <p:spPr>
          <a:xfrm flipH="1" rot="10800000">
            <a:off x="3931200" y="2709300"/>
            <a:ext cx="3299400" cy="606300"/>
          </a:xfrm>
          <a:prstGeom prst="bentConnector3">
            <a:avLst>
              <a:gd fmla="val 50000" name="adj1"/>
            </a:avLst>
          </a:prstGeom>
          <a:noFill/>
          <a:ln cap="flat" cmpd="sng" w="19075">
            <a:solidFill>
              <a:srgbClr val="980000"/>
            </a:solidFill>
            <a:prstDash val="solid"/>
            <a:round/>
            <a:headEnd len="sm" w="sm" type="none"/>
            <a:tailEnd len="med" w="med" type="triangle"/>
          </a:ln>
        </p:spPr>
      </p:cxnSp>
      <p:cxnSp>
        <p:nvCxnSpPr>
          <p:cNvPr id="1679" name="Google Shape;1679;p189"/>
          <p:cNvCxnSpPr/>
          <p:nvPr/>
        </p:nvCxnSpPr>
        <p:spPr>
          <a:xfrm>
            <a:off x="3932280" y="2709360"/>
            <a:ext cx="3307200" cy="903000"/>
          </a:xfrm>
          <a:prstGeom prst="bentConnector3">
            <a:avLst>
              <a:gd fmla="val 50002" name="adj1"/>
            </a:avLst>
          </a:prstGeom>
          <a:noFill/>
          <a:ln cap="flat" cmpd="sng" w="19075">
            <a:solidFill>
              <a:srgbClr val="4A86E8"/>
            </a:solidFill>
            <a:prstDash val="solid"/>
            <a:round/>
            <a:headEnd len="sm" w="sm" type="none"/>
            <a:tailEnd len="med" w="med" type="triangle"/>
          </a:ln>
        </p:spPr>
      </p:cxnSp>
      <p:sp>
        <p:nvSpPr>
          <p:cNvPr id="1680" name="Google Shape;1680;p189"/>
          <p:cNvSpPr/>
          <p:nvPr/>
        </p:nvSpPr>
        <p:spPr>
          <a:xfrm>
            <a:off x="5930640" y="3312000"/>
            <a:ext cx="997200" cy="28656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4A86E8"/>
                </a:solidFill>
                <a:latin typeface="Arial"/>
                <a:ea typeface="Arial"/>
                <a:cs typeface="Arial"/>
                <a:sym typeface="Arial"/>
              </a:rPr>
              <a:t>Data Quality</a:t>
            </a:r>
            <a:endParaRPr b="0" i="0" sz="1100" u="none" cap="none" strike="noStrike">
              <a:latin typeface="Arial"/>
              <a:ea typeface="Arial"/>
              <a:cs typeface="Arial"/>
              <a:sym typeface="Arial"/>
            </a:endParaRPr>
          </a:p>
        </p:txBody>
      </p:sp>
      <p:sp>
        <p:nvSpPr>
          <p:cNvPr id="1681" name="Google Shape;1681;p189"/>
          <p:cNvSpPr/>
          <p:nvPr/>
        </p:nvSpPr>
        <p:spPr>
          <a:xfrm>
            <a:off x="5954400" y="1825920"/>
            <a:ext cx="1127880" cy="28656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980000"/>
                </a:solidFill>
                <a:latin typeface="Arial"/>
                <a:ea typeface="Arial"/>
                <a:cs typeface="Arial"/>
                <a:sym typeface="Arial"/>
              </a:rPr>
              <a:t>Data Integrity</a:t>
            </a:r>
            <a:endParaRPr b="0" i="0" sz="1100" u="none" cap="none" strike="noStrike">
              <a:latin typeface="Arial"/>
              <a:ea typeface="Arial"/>
              <a:cs typeface="Arial"/>
              <a:sym typeface="Arial"/>
            </a:endParaRPr>
          </a:p>
        </p:txBody>
      </p:sp>
      <p:sp>
        <p:nvSpPr>
          <p:cNvPr id="1682" name="Google Shape;1682;p189"/>
          <p:cNvSpPr/>
          <p:nvPr/>
        </p:nvSpPr>
        <p:spPr>
          <a:xfrm>
            <a:off x="5686920" y="2196000"/>
            <a:ext cx="6595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980000"/>
                </a:solidFill>
                <a:latin typeface="Arial"/>
                <a:ea typeface="Arial"/>
                <a:cs typeface="Arial"/>
                <a:sym typeface="Arial"/>
              </a:rPr>
              <a:t>Data Security</a:t>
            </a:r>
            <a:endParaRPr b="0" i="0" sz="800" u="none" cap="none" strike="noStrike">
              <a:latin typeface="Arial"/>
              <a:ea typeface="Arial"/>
              <a:cs typeface="Arial"/>
              <a:sym typeface="Arial"/>
            </a:endParaRPr>
          </a:p>
        </p:txBody>
      </p:sp>
      <p:sp>
        <p:nvSpPr>
          <p:cNvPr id="1683" name="Google Shape;1683;p189"/>
          <p:cNvSpPr/>
          <p:nvPr/>
        </p:nvSpPr>
        <p:spPr>
          <a:xfrm>
            <a:off x="5614560" y="3699360"/>
            <a:ext cx="6595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A86E8"/>
                </a:solidFill>
                <a:latin typeface="Arial"/>
                <a:ea typeface="Arial"/>
                <a:cs typeface="Arial"/>
                <a:sym typeface="Arial"/>
              </a:rPr>
              <a:t>Accuracy</a:t>
            </a:r>
            <a:endParaRPr b="0" i="0" sz="800" u="none" cap="none" strike="noStrike">
              <a:latin typeface="Arial"/>
              <a:ea typeface="Arial"/>
              <a:cs typeface="Arial"/>
              <a:sym typeface="Arial"/>
            </a:endParaRPr>
          </a:p>
        </p:txBody>
      </p:sp>
      <p:sp>
        <p:nvSpPr>
          <p:cNvPr id="1684" name="Google Shape;1684;p189"/>
          <p:cNvSpPr/>
          <p:nvPr/>
        </p:nvSpPr>
        <p:spPr>
          <a:xfrm>
            <a:off x="6382080" y="3756240"/>
            <a:ext cx="744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A86E8"/>
                </a:solidFill>
                <a:latin typeface="Arial"/>
                <a:ea typeface="Arial"/>
                <a:cs typeface="Arial"/>
                <a:sym typeface="Arial"/>
              </a:rPr>
              <a:t>Timeliness</a:t>
            </a:r>
            <a:endParaRPr b="0" i="0" sz="800" u="none" cap="none" strike="noStrike">
              <a:latin typeface="Arial"/>
              <a:ea typeface="Arial"/>
              <a:cs typeface="Arial"/>
              <a:sym typeface="Arial"/>
            </a:endParaRPr>
          </a:p>
        </p:txBody>
      </p:sp>
      <p:sp>
        <p:nvSpPr>
          <p:cNvPr id="1685" name="Google Shape;1685;p189"/>
          <p:cNvSpPr/>
          <p:nvPr/>
        </p:nvSpPr>
        <p:spPr>
          <a:xfrm>
            <a:off x="5582160" y="3971520"/>
            <a:ext cx="744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A86E8"/>
                </a:solidFill>
                <a:latin typeface="Arial"/>
                <a:ea typeface="Arial"/>
                <a:cs typeface="Arial"/>
                <a:sym typeface="Arial"/>
              </a:rPr>
              <a:t>Availability</a:t>
            </a:r>
            <a:endParaRPr b="0" i="0" sz="800" u="none" cap="none" strike="noStrike">
              <a:latin typeface="Arial"/>
              <a:ea typeface="Arial"/>
              <a:cs typeface="Arial"/>
              <a:sym typeface="Arial"/>
            </a:endParaRPr>
          </a:p>
        </p:txBody>
      </p:sp>
      <p:sp>
        <p:nvSpPr>
          <p:cNvPr id="1686" name="Google Shape;1686;p189"/>
          <p:cNvSpPr/>
          <p:nvPr/>
        </p:nvSpPr>
        <p:spPr>
          <a:xfrm>
            <a:off x="6242040" y="4001400"/>
            <a:ext cx="84024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A86E8"/>
                </a:solidFill>
                <a:latin typeface="Arial"/>
                <a:ea typeface="Arial"/>
                <a:cs typeface="Arial"/>
                <a:sym typeface="Arial"/>
              </a:rPr>
              <a:t>Completeness</a:t>
            </a:r>
            <a:endParaRPr b="0" i="0" sz="800" u="none" cap="none" strike="noStrike">
              <a:latin typeface="Arial"/>
              <a:ea typeface="Arial"/>
              <a:cs typeface="Arial"/>
              <a:sym typeface="Arial"/>
            </a:endParaRPr>
          </a:p>
        </p:txBody>
      </p:sp>
      <p:sp>
        <p:nvSpPr>
          <p:cNvPr id="1687" name="Google Shape;1687;p189"/>
          <p:cNvSpPr/>
          <p:nvPr/>
        </p:nvSpPr>
        <p:spPr>
          <a:xfrm>
            <a:off x="6469920" y="2196000"/>
            <a:ext cx="6595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980000"/>
                </a:solidFill>
                <a:latin typeface="Arial"/>
                <a:ea typeface="Arial"/>
                <a:cs typeface="Arial"/>
                <a:sym typeface="Arial"/>
              </a:rPr>
              <a:t>Data Lineage</a:t>
            </a:r>
            <a:endParaRPr b="0" i="0" sz="800" u="none" cap="none" strike="noStrike">
              <a:latin typeface="Arial"/>
              <a:ea typeface="Arial"/>
              <a:cs typeface="Arial"/>
              <a:sym typeface="Arial"/>
            </a:endParaRPr>
          </a:p>
        </p:txBody>
      </p:sp>
      <p:sp>
        <p:nvSpPr>
          <p:cNvPr id="1688" name="Google Shape;1688;p189"/>
          <p:cNvSpPr/>
          <p:nvPr/>
        </p:nvSpPr>
        <p:spPr>
          <a:xfrm>
            <a:off x="5673960" y="2604600"/>
            <a:ext cx="8071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980000"/>
                </a:solidFill>
                <a:latin typeface="Arial"/>
                <a:ea typeface="Arial"/>
                <a:cs typeface="Arial"/>
                <a:sym typeface="Arial"/>
              </a:rPr>
              <a:t>Data Observability</a:t>
            </a:r>
            <a:endParaRPr b="0" i="0" sz="800" u="none" cap="none" strike="noStrike">
              <a:latin typeface="Arial"/>
              <a:ea typeface="Arial"/>
              <a:cs typeface="Arial"/>
              <a:sym typeface="Arial"/>
            </a:endParaRPr>
          </a:p>
        </p:txBody>
      </p:sp>
      <p:sp>
        <p:nvSpPr>
          <p:cNvPr id="1689" name="Google Shape;1689;p189"/>
          <p:cNvSpPr/>
          <p:nvPr/>
        </p:nvSpPr>
        <p:spPr>
          <a:xfrm>
            <a:off x="6469920" y="2527560"/>
            <a:ext cx="744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980000"/>
                </a:solidFill>
                <a:latin typeface="Arial"/>
                <a:ea typeface="Arial"/>
                <a:cs typeface="Arial"/>
                <a:sym typeface="Arial"/>
              </a:rPr>
              <a:t>Auditability</a:t>
            </a:r>
            <a:endParaRPr b="0" i="0" sz="800" u="none" cap="none" strike="noStrike">
              <a:latin typeface="Arial"/>
              <a:ea typeface="Arial"/>
              <a:cs typeface="Arial"/>
              <a:sym typeface="Arial"/>
            </a:endParaRPr>
          </a:p>
        </p:txBody>
      </p:sp>
      <p:sp>
        <p:nvSpPr>
          <p:cNvPr id="1690" name="Google Shape;1690;p189"/>
          <p:cNvSpPr/>
          <p:nvPr/>
        </p:nvSpPr>
        <p:spPr>
          <a:xfrm>
            <a:off x="5954400" y="4303440"/>
            <a:ext cx="84024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A86E8"/>
                </a:solidFill>
                <a:latin typeface="Arial"/>
                <a:ea typeface="Arial"/>
                <a:cs typeface="Arial"/>
                <a:sym typeface="Arial"/>
              </a:rPr>
              <a:t>Consistency</a:t>
            </a:r>
            <a:endParaRPr b="0" i="0" sz="800" u="none" cap="none" strike="noStrike">
              <a:latin typeface="Arial"/>
              <a:ea typeface="Arial"/>
              <a:cs typeface="Arial"/>
              <a:sym typeface="Arial"/>
            </a:endParaRPr>
          </a:p>
        </p:txBody>
      </p:sp>
      <p:sp>
        <p:nvSpPr>
          <p:cNvPr id="1691" name="Google Shape;1691;p189"/>
          <p:cNvSpPr/>
          <p:nvPr/>
        </p:nvSpPr>
        <p:spPr>
          <a:xfrm>
            <a:off x="2977920" y="4446360"/>
            <a:ext cx="997200" cy="286560"/>
          </a:xfrm>
          <a:prstGeom prst="rect">
            <a:avLst/>
          </a:prstGeom>
          <a:noFill/>
          <a:ln cap="flat" cmpd="sng" w="19075">
            <a:solidFill>
              <a:srgbClr val="7F7F7F"/>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4A86E8"/>
                </a:solidFill>
                <a:latin typeface="Arial"/>
                <a:ea typeface="Arial"/>
                <a:cs typeface="Arial"/>
                <a:sym typeface="Arial"/>
              </a:rPr>
              <a:t>Data Quality</a:t>
            </a:r>
            <a:endParaRPr b="0" i="0" sz="1100" u="none" cap="none" strike="noStrike">
              <a:latin typeface="Arial"/>
              <a:ea typeface="Arial"/>
              <a:cs typeface="Arial"/>
              <a:sym typeface="Arial"/>
            </a:endParaRPr>
          </a:p>
        </p:txBody>
      </p:sp>
      <p:sp>
        <p:nvSpPr>
          <p:cNvPr id="1692" name="Google Shape;1692;p189"/>
          <p:cNvSpPr/>
          <p:nvPr/>
        </p:nvSpPr>
        <p:spPr>
          <a:xfrm rot="10800000">
            <a:off x="3476160" y="4111920"/>
            <a:ext cx="360" cy="33444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693" name="Google Shape;1693;p189"/>
          <p:cNvSpPr/>
          <p:nvPr/>
        </p:nvSpPr>
        <p:spPr>
          <a:xfrm>
            <a:off x="2977920" y="1137240"/>
            <a:ext cx="1228680" cy="420120"/>
          </a:xfrm>
          <a:prstGeom prst="rect">
            <a:avLst/>
          </a:prstGeom>
          <a:noFill/>
          <a:ln cap="flat" cmpd="sng" w="19075">
            <a:solidFill>
              <a:srgbClr val="7F7F7F"/>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666666"/>
                </a:solidFill>
                <a:latin typeface="Arial"/>
                <a:ea typeface="Arial"/>
                <a:cs typeface="Arial"/>
                <a:sym typeface="Arial"/>
              </a:rPr>
              <a:t>Master Data Management</a:t>
            </a:r>
            <a:endParaRPr b="0" i="0" sz="1100" u="none" cap="none" strike="noStrike">
              <a:latin typeface="Arial"/>
              <a:ea typeface="Arial"/>
              <a:cs typeface="Arial"/>
              <a:sym typeface="Arial"/>
            </a:endParaRPr>
          </a:p>
        </p:txBody>
      </p:sp>
      <p:sp>
        <p:nvSpPr>
          <p:cNvPr id="1694" name="Google Shape;1694;p189"/>
          <p:cNvSpPr/>
          <p:nvPr/>
        </p:nvSpPr>
        <p:spPr>
          <a:xfrm>
            <a:off x="3592440" y="1557720"/>
            <a:ext cx="728280" cy="67032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695" name="Google Shape;1695;p189"/>
          <p:cNvSpPr/>
          <p:nvPr/>
        </p:nvSpPr>
        <p:spPr>
          <a:xfrm>
            <a:off x="3592440" y="1557720"/>
            <a:ext cx="728280" cy="165672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696" name="Google Shape;1696;p189"/>
          <p:cNvSpPr/>
          <p:nvPr/>
        </p:nvSpPr>
        <p:spPr>
          <a:xfrm flipH="1">
            <a:off x="2502360" y="1557720"/>
            <a:ext cx="1088280" cy="67032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697" name="Google Shape;1697;p189"/>
          <p:cNvSpPr/>
          <p:nvPr/>
        </p:nvSpPr>
        <p:spPr>
          <a:xfrm flipH="1">
            <a:off x="2502360" y="1557720"/>
            <a:ext cx="1088280" cy="165672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698" name="Google Shape;1698;p189"/>
          <p:cNvSpPr/>
          <p:nvPr/>
        </p:nvSpPr>
        <p:spPr>
          <a:xfrm>
            <a:off x="226080" y="1137240"/>
            <a:ext cx="1057320" cy="420120"/>
          </a:xfrm>
          <a:prstGeom prst="rect">
            <a:avLst/>
          </a:prstGeom>
          <a:noFill/>
          <a:ln cap="flat" cmpd="sng" w="19075">
            <a:solidFill>
              <a:srgbClr val="7F7F7F"/>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00B845"/>
                </a:solidFill>
                <a:latin typeface="Arial"/>
                <a:ea typeface="Arial"/>
                <a:cs typeface="Arial"/>
                <a:sym typeface="Arial"/>
              </a:rPr>
              <a:t>Semantic </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B845"/>
                </a:solidFill>
                <a:latin typeface="Arial"/>
                <a:ea typeface="Arial"/>
                <a:cs typeface="Arial"/>
                <a:sym typeface="Arial"/>
              </a:rPr>
              <a:t>Quality</a:t>
            </a:r>
            <a:endParaRPr b="0" i="0" sz="1100" u="none" cap="none" strike="noStrike">
              <a:latin typeface="Arial"/>
              <a:ea typeface="Arial"/>
              <a:cs typeface="Arial"/>
              <a:sym typeface="Arial"/>
            </a:endParaRPr>
          </a:p>
        </p:txBody>
      </p:sp>
      <p:sp>
        <p:nvSpPr>
          <p:cNvPr id="1699" name="Google Shape;1699;p189"/>
          <p:cNvSpPr/>
          <p:nvPr/>
        </p:nvSpPr>
        <p:spPr>
          <a:xfrm>
            <a:off x="1284120" y="1347480"/>
            <a:ext cx="1693440" cy="360"/>
          </a:xfrm>
          <a:custGeom>
            <a:rect b="b" l="l" r="r" t="t"/>
            <a:pathLst>
              <a:path extrusionOk="0" h="21600" w="21600">
                <a:moveTo>
                  <a:pt x="0" y="0"/>
                </a:moveTo>
                <a:lnTo>
                  <a:pt x="21600" y="21600"/>
                </a:lnTo>
              </a:path>
            </a:pathLst>
          </a:custGeom>
          <a:noFill/>
          <a:ln cap="flat" cmpd="sng" w="9525">
            <a:solidFill>
              <a:srgbClr val="7F7F7F"/>
            </a:solidFill>
            <a:prstDash val="dashDot"/>
            <a:round/>
            <a:headEnd len="sm" w="sm" type="none"/>
            <a:tailEnd len="med" w="med" type="triangle"/>
          </a:ln>
        </p:spPr>
      </p:sp>
      <p:sp>
        <p:nvSpPr>
          <p:cNvPr id="1700" name="Google Shape;1700;p189"/>
          <p:cNvSpPr/>
          <p:nvPr/>
        </p:nvSpPr>
        <p:spPr>
          <a:xfrm>
            <a:off x="1542600" y="1087560"/>
            <a:ext cx="1176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Terms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Naming Conventions</a:t>
            </a:r>
            <a:endParaRPr b="0" i="0" sz="800" u="none" cap="none" strike="noStrike">
              <a:latin typeface="Arial"/>
              <a:ea typeface="Arial"/>
              <a:cs typeface="Arial"/>
              <a:sym typeface="Arial"/>
            </a:endParaRPr>
          </a:p>
        </p:txBody>
      </p:sp>
      <p:sp>
        <p:nvSpPr>
          <p:cNvPr id="1701" name="Google Shape;1701;p189"/>
          <p:cNvSpPr/>
          <p:nvPr/>
        </p:nvSpPr>
        <p:spPr>
          <a:xfrm>
            <a:off x="1542600" y="1322640"/>
            <a:ext cx="1176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Taxonomies</a:t>
            </a:r>
            <a:endParaRPr b="0" i="0" sz="800" u="none" cap="none" strike="noStrike">
              <a:latin typeface="Arial"/>
              <a:ea typeface="Arial"/>
              <a:cs typeface="Arial"/>
              <a:sym typeface="Arial"/>
            </a:endParaRPr>
          </a:p>
        </p:txBody>
      </p:sp>
      <p:cxnSp>
        <p:nvCxnSpPr>
          <p:cNvPr id="1702" name="Google Shape;1702;p189"/>
          <p:cNvCxnSpPr/>
          <p:nvPr/>
        </p:nvCxnSpPr>
        <p:spPr>
          <a:xfrm>
            <a:off x="753840" y="1557720"/>
            <a:ext cx="2317200" cy="2133600"/>
          </a:xfrm>
          <a:prstGeom prst="bentConnector2">
            <a:avLst/>
          </a:prstGeom>
          <a:noFill/>
          <a:ln cap="flat" cmpd="sng" w="9525">
            <a:solidFill>
              <a:srgbClr val="7F7F7F"/>
            </a:solidFill>
            <a:prstDash val="dashDot"/>
            <a:round/>
            <a:headEnd len="sm" w="sm" type="none"/>
            <a:tailEnd len="med" w="med" type="triangle"/>
          </a:ln>
        </p:spPr>
      </p:cxnSp>
      <p:sp>
        <p:nvSpPr>
          <p:cNvPr id="1703" name="Google Shape;1703;p189"/>
          <p:cNvSpPr/>
          <p:nvPr/>
        </p:nvSpPr>
        <p:spPr>
          <a:xfrm rot="-5400000">
            <a:off x="3600" y="2602080"/>
            <a:ext cx="11761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Terms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Naming Conventions</a:t>
            </a:r>
            <a:endParaRPr b="0" i="0" sz="800" u="none" cap="none" strike="noStrike">
              <a:latin typeface="Arial"/>
              <a:ea typeface="Arial"/>
              <a:cs typeface="Arial"/>
              <a:sym typeface="Arial"/>
            </a:endParaRPr>
          </a:p>
        </p:txBody>
      </p:sp>
      <p:sp>
        <p:nvSpPr>
          <p:cNvPr id="1704" name="Google Shape;1704;p189"/>
          <p:cNvSpPr/>
          <p:nvPr/>
        </p:nvSpPr>
        <p:spPr>
          <a:xfrm rot="-5400000">
            <a:off x="238680" y="2602080"/>
            <a:ext cx="11761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Taxonomies</a:t>
            </a:r>
            <a:endParaRPr b="0" i="0" sz="800" u="none" cap="none" strike="noStrike">
              <a:latin typeface="Arial"/>
              <a:ea typeface="Arial"/>
              <a:cs typeface="Arial"/>
              <a:sym typeface="Arial"/>
            </a:endParaRPr>
          </a:p>
        </p:txBody>
      </p:sp>
      <p:sp>
        <p:nvSpPr>
          <p:cNvPr id="1705" name="Google Shape;1705;p189"/>
          <p:cNvSpPr/>
          <p:nvPr/>
        </p:nvSpPr>
        <p:spPr>
          <a:xfrm>
            <a:off x="3476520" y="2957040"/>
            <a:ext cx="360" cy="314280"/>
          </a:xfrm>
          <a:custGeom>
            <a:rect b="b" l="l" r="r" t="t"/>
            <a:pathLst>
              <a:path extrusionOk="0" h="21600" w="21600">
                <a:moveTo>
                  <a:pt x="0" y="0"/>
                </a:moveTo>
                <a:lnTo>
                  <a:pt x="21600" y="21600"/>
                </a:lnTo>
              </a:path>
            </a:pathLst>
          </a:custGeom>
          <a:noFill/>
          <a:ln cap="flat" cmpd="sng" w="19075">
            <a:solidFill>
              <a:srgbClr val="7F7F7F"/>
            </a:solidFill>
            <a:prstDash val="solid"/>
            <a:round/>
            <a:headEnd len="sm" w="sm" type="none"/>
            <a:tailEnd len="sm" w="sm" type="none"/>
          </a:ln>
        </p:spPr>
      </p:sp>
      <p:sp>
        <p:nvSpPr>
          <p:cNvPr id="1706" name="Google Shape;1706;p189"/>
          <p:cNvSpPr/>
          <p:nvPr/>
        </p:nvSpPr>
        <p:spPr>
          <a:xfrm flipH="1">
            <a:off x="3930840" y="2228400"/>
            <a:ext cx="388440" cy="480600"/>
          </a:xfrm>
          <a:custGeom>
            <a:rect b="b" l="l" r="r" t="t"/>
            <a:pathLst>
              <a:path extrusionOk="0" h="21600" w="21600">
                <a:moveTo>
                  <a:pt x="0" y="0"/>
                </a:moveTo>
                <a:lnTo>
                  <a:pt x="21600" y="21600"/>
                </a:lnTo>
              </a:path>
            </a:pathLst>
          </a:custGeom>
          <a:noFill/>
          <a:ln cap="flat" cmpd="sng" w="19075">
            <a:solidFill>
              <a:srgbClr val="7F7F7F"/>
            </a:solidFill>
            <a:prstDash val="solid"/>
            <a:round/>
            <a:headEnd len="sm" w="sm" type="none"/>
            <a:tailEnd len="sm" w="sm" type="none"/>
          </a:ln>
        </p:spPr>
      </p:sp>
      <p:sp>
        <p:nvSpPr>
          <p:cNvPr id="1707" name="Google Shape;1707;p189"/>
          <p:cNvSpPr/>
          <p:nvPr/>
        </p:nvSpPr>
        <p:spPr>
          <a:xfrm>
            <a:off x="3932280" y="2709360"/>
            <a:ext cx="388440" cy="505080"/>
          </a:xfrm>
          <a:custGeom>
            <a:rect b="b" l="l" r="r" t="t"/>
            <a:pathLst>
              <a:path extrusionOk="0" h="21600" w="21600">
                <a:moveTo>
                  <a:pt x="0" y="0"/>
                </a:moveTo>
                <a:lnTo>
                  <a:pt x="21600" y="21600"/>
                </a:lnTo>
              </a:path>
            </a:pathLst>
          </a:custGeom>
          <a:noFill/>
          <a:ln cap="flat" cmpd="sng" w="19075">
            <a:solidFill>
              <a:srgbClr val="7F7F7F"/>
            </a:solidFill>
            <a:prstDash val="solid"/>
            <a:round/>
            <a:headEnd len="sm" w="sm" type="none"/>
            <a:tailEnd len="sm" w="sm" type="none"/>
          </a:ln>
        </p:spPr>
      </p:sp>
      <p:sp>
        <p:nvSpPr>
          <p:cNvPr id="1708" name="Google Shape;1708;p189"/>
          <p:cNvSpPr/>
          <p:nvPr/>
        </p:nvSpPr>
        <p:spPr>
          <a:xfrm>
            <a:off x="2503800" y="2228400"/>
            <a:ext cx="516960" cy="480600"/>
          </a:xfrm>
          <a:custGeom>
            <a:rect b="b" l="l" r="r" t="t"/>
            <a:pathLst>
              <a:path extrusionOk="0" h="21600" w="21600">
                <a:moveTo>
                  <a:pt x="0" y="0"/>
                </a:moveTo>
                <a:lnTo>
                  <a:pt x="21600" y="21600"/>
                </a:lnTo>
              </a:path>
            </a:pathLst>
          </a:custGeom>
          <a:noFill/>
          <a:ln cap="flat" cmpd="sng" w="19075">
            <a:solidFill>
              <a:srgbClr val="7F7F7F"/>
            </a:solidFill>
            <a:prstDash val="solid"/>
            <a:round/>
            <a:headEnd len="sm" w="sm" type="none"/>
            <a:tailEnd len="sm" w="sm" type="none"/>
          </a:ln>
        </p:spPr>
      </p:sp>
      <p:sp>
        <p:nvSpPr>
          <p:cNvPr id="1709" name="Google Shape;1709;p189"/>
          <p:cNvSpPr/>
          <p:nvPr/>
        </p:nvSpPr>
        <p:spPr>
          <a:xfrm flipH="1" rot="10800000">
            <a:off x="2503800" y="3214800"/>
            <a:ext cx="516960" cy="505080"/>
          </a:xfrm>
          <a:custGeom>
            <a:rect b="b" l="l" r="r" t="t"/>
            <a:pathLst>
              <a:path extrusionOk="0" h="21600" w="21600">
                <a:moveTo>
                  <a:pt x="0" y="0"/>
                </a:moveTo>
                <a:lnTo>
                  <a:pt x="21600" y="21600"/>
                </a:lnTo>
              </a:path>
            </a:pathLst>
          </a:custGeom>
          <a:noFill/>
          <a:ln cap="flat" cmpd="sng" w="19075">
            <a:solidFill>
              <a:srgbClr val="7F7F7F"/>
            </a:solidFill>
            <a:prstDash val="solid"/>
            <a:round/>
            <a:headEnd len="sm" w="sm" type="none"/>
            <a:tailEnd len="sm" w="sm" type="none"/>
          </a:ln>
        </p:spPr>
      </p:sp>
      <p:pic>
        <p:nvPicPr>
          <p:cNvPr id="1710" name="Google Shape;1710;p189"/>
          <p:cNvPicPr preferRelativeResize="0"/>
          <p:nvPr/>
        </p:nvPicPr>
        <p:blipFill rotWithShape="1">
          <a:blip r:embed="rId3">
            <a:alphaModFix/>
          </a:blip>
          <a:srcRect b="0" l="0" r="0" t="0"/>
          <a:stretch/>
        </p:blipFill>
        <p:spPr>
          <a:xfrm>
            <a:off x="8518320" y="2697840"/>
            <a:ext cx="465120" cy="495360"/>
          </a:xfrm>
          <a:prstGeom prst="rect">
            <a:avLst/>
          </a:prstGeom>
          <a:noFill/>
          <a:ln>
            <a:noFill/>
          </a:ln>
        </p:spPr>
      </p:pic>
      <p:cxnSp>
        <p:nvCxnSpPr>
          <p:cNvPr id="1711" name="Google Shape;1711;p189"/>
          <p:cNvCxnSpPr/>
          <p:nvPr/>
        </p:nvCxnSpPr>
        <p:spPr>
          <a:xfrm>
            <a:off x="753660" y="1137420"/>
            <a:ext cx="7995900" cy="1560300"/>
          </a:xfrm>
          <a:prstGeom prst="bentConnector3">
            <a:avLst>
              <a:gd fmla="val 0" name="adj1"/>
            </a:avLst>
          </a:prstGeom>
          <a:noFill/>
          <a:ln cap="flat" cmpd="sng" w="9525">
            <a:solidFill>
              <a:srgbClr val="7F7F7F"/>
            </a:solidFill>
            <a:prstDash val="dashDot"/>
            <a:round/>
            <a:headEnd len="sm" w="sm" type="none"/>
            <a:tailEnd len="med" w="med" type="triangle"/>
          </a:ln>
        </p:spPr>
      </p:cxnSp>
      <p:sp>
        <p:nvSpPr>
          <p:cNvPr id="1712" name="Google Shape;1712;p189"/>
          <p:cNvSpPr/>
          <p:nvPr/>
        </p:nvSpPr>
        <p:spPr>
          <a:xfrm>
            <a:off x="5749200" y="693000"/>
            <a:ext cx="130392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Unified Persona Model</a:t>
            </a:r>
            <a:endParaRPr b="0" i="0" sz="800" u="none" cap="none" strike="noStrike">
              <a:latin typeface="Arial"/>
              <a:ea typeface="Arial"/>
              <a:cs typeface="Arial"/>
              <a:sym typeface="Arial"/>
            </a:endParaRPr>
          </a:p>
        </p:txBody>
      </p:sp>
      <p:sp>
        <p:nvSpPr>
          <p:cNvPr id="1713" name="Google Shape;1713;p189"/>
          <p:cNvSpPr/>
          <p:nvPr/>
        </p:nvSpPr>
        <p:spPr>
          <a:xfrm>
            <a:off x="5825520" y="920880"/>
            <a:ext cx="1176480" cy="214920"/>
          </a:xfrm>
          <a:prstGeom prst="rect">
            <a:avLst/>
          </a:prstGeom>
          <a:no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B845"/>
                </a:solidFill>
                <a:latin typeface="Arial"/>
                <a:ea typeface="Arial"/>
                <a:cs typeface="Arial"/>
                <a:sym typeface="Arial"/>
              </a:rPr>
              <a:t>Relevancy</a:t>
            </a:r>
            <a:endParaRPr b="0" i="0" sz="800" u="none" cap="none" strike="noStrike">
              <a:latin typeface="Arial"/>
              <a:ea typeface="Arial"/>
              <a:cs typeface="Arial"/>
              <a:sym typeface="Arial"/>
            </a:endParaRPr>
          </a:p>
        </p:txBody>
      </p:sp>
      <p:sp>
        <p:nvSpPr>
          <p:cNvPr id="1714" name="Google Shape;1714;p189"/>
          <p:cNvSpPr/>
          <p:nvPr/>
        </p:nvSpPr>
        <p:spPr>
          <a:xfrm>
            <a:off x="8409600" y="2838240"/>
            <a:ext cx="150480" cy="214920"/>
          </a:xfrm>
          <a:prstGeom prst="chevron">
            <a:avLst>
              <a:gd fmla="val 50000" name="adj"/>
            </a:avLst>
          </a:prstGeom>
          <a:solidFill>
            <a:srgbClr val="45818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5" name="Google Shape;1715;p189"/>
          <p:cNvGrpSpPr/>
          <p:nvPr/>
        </p:nvGrpSpPr>
        <p:grpSpPr>
          <a:xfrm>
            <a:off x="8549640" y="0"/>
            <a:ext cx="594000" cy="679680"/>
            <a:chOff x="8549640" y="0"/>
            <a:chExt cx="594000" cy="679680"/>
          </a:xfrm>
        </p:grpSpPr>
        <p:sp>
          <p:nvSpPr>
            <p:cNvPr id="1716" name="Google Shape;1716;p18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7" name="Google Shape;1717;p189"/>
            <p:cNvGrpSpPr/>
            <p:nvPr/>
          </p:nvGrpSpPr>
          <p:grpSpPr>
            <a:xfrm>
              <a:off x="8588160" y="0"/>
              <a:ext cx="555480" cy="679680"/>
              <a:chOff x="8588160" y="0"/>
              <a:chExt cx="555480" cy="679680"/>
            </a:xfrm>
          </p:grpSpPr>
          <p:pic>
            <p:nvPicPr>
              <p:cNvPr id="1718" name="Google Shape;1718;p189"/>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1719" name="Google Shape;1719;p18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3" name="Shape 1723"/>
        <p:cNvGrpSpPr/>
        <p:nvPr/>
      </p:nvGrpSpPr>
      <p:grpSpPr>
        <a:xfrm>
          <a:off x="0" y="0"/>
          <a:ext cx="0" cy="0"/>
          <a:chOff x="0" y="0"/>
          <a:chExt cx="0" cy="0"/>
        </a:xfrm>
      </p:grpSpPr>
      <p:sp>
        <p:nvSpPr>
          <p:cNvPr id="1724" name="Google Shape;1724;p190"/>
          <p:cNvSpPr txBox="1"/>
          <p:nvPr/>
        </p:nvSpPr>
        <p:spPr>
          <a:xfrm>
            <a:off x="1000080" y="1599120"/>
            <a:ext cx="7086240" cy="1413360"/>
          </a:xfrm>
          <a:prstGeom prst="rect">
            <a:avLst/>
          </a:prstGeom>
          <a:noFill/>
          <a:ln>
            <a:noFill/>
          </a:ln>
        </p:spPr>
        <p:txBody>
          <a:bodyPr anchorCtr="0" anchor="ctr" bIns="0" lIns="0" spcFirstLastPara="1" rIns="0" wrap="square" tIns="0">
            <a:normAutofit/>
          </a:bodyPr>
          <a:lstStyle/>
          <a:p>
            <a:pPr indent="0" lvl="0" marL="0" marR="0" rtl="0" algn="ctr">
              <a:lnSpc>
                <a:spcPct val="80000"/>
              </a:lnSpc>
              <a:spcBef>
                <a:spcPts val="0"/>
              </a:spcBef>
              <a:spcAft>
                <a:spcPts val="0"/>
              </a:spcAft>
              <a:buNone/>
            </a:pPr>
            <a:r>
              <a:rPr b="1" i="0" lang="en-US" sz="4000" u="none" cap="none" strike="noStrike">
                <a:solidFill>
                  <a:srgbClr val="FFFFFF"/>
                </a:solidFill>
                <a:latin typeface="Arial"/>
                <a:ea typeface="Arial"/>
                <a:cs typeface="Arial"/>
                <a:sym typeface="Arial"/>
              </a:rPr>
              <a:t>Semantic Governance Walkaround Deck</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191"/>
          <p:cNvSpPr/>
          <p:nvPr/>
        </p:nvSpPr>
        <p:spPr>
          <a:xfrm rot="-5401200">
            <a:off x="3044880" y="3006720"/>
            <a:ext cx="1384920" cy="371880"/>
          </a:xfrm>
          <a:prstGeom prst="leftRightArrow">
            <a:avLst>
              <a:gd fmla="val 50000" name="adj1"/>
              <a:gd fmla="val 50000" name="adj2"/>
            </a:avLst>
          </a:prstGeom>
          <a:solidFill>
            <a:srgbClr val="D8DADA"/>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a:t>
            </a:r>
            <a:endParaRPr b="0" i="0" sz="700" u="none" cap="none" strike="noStrike">
              <a:latin typeface="Arial"/>
              <a:ea typeface="Arial"/>
              <a:cs typeface="Arial"/>
              <a:sym typeface="Arial"/>
            </a:endParaRPr>
          </a:p>
        </p:txBody>
      </p:sp>
      <p:sp>
        <p:nvSpPr>
          <p:cNvPr id="1730" name="Google Shape;1730;p191"/>
          <p:cNvSpPr txBox="1"/>
          <p:nvPr/>
        </p:nvSpPr>
        <p:spPr>
          <a:xfrm>
            <a:off x="762120" y="110880"/>
            <a:ext cx="5889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3-Tier Architecture</a:t>
            </a:r>
            <a:endParaRPr b="0" i="0" sz="2000" u="none" cap="none" strike="noStrike">
              <a:solidFill>
                <a:srgbClr val="000000"/>
              </a:solidFill>
              <a:latin typeface="Arial"/>
              <a:ea typeface="Arial"/>
              <a:cs typeface="Arial"/>
              <a:sym typeface="Arial"/>
            </a:endParaRPr>
          </a:p>
        </p:txBody>
      </p:sp>
      <p:sp>
        <p:nvSpPr>
          <p:cNvPr id="1731" name="Google Shape;1731;p191"/>
          <p:cNvSpPr/>
          <p:nvPr/>
        </p:nvSpPr>
        <p:spPr>
          <a:xfrm>
            <a:off x="6651720" y="3208320"/>
            <a:ext cx="1618920" cy="85968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1VZ Data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a:t>
            </a:r>
            <a:r>
              <a:rPr b="0" i="0" lang="en-US" sz="1000" u="none" cap="none" strike="noStrike">
                <a:solidFill>
                  <a:srgbClr val="0088CE"/>
                </a:solidFill>
                <a:latin typeface="Arial"/>
                <a:ea typeface="Arial"/>
                <a:cs typeface="Arial"/>
                <a:sym typeface="Arial"/>
              </a:rPr>
              <a:t>Metadata</a:t>
            </a:r>
            <a:r>
              <a:rPr b="0" i="0" lang="en-US" sz="1000" u="none" cap="none" strike="noStrike">
                <a:solidFill>
                  <a:srgbClr val="000000"/>
                </a:solidFill>
                <a:latin typeface="Arial"/>
                <a:ea typeface="Arial"/>
                <a:cs typeface="Arial"/>
                <a:sym typeface="Arial"/>
              </a:rPr>
              <a:t> + </a:t>
            </a:r>
            <a:r>
              <a:rPr b="0" i="0" lang="en-US" sz="1000" u="none" cap="none" strike="noStrike">
                <a:solidFill>
                  <a:srgbClr val="0088CE"/>
                </a:solidFill>
                <a:latin typeface="Arial"/>
                <a:ea typeface="Arial"/>
                <a:cs typeface="Arial"/>
                <a:sym typeface="Arial"/>
              </a:rPr>
              <a:t>Instances</a:t>
            </a:r>
            <a:r>
              <a:rPr b="0" i="0" lang="en-US" sz="1000" u="none" cap="none" strike="noStrike">
                <a:solidFill>
                  <a:srgbClr val="000000"/>
                </a:solidFill>
                <a:latin typeface="Arial"/>
                <a:ea typeface="Arial"/>
                <a:cs typeface="Arial"/>
                <a:sym typeface="Arial"/>
              </a:rPr>
              <a:t>)</a:t>
            </a:r>
            <a:endParaRPr b="0" i="0" sz="1000" u="none" cap="none" strike="noStrike">
              <a:latin typeface="Arial"/>
              <a:ea typeface="Arial"/>
              <a:cs typeface="Arial"/>
              <a:sym typeface="Arial"/>
            </a:endParaRPr>
          </a:p>
        </p:txBody>
      </p:sp>
      <p:sp>
        <p:nvSpPr>
          <p:cNvPr id="1732" name="Google Shape;1732;p191"/>
          <p:cNvSpPr/>
          <p:nvPr/>
        </p:nvSpPr>
        <p:spPr>
          <a:xfrm>
            <a:off x="434880" y="12661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Business Knowledge</a:t>
            </a:r>
            <a:endParaRPr b="0" i="0" sz="900" u="none" cap="none" strike="noStrike">
              <a:latin typeface="Arial"/>
              <a:ea typeface="Arial"/>
              <a:cs typeface="Arial"/>
              <a:sym typeface="Arial"/>
            </a:endParaRPr>
          </a:p>
        </p:txBody>
      </p:sp>
      <p:grpSp>
        <p:nvGrpSpPr>
          <p:cNvPr id="1733" name="Google Shape;1733;p191"/>
          <p:cNvGrpSpPr/>
          <p:nvPr/>
        </p:nvGrpSpPr>
        <p:grpSpPr>
          <a:xfrm>
            <a:off x="1757880" y="665280"/>
            <a:ext cx="3958920" cy="1805400"/>
            <a:chOff x="1757880" y="665280"/>
            <a:chExt cx="3958920" cy="1805400"/>
          </a:xfrm>
        </p:grpSpPr>
        <p:sp>
          <p:nvSpPr>
            <p:cNvPr id="1734" name="Google Shape;1734;p191"/>
            <p:cNvSpPr/>
            <p:nvPr/>
          </p:nvSpPr>
          <p:spPr>
            <a:xfrm>
              <a:off x="1757880" y="665280"/>
              <a:ext cx="3958920" cy="1803960"/>
            </a:xfrm>
            <a:prstGeom prst="flowChartAlternateProcess">
              <a:avLst/>
            </a:prstGeom>
            <a:no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5" name="Google Shape;1735;p191"/>
            <p:cNvPicPr preferRelativeResize="0"/>
            <p:nvPr/>
          </p:nvPicPr>
          <p:blipFill rotWithShape="1">
            <a:blip r:embed="rId3">
              <a:alphaModFix/>
            </a:blip>
            <a:srcRect b="0" l="0" r="0" t="0"/>
            <a:stretch/>
          </p:blipFill>
          <p:spPr>
            <a:xfrm>
              <a:off x="3283920" y="743040"/>
              <a:ext cx="795960" cy="396000"/>
            </a:xfrm>
            <a:prstGeom prst="rect">
              <a:avLst/>
            </a:prstGeom>
            <a:noFill/>
            <a:ln>
              <a:noFill/>
            </a:ln>
          </p:spPr>
        </p:pic>
        <p:cxnSp>
          <p:nvCxnSpPr>
            <p:cNvPr id="1736" name="Google Shape;1736;p191"/>
            <p:cNvCxnSpPr/>
            <p:nvPr/>
          </p:nvCxnSpPr>
          <p:spPr>
            <a:xfrm flipH="1">
              <a:off x="2685960" y="941040"/>
              <a:ext cx="597600" cy="297000"/>
            </a:xfrm>
            <a:prstGeom prst="curvedConnector2">
              <a:avLst/>
            </a:prstGeom>
            <a:noFill/>
            <a:ln cap="flat" cmpd="sng" w="9525">
              <a:solidFill>
                <a:srgbClr val="000000"/>
              </a:solidFill>
              <a:prstDash val="solid"/>
              <a:round/>
              <a:headEnd len="sm" w="sm" type="none"/>
              <a:tailEnd len="sm" w="sm" type="none"/>
            </a:ln>
          </p:spPr>
        </p:cxnSp>
        <p:cxnSp>
          <p:nvCxnSpPr>
            <p:cNvPr id="1737" name="Google Shape;1737;p191"/>
            <p:cNvCxnSpPr/>
            <p:nvPr/>
          </p:nvCxnSpPr>
          <p:spPr>
            <a:xfrm>
              <a:off x="4080240" y="941040"/>
              <a:ext cx="262800" cy="434880"/>
            </a:xfrm>
            <a:prstGeom prst="curvedConnector2">
              <a:avLst/>
            </a:prstGeom>
            <a:noFill/>
            <a:ln cap="flat" cmpd="sng" w="9525">
              <a:solidFill>
                <a:srgbClr val="000000"/>
              </a:solidFill>
              <a:prstDash val="solid"/>
              <a:round/>
              <a:headEnd len="sm" w="sm" type="none"/>
              <a:tailEnd len="sm" w="sm" type="none"/>
            </a:ln>
          </p:spPr>
        </p:cxnSp>
        <p:sp>
          <p:nvSpPr>
            <p:cNvPr id="1738" name="Google Shape;1738;p191"/>
            <p:cNvSpPr/>
            <p:nvPr/>
          </p:nvSpPr>
          <p:spPr>
            <a:xfrm>
              <a:off x="4204080" y="743040"/>
              <a:ext cx="1005120" cy="276120"/>
            </a:xfrm>
            <a:prstGeom prst="rect">
              <a:avLst/>
            </a:prstGeom>
            <a:noFill/>
            <a:ln>
              <a:noFill/>
            </a:ln>
          </p:spPr>
          <p:txBody>
            <a:bodyPr anchorCtr="0" anchor="t" bIns="68400" lIns="68400" spcFirstLastPara="1" rIns="68400" wrap="square" tIns="68400">
              <a:noAutofit/>
            </a:bodyPr>
            <a:lstStyle/>
            <a:p>
              <a:pPr indent="0" lvl="0" marL="0" marR="0" rtl="0" algn="ctr">
                <a:lnSpc>
                  <a:spcPct val="115000"/>
                </a:lnSpc>
                <a:spcBef>
                  <a:spcPts val="0"/>
                </a:spcBef>
                <a:spcAft>
                  <a:spcPts val="0"/>
                </a:spcAft>
                <a:buNone/>
              </a:pPr>
              <a:r>
                <a:rPr b="1" i="0" lang="en-US" sz="800" u="none" cap="none" strike="noStrike">
                  <a:solidFill>
                    <a:srgbClr val="000000"/>
                  </a:solidFill>
                  <a:latin typeface="Roboto"/>
                  <a:ea typeface="Roboto"/>
                  <a:cs typeface="Roboto"/>
                  <a:sym typeface="Roboto"/>
                </a:rPr>
                <a:t>Upper Ontology</a:t>
              </a:r>
              <a:endParaRPr b="0" i="0" sz="800" u="none" cap="none" strike="noStrike">
                <a:latin typeface="Arial"/>
                <a:ea typeface="Arial"/>
                <a:cs typeface="Arial"/>
                <a:sym typeface="Arial"/>
              </a:endParaRPr>
            </a:p>
          </p:txBody>
        </p:sp>
        <p:grpSp>
          <p:nvGrpSpPr>
            <p:cNvPr id="1739" name="Google Shape;1739;p191"/>
            <p:cNvGrpSpPr/>
            <p:nvPr/>
          </p:nvGrpSpPr>
          <p:grpSpPr>
            <a:xfrm>
              <a:off x="4038120" y="1376640"/>
              <a:ext cx="610560" cy="655200"/>
              <a:chOff x="4038120" y="1376640"/>
              <a:chExt cx="610560" cy="655200"/>
            </a:xfrm>
          </p:grpSpPr>
          <p:pic>
            <p:nvPicPr>
              <p:cNvPr id="1740" name="Google Shape;1740;p191"/>
              <p:cNvPicPr preferRelativeResize="0"/>
              <p:nvPr/>
            </p:nvPicPr>
            <p:blipFill rotWithShape="1">
              <a:blip r:embed="rId4">
                <a:alphaModFix/>
              </a:blip>
              <a:srcRect b="0" l="0" r="0" t="0"/>
              <a:stretch/>
            </p:blipFill>
            <p:spPr>
              <a:xfrm>
                <a:off x="4089960" y="1376640"/>
                <a:ext cx="506880" cy="407520"/>
              </a:xfrm>
              <a:prstGeom prst="rect">
                <a:avLst/>
              </a:prstGeom>
              <a:noFill/>
              <a:ln>
                <a:noFill/>
              </a:ln>
            </p:spPr>
          </p:pic>
          <p:sp>
            <p:nvSpPr>
              <p:cNvPr id="1741" name="Google Shape;1741;p191"/>
              <p:cNvSpPr/>
              <p:nvPr/>
            </p:nvSpPr>
            <p:spPr>
              <a:xfrm>
                <a:off x="4038120" y="179748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Network Operations</a:t>
                </a:r>
                <a:endParaRPr b="0" i="0" sz="600" u="none" cap="none" strike="noStrike">
                  <a:latin typeface="Arial"/>
                  <a:ea typeface="Arial"/>
                  <a:cs typeface="Arial"/>
                  <a:sym typeface="Arial"/>
                </a:endParaRPr>
              </a:p>
            </p:txBody>
          </p:sp>
        </p:grpSp>
        <p:grpSp>
          <p:nvGrpSpPr>
            <p:cNvPr id="1742" name="Google Shape;1742;p191"/>
            <p:cNvGrpSpPr/>
            <p:nvPr/>
          </p:nvGrpSpPr>
          <p:grpSpPr>
            <a:xfrm>
              <a:off x="4837680" y="1626840"/>
              <a:ext cx="610560" cy="613440"/>
              <a:chOff x="4837680" y="1626840"/>
              <a:chExt cx="610560" cy="613440"/>
            </a:xfrm>
          </p:grpSpPr>
          <p:pic>
            <p:nvPicPr>
              <p:cNvPr id="1743" name="Google Shape;1743;p191"/>
              <p:cNvPicPr preferRelativeResize="0"/>
              <p:nvPr/>
            </p:nvPicPr>
            <p:blipFill rotWithShape="1">
              <a:blip r:embed="rId5">
                <a:alphaModFix/>
              </a:blip>
              <a:srcRect b="0" l="0" r="0" t="0"/>
              <a:stretch/>
            </p:blipFill>
            <p:spPr>
              <a:xfrm>
                <a:off x="4889520" y="1626840"/>
                <a:ext cx="506880" cy="369000"/>
              </a:xfrm>
              <a:prstGeom prst="rect">
                <a:avLst/>
              </a:prstGeom>
              <a:noFill/>
              <a:ln>
                <a:noFill/>
              </a:ln>
            </p:spPr>
          </p:pic>
          <p:sp>
            <p:nvSpPr>
              <p:cNvPr id="1744" name="Google Shape;1744;p191"/>
              <p:cNvSpPr/>
              <p:nvPr/>
            </p:nvSpPr>
            <p:spPr>
              <a:xfrm>
                <a:off x="4837680" y="200592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Customer Support</a:t>
                </a:r>
                <a:endParaRPr b="0" i="0" sz="600" u="none" cap="none" strike="noStrike">
                  <a:latin typeface="Arial"/>
                  <a:ea typeface="Arial"/>
                  <a:cs typeface="Arial"/>
                  <a:sym typeface="Arial"/>
                </a:endParaRPr>
              </a:p>
            </p:txBody>
          </p:sp>
        </p:grpSp>
        <p:pic>
          <p:nvPicPr>
            <p:cNvPr id="1745" name="Google Shape;1745;p191"/>
            <p:cNvPicPr preferRelativeResize="0"/>
            <p:nvPr/>
          </p:nvPicPr>
          <p:blipFill rotWithShape="1">
            <a:blip r:embed="rId6">
              <a:alphaModFix/>
            </a:blip>
            <a:srcRect b="0" l="0" r="0" t="0"/>
            <a:stretch/>
          </p:blipFill>
          <p:spPr>
            <a:xfrm>
              <a:off x="2302200" y="1238400"/>
              <a:ext cx="767160" cy="657360"/>
            </a:xfrm>
            <a:prstGeom prst="rect">
              <a:avLst/>
            </a:prstGeom>
            <a:noFill/>
            <a:ln>
              <a:noFill/>
            </a:ln>
          </p:spPr>
        </p:pic>
        <p:grpSp>
          <p:nvGrpSpPr>
            <p:cNvPr id="1746" name="Google Shape;1746;p191"/>
            <p:cNvGrpSpPr/>
            <p:nvPr/>
          </p:nvGrpSpPr>
          <p:grpSpPr>
            <a:xfrm>
              <a:off x="3376800" y="1684800"/>
              <a:ext cx="610560" cy="564120"/>
              <a:chOff x="3376800" y="1684800"/>
              <a:chExt cx="610560" cy="564120"/>
            </a:xfrm>
          </p:grpSpPr>
          <p:pic>
            <p:nvPicPr>
              <p:cNvPr id="1747" name="Google Shape;1747;p191"/>
              <p:cNvPicPr preferRelativeResize="0"/>
              <p:nvPr/>
            </p:nvPicPr>
            <p:blipFill rotWithShape="1">
              <a:blip r:embed="rId7">
                <a:alphaModFix/>
              </a:blip>
              <a:srcRect b="0" l="0" r="0" t="0"/>
              <a:stretch/>
            </p:blipFill>
            <p:spPr>
              <a:xfrm>
                <a:off x="3428640" y="1684800"/>
                <a:ext cx="506880" cy="407520"/>
              </a:xfrm>
              <a:prstGeom prst="rect">
                <a:avLst/>
              </a:prstGeom>
              <a:noFill/>
              <a:ln>
                <a:noFill/>
              </a:ln>
            </p:spPr>
          </p:pic>
          <p:sp>
            <p:nvSpPr>
              <p:cNvPr id="1748" name="Google Shape;1748;p191"/>
              <p:cNvSpPr/>
              <p:nvPr/>
            </p:nvSpPr>
            <p:spPr>
              <a:xfrm>
                <a:off x="3376800" y="2106000"/>
                <a:ext cx="610560" cy="14292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Finance</a:t>
                </a:r>
                <a:endParaRPr b="0" i="0" sz="600" u="none" cap="none" strike="noStrike">
                  <a:latin typeface="Arial"/>
                  <a:ea typeface="Arial"/>
                  <a:cs typeface="Arial"/>
                  <a:sym typeface="Arial"/>
                </a:endParaRPr>
              </a:p>
            </p:txBody>
          </p:sp>
        </p:grpSp>
        <p:cxnSp>
          <p:nvCxnSpPr>
            <p:cNvPr id="1749" name="Google Shape;1749;p191"/>
            <p:cNvCxnSpPr/>
            <p:nvPr/>
          </p:nvCxnSpPr>
          <p:spPr>
            <a:xfrm flipH="1">
              <a:off x="3680640" y="941040"/>
              <a:ext cx="397800" cy="743400"/>
            </a:xfrm>
            <a:prstGeom prst="curvedConnector4">
              <a:avLst>
                <a:gd fmla="val -59815" name="adj1"/>
                <a:gd fmla="val 63325" name="adj2"/>
              </a:avLst>
            </a:prstGeom>
            <a:noFill/>
            <a:ln cap="flat" cmpd="sng" w="9525">
              <a:solidFill>
                <a:srgbClr val="000000"/>
              </a:solidFill>
              <a:prstDash val="solid"/>
              <a:round/>
              <a:headEnd len="sm" w="sm" type="none"/>
              <a:tailEnd len="sm" w="sm" type="none"/>
            </a:ln>
          </p:spPr>
        </p:cxnSp>
        <p:cxnSp>
          <p:nvCxnSpPr>
            <p:cNvPr id="1750" name="Google Shape;1750;p191"/>
            <p:cNvCxnSpPr/>
            <p:nvPr/>
          </p:nvCxnSpPr>
          <p:spPr>
            <a:xfrm>
              <a:off x="4080240" y="941040"/>
              <a:ext cx="1062720" cy="685080"/>
            </a:xfrm>
            <a:prstGeom prst="curvedConnector2">
              <a:avLst/>
            </a:prstGeom>
            <a:noFill/>
            <a:ln cap="flat" cmpd="sng" w="9525">
              <a:solidFill>
                <a:srgbClr val="000000"/>
              </a:solidFill>
              <a:prstDash val="solid"/>
              <a:round/>
              <a:headEnd len="sm" w="sm" type="none"/>
              <a:tailEnd len="sm" w="sm" type="none"/>
            </a:ln>
          </p:spPr>
        </p:cxnSp>
        <p:sp>
          <p:nvSpPr>
            <p:cNvPr id="1751" name="Google Shape;1751;p191"/>
            <p:cNvSpPr/>
            <p:nvPr/>
          </p:nvSpPr>
          <p:spPr>
            <a:xfrm>
              <a:off x="2147400" y="1896120"/>
              <a:ext cx="961560" cy="258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Taxonomies</a:t>
              </a:r>
              <a:endParaRPr b="0" i="0" sz="800" u="none" cap="none" strike="noStrike">
                <a:latin typeface="Arial"/>
                <a:ea typeface="Arial"/>
                <a:cs typeface="Arial"/>
                <a:sym typeface="Arial"/>
              </a:endParaRPr>
            </a:p>
          </p:txBody>
        </p:sp>
        <p:sp>
          <p:nvSpPr>
            <p:cNvPr id="1752" name="Google Shape;1752;p191"/>
            <p:cNvSpPr/>
            <p:nvPr/>
          </p:nvSpPr>
          <p:spPr>
            <a:xfrm>
              <a:off x="3849120" y="2105280"/>
              <a:ext cx="1213920" cy="3654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753" name="Google Shape;1753;p191"/>
            <p:cNvSpPr/>
            <p:nvPr/>
          </p:nvSpPr>
          <p:spPr>
            <a:xfrm>
              <a:off x="1757880" y="743040"/>
              <a:ext cx="1161720" cy="42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Semantic</a:t>
              </a:r>
              <a:endParaRPr b="0" i="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Knowledge</a:t>
              </a:r>
              <a:endParaRPr b="0" i="0" sz="800" u="none" cap="none" strike="noStrike">
                <a:latin typeface="Arial"/>
                <a:ea typeface="Arial"/>
                <a:cs typeface="Arial"/>
                <a:sym typeface="Arial"/>
              </a:endParaRPr>
            </a:p>
          </p:txBody>
        </p:sp>
      </p:grpSp>
      <p:sp>
        <p:nvSpPr>
          <p:cNvPr id="1754" name="Google Shape;1754;p191"/>
          <p:cNvSpPr/>
          <p:nvPr/>
        </p:nvSpPr>
        <p:spPr>
          <a:xfrm>
            <a:off x="390960" y="29833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Structures</a:t>
            </a:r>
            <a:endParaRPr b="0" i="0" sz="900" u="none" cap="none" strike="noStrike">
              <a:latin typeface="Arial"/>
              <a:ea typeface="Arial"/>
              <a:cs typeface="Arial"/>
              <a:sym typeface="Arial"/>
            </a:endParaRPr>
          </a:p>
        </p:txBody>
      </p:sp>
      <p:sp>
        <p:nvSpPr>
          <p:cNvPr id="1755" name="Google Shape;1755;p191"/>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756" name="Google Shape;1756;p191"/>
          <p:cNvSpPr/>
          <p:nvPr/>
        </p:nvSpPr>
        <p:spPr>
          <a:xfrm>
            <a:off x="2726640" y="2856240"/>
            <a:ext cx="2021040" cy="67932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8CE"/>
                </a:solidFill>
                <a:latin typeface="Arial"/>
                <a:ea typeface="Arial"/>
                <a:cs typeface="Arial"/>
                <a:sym typeface="Arial"/>
              </a:rPr>
              <a:t>Persistent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(Triples for DDL)</a:t>
            </a:r>
            <a:endParaRPr b="0" i="0" sz="900" u="none" cap="none" strike="noStrike">
              <a:latin typeface="Arial"/>
              <a:ea typeface="Arial"/>
              <a:cs typeface="Arial"/>
              <a:sym typeface="Arial"/>
            </a:endParaRPr>
          </a:p>
        </p:txBody>
      </p:sp>
      <p:sp>
        <p:nvSpPr>
          <p:cNvPr id="1757" name="Google Shape;1757;p191"/>
          <p:cNvSpPr/>
          <p:nvPr/>
        </p:nvSpPr>
        <p:spPr>
          <a:xfrm>
            <a:off x="2991600" y="3917520"/>
            <a:ext cx="1491480" cy="58356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E97132"/>
                </a:solidFill>
                <a:latin typeface="Arial"/>
                <a:ea typeface="Arial"/>
                <a:cs typeface="Arial"/>
                <a:sym typeface="Arial"/>
              </a:rPr>
              <a:t>Transient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 for DDL + Data)</a:t>
            </a:r>
            <a:endParaRPr b="0" i="0" sz="900" u="none" cap="none" strike="noStrike">
              <a:latin typeface="Arial"/>
              <a:ea typeface="Arial"/>
              <a:cs typeface="Arial"/>
              <a:sym typeface="Arial"/>
            </a:endParaRPr>
          </a:p>
        </p:txBody>
      </p:sp>
      <p:sp>
        <p:nvSpPr>
          <p:cNvPr id="1758" name="Google Shape;1758;p191"/>
          <p:cNvSpPr/>
          <p:nvPr/>
        </p:nvSpPr>
        <p:spPr>
          <a:xfrm>
            <a:off x="390960" y="406836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(Instances)</a:t>
            </a:r>
            <a:endParaRPr b="0" i="0" sz="900" u="none" cap="none" strike="noStrike">
              <a:latin typeface="Arial"/>
              <a:ea typeface="Arial"/>
              <a:cs typeface="Arial"/>
              <a:sym typeface="Arial"/>
            </a:endParaRPr>
          </a:p>
        </p:txBody>
      </p:sp>
      <p:cxnSp>
        <p:nvCxnSpPr>
          <p:cNvPr id="1759" name="Google Shape;1759;p191"/>
          <p:cNvCxnSpPr/>
          <p:nvPr/>
        </p:nvCxnSpPr>
        <p:spPr>
          <a:xfrm rot="10800000">
            <a:off x="4748520" y="3196560"/>
            <a:ext cx="1903200" cy="441600"/>
          </a:xfrm>
          <a:prstGeom prst="bentConnector3">
            <a:avLst>
              <a:gd fmla="val 50003" name="adj1"/>
            </a:avLst>
          </a:prstGeom>
          <a:noFill/>
          <a:ln cap="flat" cmpd="sng" w="9525">
            <a:solidFill>
              <a:srgbClr val="747676"/>
            </a:solidFill>
            <a:prstDash val="solid"/>
            <a:round/>
            <a:headEnd len="sm" w="sm" type="none"/>
            <a:tailEnd len="sm" w="sm" type="none"/>
          </a:ln>
        </p:spPr>
      </p:cxnSp>
      <p:cxnSp>
        <p:nvCxnSpPr>
          <p:cNvPr id="1760" name="Google Shape;1760;p191"/>
          <p:cNvCxnSpPr/>
          <p:nvPr/>
        </p:nvCxnSpPr>
        <p:spPr>
          <a:xfrm flipH="1">
            <a:off x="4483560" y="3638160"/>
            <a:ext cx="2167800" cy="570600"/>
          </a:xfrm>
          <a:prstGeom prst="bentConnector3">
            <a:avLst>
              <a:gd fmla="val 43976" name="adj1"/>
            </a:avLst>
          </a:prstGeom>
          <a:noFill/>
          <a:ln cap="flat" cmpd="sng" w="9525">
            <a:solidFill>
              <a:srgbClr val="747676"/>
            </a:solidFill>
            <a:prstDash val="solid"/>
            <a:round/>
            <a:headEnd len="sm" w="sm" type="none"/>
            <a:tailEnd len="sm" w="sm" type="none"/>
          </a:ln>
        </p:spPr>
      </p:cxnSp>
      <p:sp>
        <p:nvSpPr>
          <p:cNvPr id="1761" name="Google Shape;1761;p191"/>
          <p:cNvSpPr/>
          <p:nvPr/>
        </p:nvSpPr>
        <p:spPr>
          <a:xfrm>
            <a:off x="4973040" y="29538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762" name="Google Shape;1762;p191"/>
          <p:cNvSpPr/>
          <p:nvPr/>
        </p:nvSpPr>
        <p:spPr>
          <a:xfrm>
            <a:off x="4973040" y="42336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Instances</a:t>
            </a:r>
            <a:endParaRPr b="0" i="0" sz="700" u="none" cap="none" strike="noStrike">
              <a:latin typeface="Arial"/>
              <a:ea typeface="Arial"/>
              <a:cs typeface="Arial"/>
              <a:sym typeface="Arial"/>
            </a:endParaRPr>
          </a:p>
        </p:txBody>
      </p:sp>
      <p:sp>
        <p:nvSpPr>
          <p:cNvPr id="1763" name="Google Shape;1763;p191"/>
          <p:cNvSpPr/>
          <p:nvPr/>
        </p:nvSpPr>
        <p:spPr>
          <a:xfrm>
            <a:off x="1958760" y="3565080"/>
            <a:ext cx="15541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DDL 2 Data Mapping 1:1</a:t>
            </a:r>
            <a:endParaRPr b="0" i="0" sz="900" u="none" cap="none" strike="noStrike">
              <a:latin typeface="Arial"/>
              <a:ea typeface="Arial"/>
              <a:cs typeface="Arial"/>
              <a:sym typeface="Arial"/>
            </a:endParaRPr>
          </a:p>
        </p:txBody>
      </p:sp>
      <p:sp>
        <p:nvSpPr>
          <p:cNvPr id="1764" name="Google Shape;1764;p191"/>
          <p:cNvSpPr/>
          <p:nvPr/>
        </p:nvSpPr>
        <p:spPr>
          <a:xfrm>
            <a:off x="2194200" y="2503800"/>
            <a:ext cx="13183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R2R Mapping M:M</a:t>
            </a:r>
            <a:endParaRPr b="0" i="0" sz="900" u="none" cap="none" strike="noStrike">
              <a:latin typeface="Arial"/>
              <a:ea typeface="Arial"/>
              <a:cs typeface="Arial"/>
              <a:sym typeface="Arial"/>
            </a:endParaRPr>
          </a:p>
        </p:txBody>
      </p:sp>
      <p:grpSp>
        <p:nvGrpSpPr>
          <p:cNvPr id="1765" name="Google Shape;1765;p191"/>
          <p:cNvGrpSpPr/>
          <p:nvPr/>
        </p:nvGrpSpPr>
        <p:grpSpPr>
          <a:xfrm>
            <a:off x="8549640" y="0"/>
            <a:ext cx="594000" cy="679680"/>
            <a:chOff x="8549640" y="0"/>
            <a:chExt cx="594000" cy="679680"/>
          </a:xfrm>
        </p:grpSpPr>
        <p:sp>
          <p:nvSpPr>
            <p:cNvPr id="1766" name="Google Shape;1766;p191"/>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7" name="Google Shape;1767;p191"/>
            <p:cNvGrpSpPr/>
            <p:nvPr/>
          </p:nvGrpSpPr>
          <p:grpSpPr>
            <a:xfrm>
              <a:off x="8588160" y="0"/>
              <a:ext cx="555480" cy="679680"/>
              <a:chOff x="8588160" y="0"/>
              <a:chExt cx="555480" cy="679680"/>
            </a:xfrm>
          </p:grpSpPr>
          <p:pic>
            <p:nvPicPr>
              <p:cNvPr id="1768" name="Google Shape;1768;p191"/>
              <p:cNvPicPr preferRelativeResize="0"/>
              <p:nvPr/>
            </p:nvPicPr>
            <p:blipFill rotWithShape="1">
              <a:blip r:embed="rId8">
                <a:alphaModFix/>
              </a:blip>
              <a:srcRect b="0" l="20669" r="9844" t="0"/>
              <a:stretch/>
            </p:blipFill>
            <p:spPr>
              <a:xfrm>
                <a:off x="8588160" y="0"/>
                <a:ext cx="530640" cy="530640"/>
              </a:xfrm>
              <a:prstGeom prst="rect">
                <a:avLst/>
              </a:prstGeom>
              <a:noFill/>
              <a:ln>
                <a:noFill/>
              </a:ln>
            </p:spPr>
          </p:pic>
          <p:sp>
            <p:nvSpPr>
              <p:cNvPr id="1769" name="Google Shape;1769;p191"/>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3" name="Shape 1773"/>
        <p:cNvGrpSpPr/>
        <p:nvPr/>
      </p:nvGrpSpPr>
      <p:grpSpPr>
        <a:xfrm>
          <a:off x="0" y="0"/>
          <a:ext cx="0" cy="0"/>
          <a:chOff x="0" y="0"/>
          <a:chExt cx="0" cy="0"/>
        </a:xfrm>
      </p:grpSpPr>
      <p:sp>
        <p:nvSpPr>
          <p:cNvPr id="1774" name="Google Shape;1774;p192"/>
          <p:cNvSpPr/>
          <p:nvPr/>
        </p:nvSpPr>
        <p:spPr>
          <a:xfrm>
            <a:off x="5441400" y="521640"/>
            <a:ext cx="3458160" cy="1554840"/>
          </a:xfrm>
          <a:prstGeom prst="roundRect">
            <a:avLst>
              <a:gd fmla="val 16667" name="adj"/>
            </a:avLst>
          </a:prstGeom>
          <a:solidFill>
            <a:srgbClr val="F3ED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92"/>
          <p:cNvSpPr txBox="1"/>
          <p:nvPr/>
        </p:nvSpPr>
        <p:spPr>
          <a:xfrm>
            <a:off x="762120" y="110880"/>
            <a:ext cx="41144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Pilot (Solution Architecture)</a:t>
            </a:r>
            <a:endParaRPr b="0" i="0" sz="2000" u="none" cap="none" strike="noStrike">
              <a:solidFill>
                <a:srgbClr val="000000"/>
              </a:solidFill>
              <a:latin typeface="Arial"/>
              <a:ea typeface="Arial"/>
              <a:cs typeface="Arial"/>
              <a:sym typeface="Arial"/>
            </a:endParaRPr>
          </a:p>
        </p:txBody>
      </p:sp>
      <p:sp>
        <p:nvSpPr>
          <p:cNvPr id="1776" name="Google Shape;1776;p192"/>
          <p:cNvSpPr/>
          <p:nvPr/>
        </p:nvSpPr>
        <p:spPr>
          <a:xfrm>
            <a:off x="424080" y="9932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1. Designing</a:t>
            </a:r>
            <a:endParaRPr b="0" i="0" sz="900" u="none" cap="none" strike="noStrike">
              <a:latin typeface="Arial"/>
              <a:ea typeface="Arial"/>
              <a:cs typeface="Arial"/>
              <a:sym typeface="Arial"/>
            </a:endParaRPr>
          </a:p>
        </p:txBody>
      </p:sp>
      <p:sp>
        <p:nvSpPr>
          <p:cNvPr id="1777" name="Google Shape;1777;p192"/>
          <p:cNvSpPr/>
          <p:nvPr/>
        </p:nvSpPr>
        <p:spPr>
          <a:xfrm>
            <a:off x="424080" y="166716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2. Learning</a:t>
            </a:r>
            <a:endParaRPr b="0" i="0" sz="900" u="none" cap="none" strike="noStrike">
              <a:latin typeface="Arial"/>
              <a:ea typeface="Arial"/>
              <a:cs typeface="Arial"/>
              <a:sym typeface="Arial"/>
            </a:endParaRPr>
          </a:p>
        </p:txBody>
      </p:sp>
      <p:sp>
        <p:nvSpPr>
          <p:cNvPr id="1778" name="Google Shape;1778;p192"/>
          <p:cNvSpPr/>
          <p:nvPr/>
        </p:nvSpPr>
        <p:spPr>
          <a:xfrm>
            <a:off x="424080" y="229968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3. Loading</a:t>
            </a:r>
            <a:endParaRPr b="0" i="0" sz="900" u="none" cap="none" strike="noStrike">
              <a:latin typeface="Arial"/>
              <a:ea typeface="Arial"/>
              <a:cs typeface="Arial"/>
              <a:sym typeface="Arial"/>
            </a:endParaRPr>
          </a:p>
        </p:txBody>
      </p:sp>
      <p:sp>
        <p:nvSpPr>
          <p:cNvPr id="1779" name="Google Shape;1779;p192"/>
          <p:cNvSpPr/>
          <p:nvPr/>
        </p:nvSpPr>
        <p:spPr>
          <a:xfrm>
            <a:off x="5645520" y="106596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NLQ</a:t>
            </a:r>
            <a:endParaRPr b="0" i="0" sz="800" u="none" cap="none" strike="noStrike">
              <a:latin typeface="Arial"/>
              <a:ea typeface="Arial"/>
              <a:cs typeface="Arial"/>
              <a:sym typeface="Arial"/>
            </a:endParaRPr>
          </a:p>
        </p:txBody>
      </p:sp>
      <p:sp>
        <p:nvSpPr>
          <p:cNvPr id="1780" name="Google Shape;1780;p192"/>
          <p:cNvSpPr/>
          <p:nvPr/>
        </p:nvSpPr>
        <p:spPr>
          <a:xfrm>
            <a:off x="5650200" y="162720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SPARQL &amp; SHAQL</a:t>
            </a:r>
            <a:endParaRPr b="0" i="0" sz="700" u="none" cap="none" strike="noStrike">
              <a:latin typeface="Arial"/>
              <a:ea typeface="Arial"/>
              <a:cs typeface="Arial"/>
              <a:sym typeface="Arial"/>
            </a:endParaRPr>
          </a:p>
        </p:txBody>
      </p:sp>
      <p:sp>
        <p:nvSpPr>
          <p:cNvPr id="1781" name="Google Shape;1781;p192"/>
          <p:cNvSpPr/>
          <p:nvPr/>
        </p:nvSpPr>
        <p:spPr>
          <a:xfrm>
            <a:off x="497700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82" name="Google Shape;1782;p192"/>
          <p:cNvSpPr/>
          <p:nvPr/>
        </p:nvSpPr>
        <p:spPr>
          <a:xfrm>
            <a:off x="58197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83" name="Google Shape;1783;p192"/>
          <p:cNvSpPr/>
          <p:nvPr/>
        </p:nvSpPr>
        <p:spPr>
          <a:xfrm>
            <a:off x="66621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84" name="Google Shape;1784;p192"/>
          <p:cNvSpPr/>
          <p:nvPr/>
        </p:nvSpPr>
        <p:spPr>
          <a:xfrm>
            <a:off x="5095080" y="34149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92"/>
          <p:cNvSpPr/>
          <p:nvPr/>
        </p:nvSpPr>
        <p:spPr>
          <a:xfrm>
            <a:off x="5918400" y="3393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92"/>
          <p:cNvSpPr/>
          <p:nvPr/>
        </p:nvSpPr>
        <p:spPr>
          <a:xfrm>
            <a:off x="6780240" y="3384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92"/>
          <p:cNvSpPr/>
          <p:nvPr/>
        </p:nvSpPr>
        <p:spPr>
          <a:xfrm>
            <a:off x="2154960" y="1963800"/>
            <a:ext cx="2021040" cy="67932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Persistent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a:t>
            </a:r>
            <a:endParaRPr b="0" i="0" sz="700" u="none" cap="none" strike="noStrike">
              <a:latin typeface="Arial"/>
              <a:ea typeface="Arial"/>
              <a:cs typeface="Arial"/>
              <a:sym typeface="Arial"/>
            </a:endParaRPr>
          </a:p>
        </p:txBody>
      </p:sp>
      <p:sp>
        <p:nvSpPr>
          <p:cNvPr id="1788" name="Google Shape;1788;p192"/>
          <p:cNvSpPr/>
          <p:nvPr/>
        </p:nvSpPr>
        <p:spPr>
          <a:xfrm>
            <a:off x="5739840" y="2681280"/>
            <a:ext cx="890280" cy="150120"/>
          </a:xfrm>
          <a:prstGeom prst="cube">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DVCF</a:t>
            </a:r>
            <a:endParaRPr b="0" i="0" sz="800" u="none" cap="none" strike="noStrike">
              <a:latin typeface="Arial"/>
              <a:ea typeface="Arial"/>
              <a:cs typeface="Arial"/>
              <a:sym typeface="Arial"/>
            </a:endParaRPr>
          </a:p>
        </p:txBody>
      </p:sp>
      <p:sp>
        <p:nvSpPr>
          <p:cNvPr id="1789" name="Google Shape;1789;p192"/>
          <p:cNvSpPr/>
          <p:nvPr/>
        </p:nvSpPr>
        <p:spPr>
          <a:xfrm>
            <a:off x="5090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92"/>
          <p:cNvSpPr/>
          <p:nvPr/>
        </p:nvSpPr>
        <p:spPr>
          <a:xfrm>
            <a:off x="5909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92"/>
          <p:cNvSpPr/>
          <p:nvPr/>
        </p:nvSpPr>
        <p:spPr>
          <a:xfrm>
            <a:off x="681948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92"/>
          <p:cNvSpPr/>
          <p:nvPr/>
        </p:nvSpPr>
        <p:spPr>
          <a:xfrm>
            <a:off x="7584480" y="3915720"/>
            <a:ext cx="75024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Result Sets</a:t>
            </a:r>
            <a:endParaRPr b="0" i="0" sz="700" u="none" cap="none" strike="noStrike">
              <a:latin typeface="Arial"/>
              <a:ea typeface="Arial"/>
              <a:cs typeface="Arial"/>
              <a:sym typeface="Arial"/>
            </a:endParaRPr>
          </a:p>
        </p:txBody>
      </p:sp>
      <p:sp>
        <p:nvSpPr>
          <p:cNvPr id="1793" name="Google Shape;1793;p192"/>
          <p:cNvSpPr/>
          <p:nvPr/>
        </p:nvSpPr>
        <p:spPr>
          <a:xfrm>
            <a:off x="2076120" y="3560760"/>
            <a:ext cx="2197080" cy="91728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97132"/>
                </a:solidFill>
                <a:latin typeface="Arial"/>
                <a:ea typeface="Arial"/>
                <a:cs typeface="Arial"/>
                <a:sym typeface="Arial"/>
              </a:rPr>
              <a:t>Transient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 + Data)</a:t>
            </a:r>
            <a:endParaRPr b="0" i="0" sz="700" u="none" cap="none" strike="noStrike">
              <a:latin typeface="Arial"/>
              <a:ea typeface="Arial"/>
              <a:cs typeface="Arial"/>
              <a:sym typeface="Arial"/>
            </a:endParaRPr>
          </a:p>
        </p:txBody>
      </p:sp>
      <p:sp>
        <p:nvSpPr>
          <p:cNvPr id="1794" name="Google Shape;1794;p192"/>
          <p:cNvSpPr/>
          <p:nvPr/>
        </p:nvSpPr>
        <p:spPr>
          <a:xfrm>
            <a:off x="7552800" y="2685240"/>
            <a:ext cx="81360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Protection</a:t>
            </a:r>
            <a:endParaRPr b="0" i="0" sz="700" u="none" cap="none" strike="noStrike">
              <a:latin typeface="Arial"/>
              <a:ea typeface="Arial"/>
              <a:cs typeface="Arial"/>
              <a:sym typeface="Arial"/>
            </a:endParaRPr>
          </a:p>
        </p:txBody>
      </p:sp>
      <p:sp>
        <p:nvSpPr>
          <p:cNvPr id="1795" name="Google Shape;1795;p192"/>
          <p:cNvSpPr/>
          <p:nvPr/>
        </p:nvSpPr>
        <p:spPr>
          <a:xfrm>
            <a:off x="3165480" y="1466640"/>
            <a:ext cx="360" cy="496800"/>
          </a:xfrm>
          <a:custGeom>
            <a:rect b="b" l="l" r="r" t="t"/>
            <a:pathLst>
              <a:path extrusionOk="0" h="21600" w="21600">
                <a:moveTo>
                  <a:pt x="0" y="0"/>
                </a:moveTo>
                <a:lnTo>
                  <a:pt x="21600" y="21600"/>
                </a:lnTo>
              </a:path>
            </a:pathLst>
          </a:custGeom>
          <a:noFill/>
          <a:ln cap="flat" cmpd="sng" w="28425">
            <a:solidFill>
              <a:srgbClr val="0088CE"/>
            </a:solidFill>
            <a:prstDash val="solid"/>
            <a:round/>
            <a:headEnd len="sm" w="sm" type="none"/>
            <a:tailEnd len="med" w="med" type="triangle"/>
          </a:ln>
        </p:spPr>
      </p:sp>
      <p:sp>
        <p:nvSpPr>
          <p:cNvPr id="1796" name="Google Shape;1796;p192"/>
          <p:cNvSpPr/>
          <p:nvPr/>
        </p:nvSpPr>
        <p:spPr>
          <a:xfrm>
            <a:off x="1668600" y="1543320"/>
            <a:ext cx="1272240" cy="39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Ontology Level Mapping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 Classes 2 RDB Classes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Top Down 2 Bottom Up</a:t>
            </a:r>
            <a:endParaRPr b="0" i="0" sz="600" u="none" cap="none" strike="noStrike">
              <a:latin typeface="Arial"/>
              <a:ea typeface="Arial"/>
              <a:cs typeface="Arial"/>
              <a:sym typeface="Arial"/>
            </a:endParaRPr>
          </a:p>
        </p:txBody>
      </p:sp>
      <p:sp>
        <p:nvSpPr>
          <p:cNvPr id="1797" name="Google Shape;1797;p192"/>
          <p:cNvSpPr/>
          <p:nvPr/>
        </p:nvSpPr>
        <p:spPr>
          <a:xfrm>
            <a:off x="626400" y="2963160"/>
            <a:ext cx="2338560" cy="3621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Auto Generate R2RML Script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Mapping RDB Class IRIs to RDB SchemaX + Data IRIs</a:t>
            </a:r>
            <a:endParaRPr b="0" i="0" sz="600" u="none" cap="none" strike="noStrike">
              <a:latin typeface="Arial"/>
              <a:ea typeface="Arial"/>
              <a:cs typeface="Arial"/>
              <a:sym typeface="Arial"/>
            </a:endParaRPr>
          </a:p>
        </p:txBody>
      </p:sp>
      <p:sp>
        <p:nvSpPr>
          <p:cNvPr id="1798" name="Google Shape;1798;p192"/>
          <p:cNvSpPr/>
          <p:nvPr/>
        </p:nvSpPr>
        <p:spPr>
          <a:xfrm rot="10800000">
            <a:off x="3165840" y="2643840"/>
            <a:ext cx="9000" cy="916920"/>
          </a:xfrm>
          <a:custGeom>
            <a:rect b="b" l="l" r="r" t="t"/>
            <a:pathLst>
              <a:path extrusionOk="0" h="21600" w="21600">
                <a:moveTo>
                  <a:pt x="0" y="0"/>
                </a:moveTo>
                <a:lnTo>
                  <a:pt x="21600" y="21600"/>
                </a:lnTo>
              </a:path>
            </a:pathLst>
          </a:custGeom>
          <a:noFill/>
          <a:ln cap="flat" cmpd="sng" w="28425">
            <a:solidFill>
              <a:srgbClr val="E97132"/>
            </a:solidFill>
            <a:prstDash val="solid"/>
            <a:round/>
            <a:headEnd len="sm" w="sm" type="none"/>
            <a:tailEnd len="med" w="med" type="triangle"/>
          </a:ln>
        </p:spPr>
      </p:sp>
      <p:sp>
        <p:nvSpPr>
          <p:cNvPr id="1799" name="Google Shape;1799;p192"/>
          <p:cNvSpPr/>
          <p:nvPr/>
        </p:nvSpPr>
        <p:spPr>
          <a:xfrm>
            <a:off x="6180480" y="1240200"/>
            <a:ext cx="4320" cy="38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0" name="Google Shape;1800;p192"/>
          <p:cNvSpPr/>
          <p:nvPr/>
        </p:nvSpPr>
        <p:spPr>
          <a:xfrm>
            <a:off x="6185160" y="1801440"/>
            <a:ext cx="8521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1" name="Google Shape;1801;p192"/>
          <p:cNvSpPr/>
          <p:nvPr/>
        </p:nvSpPr>
        <p:spPr>
          <a:xfrm>
            <a:off x="6185160" y="1801440"/>
            <a:ext cx="97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2" name="Google Shape;1802;p192"/>
          <p:cNvSpPr/>
          <p:nvPr/>
        </p:nvSpPr>
        <p:spPr>
          <a:xfrm flipH="1">
            <a:off x="5352120" y="1801440"/>
            <a:ext cx="8323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3" name="Google Shape;1803;p192"/>
          <p:cNvSpPr/>
          <p:nvPr/>
        </p:nvSpPr>
        <p:spPr>
          <a:xfrm>
            <a:off x="5352480" y="2370600"/>
            <a:ext cx="8510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4" name="Google Shape;1804;p192"/>
          <p:cNvSpPr/>
          <p:nvPr/>
        </p:nvSpPr>
        <p:spPr>
          <a:xfrm>
            <a:off x="6194880" y="2370600"/>
            <a:ext cx="86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5" name="Google Shape;1805;p192"/>
          <p:cNvSpPr/>
          <p:nvPr/>
        </p:nvSpPr>
        <p:spPr>
          <a:xfrm flipH="1">
            <a:off x="6202440" y="2370600"/>
            <a:ext cx="83340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6" name="Google Shape;1806;p192"/>
          <p:cNvSpPr/>
          <p:nvPr/>
        </p:nvSpPr>
        <p:spPr>
          <a:xfrm>
            <a:off x="535212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7" name="Google Shape;1807;p192"/>
          <p:cNvSpPr/>
          <p:nvPr/>
        </p:nvSpPr>
        <p:spPr>
          <a:xfrm>
            <a:off x="618300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8" name="Google Shape;1808;p192"/>
          <p:cNvSpPr/>
          <p:nvPr/>
        </p:nvSpPr>
        <p:spPr>
          <a:xfrm>
            <a:off x="7083720" y="363420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09" name="Google Shape;1809;p192"/>
          <p:cNvSpPr/>
          <p:nvPr/>
        </p:nvSpPr>
        <p:spPr>
          <a:xfrm flipH="1">
            <a:off x="5352480" y="2831760"/>
            <a:ext cx="813600" cy="5828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0" name="Google Shape;1810;p192"/>
          <p:cNvSpPr/>
          <p:nvPr/>
        </p:nvSpPr>
        <p:spPr>
          <a:xfrm>
            <a:off x="6166440" y="2831760"/>
            <a:ext cx="9000" cy="561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1" name="Google Shape;1811;p192"/>
          <p:cNvSpPr/>
          <p:nvPr/>
        </p:nvSpPr>
        <p:spPr>
          <a:xfrm>
            <a:off x="6166440" y="2831760"/>
            <a:ext cx="870840" cy="552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2" name="Google Shape;1812;p192"/>
          <p:cNvSpPr/>
          <p:nvPr/>
        </p:nvSpPr>
        <p:spPr>
          <a:xfrm>
            <a:off x="5426640" y="3010320"/>
            <a:ext cx="1497600" cy="204120"/>
          </a:xfrm>
          <a:prstGeom prst="cube">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GCP BQ</a:t>
            </a:r>
            <a:endParaRPr b="0" i="0" sz="800" u="none" cap="none" strike="noStrike">
              <a:latin typeface="Arial"/>
              <a:ea typeface="Arial"/>
              <a:cs typeface="Arial"/>
              <a:sym typeface="Arial"/>
            </a:endParaRPr>
          </a:p>
        </p:txBody>
      </p:sp>
      <p:sp>
        <p:nvSpPr>
          <p:cNvPr id="1813" name="Google Shape;1813;p192"/>
          <p:cNvSpPr/>
          <p:nvPr/>
        </p:nvSpPr>
        <p:spPr>
          <a:xfrm>
            <a:off x="424080" y="39200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4. Staging</a:t>
            </a:r>
            <a:endParaRPr b="0" i="0" sz="900" u="none" cap="none" strike="noStrike">
              <a:latin typeface="Arial"/>
              <a:ea typeface="Arial"/>
              <a:cs typeface="Arial"/>
              <a:sym typeface="Arial"/>
            </a:endParaRPr>
          </a:p>
        </p:txBody>
      </p:sp>
      <p:sp>
        <p:nvSpPr>
          <p:cNvPr id="1814" name="Google Shape;1814;p192"/>
          <p:cNvSpPr/>
          <p:nvPr/>
        </p:nvSpPr>
        <p:spPr>
          <a:xfrm>
            <a:off x="4446000" y="3904920"/>
            <a:ext cx="306720" cy="150120"/>
          </a:xfrm>
          <a:prstGeom prst="leftArrow">
            <a:avLst>
              <a:gd fmla="val 50000" name="adj1"/>
              <a:gd fmla="val 50000" name="adj2"/>
            </a:avLst>
          </a:prstGeom>
          <a:solidFill>
            <a:srgbClr val="ED700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15" name="Google Shape;1815;p192"/>
          <p:cNvPicPr preferRelativeResize="0"/>
          <p:nvPr/>
        </p:nvPicPr>
        <p:blipFill rotWithShape="1">
          <a:blip r:embed="rId3">
            <a:alphaModFix/>
          </a:blip>
          <a:srcRect b="0" l="0" r="0" t="0"/>
          <a:stretch/>
        </p:blipFill>
        <p:spPr>
          <a:xfrm>
            <a:off x="1861920" y="521640"/>
            <a:ext cx="2606760" cy="995040"/>
          </a:xfrm>
          <a:prstGeom prst="rect">
            <a:avLst/>
          </a:prstGeom>
          <a:noFill/>
          <a:ln>
            <a:noFill/>
          </a:ln>
        </p:spPr>
      </p:pic>
      <p:cxnSp>
        <p:nvCxnSpPr>
          <p:cNvPr id="1816" name="Google Shape;1816;p192"/>
          <p:cNvCxnSpPr/>
          <p:nvPr/>
        </p:nvCxnSpPr>
        <p:spPr>
          <a:xfrm rot="10800000">
            <a:off x="4176840" y="2304120"/>
            <a:ext cx="1249800" cy="834000"/>
          </a:xfrm>
          <a:prstGeom prst="bentConnector3">
            <a:avLst>
              <a:gd fmla="val 50011" name="adj1"/>
            </a:avLst>
          </a:prstGeom>
          <a:noFill/>
          <a:ln cap="flat" cmpd="sng" w="28425">
            <a:solidFill>
              <a:srgbClr val="0088CE"/>
            </a:solidFill>
            <a:prstDash val="solid"/>
            <a:round/>
            <a:headEnd len="sm" w="sm" type="none"/>
            <a:tailEnd len="med" w="med" type="triangle"/>
          </a:ln>
        </p:spPr>
      </p:cxnSp>
      <p:sp>
        <p:nvSpPr>
          <p:cNvPr id="1817" name="Google Shape;1817;p192"/>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818" name="Google Shape;1818;p192"/>
          <p:cNvSpPr/>
          <p:nvPr/>
        </p:nvSpPr>
        <p:spPr>
          <a:xfrm>
            <a:off x="4397400" y="2718000"/>
            <a:ext cx="41976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DDLs</a:t>
            </a:r>
            <a:endParaRPr b="0" i="0" sz="700" u="none" cap="none" strike="noStrike">
              <a:latin typeface="Arial"/>
              <a:ea typeface="Arial"/>
              <a:cs typeface="Arial"/>
              <a:sym typeface="Arial"/>
            </a:endParaRPr>
          </a:p>
        </p:txBody>
      </p:sp>
      <p:sp>
        <p:nvSpPr>
          <p:cNvPr id="1819" name="Google Shape;1819;p192"/>
          <p:cNvSpPr/>
          <p:nvPr/>
        </p:nvSpPr>
        <p:spPr>
          <a:xfrm>
            <a:off x="7552800" y="15206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Focus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Filtering</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Relevancy</a:t>
            </a:r>
            <a:endParaRPr b="0" i="0" sz="700" u="none" cap="none" strike="noStrike">
              <a:latin typeface="Arial"/>
              <a:ea typeface="Arial"/>
              <a:cs typeface="Arial"/>
              <a:sym typeface="Arial"/>
            </a:endParaRPr>
          </a:p>
        </p:txBody>
      </p:sp>
      <p:pic>
        <p:nvPicPr>
          <p:cNvPr id="1820" name="Google Shape;1820;p192"/>
          <p:cNvPicPr preferRelativeResize="0"/>
          <p:nvPr/>
        </p:nvPicPr>
        <p:blipFill rotWithShape="1">
          <a:blip r:embed="rId4">
            <a:alphaModFix/>
          </a:blip>
          <a:srcRect b="0" l="0" r="0" t="0"/>
          <a:stretch/>
        </p:blipFill>
        <p:spPr>
          <a:xfrm>
            <a:off x="5918400" y="567360"/>
            <a:ext cx="419760" cy="419760"/>
          </a:xfrm>
          <a:prstGeom prst="rect">
            <a:avLst/>
          </a:prstGeom>
          <a:noFill/>
          <a:ln>
            <a:noFill/>
          </a:ln>
        </p:spPr>
      </p:pic>
      <p:sp>
        <p:nvSpPr>
          <p:cNvPr id="1821" name="Google Shape;1821;p192"/>
          <p:cNvSpPr/>
          <p:nvPr/>
        </p:nvSpPr>
        <p:spPr>
          <a:xfrm>
            <a:off x="7552800" y="8528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Intuitive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Consumable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Relevant</a:t>
            </a:r>
            <a:endParaRPr b="0" i="0" sz="700" u="none" cap="none" strike="noStrike">
              <a:latin typeface="Arial"/>
              <a:ea typeface="Arial"/>
              <a:cs typeface="Arial"/>
              <a:sym typeface="Arial"/>
            </a:endParaRPr>
          </a:p>
        </p:txBody>
      </p:sp>
      <p:sp>
        <p:nvSpPr>
          <p:cNvPr id="1822" name="Google Shape;1822;p192"/>
          <p:cNvSpPr/>
          <p:nvPr/>
        </p:nvSpPr>
        <p:spPr>
          <a:xfrm>
            <a:off x="4665240" y="1173600"/>
            <a:ext cx="775080" cy="6840"/>
          </a:xfrm>
          <a:custGeom>
            <a:rect b="b" l="l" r="r" t="t"/>
            <a:pathLst>
              <a:path extrusionOk="0" h="21600" w="21600">
                <a:moveTo>
                  <a:pt x="0" y="0"/>
                </a:moveTo>
                <a:lnTo>
                  <a:pt x="21600" y="21600"/>
                </a:lnTo>
              </a:path>
            </a:pathLst>
          </a:custGeom>
          <a:noFill/>
          <a:ln cap="flat" cmpd="sng" w="28425">
            <a:solidFill>
              <a:srgbClr val="0088CE"/>
            </a:solidFill>
            <a:prstDash val="solid"/>
            <a:round/>
            <a:headEnd len="med" w="med" type="triangle"/>
            <a:tailEnd len="med" w="med" type="triangle"/>
          </a:ln>
        </p:spPr>
      </p:sp>
      <p:sp>
        <p:nvSpPr>
          <p:cNvPr id="1823" name="Google Shape;1823;p192"/>
          <p:cNvSpPr/>
          <p:nvPr/>
        </p:nvSpPr>
        <p:spPr>
          <a:xfrm>
            <a:off x="8335080" y="864000"/>
            <a:ext cx="532440" cy="3103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sng" cap="none" strike="noStrike">
                <a:solidFill>
                  <a:schemeClr val="hlink"/>
                </a:solidFill>
                <a:latin typeface="Arial"/>
                <a:ea typeface="Arial"/>
                <a:cs typeface="Arial"/>
                <a:sym typeface="Arial"/>
                <a:hlinkClick r:id="rId5"/>
              </a:rPr>
              <a:t>UPM</a:t>
            </a:r>
            <a:endParaRPr b="0" i="0" sz="1800" u="none" cap="none" strike="noStrike">
              <a:latin typeface="Arial"/>
              <a:ea typeface="Arial"/>
              <a:cs typeface="Arial"/>
              <a:sym typeface="Arial"/>
            </a:endParaRPr>
          </a:p>
        </p:txBody>
      </p:sp>
      <p:grpSp>
        <p:nvGrpSpPr>
          <p:cNvPr id="1824" name="Google Shape;1824;p192"/>
          <p:cNvGrpSpPr/>
          <p:nvPr/>
        </p:nvGrpSpPr>
        <p:grpSpPr>
          <a:xfrm>
            <a:off x="8549640" y="0"/>
            <a:ext cx="594000" cy="679680"/>
            <a:chOff x="8549640" y="0"/>
            <a:chExt cx="594000" cy="679680"/>
          </a:xfrm>
        </p:grpSpPr>
        <p:sp>
          <p:nvSpPr>
            <p:cNvPr id="1825" name="Google Shape;1825;p19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6" name="Google Shape;1826;p192"/>
            <p:cNvGrpSpPr/>
            <p:nvPr/>
          </p:nvGrpSpPr>
          <p:grpSpPr>
            <a:xfrm>
              <a:off x="8588160" y="0"/>
              <a:ext cx="555480" cy="679680"/>
              <a:chOff x="8588160" y="0"/>
              <a:chExt cx="555480" cy="679680"/>
            </a:xfrm>
          </p:grpSpPr>
          <p:pic>
            <p:nvPicPr>
              <p:cNvPr id="1827" name="Google Shape;1827;p192"/>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1828" name="Google Shape;1828;p19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193"/>
          <p:cNvSpPr/>
          <p:nvPr/>
        </p:nvSpPr>
        <p:spPr>
          <a:xfrm>
            <a:off x="445320" y="66060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834" name="Google Shape;1834;p193"/>
          <p:cNvSpPr/>
          <p:nvPr/>
        </p:nvSpPr>
        <p:spPr>
          <a:xfrm>
            <a:off x="553680" y="118836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835" name="Google Shape;1835;p193"/>
          <p:cNvSpPr/>
          <p:nvPr/>
        </p:nvSpPr>
        <p:spPr>
          <a:xfrm>
            <a:off x="673920" y="1535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836" name="Google Shape;1836;p193"/>
          <p:cNvSpPr/>
          <p:nvPr/>
        </p:nvSpPr>
        <p:spPr>
          <a:xfrm>
            <a:off x="1901880" y="153540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837" name="Google Shape;1837;p193"/>
          <p:cNvSpPr/>
          <p:nvPr/>
        </p:nvSpPr>
        <p:spPr>
          <a:xfrm>
            <a:off x="673920" y="181584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838" name="Google Shape;1838;p193"/>
          <p:cNvSpPr/>
          <p:nvPr/>
        </p:nvSpPr>
        <p:spPr>
          <a:xfrm>
            <a:off x="3320280" y="13345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839" name="Google Shape;1839;p193"/>
          <p:cNvSpPr/>
          <p:nvPr/>
        </p:nvSpPr>
        <p:spPr>
          <a:xfrm>
            <a:off x="3320280" y="162540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840" name="Google Shape;1840;p193"/>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of  Semantic Layer:  </a:t>
            </a:r>
            <a:r>
              <a:rPr b="1" i="0" lang="en-US" sz="2000" u="none" cap="none" strike="noStrike">
                <a:solidFill>
                  <a:srgbClr val="0089EC"/>
                </a:solidFill>
                <a:latin typeface="Arial"/>
                <a:ea typeface="Arial"/>
                <a:cs typeface="Arial"/>
                <a:sym typeface="Arial"/>
              </a:rPr>
              <a:t>Mapping Meaning to Digital Assets</a:t>
            </a:r>
            <a:endParaRPr b="0" i="0" sz="2000" u="none" cap="none" strike="noStrike">
              <a:latin typeface="Arial"/>
              <a:ea typeface="Arial"/>
              <a:cs typeface="Arial"/>
              <a:sym typeface="Arial"/>
            </a:endParaRPr>
          </a:p>
        </p:txBody>
      </p:sp>
      <p:sp>
        <p:nvSpPr>
          <p:cNvPr id="1841" name="Google Shape;1841;p193"/>
          <p:cNvSpPr/>
          <p:nvPr/>
        </p:nvSpPr>
        <p:spPr>
          <a:xfrm>
            <a:off x="4853880" y="577800"/>
            <a:ext cx="3834000" cy="401976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700" u="none" cap="none" strike="noStrike">
                <a:solidFill>
                  <a:srgbClr val="222222"/>
                </a:solidFill>
                <a:latin typeface="Arial"/>
                <a:ea typeface="Arial"/>
                <a:cs typeface="Arial"/>
                <a:sym typeface="Arial"/>
              </a:rPr>
              <a:t>3-Tier approach focused on leveraging existing infrastructure while extending Contextual and Persona-Based Relevance to Content</a:t>
            </a:r>
            <a:endParaRPr b="0" i="0" sz="700" u="none" cap="none" strike="noStrike">
              <a:latin typeface="Arial"/>
              <a:ea typeface="Arial"/>
              <a:cs typeface="Arial"/>
              <a:sym typeface="Arial"/>
            </a:endParaRPr>
          </a:p>
          <a:p>
            <a:pPr indent="-272520" lvl="0" marL="457200" marR="0" rtl="0" algn="l">
              <a:lnSpc>
                <a:spcPct val="115000"/>
              </a:lnSpc>
              <a:spcBef>
                <a:spcPts val="1001"/>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domain-specific ontologies using decomposition to build, bound, and govern component knowledge using process as the first-class citizen</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building scaffolded knowledge between ontologies (vertical &amp; lateral fabric)</a:t>
            </a:r>
            <a:endParaRPr b="0" i="0" sz="7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0" i="0" lang="en-US" sz="700" u="none" cap="none" strike="noStrike">
                <a:solidFill>
                  <a:srgbClr val="222222"/>
                </a:solidFill>
                <a:latin typeface="Arial"/>
                <a:ea typeface="Arial"/>
                <a:cs typeface="Arial"/>
                <a:sym typeface="Arial"/>
              </a:rPr>
              <a:t>Formalize governance around SI (semantic intelligence) and harmonize with AI (artificial intelligence), DI (decision intelligence), and BI (business intelligence)</a:t>
            </a:r>
            <a:endParaRPr b="0" i="0" sz="700" u="none" cap="none" strike="noStrike">
              <a:latin typeface="Arial"/>
              <a:ea typeface="Arial"/>
              <a:cs typeface="Arial"/>
              <a:sym typeface="Arial"/>
            </a:endParaRPr>
          </a:p>
          <a:p>
            <a:pPr indent="-272520" lvl="0" marL="457200" marR="0" rtl="0" algn="l">
              <a:lnSpc>
                <a:spcPct val="115000"/>
              </a:lnSpc>
              <a:spcBef>
                <a:spcPts val="1001"/>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This is where the somatic model needs to evolve as a design pattern</a:t>
            </a:r>
            <a:endParaRPr b="0" i="0" sz="7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0" i="0" lang="en-US" sz="700" u="none" cap="none" strike="noStrike">
                <a:solidFill>
                  <a:srgbClr val="222222"/>
                </a:solidFill>
                <a:latin typeface="Arial"/>
                <a:ea typeface="Arial"/>
                <a:cs typeface="Arial"/>
                <a:sym typeface="Arial"/>
              </a:rPr>
              <a:t>Alignment on Core problem space improve Search (using a progressive roadmap)</a:t>
            </a:r>
            <a:endParaRPr b="0" i="0" sz="700" u="none" cap="none" strike="noStrike">
              <a:latin typeface="Arial"/>
              <a:ea typeface="Arial"/>
              <a:cs typeface="Arial"/>
              <a:sym typeface="Arial"/>
            </a:endParaRPr>
          </a:p>
          <a:p>
            <a:pPr indent="-272520" lvl="0" marL="457200" marR="0" rtl="0" algn="l">
              <a:lnSpc>
                <a:spcPct val="115000"/>
              </a:lnSpc>
              <a:spcBef>
                <a:spcPts val="1001"/>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Search for data or objects</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Search &amp; Explore insights that are relevant</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Search for Answers to Questions </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Guided / Augmented Search</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Intelligent Assistant </a:t>
            </a:r>
            <a:endParaRPr b="0" i="0" sz="7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0" i="0" lang="en-US" sz="700" u="none" cap="none" strike="noStrike">
                <a:solidFill>
                  <a:srgbClr val="222222"/>
                </a:solidFill>
                <a:latin typeface="Arial"/>
                <a:ea typeface="Arial"/>
                <a:cs typeface="Arial"/>
                <a:sym typeface="Arial"/>
              </a:rPr>
              <a:t>Future State will introduce Lifecycle Standards and design patterns around SI, AI, &amp; DI</a:t>
            </a:r>
            <a:endParaRPr b="0" i="0" sz="7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0" i="0" lang="en-US" sz="700" u="none" cap="none" strike="noStrike">
                <a:solidFill>
                  <a:srgbClr val="222222"/>
                </a:solidFill>
                <a:latin typeface="Arial"/>
                <a:ea typeface="Arial"/>
                <a:cs typeface="Arial"/>
                <a:sym typeface="Arial"/>
              </a:rPr>
              <a:t>Virtual &amp; Physical instantiation of graphs will be introduced to support scale and efficiency</a:t>
            </a:r>
            <a:endParaRPr b="0" i="0" sz="7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0" i="0" lang="en-US" sz="700" u="none" cap="none" strike="noStrike">
                <a:solidFill>
                  <a:srgbClr val="222222"/>
                </a:solidFill>
                <a:latin typeface="Arial"/>
                <a:ea typeface="Arial"/>
                <a:cs typeface="Arial"/>
                <a:sym typeface="Arial"/>
              </a:rPr>
              <a:t>Future State will involve building an evolving learning capability:</a:t>
            </a:r>
            <a:endParaRPr b="0" i="0" sz="700" u="none" cap="none" strike="noStrike">
              <a:latin typeface="Arial"/>
              <a:ea typeface="Arial"/>
              <a:cs typeface="Arial"/>
              <a:sym typeface="Arial"/>
            </a:endParaRPr>
          </a:p>
          <a:p>
            <a:pPr indent="-272520" lvl="0" marL="457200" marR="0" rtl="0" algn="l">
              <a:lnSpc>
                <a:spcPct val="115000"/>
              </a:lnSpc>
              <a:spcBef>
                <a:spcPts val="1001"/>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capturing Deterministic Knowledge (relational and nodal facts)</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capturing Probabilistic Knowledge (vector based instantiation vs algorithmic extension)</a:t>
            </a:r>
            <a:endParaRPr b="0" i="0" sz="700" u="none" cap="none" strike="noStrike">
              <a:latin typeface="Arial"/>
              <a:ea typeface="Arial"/>
              <a:cs typeface="Arial"/>
              <a:sym typeface="Arial"/>
            </a:endParaRPr>
          </a:p>
          <a:p>
            <a:pPr indent="-272520" lvl="0" marL="457200" marR="0" rtl="0" algn="l">
              <a:lnSpc>
                <a:spcPct val="115000"/>
              </a:lnSpc>
              <a:spcBef>
                <a:spcPts val="0"/>
              </a:spcBef>
              <a:spcAft>
                <a:spcPts val="0"/>
              </a:spcAft>
              <a:buClr>
                <a:srgbClr val="222222"/>
              </a:buClr>
              <a:buSzPts val="700"/>
              <a:buFont typeface="Arial"/>
              <a:buChar char="●"/>
            </a:pPr>
            <a:r>
              <a:rPr b="0" i="0" lang="en-US" sz="700" u="none" cap="none" strike="noStrike">
                <a:solidFill>
                  <a:srgbClr val="222222"/>
                </a:solidFill>
                <a:latin typeface="Arial"/>
                <a:ea typeface="Arial"/>
                <a:cs typeface="Arial"/>
                <a:sym typeface="Arial"/>
              </a:rPr>
              <a:t>scenario-based nuance for fine-grained understanding of causality (backward &amp; forward chaining)</a:t>
            </a:r>
            <a:endParaRPr b="0" i="0" sz="700" u="none" cap="none" strike="noStrike">
              <a:latin typeface="Arial"/>
              <a:ea typeface="Arial"/>
              <a:cs typeface="Arial"/>
              <a:sym typeface="Arial"/>
            </a:endParaRPr>
          </a:p>
        </p:txBody>
      </p:sp>
      <p:grpSp>
        <p:nvGrpSpPr>
          <p:cNvPr id="1842" name="Google Shape;1842;p193"/>
          <p:cNvGrpSpPr/>
          <p:nvPr/>
        </p:nvGrpSpPr>
        <p:grpSpPr>
          <a:xfrm>
            <a:off x="8549640" y="0"/>
            <a:ext cx="594000" cy="679680"/>
            <a:chOff x="8549640" y="0"/>
            <a:chExt cx="594000" cy="679680"/>
          </a:xfrm>
        </p:grpSpPr>
        <p:sp>
          <p:nvSpPr>
            <p:cNvPr id="1843" name="Google Shape;1843;p193"/>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4" name="Google Shape;1844;p193"/>
            <p:cNvGrpSpPr/>
            <p:nvPr/>
          </p:nvGrpSpPr>
          <p:grpSpPr>
            <a:xfrm>
              <a:off x="8588160" y="0"/>
              <a:ext cx="555480" cy="679680"/>
              <a:chOff x="8588160" y="0"/>
              <a:chExt cx="555480" cy="679680"/>
            </a:xfrm>
          </p:grpSpPr>
          <p:pic>
            <p:nvPicPr>
              <p:cNvPr id="1845" name="Google Shape;1845;p193"/>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846" name="Google Shape;1846;p193"/>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
        <p:nvSpPr>
          <p:cNvPr id="1851" name="Google Shape;1851;p194"/>
          <p:cNvSpPr/>
          <p:nvPr/>
        </p:nvSpPr>
        <p:spPr>
          <a:xfrm>
            <a:off x="4548240" y="3387600"/>
            <a:ext cx="904320" cy="326160"/>
          </a:xfrm>
          <a:prstGeom prst="can">
            <a:avLst>
              <a:gd fmla="val 20258"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1852" name="Google Shape;1852;p194"/>
          <p:cNvSpPr/>
          <p:nvPr/>
        </p:nvSpPr>
        <p:spPr>
          <a:xfrm>
            <a:off x="445320" y="66060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853" name="Google Shape;1853;p194"/>
          <p:cNvSpPr/>
          <p:nvPr/>
        </p:nvSpPr>
        <p:spPr>
          <a:xfrm>
            <a:off x="553680" y="118836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854" name="Google Shape;1854;p194"/>
          <p:cNvSpPr/>
          <p:nvPr/>
        </p:nvSpPr>
        <p:spPr>
          <a:xfrm>
            <a:off x="673920" y="1535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855" name="Google Shape;1855;p194"/>
          <p:cNvSpPr/>
          <p:nvPr/>
        </p:nvSpPr>
        <p:spPr>
          <a:xfrm>
            <a:off x="1901880" y="153540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856" name="Google Shape;1856;p194"/>
          <p:cNvSpPr/>
          <p:nvPr/>
        </p:nvSpPr>
        <p:spPr>
          <a:xfrm>
            <a:off x="673920" y="181584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857" name="Google Shape;1857;p194"/>
          <p:cNvSpPr/>
          <p:nvPr/>
        </p:nvSpPr>
        <p:spPr>
          <a:xfrm>
            <a:off x="3320280" y="13345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858" name="Google Shape;1858;p194"/>
          <p:cNvSpPr/>
          <p:nvPr/>
        </p:nvSpPr>
        <p:spPr>
          <a:xfrm>
            <a:off x="3320280" y="162540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859" name="Google Shape;1859;p194"/>
          <p:cNvSpPr/>
          <p:nvPr/>
        </p:nvSpPr>
        <p:spPr>
          <a:xfrm>
            <a:off x="3120480" y="3174480"/>
            <a:ext cx="649440" cy="290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860" name="Google Shape;1860;p194"/>
          <p:cNvSpPr/>
          <p:nvPr/>
        </p:nvSpPr>
        <p:spPr>
          <a:xfrm>
            <a:off x="4548240" y="1986480"/>
            <a:ext cx="2422080" cy="162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61" name="Google Shape;1861;p194"/>
          <p:cNvSpPr/>
          <p:nvPr/>
        </p:nvSpPr>
        <p:spPr>
          <a:xfrm>
            <a:off x="6109200" y="1893600"/>
            <a:ext cx="618120" cy="29484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862" name="Google Shape;1862;p194"/>
          <p:cNvSpPr/>
          <p:nvPr/>
        </p:nvSpPr>
        <p:spPr>
          <a:xfrm>
            <a:off x="6109200" y="16380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863" name="Google Shape;1863;p194"/>
          <p:cNvSpPr/>
          <p:nvPr/>
        </p:nvSpPr>
        <p:spPr>
          <a:xfrm>
            <a:off x="1807200" y="3882240"/>
            <a:ext cx="64944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864" name="Google Shape;1864;p194"/>
          <p:cNvSpPr/>
          <p:nvPr/>
        </p:nvSpPr>
        <p:spPr>
          <a:xfrm>
            <a:off x="6970680" y="19864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865" name="Google Shape;1865;p194"/>
          <p:cNvSpPr/>
          <p:nvPr/>
        </p:nvSpPr>
        <p:spPr>
          <a:xfrm>
            <a:off x="6109200" y="233460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866" name="Google Shape;1866;p194"/>
          <p:cNvSpPr/>
          <p:nvPr/>
        </p:nvSpPr>
        <p:spPr>
          <a:xfrm>
            <a:off x="6140520" y="330588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867" name="Google Shape;1867;p194"/>
          <p:cNvGrpSpPr/>
          <p:nvPr/>
        </p:nvGrpSpPr>
        <p:grpSpPr>
          <a:xfrm>
            <a:off x="872640" y="3011400"/>
            <a:ext cx="830520" cy="720000"/>
            <a:chOff x="872640" y="3011400"/>
            <a:chExt cx="830520" cy="720000"/>
          </a:xfrm>
        </p:grpSpPr>
        <p:sp>
          <p:nvSpPr>
            <p:cNvPr id="1868" name="Google Shape;1868;p194"/>
            <p:cNvSpPr/>
            <p:nvPr/>
          </p:nvSpPr>
          <p:spPr>
            <a:xfrm>
              <a:off x="872640" y="301140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869" name="Google Shape;1869;p194"/>
            <p:cNvGrpSpPr/>
            <p:nvPr/>
          </p:nvGrpSpPr>
          <p:grpSpPr>
            <a:xfrm>
              <a:off x="1047240" y="3263760"/>
              <a:ext cx="480960" cy="353520"/>
              <a:chOff x="1047240" y="3263760"/>
              <a:chExt cx="480960" cy="353520"/>
            </a:xfrm>
          </p:grpSpPr>
          <p:sp>
            <p:nvSpPr>
              <p:cNvPr id="1870" name="Google Shape;1870;p194"/>
              <p:cNvSpPr/>
              <p:nvPr/>
            </p:nvSpPr>
            <p:spPr>
              <a:xfrm>
                <a:off x="1193760" y="32637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94"/>
              <p:cNvSpPr/>
              <p:nvPr/>
            </p:nvSpPr>
            <p:spPr>
              <a:xfrm>
                <a:off x="1349640" y="33843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2" name="Google Shape;1872;p194"/>
              <p:cNvCxnSpPr/>
              <p:nvPr/>
            </p:nvCxnSpPr>
            <p:spPr>
              <a:xfrm flipH="1" rot="-5400000">
                <a:off x="1276560" y="3351960"/>
                <a:ext cx="79920" cy="65520"/>
              </a:xfrm>
              <a:prstGeom prst="bentConnector2">
                <a:avLst/>
              </a:prstGeom>
              <a:noFill/>
              <a:ln cap="flat" cmpd="sng" w="9525">
                <a:solidFill>
                  <a:srgbClr val="FFFFFF"/>
                </a:solidFill>
                <a:prstDash val="solid"/>
                <a:round/>
                <a:headEnd len="sm" w="sm" type="none"/>
                <a:tailEnd len="sm" w="sm" type="none"/>
              </a:ln>
            </p:spPr>
          </p:cxnSp>
          <p:sp>
            <p:nvSpPr>
              <p:cNvPr id="1873" name="Google Shape;1873;p194"/>
              <p:cNvSpPr/>
              <p:nvPr/>
            </p:nvSpPr>
            <p:spPr>
              <a:xfrm>
                <a:off x="1047240" y="344052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4" name="Google Shape;1874;p194"/>
              <p:cNvCxnSpPr/>
              <p:nvPr/>
            </p:nvCxnSpPr>
            <p:spPr>
              <a:xfrm rot="5400000">
                <a:off x="1187280" y="3384360"/>
                <a:ext cx="135720" cy="56520"/>
              </a:xfrm>
              <a:prstGeom prst="bentConnector2">
                <a:avLst/>
              </a:prstGeom>
              <a:noFill/>
              <a:ln cap="flat" cmpd="sng" w="9525">
                <a:solidFill>
                  <a:srgbClr val="FFFFFF"/>
                </a:solidFill>
                <a:prstDash val="solid"/>
                <a:round/>
                <a:headEnd len="sm" w="sm" type="none"/>
                <a:tailEnd len="sm" w="sm" type="none"/>
              </a:ln>
            </p:spPr>
          </p:cxnSp>
          <p:sp>
            <p:nvSpPr>
              <p:cNvPr id="1875" name="Google Shape;1875;p194"/>
              <p:cNvSpPr/>
              <p:nvPr/>
            </p:nvSpPr>
            <p:spPr>
              <a:xfrm>
                <a:off x="1349640" y="35366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6" name="Google Shape;1876;p194"/>
              <p:cNvCxnSpPr/>
              <p:nvPr/>
            </p:nvCxnSpPr>
            <p:spPr>
              <a:xfrm flipH="1" rot="-5400000">
                <a:off x="1200240" y="3427920"/>
                <a:ext cx="232200" cy="65520"/>
              </a:xfrm>
              <a:prstGeom prst="bentConnector2">
                <a:avLst/>
              </a:prstGeom>
              <a:noFill/>
              <a:ln cap="flat" cmpd="sng" w="9525">
                <a:solidFill>
                  <a:srgbClr val="FFFFFF"/>
                </a:solidFill>
                <a:prstDash val="solid"/>
                <a:round/>
                <a:headEnd len="sm" w="sm" type="none"/>
                <a:tailEnd len="sm" w="sm" type="none"/>
              </a:ln>
            </p:spPr>
          </p:cxnSp>
        </p:grpSp>
      </p:grpSp>
      <p:sp>
        <p:nvSpPr>
          <p:cNvPr id="1877" name="Google Shape;1877;p194"/>
          <p:cNvSpPr/>
          <p:nvPr/>
        </p:nvSpPr>
        <p:spPr>
          <a:xfrm>
            <a:off x="6109200" y="284796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878" name="Google Shape;1878;p194"/>
          <p:cNvSpPr/>
          <p:nvPr/>
        </p:nvSpPr>
        <p:spPr>
          <a:xfrm rot="10800000">
            <a:off x="4548600" y="1986840"/>
            <a:ext cx="1560600" cy="1024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79" name="Google Shape;1879;p194"/>
          <p:cNvSpPr/>
          <p:nvPr/>
        </p:nvSpPr>
        <p:spPr>
          <a:xfrm flipH="1" rot="10800000">
            <a:off x="2230920" y="2951280"/>
            <a:ext cx="258120" cy="603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0" name="Google Shape;1880;p194"/>
          <p:cNvSpPr/>
          <p:nvPr/>
        </p:nvSpPr>
        <p:spPr>
          <a:xfrm flipH="1" rot="10800000">
            <a:off x="4547160" y="1986480"/>
            <a:ext cx="1560600" cy="1850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1" name="Google Shape;1881;p194"/>
          <p:cNvSpPr/>
          <p:nvPr/>
        </p:nvSpPr>
        <p:spPr>
          <a:xfrm>
            <a:off x="4548240" y="1986480"/>
            <a:ext cx="1560600" cy="4932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2" name="Google Shape;1882;p194"/>
          <p:cNvSpPr/>
          <p:nvPr/>
        </p:nvSpPr>
        <p:spPr>
          <a:xfrm>
            <a:off x="1288080" y="2347560"/>
            <a:ext cx="360" cy="6631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3" name="Google Shape;1883;p194"/>
          <p:cNvSpPr/>
          <p:nvPr/>
        </p:nvSpPr>
        <p:spPr>
          <a:xfrm rot="10800000">
            <a:off x="4548600" y="1986840"/>
            <a:ext cx="1591920" cy="14821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4" name="Google Shape;1884;p194"/>
          <p:cNvSpPr/>
          <p:nvPr/>
        </p:nvSpPr>
        <p:spPr>
          <a:xfrm flipH="1" rot="10800000">
            <a:off x="3444120" y="3174480"/>
            <a:ext cx="488520" cy="826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5" name="Google Shape;1885;p194"/>
          <p:cNvSpPr/>
          <p:nvPr/>
        </p:nvSpPr>
        <p:spPr>
          <a:xfrm flipH="1" rot="10800000">
            <a:off x="2130840" y="3882240"/>
            <a:ext cx="358200" cy="15343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6" name="Google Shape;1886;p194"/>
          <p:cNvSpPr/>
          <p:nvPr/>
        </p:nvSpPr>
        <p:spPr>
          <a:xfrm>
            <a:off x="2271600" y="3468960"/>
            <a:ext cx="8521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1887" name="Google Shape;1887;p194"/>
          <p:cNvSpPr/>
          <p:nvPr/>
        </p:nvSpPr>
        <p:spPr>
          <a:xfrm>
            <a:off x="3518640" y="3975480"/>
            <a:ext cx="830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1888" name="Google Shape;1888;p194"/>
          <p:cNvSpPr/>
          <p:nvPr/>
        </p:nvSpPr>
        <p:spPr>
          <a:xfrm rot="10800000">
            <a:off x="2490840" y="2347920"/>
            <a:ext cx="207000" cy="11210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89" name="Google Shape;1889;p194"/>
          <p:cNvSpPr/>
          <p:nvPr/>
        </p:nvSpPr>
        <p:spPr>
          <a:xfrm rot="10800000">
            <a:off x="3933720" y="2347920"/>
            <a:ext cx="360" cy="1627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90" name="Google Shape;1890;p194"/>
          <p:cNvSpPr/>
          <p:nvPr/>
        </p:nvSpPr>
        <p:spPr>
          <a:xfrm rot="10800000">
            <a:off x="2490840" y="2347920"/>
            <a:ext cx="954720" cy="826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91" name="Google Shape;1891;p194"/>
          <p:cNvSpPr/>
          <p:nvPr/>
        </p:nvSpPr>
        <p:spPr>
          <a:xfrm>
            <a:off x="4548240" y="321984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892" name="Google Shape;1892;p194"/>
          <p:cNvSpPr/>
          <p:nvPr/>
        </p:nvSpPr>
        <p:spPr>
          <a:xfrm rot="10800000">
            <a:off x="3934080" y="2347920"/>
            <a:ext cx="1066320" cy="8719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893" name="Google Shape;1893;p194"/>
          <p:cNvSpPr/>
          <p:nvPr/>
        </p:nvSpPr>
        <p:spPr>
          <a:xfrm>
            <a:off x="1902240" y="29512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894" name="Google Shape;1894;p194"/>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of  Semantic Layer:  </a:t>
            </a:r>
            <a:r>
              <a:rPr b="1" i="0" lang="en-US" sz="2000" u="none" cap="none" strike="noStrike">
                <a:solidFill>
                  <a:srgbClr val="0089EC"/>
                </a:solidFill>
                <a:latin typeface="Arial"/>
                <a:ea typeface="Arial"/>
                <a:cs typeface="Arial"/>
                <a:sym typeface="Arial"/>
              </a:rPr>
              <a:t>Mapping Meaning to Digital Assets</a:t>
            </a:r>
            <a:endParaRPr b="0" i="0" sz="2000" u="none" cap="none" strike="noStrike">
              <a:latin typeface="Arial"/>
              <a:ea typeface="Arial"/>
              <a:cs typeface="Arial"/>
              <a:sym typeface="Arial"/>
            </a:endParaRPr>
          </a:p>
        </p:txBody>
      </p:sp>
      <p:grpSp>
        <p:nvGrpSpPr>
          <p:cNvPr id="1895" name="Google Shape;1895;p194"/>
          <p:cNvGrpSpPr/>
          <p:nvPr/>
        </p:nvGrpSpPr>
        <p:grpSpPr>
          <a:xfrm>
            <a:off x="8549640" y="0"/>
            <a:ext cx="594000" cy="679680"/>
            <a:chOff x="8549640" y="0"/>
            <a:chExt cx="594000" cy="679680"/>
          </a:xfrm>
        </p:grpSpPr>
        <p:sp>
          <p:nvSpPr>
            <p:cNvPr id="1896" name="Google Shape;1896;p19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7" name="Google Shape;1897;p194"/>
            <p:cNvGrpSpPr/>
            <p:nvPr/>
          </p:nvGrpSpPr>
          <p:grpSpPr>
            <a:xfrm>
              <a:off x="8588160" y="0"/>
              <a:ext cx="555480" cy="679680"/>
              <a:chOff x="8588160" y="0"/>
              <a:chExt cx="555480" cy="679680"/>
            </a:xfrm>
          </p:grpSpPr>
          <p:pic>
            <p:nvPicPr>
              <p:cNvPr id="1898" name="Google Shape;1898;p194"/>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899" name="Google Shape;1899;p19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195"/>
          <p:cNvSpPr/>
          <p:nvPr/>
        </p:nvSpPr>
        <p:spPr>
          <a:xfrm>
            <a:off x="445320" y="756000"/>
            <a:ext cx="6778800" cy="32166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Verizon Knowledge Models</a:t>
            </a:r>
            <a:endParaRPr b="0" i="0" sz="1200" u="none" cap="none" strike="noStrike">
              <a:latin typeface="Arial"/>
              <a:ea typeface="Arial"/>
              <a:cs typeface="Arial"/>
              <a:sym typeface="Arial"/>
            </a:endParaRPr>
          </a:p>
        </p:txBody>
      </p:sp>
      <p:sp>
        <p:nvSpPr>
          <p:cNvPr id="1905" name="Google Shape;1905;p195"/>
          <p:cNvSpPr/>
          <p:nvPr/>
        </p:nvSpPr>
        <p:spPr>
          <a:xfrm>
            <a:off x="553680" y="118836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(Enterprise)</a:t>
            </a:r>
            <a:endParaRPr b="0" i="0" sz="700" u="none" cap="none" strike="noStrike">
              <a:latin typeface="Arial"/>
              <a:ea typeface="Arial"/>
              <a:cs typeface="Arial"/>
              <a:sym typeface="Arial"/>
            </a:endParaRPr>
          </a:p>
        </p:txBody>
      </p:sp>
      <p:sp>
        <p:nvSpPr>
          <p:cNvPr id="1906" name="Google Shape;1906;p195"/>
          <p:cNvSpPr/>
          <p:nvPr/>
        </p:nvSpPr>
        <p:spPr>
          <a:xfrm>
            <a:off x="673920" y="1631880"/>
            <a:ext cx="1227960" cy="2466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907" name="Google Shape;1907;p195"/>
          <p:cNvSpPr/>
          <p:nvPr/>
        </p:nvSpPr>
        <p:spPr>
          <a:xfrm>
            <a:off x="1901880" y="1631880"/>
            <a:ext cx="1176840" cy="715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908" name="Google Shape;1908;p195"/>
          <p:cNvSpPr/>
          <p:nvPr/>
        </p:nvSpPr>
        <p:spPr>
          <a:xfrm>
            <a:off x="673920" y="1878840"/>
            <a:ext cx="1227960" cy="468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909" name="Google Shape;1909;p195"/>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Overview</a:t>
            </a:r>
            <a:endParaRPr b="0" i="0" sz="2000" u="none" cap="none" strike="noStrike">
              <a:latin typeface="Arial"/>
              <a:ea typeface="Arial"/>
              <a:cs typeface="Arial"/>
              <a:sym typeface="Arial"/>
            </a:endParaRPr>
          </a:p>
        </p:txBody>
      </p:sp>
      <p:sp>
        <p:nvSpPr>
          <p:cNvPr id="1910" name="Google Shape;1910;p195"/>
          <p:cNvSpPr/>
          <p:nvPr/>
        </p:nvSpPr>
        <p:spPr>
          <a:xfrm>
            <a:off x="32025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911" name="Google Shape;1911;p195"/>
          <p:cNvSpPr/>
          <p:nvPr/>
        </p:nvSpPr>
        <p:spPr>
          <a:xfrm>
            <a:off x="3305160" y="171396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912" name="Google Shape;1912;p195"/>
          <p:cNvSpPr/>
          <p:nvPr/>
        </p:nvSpPr>
        <p:spPr>
          <a:xfrm>
            <a:off x="4119120" y="171396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913" name="Google Shape;1913;p195"/>
          <p:cNvSpPr/>
          <p:nvPr/>
        </p:nvSpPr>
        <p:spPr>
          <a:xfrm>
            <a:off x="3305160" y="188856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914" name="Google Shape;1914;p195"/>
          <p:cNvSpPr/>
          <p:nvPr/>
        </p:nvSpPr>
        <p:spPr>
          <a:xfrm>
            <a:off x="5206680" y="11883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915" name="Google Shape;1915;p195"/>
          <p:cNvSpPr/>
          <p:nvPr/>
        </p:nvSpPr>
        <p:spPr>
          <a:xfrm>
            <a:off x="5309280" y="172008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916" name="Google Shape;1916;p195"/>
          <p:cNvSpPr/>
          <p:nvPr/>
        </p:nvSpPr>
        <p:spPr>
          <a:xfrm>
            <a:off x="6123240" y="172008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917" name="Google Shape;1917;p195"/>
          <p:cNvSpPr/>
          <p:nvPr/>
        </p:nvSpPr>
        <p:spPr>
          <a:xfrm>
            <a:off x="5309280" y="18950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918" name="Google Shape;1918;p195"/>
          <p:cNvSpPr/>
          <p:nvPr/>
        </p:nvSpPr>
        <p:spPr>
          <a:xfrm>
            <a:off x="3202560" y="25455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919" name="Google Shape;1919;p195"/>
          <p:cNvSpPr/>
          <p:nvPr/>
        </p:nvSpPr>
        <p:spPr>
          <a:xfrm>
            <a:off x="3305160" y="3077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920" name="Google Shape;1920;p195"/>
          <p:cNvSpPr/>
          <p:nvPr/>
        </p:nvSpPr>
        <p:spPr>
          <a:xfrm>
            <a:off x="4119120" y="3077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921" name="Google Shape;1921;p195"/>
          <p:cNvSpPr/>
          <p:nvPr/>
        </p:nvSpPr>
        <p:spPr>
          <a:xfrm>
            <a:off x="3305160" y="32522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922" name="Google Shape;1922;p195"/>
          <p:cNvSpPr/>
          <p:nvPr/>
        </p:nvSpPr>
        <p:spPr>
          <a:xfrm>
            <a:off x="5206680" y="253692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923" name="Google Shape;1923;p195"/>
          <p:cNvSpPr/>
          <p:nvPr/>
        </p:nvSpPr>
        <p:spPr>
          <a:xfrm>
            <a:off x="5309280" y="3068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924" name="Google Shape;1924;p195"/>
          <p:cNvSpPr/>
          <p:nvPr/>
        </p:nvSpPr>
        <p:spPr>
          <a:xfrm>
            <a:off x="6123240" y="3068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925" name="Google Shape;1925;p195"/>
          <p:cNvSpPr/>
          <p:nvPr/>
        </p:nvSpPr>
        <p:spPr>
          <a:xfrm>
            <a:off x="5309280" y="324360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926" name="Google Shape;1926;p195"/>
          <p:cNvSpPr/>
          <p:nvPr/>
        </p:nvSpPr>
        <p:spPr>
          <a:xfrm>
            <a:off x="5572440" y="357552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Network Operations</a:t>
            </a:r>
            <a:endParaRPr b="0" i="0" sz="700" u="none" cap="none" strike="noStrike">
              <a:latin typeface="Arial"/>
              <a:ea typeface="Arial"/>
              <a:cs typeface="Arial"/>
              <a:sym typeface="Arial"/>
            </a:endParaRPr>
          </a:p>
        </p:txBody>
      </p:sp>
      <p:sp>
        <p:nvSpPr>
          <p:cNvPr id="1927" name="Google Shape;1927;p195"/>
          <p:cNvSpPr/>
          <p:nvPr/>
        </p:nvSpPr>
        <p:spPr>
          <a:xfrm>
            <a:off x="3568320" y="222048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Finance</a:t>
            </a:r>
            <a:endParaRPr b="0" i="0" sz="700" u="none" cap="none" strike="noStrike">
              <a:latin typeface="Arial"/>
              <a:ea typeface="Arial"/>
              <a:cs typeface="Arial"/>
              <a:sym typeface="Arial"/>
            </a:endParaRPr>
          </a:p>
        </p:txBody>
      </p:sp>
      <p:sp>
        <p:nvSpPr>
          <p:cNvPr id="1928" name="Google Shape;1928;p195"/>
          <p:cNvSpPr/>
          <p:nvPr/>
        </p:nvSpPr>
        <p:spPr>
          <a:xfrm>
            <a:off x="5572440" y="222660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Marketing</a:t>
            </a:r>
            <a:endParaRPr b="0" i="0" sz="700" u="none" cap="none" strike="noStrike">
              <a:latin typeface="Arial"/>
              <a:ea typeface="Arial"/>
              <a:cs typeface="Arial"/>
              <a:sym typeface="Arial"/>
            </a:endParaRPr>
          </a:p>
        </p:txBody>
      </p:sp>
      <p:sp>
        <p:nvSpPr>
          <p:cNvPr id="1929" name="Google Shape;1929;p195"/>
          <p:cNvSpPr/>
          <p:nvPr/>
        </p:nvSpPr>
        <p:spPr>
          <a:xfrm>
            <a:off x="3568320" y="358416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Sales Operations</a:t>
            </a:r>
            <a:endParaRPr b="0" i="0" sz="700" u="none" cap="none" strike="noStrike">
              <a:latin typeface="Arial"/>
              <a:ea typeface="Arial"/>
              <a:cs typeface="Arial"/>
              <a:sym typeface="Arial"/>
            </a:endParaRPr>
          </a:p>
        </p:txBody>
      </p:sp>
      <p:sp>
        <p:nvSpPr>
          <p:cNvPr id="1930" name="Google Shape;1930;p195"/>
          <p:cNvSpPr/>
          <p:nvPr/>
        </p:nvSpPr>
        <p:spPr>
          <a:xfrm>
            <a:off x="7544520" y="1828800"/>
            <a:ext cx="1176840" cy="799920"/>
          </a:xfrm>
          <a:prstGeom prst="roundRect">
            <a:avLst>
              <a:gd fmla="val 0" name="adj"/>
            </a:avLst>
          </a:prstGeom>
          <a:solidFill>
            <a:srgbClr val="FFFFFF"/>
          </a:solidFill>
          <a:ln cap="flat" cmpd="sng" w="28425">
            <a:solidFill>
              <a:srgbClr val="0089EC"/>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900" u="none" cap="none" strike="noStrike">
                <a:solidFill>
                  <a:srgbClr val="0089EC"/>
                </a:solidFill>
                <a:latin typeface="Calibri"/>
                <a:ea typeface="Calibri"/>
                <a:cs typeface="Calibri"/>
                <a:sym typeface="Calibri"/>
              </a:rPr>
              <a:t>Component Design for Building out Verizon’s Knowledge</a:t>
            </a:r>
            <a:endParaRPr b="0" i="0" sz="900" u="none" cap="none" strike="noStrike">
              <a:latin typeface="Arial"/>
              <a:ea typeface="Arial"/>
              <a:cs typeface="Arial"/>
              <a:sym typeface="Arial"/>
            </a:endParaRPr>
          </a:p>
        </p:txBody>
      </p:sp>
      <p:grpSp>
        <p:nvGrpSpPr>
          <p:cNvPr id="1931" name="Google Shape;1931;p195"/>
          <p:cNvGrpSpPr/>
          <p:nvPr/>
        </p:nvGrpSpPr>
        <p:grpSpPr>
          <a:xfrm>
            <a:off x="8549640" y="0"/>
            <a:ext cx="594000" cy="679680"/>
            <a:chOff x="8549640" y="0"/>
            <a:chExt cx="594000" cy="679680"/>
          </a:xfrm>
        </p:grpSpPr>
        <p:sp>
          <p:nvSpPr>
            <p:cNvPr id="1932" name="Google Shape;1932;p19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3" name="Google Shape;1933;p195"/>
            <p:cNvGrpSpPr/>
            <p:nvPr/>
          </p:nvGrpSpPr>
          <p:grpSpPr>
            <a:xfrm>
              <a:off x="8588160" y="0"/>
              <a:ext cx="555480" cy="679680"/>
              <a:chOff x="8588160" y="0"/>
              <a:chExt cx="555480" cy="679680"/>
            </a:xfrm>
          </p:grpSpPr>
          <p:pic>
            <p:nvPicPr>
              <p:cNvPr id="1934" name="Google Shape;1934;p195"/>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935" name="Google Shape;1935;p19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196"/>
          <p:cNvSpPr/>
          <p:nvPr/>
        </p:nvSpPr>
        <p:spPr>
          <a:xfrm>
            <a:off x="6855840" y="1756440"/>
            <a:ext cx="649440" cy="279720"/>
          </a:xfrm>
          <a:prstGeom prst="roundRect">
            <a:avLst>
              <a:gd fmla="val 16667" name="adj"/>
            </a:avLst>
          </a:prstGeom>
          <a:solidFill>
            <a:srgbClr val="7F7F7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 Models</a:t>
            </a:r>
            <a:endParaRPr b="0" i="0" sz="700" u="none" cap="none" strike="noStrike">
              <a:latin typeface="Arial"/>
              <a:ea typeface="Arial"/>
              <a:cs typeface="Arial"/>
              <a:sym typeface="Arial"/>
            </a:endParaRPr>
          </a:p>
        </p:txBody>
      </p:sp>
      <p:sp>
        <p:nvSpPr>
          <p:cNvPr id="1941" name="Google Shape;1941;p196"/>
          <p:cNvSpPr/>
          <p:nvPr/>
        </p:nvSpPr>
        <p:spPr>
          <a:xfrm>
            <a:off x="4012560" y="2888640"/>
            <a:ext cx="12279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(Ingestion Pipelines)</a:t>
            </a:r>
            <a:endParaRPr b="0" i="0" sz="600" u="none" cap="none" strike="noStrike">
              <a:latin typeface="Arial"/>
              <a:ea typeface="Arial"/>
              <a:cs typeface="Arial"/>
              <a:sym typeface="Arial"/>
            </a:endParaRPr>
          </a:p>
        </p:txBody>
      </p:sp>
      <p:sp>
        <p:nvSpPr>
          <p:cNvPr id="1942" name="Google Shape;1942;p196"/>
          <p:cNvSpPr/>
          <p:nvPr/>
        </p:nvSpPr>
        <p:spPr>
          <a:xfrm>
            <a:off x="3425400" y="4602960"/>
            <a:ext cx="649440" cy="29052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943" name="Google Shape;1943;p196"/>
          <p:cNvSpPr/>
          <p:nvPr/>
        </p:nvSpPr>
        <p:spPr>
          <a:xfrm flipH="1" rot="10800000">
            <a:off x="5239800" y="3249720"/>
            <a:ext cx="1614600" cy="2880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44" name="Google Shape;1944;p196"/>
          <p:cNvSpPr/>
          <p:nvPr/>
        </p:nvSpPr>
        <p:spPr>
          <a:xfrm>
            <a:off x="6871320" y="2386080"/>
            <a:ext cx="618120" cy="29484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945" name="Google Shape;1945;p196"/>
          <p:cNvSpPr/>
          <p:nvPr/>
        </p:nvSpPr>
        <p:spPr>
          <a:xfrm>
            <a:off x="6871320" y="213048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946" name="Google Shape;1946;p196"/>
          <p:cNvSpPr/>
          <p:nvPr/>
        </p:nvSpPr>
        <p:spPr>
          <a:xfrm>
            <a:off x="2723040" y="4424040"/>
            <a:ext cx="64944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947" name="Google Shape;1947;p196"/>
          <p:cNvSpPr/>
          <p:nvPr/>
        </p:nvSpPr>
        <p:spPr>
          <a:xfrm>
            <a:off x="6855840" y="27982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948" name="Google Shape;1948;p196"/>
          <p:cNvSpPr/>
          <p:nvPr/>
        </p:nvSpPr>
        <p:spPr>
          <a:xfrm>
            <a:off x="6855840" y="332280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949" name="Google Shape;1949;p196"/>
          <p:cNvSpPr/>
          <p:nvPr/>
        </p:nvSpPr>
        <p:spPr>
          <a:xfrm>
            <a:off x="6871320" y="3754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950" name="Google Shape;1950;p196"/>
          <p:cNvGrpSpPr/>
          <p:nvPr/>
        </p:nvGrpSpPr>
        <p:grpSpPr>
          <a:xfrm>
            <a:off x="7759440" y="2889720"/>
            <a:ext cx="830520" cy="720000"/>
            <a:chOff x="7759440" y="2889720"/>
            <a:chExt cx="830520" cy="720000"/>
          </a:xfrm>
        </p:grpSpPr>
        <p:sp>
          <p:nvSpPr>
            <p:cNvPr id="1951" name="Google Shape;1951;p196"/>
            <p:cNvSpPr/>
            <p:nvPr/>
          </p:nvSpPr>
          <p:spPr>
            <a:xfrm>
              <a:off x="7759440" y="28897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952" name="Google Shape;1952;p196"/>
            <p:cNvGrpSpPr/>
            <p:nvPr/>
          </p:nvGrpSpPr>
          <p:grpSpPr>
            <a:xfrm>
              <a:off x="7934400" y="3142080"/>
              <a:ext cx="480600" cy="353520"/>
              <a:chOff x="7934400" y="3142080"/>
              <a:chExt cx="480600" cy="353520"/>
            </a:xfrm>
          </p:grpSpPr>
          <p:sp>
            <p:nvSpPr>
              <p:cNvPr id="1953" name="Google Shape;1953;p196"/>
              <p:cNvSpPr/>
              <p:nvPr/>
            </p:nvSpPr>
            <p:spPr>
              <a:xfrm>
                <a:off x="8080560" y="31420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96"/>
              <p:cNvSpPr/>
              <p:nvPr/>
            </p:nvSpPr>
            <p:spPr>
              <a:xfrm>
                <a:off x="8236440" y="32626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5" name="Google Shape;1955;p196"/>
              <p:cNvCxnSpPr/>
              <p:nvPr/>
            </p:nvCxnSpPr>
            <p:spPr>
              <a:xfrm flipH="1" rot="-5400000">
                <a:off x="8161920" y="3229920"/>
                <a:ext cx="79920" cy="65880"/>
              </a:xfrm>
              <a:prstGeom prst="bentConnector2">
                <a:avLst/>
              </a:prstGeom>
              <a:noFill/>
              <a:ln cap="flat" cmpd="sng" w="9525">
                <a:solidFill>
                  <a:srgbClr val="FFFFFF"/>
                </a:solidFill>
                <a:prstDash val="solid"/>
                <a:round/>
                <a:headEnd len="sm" w="sm" type="none"/>
                <a:tailEnd len="sm" w="sm" type="none"/>
              </a:ln>
            </p:spPr>
          </p:cxnSp>
          <p:sp>
            <p:nvSpPr>
              <p:cNvPr id="1956" name="Google Shape;1956;p196"/>
              <p:cNvSpPr/>
              <p:nvPr/>
            </p:nvSpPr>
            <p:spPr>
              <a:xfrm>
                <a:off x="7934400" y="33188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7" name="Google Shape;1957;p196"/>
              <p:cNvCxnSpPr/>
              <p:nvPr/>
            </p:nvCxnSpPr>
            <p:spPr>
              <a:xfrm rot="5400000">
                <a:off x="8074080" y="3262680"/>
                <a:ext cx="135720" cy="56520"/>
              </a:xfrm>
              <a:prstGeom prst="bentConnector2">
                <a:avLst/>
              </a:prstGeom>
              <a:noFill/>
              <a:ln cap="flat" cmpd="sng" w="9525">
                <a:solidFill>
                  <a:srgbClr val="FFFFFF"/>
                </a:solidFill>
                <a:prstDash val="solid"/>
                <a:round/>
                <a:headEnd len="sm" w="sm" type="none"/>
                <a:tailEnd len="sm" w="sm" type="none"/>
              </a:ln>
            </p:spPr>
          </p:cxnSp>
          <p:sp>
            <p:nvSpPr>
              <p:cNvPr id="1958" name="Google Shape;1958;p196"/>
              <p:cNvSpPr/>
              <p:nvPr/>
            </p:nvSpPr>
            <p:spPr>
              <a:xfrm>
                <a:off x="8236440" y="3414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9" name="Google Shape;1959;p196"/>
              <p:cNvCxnSpPr/>
              <p:nvPr/>
            </p:nvCxnSpPr>
            <p:spPr>
              <a:xfrm flipH="1" rot="-5400000">
                <a:off x="8085960" y="3306240"/>
                <a:ext cx="232200" cy="65880"/>
              </a:xfrm>
              <a:prstGeom prst="bentConnector2">
                <a:avLst/>
              </a:prstGeom>
              <a:noFill/>
              <a:ln cap="flat" cmpd="sng" w="9525">
                <a:solidFill>
                  <a:srgbClr val="FFFFFF"/>
                </a:solidFill>
                <a:prstDash val="solid"/>
                <a:round/>
                <a:headEnd len="sm" w="sm" type="none"/>
                <a:tailEnd len="sm" w="sm" type="none"/>
              </a:ln>
            </p:spPr>
          </p:cxnSp>
        </p:grpSp>
      </p:grpSp>
      <p:sp>
        <p:nvSpPr>
          <p:cNvPr id="1960" name="Google Shape;1960;p196"/>
          <p:cNvSpPr/>
          <p:nvPr/>
        </p:nvSpPr>
        <p:spPr>
          <a:xfrm>
            <a:off x="1407240" y="28774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961" name="Google Shape;1961;p196"/>
          <p:cNvSpPr/>
          <p:nvPr/>
        </p:nvSpPr>
        <p:spPr>
          <a:xfrm>
            <a:off x="2057040" y="3040560"/>
            <a:ext cx="1955520" cy="209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2" name="Google Shape;1962;p196"/>
          <p:cNvSpPr/>
          <p:nvPr/>
        </p:nvSpPr>
        <p:spPr>
          <a:xfrm flipH="1" rot="10800000">
            <a:off x="2667960" y="3379320"/>
            <a:ext cx="1343160" cy="1292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3" name="Google Shape;1963;p196"/>
          <p:cNvSpPr/>
          <p:nvPr/>
        </p:nvSpPr>
        <p:spPr>
          <a:xfrm flipH="1" rot="10800000">
            <a:off x="5241240" y="3249720"/>
            <a:ext cx="1630080" cy="955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4" name="Google Shape;1964;p196"/>
          <p:cNvSpPr/>
          <p:nvPr/>
        </p:nvSpPr>
        <p:spPr>
          <a:xfrm>
            <a:off x="5240880" y="3249720"/>
            <a:ext cx="1614600" cy="217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5" name="Google Shape;1965;p196"/>
          <p:cNvSpPr/>
          <p:nvPr/>
        </p:nvSpPr>
        <p:spPr>
          <a:xfrm>
            <a:off x="5240880" y="3249720"/>
            <a:ext cx="2518200" cy="3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6" name="Google Shape;1966;p196"/>
          <p:cNvSpPr/>
          <p:nvPr/>
        </p:nvSpPr>
        <p:spPr>
          <a:xfrm rot="10800000">
            <a:off x="5241600" y="3250080"/>
            <a:ext cx="1939320" cy="504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7" name="Google Shape;1967;p196"/>
          <p:cNvSpPr/>
          <p:nvPr/>
        </p:nvSpPr>
        <p:spPr>
          <a:xfrm flipH="1" rot="10800000">
            <a:off x="3749400" y="4602960"/>
            <a:ext cx="875880" cy="991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8" name="Google Shape;1968;p196"/>
          <p:cNvSpPr/>
          <p:nvPr/>
        </p:nvSpPr>
        <p:spPr>
          <a:xfrm flipH="1" rot="10800000">
            <a:off x="3048480" y="4424040"/>
            <a:ext cx="1578240" cy="8125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69" name="Google Shape;1969;p196"/>
          <p:cNvSpPr/>
          <p:nvPr/>
        </p:nvSpPr>
        <p:spPr>
          <a:xfrm>
            <a:off x="2420280" y="4094280"/>
            <a:ext cx="85212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1970" name="Google Shape;1970;p196"/>
          <p:cNvSpPr/>
          <p:nvPr/>
        </p:nvSpPr>
        <p:spPr>
          <a:xfrm flipH="1" rot="10800000">
            <a:off x="2846880" y="4094280"/>
            <a:ext cx="1779840" cy="4827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71" name="Google Shape;1971;p196"/>
          <p:cNvSpPr/>
          <p:nvPr/>
        </p:nvSpPr>
        <p:spPr>
          <a:xfrm flipH="1" rot="10800000">
            <a:off x="3817440" y="3864600"/>
            <a:ext cx="809280" cy="2534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72" name="Google Shape;1972;p196"/>
          <p:cNvSpPr/>
          <p:nvPr/>
        </p:nvSpPr>
        <p:spPr>
          <a:xfrm rot="10800000">
            <a:off x="4627080" y="3611520"/>
            <a:ext cx="929520" cy="5439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73" name="Google Shape;1973;p196"/>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Semantic Services (Inbound)</a:t>
            </a:r>
            <a:endParaRPr b="0" i="0" sz="2000" u="none" cap="none" strike="noStrike">
              <a:latin typeface="Arial"/>
              <a:ea typeface="Arial"/>
              <a:cs typeface="Arial"/>
              <a:sym typeface="Arial"/>
            </a:endParaRPr>
          </a:p>
        </p:txBody>
      </p:sp>
      <p:grpSp>
        <p:nvGrpSpPr>
          <p:cNvPr id="1974" name="Google Shape;1974;p196"/>
          <p:cNvGrpSpPr/>
          <p:nvPr/>
        </p:nvGrpSpPr>
        <p:grpSpPr>
          <a:xfrm>
            <a:off x="902520" y="756000"/>
            <a:ext cx="4736160" cy="1815120"/>
            <a:chOff x="902520" y="756000"/>
            <a:chExt cx="4736160" cy="1815120"/>
          </a:xfrm>
        </p:grpSpPr>
        <p:sp>
          <p:nvSpPr>
            <p:cNvPr id="1975" name="Google Shape;1975;p196"/>
            <p:cNvSpPr/>
            <p:nvPr/>
          </p:nvSpPr>
          <p:spPr>
            <a:xfrm>
              <a:off x="902520" y="756000"/>
              <a:ext cx="473616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1976" name="Google Shape;1976;p196"/>
            <p:cNvSpPr/>
            <p:nvPr/>
          </p:nvSpPr>
          <p:spPr>
            <a:xfrm>
              <a:off x="3659760" y="1181880"/>
              <a:ext cx="180576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(Digital Asset Metadata)</a:t>
              </a:r>
              <a:endParaRPr b="0" i="0" sz="700" u="none" cap="none" strike="noStrike">
                <a:latin typeface="Arial"/>
                <a:ea typeface="Arial"/>
                <a:cs typeface="Arial"/>
                <a:sym typeface="Arial"/>
              </a:endParaRPr>
            </a:p>
          </p:txBody>
        </p:sp>
        <p:sp>
          <p:nvSpPr>
            <p:cNvPr id="1977" name="Google Shape;1977;p196"/>
            <p:cNvSpPr/>
            <p:nvPr/>
          </p:nvSpPr>
          <p:spPr>
            <a:xfrm>
              <a:off x="38221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978" name="Google Shape;1978;p196"/>
            <p:cNvPicPr preferRelativeResize="0"/>
            <p:nvPr/>
          </p:nvPicPr>
          <p:blipFill rotWithShape="1">
            <a:blip r:embed="rId3">
              <a:alphaModFix/>
            </a:blip>
            <a:srcRect b="0" l="0" r="0" t="0"/>
            <a:stretch/>
          </p:blipFill>
          <p:spPr>
            <a:xfrm>
              <a:off x="1151280" y="1212120"/>
              <a:ext cx="2372400" cy="1163880"/>
            </a:xfrm>
            <a:prstGeom prst="rect">
              <a:avLst/>
            </a:prstGeom>
            <a:noFill/>
            <a:ln>
              <a:noFill/>
            </a:ln>
          </p:spPr>
        </p:pic>
        <p:sp>
          <p:nvSpPr>
            <p:cNvPr id="1979" name="Google Shape;1979;p196"/>
            <p:cNvSpPr/>
            <p:nvPr/>
          </p:nvSpPr>
          <p:spPr>
            <a:xfrm>
              <a:off x="38221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980" name="Google Shape;1980;p196"/>
            <p:cNvSpPr/>
            <p:nvPr/>
          </p:nvSpPr>
          <p:spPr>
            <a:xfrm>
              <a:off x="38221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981" name="Google Shape;1981;p196"/>
            <p:cNvSpPr/>
            <p:nvPr/>
          </p:nvSpPr>
          <p:spPr>
            <a:xfrm>
              <a:off x="46602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982" name="Google Shape;1982;p196"/>
            <p:cNvSpPr/>
            <p:nvPr/>
          </p:nvSpPr>
          <p:spPr>
            <a:xfrm>
              <a:off x="46602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983" name="Google Shape;1983;p196"/>
            <p:cNvSpPr/>
            <p:nvPr/>
          </p:nvSpPr>
          <p:spPr>
            <a:xfrm>
              <a:off x="46602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984" name="Google Shape;1984;p196"/>
          <p:cNvSpPr/>
          <p:nvPr/>
        </p:nvSpPr>
        <p:spPr>
          <a:xfrm>
            <a:off x="6728400" y="449316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985" name="Google Shape;1985;p196"/>
          <p:cNvSpPr/>
          <p:nvPr/>
        </p:nvSpPr>
        <p:spPr>
          <a:xfrm>
            <a:off x="5181480" y="453420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Semantics</a:t>
            </a:r>
            <a:endParaRPr b="0" i="0" sz="700" u="none" cap="none" strike="noStrike">
              <a:latin typeface="Arial"/>
              <a:ea typeface="Arial"/>
              <a:cs typeface="Arial"/>
              <a:sym typeface="Arial"/>
            </a:endParaRPr>
          </a:p>
        </p:txBody>
      </p:sp>
      <p:sp>
        <p:nvSpPr>
          <p:cNvPr id="1986" name="Google Shape;1986;p196"/>
          <p:cNvSpPr/>
          <p:nvPr/>
        </p:nvSpPr>
        <p:spPr>
          <a:xfrm rot="10800000">
            <a:off x="4627080" y="3611520"/>
            <a:ext cx="1006920" cy="9226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87" name="Google Shape;1987;p196"/>
          <p:cNvSpPr/>
          <p:nvPr/>
        </p:nvSpPr>
        <p:spPr>
          <a:xfrm flipH="1" rot="10800000">
            <a:off x="5239800" y="3249720"/>
            <a:ext cx="1614600" cy="13528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88" name="Google Shape;1988;p196"/>
          <p:cNvSpPr/>
          <p:nvPr/>
        </p:nvSpPr>
        <p:spPr>
          <a:xfrm>
            <a:off x="6855840" y="414180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RDF Stores</a:t>
            </a:r>
            <a:endParaRPr b="0" i="0" sz="700" u="none" cap="none" strike="noStrike">
              <a:latin typeface="Arial"/>
              <a:ea typeface="Arial"/>
              <a:cs typeface="Arial"/>
              <a:sym typeface="Arial"/>
            </a:endParaRPr>
          </a:p>
        </p:txBody>
      </p:sp>
      <p:sp>
        <p:nvSpPr>
          <p:cNvPr id="1989" name="Google Shape;1989;p196"/>
          <p:cNvSpPr/>
          <p:nvPr/>
        </p:nvSpPr>
        <p:spPr>
          <a:xfrm rot="10800000">
            <a:off x="5241240" y="3250080"/>
            <a:ext cx="1614600" cy="1037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90" name="Google Shape;1990;p196"/>
          <p:cNvSpPr/>
          <p:nvPr/>
        </p:nvSpPr>
        <p:spPr>
          <a:xfrm rot="10800000">
            <a:off x="5240880" y="3250440"/>
            <a:ext cx="1487520" cy="13723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91" name="Google Shape;1991;p196"/>
          <p:cNvSpPr/>
          <p:nvPr/>
        </p:nvSpPr>
        <p:spPr>
          <a:xfrm>
            <a:off x="5104440" y="415548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992" name="Google Shape;1992;p196"/>
          <p:cNvSpPr/>
          <p:nvPr/>
        </p:nvSpPr>
        <p:spPr>
          <a:xfrm>
            <a:off x="3401640" y="3864600"/>
            <a:ext cx="83052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1993" name="Google Shape;1993;p196"/>
          <p:cNvSpPr/>
          <p:nvPr/>
        </p:nvSpPr>
        <p:spPr>
          <a:xfrm>
            <a:off x="4037040" y="4200120"/>
            <a:ext cx="904320" cy="326160"/>
          </a:xfrm>
          <a:prstGeom prst="can">
            <a:avLst>
              <a:gd fmla="val 20258"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1994" name="Google Shape;1994;p196"/>
          <p:cNvSpPr/>
          <p:nvPr/>
        </p:nvSpPr>
        <p:spPr>
          <a:xfrm>
            <a:off x="1483920" y="360576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Assets</a:t>
            </a:r>
            <a:endParaRPr b="0" i="0" sz="700" u="none" cap="none" strike="noStrike">
              <a:latin typeface="Arial"/>
              <a:ea typeface="Arial"/>
              <a:cs typeface="Arial"/>
              <a:sym typeface="Arial"/>
            </a:endParaRPr>
          </a:p>
        </p:txBody>
      </p:sp>
      <p:sp>
        <p:nvSpPr>
          <p:cNvPr id="1995" name="Google Shape;1995;p196"/>
          <p:cNvSpPr/>
          <p:nvPr/>
        </p:nvSpPr>
        <p:spPr>
          <a:xfrm flipH="1" rot="10800000">
            <a:off x="2142720" y="3735360"/>
            <a:ext cx="1868760" cy="4849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96" name="Google Shape;1996;p196"/>
          <p:cNvSpPr/>
          <p:nvPr/>
        </p:nvSpPr>
        <p:spPr>
          <a:xfrm>
            <a:off x="834480" y="32752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Events</a:t>
            </a:r>
            <a:endParaRPr b="0" i="0" sz="700" u="none" cap="none" strike="noStrike">
              <a:latin typeface="Arial"/>
              <a:ea typeface="Arial"/>
              <a:cs typeface="Arial"/>
              <a:sym typeface="Arial"/>
            </a:endParaRPr>
          </a:p>
        </p:txBody>
      </p:sp>
      <p:sp>
        <p:nvSpPr>
          <p:cNvPr id="1997" name="Google Shape;1997;p196"/>
          <p:cNvSpPr/>
          <p:nvPr/>
        </p:nvSpPr>
        <p:spPr>
          <a:xfrm flipH="1" rot="10800000">
            <a:off x="1492920" y="3404880"/>
            <a:ext cx="2518200" cy="1544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998" name="Google Shape;1998;p196"/>
          <p:cNvSpPr/>
          <p:nvPr/>
        </p:nvSpPr>
        <p:spPr>
          <a:xfrm>
            <a:off x="2009520" y="32500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999" name="Google Shape;1999;p196"/>
          <p:cNvSpPr/>
          <p:nvPr/>
        </p:nvSpPr>
        <p:spPr>
          <a:xfrm>
            <a:off x="4563000" y="2625480"/>
            <a:ext cx="127080" cy="209160"/>
          </a:xfrm>
          <a:prstGeom prst="upArrow">
            <a:avLst>
              <a:gd fmla="val 50000" name="adj1"/>
              <a:gd fmla="val 50000" name="adj2"/>
            </a:avLst>
          </a:prstGeom>
          <a:solidFill>
            <a:srgbClr val="3CB7D2"/>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0" name="Google Shape;2000;p196"/>
          <p:cNvGrpSpPr/>
          <p:nvPr/>
        </p:nvGrpSpPr>
        <p:grpSpPr>
          <a:xfrm>
            <a:off x="8549640" y="0"/>
            <a:ext cx="594000" cy="679680"/>
            <a:chOff x="8549640" y="0"/>
            <a:chExt cx="594000" cy="679680"/>
          </a:xfrm>
        </p:grpSpPr>
        <p:sp>
          <p:nvSpPr>
            <p:cNvPr id="2001" name="Google Shape;2001;p196"/>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2" name="Google Shape;2002;p196"/>
            <p:cNvGrpSpPr/>
            <p:nvPr/>
          </p:nvGrpSpPr>
          <p:grpSpPr>
            <a:xfrm>
              <a:off x="8588160" y="0"/>
              <a:ext cx="555480" cy="679680"/>
              <a:chOff x="8588160" y="0"/>
              <a:chExt cx="555480" cy="679680"/>
            </a:xfrm>
          </p:grpSpPr>
          <p:pic>
            <p:nvPicPr>
              <p:cNvPr id="2003" name="Google Shape;2003;p196"/>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2004" name="Google Shape;2004;p196"/>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sp>
        <p:nvSpPr>
          <p:cNvPr id="2009" name="Google Shape;2009;p197"/>
          <p:cNvSpPr/>
          <p:nvPr/>
        </p:nvSpPr>
        <p:spPr>
          <a:xfrm>
            <a:off x="2832840" y="3207960"/>
            <a:ext cx="13431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 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(Mapping Context to Content)</a:t>
            </a:r>
            <a:endParaRPr b="0" i="0" sz="600" u="none" cap="none" strike="noStrike">
              <a:latin typeface="Arial"/>
              <a:ea typeface="Arial"/>
              <a:cs typeface="Arial"/>
              <a:sym typeface="Arial"/>
            </a:endParaRPr>
          </a:p>
        </p:txBody>
      </p:sp>
      <p:sp>
        <p:nvSpPr>
          <p:cNvPr id="2010" name="Google Shape;2010;p197"/>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Semantic Services (Processing)</a:t>
            </a:r>
            <a:endParaRPr b="0" i="0" sz="2000" u="none" cap="none" strike="noStrike">
              <a:latin typeface="Arial"/>
              <a:ea typeface="Arial"/>
              <a:cs typeface="Arial"/>
              <a:sym typeface="Arial"/>
            </a:endParaRPr>
          </a:p>
        </p:txBody>
      </p:sp>
      <p:grpSp>
        <p:nvGrpSpPr>
          <p:cNvPr id="2011" name="Google Shape;2011;p197"/>
          <p:cNvGrpSpPr/>
          <p:nvPr/>
        </p:nvGrpSpPr>
        <p:grpSpPr>
          <a:xfrm>
            <a:off x="445320" y="756000"/>
            <a:ext cx="6578640" cy="1815120"/>
            <a:chOff x="445320" y="756000"/>
            <a:chExt cx="6578640" cy="1815120"/>
          </a:xfrm>
        </p:grpSpPr>
        <p:sp>
          <p:nvSpPr>
            <p:cNvPr id="2012" name="Google Shape;2012;p197"/>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2013" name="Google Shape;2013;p197"/>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2014" name="Google Shape;2014;p197"/>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2015" name="Google Shape;2015;p197"/>
            <p:cNvPicPr preferRelativeResize="0"/>
            <p:nvPr/>
          </p:nvPicPr>
          <p:blipFill rotWithShape="1">
            <a:blip r:embed="rId3">
              <a:alphaModFix/>
            </a:blip>
            <a:srcRect b="0" l="0" r="0" t="0"/>
            <a:stretch/>
          </p:blipFill>
          <p:spPr>
            <a:xfrm>
              <a:off x="617760" y="1212120"/>
              <a:ext cx="2372400" cy="1163880"/>
            </a:xfrm>
            <a:prstGeom prst="rect">
              <a:avLst/>
            </a:prstGeom>
            <a:noFill/>
            <a:ln>
              <a:noFill/>
            </a:ln>
          </p:spPr>
        </p:pic>
        <p:sp>
          <p:nvSpPr>
            <p:cNvPr id="2016" name="Google Shape;2016;p197"/>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17" name="Google Shape;2017;p197"/>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18" name="Google Shape;2018;p197"/>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19" name="Google Shape;2019;p197"/>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20" name="Google Shape;2020;p197"/>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2021" name="Google Shape;2021;p197"/>
          <p:cNvSpPr/>
          <p:nvPr/>
        </p:nvSpPr>
        <p:spPr>
          <a:xfrm rot="10800000">
            <a:off x="4176720" y="3569400"/>
            <a:ext cx="893520" cy="8280"/>
          </a:xfrm>
          <a:custGeom>
            <a:rect b="b" l="l" r="r" t="t"/>
            <a:pathLst>
              <a:path extrusionOk="0" h="21600" w="21600">
                <a:moveTo>
                  <a:pt x="0" y="0"/>
                </a:moveTo>
                <a:lnTo>
                  <a:pt x="21600" y="21600"/>
                </a:lnTo>
              </a:path>
            </a:pathLst>
          </a:custGeom>
          <a:noFill/>
          <a:ln cap="flat" cmpd="sng" w="9525">
            <a:solidFill>
              <a:srgbClr val="CCCCCC"/>
            </a:solidFill>
            <a:prstDash val="dashDot"/>
            <a:round/>
            <a:headEnd len="sm" w="sm" type="none"/>
            <a:tailEnd len="med" w="med" type="triangle"/>
          </a:ln>
        </p:spPr>
      </p:sp>
      <p:grpSp>
        <p:nvGrpSpPr>
          <p:cNvPr id="2022" name="Google Shape;2022;p197"/>
          <p:cNvGrpSpPr/>
          <p:nvPr/>
        </p:nvGrpSpPr>
        <p:grpSpPr>
          <a:xfrm>
            <a:off x="7528320" y="3961080"/>
            <a:ext cx="1355760" cy="619200"/>
            <a:chOff x="7528320" y="3961080"/>
            <a:chExt cx="1355760" cy="619200"/>
          </a:xfrm>
        </p:grpSpPr>
        <p:sp>
          <p:nvSpPr>
            <p:cNvPr id="2023" name="Google Shape;2023;p197"/>
            <p:cNvSpPr/>
            <p:nvPr/>
          </p:nvSpPr>
          <p:spPr>
            <a:xfrm>
              <a:off x="7528320" y="3961080"/>
              <a:ext cx="1355760" cy="619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AI</a:t>
              </a:r>
              <a:endParaRPr b="0" i="0" sz="1100" u="none" cap="none" strike="noStrike">
                <a:latin typeface="Arial"/>
                <a:ea typeface="Arial"/>
                <a:cs typeface="Arial"/>
                <a:sym typeface="Arial"/>
              </a:endParaRPr>
            </a:p>
          </p:txBody>
        </p:sp>
        <p:sp>
          <p:nvSpPr>
            <p:cNvPr id="2024" name="Google Shape;2024;p197"/>
            <p:cNvSpPr/>
            <p:nvPr/>
          </p:nvSpPr>
          <p:spPr>
            <a:xfrm>
              <a:off x="7832160" y="424080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2025" name="Google Shape;2025;p197"/>
            <p:cNvSpPr/>
            <p:nvPr/>
          </p:nvSpPr>
          <p:spPr>
            <a:xfrm>
              <a:off x="7832160" y="440424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2026" name="Google Shape;2026;p197"/>
          <p:cNvSpPr/>
          <p:nvPr/>
        </p:nvSpPr>
        <p:spPr>
          <a:xfrm rot="10800000">
            <a:off x="1804320" y="2377080"/>
            <a:ext cx="1700280" cy="8308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grpSp>
        <p:nvGrpSpPr>
          <p:cNvPr id="2027" name="Google Shape;2027;p197"/>
          <p:cNvGrpSpPr/>
          <p:nvPr/>
        </p:nvGrpSpPr>
        <p:grpSpPr>
          <a:xfrm>
            <a:off x="7527960" y="2684520"/>
            <a:ext cx="1355760" cy="492120"/>
            <a:chOff x="7527960" y="2684520"/>
            <a:chExt cx="1355760" cy="492120"/>
          </a:xfrm>
        </p:grpSpPr>
        <p:sp>
          <p:nvSpPr>
            <p:cNvPr id="2028" name="Google Shape;2028;p197"/>
            <p:cNvSpPr/>
            <p:nvPr/>
          </p:nvSpPr>
          <p:spPr>
            <a:xfrm>
              <a:off x="7527960" y="2684520"/>
              <a:ext cx="1355760" cy="4921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Analytics</a:t>
              </a:r>
              <a:endParaRPr b="0" i="0" sz="1100" u="none" cap="none" strike="noStrike">
                <a:latin typeface="Arial"/>
                <a:ea typeface="Arial"/>
                <a:cs typeface="Arial"/>
                <a:sym typeface="Arial"/>
              </a:endParaRPr>
            </a:p>
          </p:txBody>
        </p:sp>
        <p:sp>
          <p:nvSpPr>
            <p:cNvPr id="2029" name="Google Shape;2029;p197"/>
            <p:cNvSpPr/>
            <p:nvPr/>
          </p:nvSpPr>
          <p:spPr>
            <a:xfrm>
              <a:off x="7895160" y="2968560"/>
              <a:ext cx="582120" cy="11808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Metrics</a:t>
              </a:r>
              <a:endParaRPr b="0" i="0" sz="800" u="none" cap="none" strike="noStrike">
                <a:latin typeface="Arial"/>
                <a:ea typeface="Arial"/>
                <a:cs typeface="Arial"/>
                <a:sym typeface="Arial"/>
              </a:endParaRPr>
            </a:p>
          </p:txBody>
        </p:sp>
      </p:grpSp>
      <p:sp>
        <p:nvSpPr>
          <p:cNvPr id="2030" name="Google Shape;2030;p197"/>
          <p:cNvSpPr/>
          <p:nvPr/>
        </p:nvSpPr>
        <p:spPr>
          <a:xfrm flipH="1" rot="10800000">
            <a:off x="6688800" y="3577680"/>
            <a:ext cx="837720" cy="64692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2031" name="Google Shape;2031;p197"/>
          <p:cNvSpPr/>
          <p:nvPr/>
        </p:nvSpPr>
        <p:spPr>
          <a:xfrm>
            <a:off x="6689520" y="3577680"/>
            <a:ext cx="838080" cy="69264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2032" name="Google Shape;2032;p197"/>
          <p:cNvSpPr/>
          <p:nvPr/>
        </p:nvSpPr>
        <p:spPr>
          <a:xfrm rot="10800000">
            <a:off x="8205840" y="3177360"/>
            <a:ext cx="360" cy="78372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2033" name="Google Shape;2033;p197"/>
          <p:cNvSpPr/>
          <p:nvPr/>
        </p:nvSpPr>
        <p:spPr>
          <a:xfrm>
            <a:off x="7271280" y="3375360"/>
            <a:ext cx="622080" cy="1756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Reasoning</a:t>
            </a:r>
            <a:endParaRPr b="0" i="0" sz="700" u="none" cap="none" strike="noStrike">
              <a:latin typeface="Arial"/>
              <a:ea typeface="Arial"/>
              <a:cs typeface="Arial"/>
              <a:sym typeface="Arial"/>
            </a:endParaRPr>
          </a:p>
        </p:txBody>
      </p:sp>
      <p:grpSp>
        <p:nvGrpSpPr>
          <p:cNvPr id="2034" name="Google Shape;2034;p197"/>
          <p:cNvGrpSpPr/>
          <p:nvPr/>
        </p:nvGrpSpPr>
        <p:grpSpPr>
          <a:xfrm>
            <a:off x="5070240" y="2754720"/>
            <a:ext cx="1618920" cy="1645920"/>
            <a:chOff x="5070240" y="2754720"/>
            <a:chExt cx="1618920" cy="1645920"/>
          </a:xfrm>
        </p:grpSpPr>
        <p:sp>
          <p:nvSpPr>
            <p:cNvPr id="2035" name="Google Shape;2035;p197"/>
            <p:cNvSpPr/>
            <p:nvPr/>
          </p:nvSpPr>
          <p:spPr>
            <a:xfrm>
              <a:off x="5070240" y="2754720"/>
              <a:ext cx="1618920" cy="1645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Mapping Services</a:t>
              </a:r>
              <a:endParaRPr b="0" i="0" sz="1100" u="none" cap="none" strike="noStrike">
                <a:latin typeface="Arial"/>
                <a:ea typeface="Arial"/>
                <a:cs typeface="Arial"/>
                <a:sym typeface="Arial"/>
              </a:endParaRPr>
            </a:p>
          </p:txBody>
        </p:sp>
        <p:sp>
          <p:nvSpPr>
            <p:cNvPr id="2036" name="Google Shape;2036;p197"/>
            <p:cNvSpPr/>
            <p:nvPr/>
          </p:nvSpPr>
          <p:spPr>
            <a:xfrm>
              <a:off x="5398560" y="34153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Properties</a:t>
              </a:r>
              <a:endParaRPr b="0" i="0" sz="800" u="none" cap="none" strike="noStrike">
                <a:latin typeface="Arial"/>
                <a:ea typeface="Arial"/>
                <a:cs typeface="Arial"/>
                <a:sym typeface="Arial"/>
              </a:endParaRPr>
            </a:p>
          </p:txBody>
        </p:sp>
        <p:sp>
          <p:nvSpPr>
            <p:cNvPr id="2037" name="Google Shape;2037;p197"/>
            <p:cNvSpPr/>
            <p:nvPr/>
          </p:nvSpPr>
          <p:spPr>
            <a:xfrm>
              <a:off x="5398560" y="31957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p:txBody>
        </p:sp>
        <p:sp>
          <p:nvSpPr>
            <p:cNvPr id="2038" name="Google Shape;2038;p197"/>
            <p:cNvSpPr/>
            <p:nvPr/>
          </p:nvSpPr>
          <p:spPr>
            <a:xfrm>
              <a:off x="5398560" y="3643920"/>
              <a:ext cx="977760" cy="241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Terms &amp; Alternate Labels</a:t>
              </a:r>
              <a:endParaRPr b="0" i="0" sz="800" u="none" cap="none" strike="noStrike">
                <a:latin typeface="Arial"/>
                <a:ea typeface="Arial"/>
                <a:cs typeface="Arial"/>
                <a:sym typeface="Arial"/>
              </a:endParaRPr>
            </a:p>
          </p:txBody>
        </p:sp>
        <p:sp>
          <p:nvSpPr>
            <p:cNvPr id="2039" name="Google Shape;2039;p197"/>
            <p:cNvSpPr/>
            <p:nvPr/>
          </p:nvSpPr>
          <p:spPr>
            <a:xfrm>
              <a:off x="5406120" y="39297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Relations</a:t>
              </a:r>
              <a:endParaRPr b="0" i="0" sz="800" u="none" cap="none" strike="noStrike">
                <a:latin typeface="Arial"/>
                <a:ea typeface="Arial"/>
                <a:cs typeface="Arial"/>
                <a:sym typeface="Arial"/>
              </a:endParaRPr>
            </a:p>
          </p:txBody>
        </p:sp>
        <p:sp>
          <p:nvSpPr>
            <p:cNvPr id="2040" name="Google Shape;2040;p197"/>
            <p:cNvSpPr/>
            <p:nvPr/>
          </p:nvSpPr>
          <p:spPr>
            <a:xfrm>
              <a:off x="5406120" y="41583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2041" name="Google Shape;2041;p197"/>
          <p:cNvSpPr/>
          <p:nvPr/>
        </p:nvSpPr>
        <p:spPr>
          <a:xfrm>
            <a:off x="7358040" y="3572280"/>
            <a:ext cx="448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2042" name="Google Shape;2042;p197"/>
          <p:cNvSpPr/>
          <p:nvPr/>
        </p:nvSpPr>
        <p:spPr>
          <a:xfrm>
            <a:off x="8429400" y="4041720"/>
            <a:ext cx="415800" cy="154080"/>
          </a:xfrm>
          <a:prstGeom prst="flowChartAlternateProcess">
            <a:avLst/>
          </a:prstGeom>
          <a:no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2043" name="Google Shape;2043;p197"/>
          <p:cNvSpPr/>
          <p:nvPr/>
        </p:nvSpPr>
        <p:spPr>
          <a:xfrm>
            <a:off x="8458200" y="2455920"/>
            <a:ext cx="415800" cy="154080"/>
          </a:xfrm>
          <a:prstGeom prst="flowChartAlternateProcess">
            <a:avLst/>
          </a:prstGeom>
          <a:noFill/>
          <a:ln cap="flat" cmpd="sng" w="9525">
            <a:solidFill>
              <a:srgbClr val="DD7E6B"/>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2044" name="Google Shape;2044;p197"/>
          <p:cNvSpPr/>
          <p:nvPr/>
        </p:nvSpPr>
        <p:spPr>
          <a:xfrm>
            <a:off x="4403520" y="3375360"/>
            <a:ext cx="493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2045" name="Google Shape;2045;p197"/>
          <p:cNvSpPr/>
          <p:nvPr/>
        </p:nvSpPr>
        <p:spPr>
          <a:xfrm flipH="1" rot="10800000">
            <a:off x="3503520" y="3207960"/>
            <a:ext cx="2429640" cy="7696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sp>
        <p:nvSpPr>
          <p:cNvPr id="2046" name="Google Shape;2046;p197"/>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2047" name="Google Shape;2047;p197"/>
          <p:cNvGrpSpPr/>
          <p:nvPr/>
        </p:nvGrpSpPr>
        <p:grpSpPr>
          <a:xfrm>
            <a:off x="3404520" y="1608840"/>
            <a:ext cx="1249560" cy="767520"/>
            <a:chOff x="3404520" y="1608840"/>
            <a:chExt cx="1249560" cy="767520"/>
          </a:xfrm>
        </p:grpSpPr>
        <p:pic>
          <p:nvPicPr>
            <p:cNvPr id="2048" name="Google Shape;2048;p197"/>
            <p:cNvPicPr preferRelativeResize="0"/>
            <p:nvPr/>
          </p:nvPicPr>
          <p:blipFill rotWithShape="1">
            <a:blip r:embed="rId4">
              <a:alphaModFix/>
            </a:blip>
            <a:srcRect b="0" l="0" r="0" t="0"/>
            <a:stretch/>
          </p:blipFill>
          <p:spPr>
            <a:xfrm>
              <a:off x="3404520" y="1608840"/>
              <a:ext cx="411480" cy="380520"/>
            </a:xfrm>
            <a:prstGeom prst="rect">
              <a:avLst/>
            </a:prstGeom>
            <a:noFill/>
            <a:ln>
              <a:noFill/>
            </a:ln>
          </p:spPr>
        </p:pic>
        <p:pic>
          <p:nvPicPr>
            <p:cNvPr id="2049" name="Google Shape;2049;p197"/>
            <p:cNvPicPr preferRelativeResize="0"/>
            <p:nvPr/>
          </p:nvPicPr>
          <p:blipFill rotWithShape="1">
            <a:blip r:embed="rId4">
              <a:alphaModFix/>
            </a:blip>
            <a:srcRect b="0" l="0" r="0" t="0"/>
            <a:stretch/>
          </p:blipFill>
          <p:spPr>
            <a:xfrm>
              <a:off x="3823560" y="1608840"/>
              <a:ext cx="411480" cy="380520"/>
            </a:xfrm>
            <a:prstGeom prst="rect">
              <a:avLst/>
            </a:prstGeom>
            <a:noFill/>
            <a:ln>
              <a:noFill/>
            </a:ln>
          </p:spPr>
        </p:pic>
        <p:pic>
          <p:nvPicPr>
            <p:cNvPr id="2050" name="Google Shape;2050;p197"/>
            <p:cNvPicPr preferRelativeResize="0"/>
            <p:nvPr/>
          </p:nvPicPr>
          <p:blipFill rotWithShape="1">
            <a:blip r:embed="rId4">
              <a:alphaModFix/>
            </a:blip>
            <a:srcRect b="0" l="0" r="0" t="0"/>
            <a:stretch/>
          </p:blipFill>
          <p:spPr>
            <a:xfrm>
              <a:off x="4242600" y="1608840"/>
              <a:ext cx="411480" cy="380520"/>
            </a:xfrm>
            <a:prstGeom prst="rect">
              <a:avLst/>
            </a:prstGeom>
            <a:noFill/>
            <a:ln>
              <a:noFill/>
            </a:ln>
          </p:spPr>
        </p:pic>
        <p:pic>
          <p:nvPicPr>
            <p:cNvPr id="2051" name="Google Shape;2051;p197"/>
            <p:cNvPicPr preferRelativeResize="0"/>
            <p:nvPr/>
          </p:nvPicPr>
          <p:blipFill rotWithShape="1">
            <a:blip r:embed="rId4">
              <a:alphaModFix/>
            </a:blip>
            <a:srcRect b="0" l="0" r="0" t="0"/>
            <a:stretch/>
          </p:blipFill>
          <p:spPr>
            <a:xfrm>
              <a:off x="3404520" y="1995840"/>
              <a:ext cx="411480" cy="380520"/>
            </a:xfrm>
            <a:prstGeom prst="rect">
              <a:avLst/>
            </a:prstGeom>
            <a:noFill/>
            <a:ln>
              <a:noFill/>
            </a:ln>
          </p:spPr>
        </p:pic>
        <p:pic>
          <p:nvPicPr>
            <p:cNvPr id="2052" name="Google Shape;2052;p197"/>
            <p:cNvPicPr preferRelativeResize="0"/>
            <p:nvPr/>
          </p:nvPicPr>
          <p:blipFill rotWithShape="1">
            <a:blip r:embed="rId4">
              <a:alphaModFix/>
            </a:blip>
            <a:srcRect b="0" l="0" r="0" t="0"/>
            <a:stretch/>
          </p:blipFill>
          <p:spPr>
            <a:xfrm>
              <a:off x="3823560" y="1995840"/>
              <a:ext cx="411480" cy="380520"/>
            </a:xfrm>
            <a:prstGeom prst="rect">
              <a:avLst/>
            </a:prstGeom>
            <a:noFill/>
            <a:ln>
              <a:noFill/>
            </a:ln>
          </p:spPr>
        </p:pic>
        <p:pic>
          <p:nvPicPr>
            <p:cNvPr id="2053" name="Google Shape;2053;p197"/>
            <p:cNvPicPr preferRelativeResize="0"/>
            <p:nvPr/>
          </p:nvPicPr>
          <p:blipFill rotWithShape="1">
            <a:blip r:embed="rId4">
              <a:alphaModFix/>
            </a:blip>
            <a:srcRect b="0" l="0" r="0" t="0"/>
            <a:stretch/>
          </p:blipFill>
          <p:spPr>
            <a:xfrm>
              <a:off x="4242600" y="1995840"/>
              <a:ext cx="411480" cy="380520"/>
            </a:xfrm>
            <a:prstGeom prst="rect">
              <a:avLst/>
            </a:prstGeom>
            <a:noFill/>
            <a:ln>
              <a:noFill/>
            </a:ln>
          </p:spPr>
        </p:pic>
      </p:grpSp>
      <p:sp>
        <p:nvSpPr>
          <p:cNvPr id="2054" name="Google Shape;2054;p197"/>
          <p:cNvSpPr/>
          <p:nvPr/>
        </p:nvSpPr>
        <p:spPr>
          <a:xfrm flipH="1" rot="10800000">
            <a:off x="3503520" y="3207960"/>
            <a:ext cx="524520" cy="76968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grpSp>
        <p:nvGrpSpPr>
          <p:cNvPr id="2055" name="Google Shape;2055;p197"/>
          <p:cNvGrpSpPr/>
          <p:nvPr/>
        </p:nvGrpSpPr>
        <p:grpSpPr>
          <a:xfrm>
            <a:off x="8549640" y="0"/>
            <a:ext cx="594000" cy="679680"/>
            <a:chOff x="8549640" y="0"/>
            <a:chExt cx="594000" cy="679680"/>
          </a:xfrm>
        </p:grpSpPr>
        <p:sp>
          <p:nvSpPr>
            <p:cNvPr id="2056" name="Google Shape;2056;p19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7" name="Google Shape;2057;p197"/>
            <p:cNvGrpSpPr/>
            <p:nvPr/>
          </p:nvGrpSpPr>
          <p:grpSpPr>
            <a:xfrm>
              <a:off x="8588160" y="0"/>
              <a:ext cx="555480" cy="679680"/>
              <a:chOff x="8588160" y="0"/>
              <a:chExt cx="555480" cy="679680"/>
            </a:xfrm>
          </p:grpSpPr>
          <p:pic>
            <p:nvPicPr>
              <p:cNvPr id="2058" name="Google Shape;2058;p197"/>
              <p:cNvPicPr preferRelativeResize="0"/>
              <p:nvPr/>
            </p:nvPicPr>
            <p:blipFill rotWithShape="1">
              <a:blip r:embed="rId5">
                <a:alphaModFix/>
              </a:blip>
              <a:srcRect b="0" l="20669" r="9844" t="0"/>
              <a:stretch/>
            </p:blipFill>
            <p:spPr>
              <a:xfrm>
                <a:off x="8588160" y="0"/>
                <a:ext cx="530640" cy="530640"/>
              </a:xfrm>
              <a:prstGeom prst="rect">
                <a:avLst/>
              </a:prstGeom>
              <a:noFill/>
              <a:ln>
                <a:noFill/>
              </a:ln>
            </p:spPr>
          </p:pic>
          <p:sp>
            <p:nvSpPr>
              <p:cNvPr id="2059" name="Google Shape;2059;p19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3" name="Shape 2063"/>
        <p:cNvGrpSpPr/>
        <p:nvPr/>
      </p:nvGrpSpPr>
      <p:grpSpPr>
        <a:xfrm>
          <a:off x="0" y="0"/>
          <a:ext cx="0" cy="0"/>
          <a:chOff x="0" y="0"/>
          <a:chExt cx="0" cy="0"/>
        </a:xfrm>
      </p:grpSpPr>
      <p:sp>
        <p:nvSpPr>
          <p:cNvPr id="2064" name="Google Shape;2064;p198"/>
          <p:cNvSpPr/>
          <p:nvPr/>
        </p:nvSpPr>
        <p:spPr>
          <a:xfrm>
            <a:off x="3294720" y="3149280"/>
            <a:ext cx="146952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(Progress Search, Dynamic Context, Augmented Intelligence)</a:t>
            </a:r>
            <a:endParaRPr b="0" i="0" sz="600" u="none" cap="none" strike="noStrike">
              <a:latin typeface="Arial"/>
              <a:ea typeface="Arial"/>
              <a:cs typeface="Arial"/>
              <a:sym typeface="Arial"/>
            </a:endParaRPr>
          </a:p>
        </p:txBody>
      </p:sp>
      <p:sp>
        <p:nvSpPr>
          <p:cNvPr id="2065" name="Google Shape;2065;p198"/>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Semantic Services (Outbound)</a:t>
            </a:r>
            <a:endParaRPr b="0" i="0" sz="2000" u="none" cap="none" strike="noStrike">
              <a:latin typeface="Arial"/>
              <a:ea typeface="Arial"/>
              <a:cs typeface="Arial"/>
              <a:sym typeface="Arial"/>
            </a:endParaRPr>
          </a:p>
        </p:txBody>
      </p:sp>
      <p:grpSp>
        <p:nvGrpSpPr>
          <p:cNvPr id="2066" name="Google Shape;2066;p198"/>
          <p:cNvGrpSpPr/>
          <p:nvPr/>
        </p:nvGrpSpPr>
        <p:grpSpPr>
          <a:xfrm>
            <a:off x="445320" y="756000"/>
            <a:ext cx="6578640" cy="1815120"/>
            <a:chOff x="445320" y="756000"/>
            <a:chExt cx="6578640" cy="1815120"/>
          </a:xfrm>
        </p:grpSpPr>
        <p:sp>
          <p:nvSpPr>
            <p:cNvPr id="2067" name="Google Shape;2067;p198"/>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2068" name="Google Shape;2068;p198"/>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2069" name="Google Shape;2069;p198"/>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2070" name="Google Shape;2070;p198"/>
            <p:cNvPicPr preferRelativeResize="0"/>
            <p:nvPr/>
          </p:nvPicPr>
          <p:blipFill rotWithShape="1">
            <a:blip r:embed="rId3">
              <a:alphaModFix/>
            </a:blip>
            <a:srcRect b="0" l="0" r="0" t="0"/>
            <a:stretch/>
          </p:blipFill>
          <p:spPr>
            <a:xfrm>
              <a:off x="617760" y="1212120"/>
              <a:ext cx="2372400" cy="1163880"/>
            </a:xfrm>
            <a:prstGeom prst="rect">
              <a:avLst/>
            </a:prstGeom>
            <a:noFill/>
            <a:ln>
              <a:noFill/>
            </a:ln>
          </p:spPr>
        </p:pic>
        <p:sp>
          <p:nvSpPr>
            <p:cNvPr id="2071" name="Google Shape;2071;p198"/>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72" name="Google Shape;2072;p198"/>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73" name="Google Shape;2073;p198"/>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74" name="Google Shape;2074;p198"/>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2075" name="Google Shape;2075;p198"/>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2076" name="Google Shape;2076;p198"/>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2077" name="Google Shape;2077;p198"/>
          <p:cNvGrpSpPr/>
          <p:nvPr/>
        </p:nvGrpSpPr>
        <p:grpSpPr>
          <a:xfrm>
            <a:off x="3404520" y="1608840"/>
            <a:ext cx="1249560" cy="767520"/>
            <a:chOff x="3404520" y="1608840"/>
            <a:chExt cx="1249560" cy="767520"/>
          </a:xfrm>
        </p:grpSpPr>
        <p:pic>
          <p:nvPicPr>
            <p:cNvPr id="2078" name="Google Shape;2078;p198"/>
            <p:cNvPicPr preferRelativeResize="0"/>
            <p:nvPr/>
          </p:nvPicPr>
          <p:blipFill rotWithShape="1">
            <a:blip r:embed="rId4">
              <a:alphaModFix/>
            </a:blip>
            <a:srcRect b="0" l="0" r="0" t="0"/>
            <a:stretch/>
          </p:blipFill>
          <p:spPr>
            <a:xfrm>
              <a:off x="3404520" y="1608840"/>
              <a:ext cx="411480" cy="380520"/>
            </a:xfrm>
            <a:prstGeom prst="rect">
              <a:avLst/>
            </a:prstGeom>
            <a:noFill/>
            <a:ln>
              <a:noFill/>
            </a:ln>
          </p:spPr>
        </p:pic>
        <p:pic>
          <p:nvPicPr>
            <p:cNvPr id="2079" name="Google Shape;2079;p198"/>
            <p:cNvPicPr preferRelativeResize="0"/>
            <p:nvPr/>
          </p:nvPicPr>
          <p:blipFill rotWithShape="1">
            <a:blip r:embed="rId4">
              <a:alphaModFix/>
            </a:blip>
            <a:srcRect b="0" l="0" r="0" t="0"/>
            <a:stretch/>
          </p:blipFill>
          <p:spPr>
            <a:xfrm>
              <a:off x="3823560" y="1608840"/>
              <a:ext cx="411480" cy="380520"/>
            </a:xfrm>
            <a:prstGeom prst="rect">
              <a:avLst/>
            </a:prstGeom>
            <a:noFill/>
            <a:ln>
              <a:noFill/>
            </a:ln>
          </p:spPr>
        </p:pic>
        <p:pic>
          <p:nvPicPr>
            <p:cNvPr id="2080" name="Google Shape;2080;p198"/>
            <p:cNvPicPr preferRelativeResize="0"/>
            <p:nvPr/>
          </p:nvPicPr>
          <p:blipFill rotWithShape="1">
            <a:blip r:embed="rId4">
              <a:alphaModFix/>
            </a:blip>
            <a:srcRect b="0" l="0" r="0" t="0"/>
            <a:stretch/>
          </p:blipFill>
          <p:spPr>
            <a:xfrm>
              <a:off x="4242600" y="1608840"/>
              <a:ext cx="411480" cy="380520"/>
            </a:xfrm>
            <a:prstGeom prst="rect">
              <a:avLst/>
            </a:prstGeom>
            <a:noFill/>
            <a:ln>
              <a:noFill/>
            </a:ln>
          </p:spPr>
        </p:pic>
        <p:pic>
          <p:nvPicPr>
            <p:cNvPr id="2081" name="Google Shape;2081;p198"/>
            <p:cNvPicPr preferRelativeResize="0"/>
            <p:nvPr/>
          </p:nvPicPr>
          <p:blipFill rotWithShape="1">
            <a:blip r:embed="rId4">
              <a:alphaModFix/>
            </a:blip>
            <a:srcRect b="0" l="0" r="0" t="0"/>
            <a:stretch/>
          </p:blipFill>
          <p:spPr>
            <a:xfrm>
              <a:off x="3404520" y="1995840"/>
              <a:ext cx="411480" cy="380520"/>
            </a:xfrm>
            <a:prstGeom prst="rect">
              <a:avLst/>
            </a:prstGeom>
            <a:noFill/>
            <a:ln>
              <a:noFill/>
            </a:ln>
          </p:spPr>
        </p:pic>
        <p:pic>
          <p:nvPicPr>
            <p:cNvPr id="2082" name="Google Shape;2082;p198"/>
            <p:cNvPicPr preferRelativeResize="0"/>
            <p:nvPr/>
          </p:nvPicPr>
          <p:blipFill rotWithShape="1">
            <a:blip r:embed="rId4">
              <a:alphaModFix/>
            </a:blip>
            <a:srcRect b="0" l="0" r="0" t="0"/>
            <a:stretch/>
          </p:blipFill>
          <p:spPr>
            <a:xfrm>
              <a:off x="3823560" y="1995840"/>
              <a:ext cx="411480" cy="380520"/>
            </a:xfrm>
            <a:prstGeom prst="rect">
              <a:avLst/>
            </a:prstGeom>
            <a:noFill/>
            <a:ln>
              <a:noFill/>
            </a:ln>
          </p:spPr>
        </p:pic>
        <p:pic>
          <p:nvPicPr>
            <p:cNvPr id="2083" name="Google Shape;2083;p198"/>
            <p:cNvPicPr preferRelativeResize="0"/>
            <p:nvPr/>
          </p:nvPicPr>
          <p:blipFill rotWithShape="1">
            <a:blip r:embed="rId4">
              <a:alphaModFix/>
            </a:blip>
            <a:srcRect b="0" l="0" r="0" t="0"/>
            <a:stretch/>
          </p:blipFill>
          <p:spPr>
            <a:xfrm>
              <a:off x="4242600" y="1995840"/>
              <a:ext cx="411480" cy="380520"/>
            </a:xfrm>
            <a:prstGeom prst="rect">
              <a:avLst/>
            </a:prstGeom>
            <a:noFill/>
            <a:ln>
              <a:noFill/>
            </a:ln>
          </p:spPr>
        </p:pic>
      </p:grpSp>
      <p:sp>
        <p:nvSpPr>
          <p:cNvPr id="2084" name="Google Shape;2084;p198"/>
          <p:cNvSpPr/>
          <p:nvPr/>
        </p:nvSpPr>
        <p:spPr>
          <a:xfrm rot="10800000">
            <a:off x="4029120" y="2438280"/>
            <a:ext cx="360" cy="71100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med" w="med" type="triangle"/>
          </a:ln>
        </p:spPr>
      </p:sp>
      <p:pic>
        <p:nvPicPr>
          <p:cNvPr id="2085" name="Google Shape;2085;p198"/>
          <p:cNvPicPr preferRelativeResize="0"/>
          <p:nvPr/>
        </p:nvPicPr>
        <p:blipFill rotWithShape="1">
          <a:blip r:embed="rId5">
            <a:alphaModFix/>
          </a:blip>
          <a:srcRect b="0" l="0" r="0" t="0"/>
          <a:stretch/>
        </p:blipFill>
        <p:spPr>
          <a:xfrm>
            <a:off x="5014440" y="2799720"/>
            <a:ext cx="3771360" cy="1345320"/>
          </a:xfrm>
          <a:prstGeom prst="rect">
            <a:avLst/>
          </a:prstGeom>
          <a:noFill/>
          <a:ln>
            <a:noFill/>
          </a:ln>
        </p:spPr>
      </p:pic>
      <p:grpSp>
        <p:nvGrpSpPr>
          <p:cNvPr id="2086" name="Google Shape;2086;p198"/>
          <p:cNvGrpSpPr/>
          <p:nvPr/>
        </p:nvGrpSpPr>
        <p:grpSpPr>
          <a:xfrm>
            <a:off x="8549640" y="0"/>
            <a:ext cx="594000" cy="679680"/>
            <a:chOff x="8549640" y="0"/>
            <a:chExt cx="594000" cy="679680"/>
          </a:xfrm>
        </p:grpSpPr>
        <p:sp>
          <p:nvSpPr>
            <p:cNvPr id="2087" name="Google Shape;2087;p19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8" name="Google Shape;2088;p198"/>
            <p:cNvGrpSpPr/>
            <p:nvPr/>
          </p:nvGrpSpPr>
          <p:grpSpPr>
            <a:xfrm>
              <a:off x="8588160" y="0"/>
              <a:ext cx="555480" cy="679680"/>
              <a:chOff x="8588160" y="0"/>
              <a:chExt cx="555480" cy="679680"/>
            </a:xfrm>
          </p:grpSpPr>
          <p:pic>
            <p:nvPicPr>
              <p:cNvPr id="2089" name="Google Shape;2089;p198"/>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2090" name="Google Shape;2090;p19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199"/>
          <p:cNvSpPr/>
          <p:nvPr/>
        </p:nvSpPr>
        <p:spPr>
          <a:xfrm>
            <a:off x="1974600" y="667800"/>
            <a:ext cx="4942800" cy="22086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Harmonization</a:t>
            </a:r>
            <a:endParaRPr b="0" i="0" sz="1200" u="none" cap="none" strike="noStrike">
              <a:latin typeface="Arial"/>
              <a:ea typeface="Arial"/>
              <a:cs typeface="Arial"/>
              <a:sym typeface="Arial"/>
            </a:endParaRPr>
          </a:p>
        </p:txBody>
      </p:sp>
      <p:sp>
        <p:nvSpPr>
          <p:cNvPr id="2096" name="Google Shape;2096;p199"/>
          <p:cNvSpPr/>
          <p:nvPr/>
        </p:nvSpPr>
        <p:spPr>
          <a:xfrm>
            <a:off x="7704000" y="793800"/>
            <a:ext cx="904320" cy="279720"/>
          </a:xfrm>
          <a:prstGeom prst="roundRect">
            <a:avLst>
              <a:gd fmla="val 16667" name="adj"/>
            </a:avLst>
          </a:prstGeom>
          <a:solidFill>
            <a:srgbClr val="4A7DBA"/>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Marketplace</a:t>
            </a:r>
            <a:endParaRPr b="0" i="0" sz="700" u="none" cap="none" strike="noStrike">
              <a:latin typeface="Arial"/>
              <a:ea typeface="Arial"/>
              <a:cs typeface="Arial"/>
              <a:sym typeface="Arial"/>
            </a:endParaRPr>
          </a:p>
        </p:txBody>
      </p:sp>
      <p:sp>
        <p:nvSpPr>
          <p:cNvPr id="2097" name="Google Shape;2097;p199"/>
          <p:cNvSpPr/>
          <p:nvPr/>
        </p:nvSpPr>
        <p:spPr>
          <a:xfrm>
            <a:off x="4595040" y="2253600"/>
            <a:ext cx="1017000" cy="43308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Context Classifier</a:t>
            </a:r>
            <a:endParaRPr b="0" i="0" sz="900" u="none" cap="none" strike="noStrike">
              <a:latin typeface="Arial"/>
              <a:ea typeface="Arial"/>
              <a:cs typeface="Arial"/>
              <a:sym typeface="Arial"/>
            </a:endParaRPr>
          </a:p>
        </p:txBody>
      </p:sp>
      <p:sp>
        <p:nvSpPr>
          <p:cNvPr id="2098" name="Google Shape;2098;p199"/>
          <p:cNvSpPr/>
          <p:nvPr/>
        </p:nvSpPr>
        <p:spPr>
          <a:xfrm>
            <a:off x="6463080" y="1725840"/>
            <a:ext cx="90432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Search</a:t>
            </a:r>
            <a:endParaRPr b="0" i="0" sz="900" u="none" cap="none" strike="noStrike">
              <a:latin typeface="Arial"/>
              <a:ea typeface="Arial"/>
              <a:cs typeface="Arial"/>
              <a:sym typeface="Arial"/>
            </a:endParaRPr>
          </a:p>
        </p:txBody>
      </p:sp>
      <p:sp>
        <p:nvSpPr>
          <p:cNvPr id="2099" name="Google Shape;2099;p199"/>
          <p:cNvSpPr/>
          <p:nvPr/>
        </p:nvSpPr>
        <p:spPr>
          <a:xfrm>
            <a:off x="7704000" y="2139480"/>
            <a:ext cx="904320" cy="279720"/>
          </a:xfrm>
          <a:prstGeom prst="roundRect">
            <a:avLst>
              <a:gd fmla="val 16667" name="adj"/>
            </a:avLst>
          </a:prstGeom>
          <a:solidFill>
            <a:srgbClr val="4A7DBA"/>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Google Docs</a:t>
            </a:r>
            <a:endParaRPr b="0" i="0" sz="700" u="none" cap="none" strike="noStrike">
              <a:latin typeface="Arial"/>
              <a:ea typeface="Arial"/>
              <a:cs typeface="Arial"/>
              <a:sym typeface="Arial"/>
            </a:endParaRPr>
          </a:p>
        </p:txBody>
      </p:sp>
      <p:sp>
        <p:nvSpPr>
          <p:cNvPr id="2100" name="Google Shape;2100;p199"/>
          <p:cNvSpPr/>
          <p:nvPr/>
        </p:nvSpPr>
        <p:spPr>
          <a:xfrm>
            <a:off x="7704000" y="1725840"/>
            <a:ext cx="904320" cy="279720"/>
          </a:xfrm>
          <a:prstGeom prst="roundRect">
            <a:avLst>
              <a:gd fmla="val 16667" name="adj"/>
            </a:avLst>
          </a:prstGeom>
          <a:solidFill>
            <a:srgbClr val="4A7DBA"/>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Gemini Assistant</a:t>
            </a:r>
            <a:endParaRPr b="0" i="0" sz="700" u="none" cap="none" strike="noStrike">
              <a:latin typeface="Arial"/>
              <a:ea typeface="Arial"/>
              <a:cs typeface="Arial"/>
              <a:sym typeface="Arial"/>
            </a:endParaRPr>
          </a:p>
        </p:txBody>
      </p:sp>
      <p:sp>
        <p:nvSpPr>
          <p:cNvPr id="2101" name="Google Shape;2101;p199"/>
          <p:cNvSpPr/>
          <p:nvPr/>
        </p:nvSpPr>
        <p:spPr>
          <a:xfrm flipH="1" rot="10800000">
            <a:off x="7366320" y="1865880"/>
            <a:ext cx="336600" cy="9316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2102" name="Google Shape;2102;p199"/>
          <p:cNvSpPr/>
          <p:nvPr/>
        </p:nvSpPr>
        <p:spPr>
          <a:xfrm>
            <a:off x="7367400" y="1865880"/>
            <a:ext cx="336600" cy="4129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2103" name="Google Shape;2103;p199"/>
          <p:cNvSpPr/>
          <p:nvPr/>
        </p:nvSpPr>
        <p:spPr>
          <a:xfrm>
            <a:off x="7367400" y="1865880"/>
            <a:ext cx="336600" cy="3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2104" name="Google Shape;2104;p199"/>
          <p:cNvSpPr/>
          <p:nvPr/>
        </p:nvSpPr>
        <p:spPr>
          <a:xfrm>
            <a:off x="7704000" y="1240920"/>
            <a:ext cx="904320" cy="279720"/>
          </a:xfrm>
          <a:prstGeom prst="roundRect">
            <a:avLst>
              <a:gd fmla="val 16667" name="adj"/>
            </a:avLst>
          </a:prstGeom>
          <a:solidFill>
            <a:srgbClr val="4A7DBA"/>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Prompt Engineering</a:t>
            </a:r>
            <a:endParaRPr b="0" i="0" sz="700" u="none" cap="none" strike="noStrike">
              <a:latin typeface="Arial"/>
              <a:ea typeface="Arial"/>
              <a:cs typeface="Arial"/>
              <a:sym typeface="Arial"/>
            </a:endParaRPr>
          </a:p>
        </p:txBody>
      </p:sp>
      <p:sp>
        <p:nvSpPr>
          <p:cNvPr id="2105" name="Google Shape;2105;p199"/>
          <p:cNvSpPr/>
          <p:nvPr/>
        </p:nvSpPr>
        <p:spPr>
          <a:xfrm flipH="1" rot="10800000">
            <a:off x="7366320" y="1865880"/>
            <a:ext cx="336600" cy="4845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2106" name="Google Shape;2106;p199"/>
          <p:cNvSpPr/>
          <p:nvPr/>
        </p:nvSpPr>
        <p:spPr>
          <a:xfrm>
            <a:off x="4595040" y="1094040"/>
            <a:ext cx="1017000" cy="43308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Persona Relevancy</a:t>
            </a:r>
            <a:endParaRPr b="0" i="0" sz="900" u="none" cap="none" strike="noStrike">
              <a:latin typeface="Arial"/>
              <a:ea typeface="Arial"/>
              <a:cs typeface="Arial"/>
              <a:sym typeface="Arial"/>
            </a:endParaRPr>
          </a:p>
        </p:txBody>
      </p:sp>
      <p:sp>
        <p:nvSpPr>
          <p:cNvPr id="2107" name="Google Shape;2107;p199"/>
          <p:cNvSpPr/>
          <p:nvPr/>
        </p:nvSpPr>
        <p:spPr>
          <a:xfrm>
            <a:off x="5210640" y="1673640"/>
            <a:ext cx="1017000" cy="43308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Domain Relevancy</a:t>
            </a:r>
            <a:endParaRPr b="0" i="0" sz="900" u="none" cap="none" strike="noStrike">
              <a:latin typeface="Arial"/>
              <a:ea typeface="Arial"/>
              <a:cs typeface="Arial"/>
              <a:sym typeface="Arial"/>
            </a:endParaRPr>
          </a:p>
        </p:txBody>
      </p:sp>
      <p:sp>
        <p:nvSpPr>
          <p:cNvPr id="2108" name="Google Shape;2108;p199"/>
          <p:cNvSpPr/>
          <p:nvPr/>
        </p:nvSpPr>
        <p:spPr>
          <a:xfrm>
            <a:off x="4011480" y="1673640"/>
            <a:ext cx="1017000" cy="43308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Context Mapping</a:t>
            </a:r>
            <a:endParaRPr b="0" i="0" sz="900" u="none" cap="none" strike="noStrike">
              <a:latin typeface="Arial"/>
              <a:ea typeface="Arial"/>
              <a:cs typeface="Arial"/>
              <a:sym typeface="Arial"/>
            </a:endParaRPr>
          </a:p>
        </p:txBody>
      </p:sp>
      <p:sp>
        <p:nvSpPr>
          <p:cNvPr id="2109" name="Google Shape;2109;p199"/>
          <p:cNvSpPr/>
          <p:nvPr/>
        </p:nvSpPr>
        <p:spPr>
          <a:xfrm>
            <a:off x="2400480" y="1683720"/>
            <a:ext cx="1333800" cy="412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Federated Graph Search</a:t>
            </a:r>
            <a:endParaRPr b="0" i="0" sz="900" u="none" cap="none" strike="noStrike">
              <a:latin typeface="Arial"/>
              <a:ea typeface="Arial"/>
              <a:cs typeface="Arial"/>
              <a:sym typeface="Arial"/>
            </a:endParaRPr>
          </a:p>
        </p:txBody>
      </p:sp>
      <p:sp>
        <p:nvSpPr>
          <p:cNvPr id="2110" name="Google Shape;2110;p199"/>
          <p:cNvSpPr/>
          <p:nvPr/>
        </p:nvSpPr>
        <p:spPr>
          <a:xfrm>
            <a:off x="7704000" y="2596680"/>
            <a:ext cx="904320" cy="279720"/>
          </a:xfrm>
          <a:prstGeom prst="roundRect">
            <a:avLst>
              <a:gd fmla="val 16667" name="adj"/>
            </a:avLst>
          </a:prstGeom>
          <a:solidFill>
            <a:srgbClr val="4A7DBA"/>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Semantic &amp; Graph DBs</a:t>
            </a:r>
            <a:endParaRPr b="0" i="0" sz="700" u="none" cap="none" strike="noStrike">
              <a:latin typeface="Arial"/>
              <a:ea typeface="Arial"/>
              <a:cs typeface="Arial"/>
              <a:sym typeface="Arial"/>
            </a:endParaRPr>
          </a:p>
        </p:txBody>
      </p:sp>
      <p:sp>
        <p:nvSpPr>
          <p:cNvPr id="2111" name="Google Shape;2111;p199"/>
          <p:cNvSpPr/>
          <p:nvPr/>
        </p:nvSpPr>
        <p:spPr>
          <a:xfrm>
            <a:off x="7367400" y="1865880"/>
            <a:ext cx="336600" cy="8701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grpSp>
        <p:nvGrpSpPr>
          <p:cNvPr id="2112" name="Google Shape;2112;p199"/>
          <p:cNvGrpSpPr/>
          <p:nvPr/>
        </p:nvGrpSpPr>
        <p:grpSpPr>
          <a:xfrm>
            <a:off x="8549640" y="0"/>
            <a:ext cx="594000" cy="679680"/>
            <a:chOff x="8549640" y="0"/>
            <a:chExt cx="594000" cy="679680"/>
          </a:xfrm>
        </p:grpSpPr>
        <p:sp>
          <p:nvSpPr>
            <p:cNvPr id="2113" name="Google Shape;2113;p19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4" name="Google Shape;2114;p199"/>
            <p:cNvGrpSpPr/>
            <p:nvPr/>
          </p:nvGrpSpPr>
          <p:grpSpPr>
            <a:xfrm>
              <a:off x="8588160" y="0"/>
              <a:ext cx="555480" cy="679680"/>
              <a:chOff x="8588160" y="0"/>
              <a:chExt cx="555480" cy="679680"/>
            </a:xfrm>
          </p:grpSpPr>
          <p:pic>
            <p:nvPicPr>
              <p:cNvPr id="2115" name="Google Shape;2115;p199"/>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2116" name="Google Shape;2116;p19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0" name="Shape 2120"/>
        <p:cNvGrpSpPr/>
        <p:nvPr/>
      </p:nvGrpSpPr>
      <p:grpSpPr>
        <a:xfrm>
          <a:off x="0" y="0"/>
          <a:ext cx="0" cy="0"/>
          <a:chOff x="0" y="0"/>
          <a:chExt cx="0" cy="0"/>
        </a:xfrm>
      </p:grpSpPr>
      <p:sp>
        <p:nvSpPr>
          <p:cNvPr id="2121" name="Google Shape;2121;p200"/>
          <p:cNvSpPr txBox="1"/>
          <p:nvPr/>
        </p:nvSpPr>
        <p:spPr>
          <a:xfrm>
            <a:off x="515160" y="131400"/>
            <a:ext cx="7086240" cy="29448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Semantic Governance (Integration Roadmap)</a:t>
            </a:r>
            <a:endParaRPr b="0" i="0" sz="2100" u="none" cap="none" strike="noStrike">
              <a:solidFill>
                <a:srgbClr val="000000"/>
              </a:solidFill>
              <a:latin typeface="Arial"/>
              <a:ea typeface="Arial"/>
              <a:cs typeface="Arial"/>
              <a:sym typeface="Arial"/>
            </a:endParaRPr>
          </a:p>
        </p:txBody>
      </p:sp>
      <p:sp>
        <p:nvSpPr>
          <p:cNvPr id="2122" name="Google Shape;2122;p200"/>
          <p:cNvSpPr/>
          <p:nvPr/>
        </p:nvSpPr>
        <p:spPr>
          <a:xfrm>
            <a:off x="3654720" y="1780920"/>
            <a:ext cx="1502640" cy="1440360"/>
          </a:xfrm>
          <a:prstGeom prst="flowChartConnector">
            <a:avLst/>
          </a:prstGeom>
          <a:solidFill>
            <a:srgbClr val="6D9EEB"/>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Semantic Governance</a:t>
            </a:r>
            <a:endParaRPr b="0" i="0" sz="1100" u="none" cap="none" strike="noStrike">
              <a:latin typeface="Arial"/>
              <a:ea typeface="Arial"/>
              <a:cs typeface="Arial"/>
              <a:sym typeface="Arial"/>
            </a:endParaRPr>
          </a:p>
        </p:txBody>
      </p:sp>
      <p:sp>
        <p:nvSpPr>
          <p:cNvPr id="2123" name="Google Shape;2123;p200"/>
          <p:cNvSpPr/>
          <p:nvPr/>
        </p:nvSpPr>
        <p:spPr>
          <a:xfrm>
            <a:off x="1625760" y="1028160"/>
            <a:ext cx="1280520" cy="666720"/>
          </a:xfrm>
          <a:prstGeom prst="roundRect">
            <a:avLst>
              <a:gd fmla="val 16667" name="adj"/>
            </a:avLst>
          </a:prstGeom>
          <a:solidFill>
            <a:srgbClr val="6D9EEB"/>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Knowledge Engineering</a:t>
            </a:r>
            <a:endParaRPr b="0" i="0" sz="1200" u="none" cap="none" strike="noStrike">
              <a:latin typeface="Arial"/>
              <a:ea typeface="Arial"/>
              <a:cs typeface="Arial"/>
              <a:sym typeface="Arial"/>
            </a:endParaRPr>
          </a:p>
        </p:txBody>
      </p:sp>
      <p:sp>
        <p:nvSpPr>
          <p:cNvPr id="2124" name="Google Shape;2124;p200"/>
          <p:cNvSpPr/>
          <p:nvPr/>
        </p:nvSpPr>
        <p:spPr>
          <a:xfrm>
            <a:off x="5872320" y="102816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Content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Management</a:t>
            </a:r>
            <a:endParaRPr b="0" i="0" sz="1200" u="none" cap="none" strike="noStrike">
              <a:latin typeface="Arial"/>
              <a:ea typeface="Arial"/>
              <a:cs typeface="Arial"/>
              <a:sym typeface="Arial"/>
            </a:endParaRPr>
          </a:p>
        </p:txBody>
      </p:sp>
      <p:sp>
        <p:nvSpPr>
          <p:cNvPr id="2125" name="Google Shape;2125;p200"/>
          <p:cNvSpPr/>
          <p:nvPr/>
        </p:nvSpPr>
        <p:spPr>
          <a:xfrm>
            <a:off x="1625760" y="323784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Process Management</a:t>
            </a:r>
            <a:endParaRPr b="0" i="0" sz="1200" u="none" cap="none" strike="noStrike">
              <a:latin typeface="Arial"/>
              <a:ea typeface="Arial"/>
              <a:cs typeface="Arial"/>
              <a:sym typeface="Arial"/>
            </a:endParaRPr>
          </a:p>
        </p:txBody>
      </p:sp>
      <p:sp>
        <p:nvSpPr>
          <p:cNvPr id="2126" name="Google Shape;2126;p200"/>
          <p:cNvSpPr/>
          <p:nvPr/>
        </p:nvSpPr>
        <p:spPr>
          <a:xfrm>
            <a:off x="5872320" y="323784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Data</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Management</a:t>
            </a:r>
            <a:endParaRPr b="0" i="0" sz="1200" u="none" cap="none" strike="noStrike">
              <a:latin typeface="Arial"/>
              <a:ea typeface="Arial"/>
              <a:cs typeface="Arial"/>
              <a:sym typeface="Arial"/>
            </a:endParaRPr>
          </a:p>
        </p:txBody>
      </p:sp>
      <p:cxnSp>
        <p:nvCxnSpPr>
          <p:cNvPr id="2127" name="Google Shape;2127;p200"/>
          <p:cNvCxnSpPr/>
          <p:nvPr/>
        </p:nvCxnSpPr>
        <p:spPr>
          <a:xfrm rot="-5400000">
            <a:off x="4945530" y="2713830"/>
            <a:ext cx="1139400" cy="714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2128" name="Google Shape;2128;p200"/>
          <p:cNvCxnSpPr/>
          <p:nvPr/>
        </p:nvCxnSpPr>
        <p:spPr>
          <a:xfrm flipH="1" rot="-5400000">
            <a:off x="4979970" y="2679030"/>
            <a:ext cx="1069800" cy="714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2129" name="Google Shape;2129;p200"/>
          <p:cNvCxnSpPr/>
          <p:nvPr/>
        </p:nvCxnSpPr>
        <p:spPr>
          <a:xfrm flipH="1" rot="5400000">
            <a:off x="2711370" y="1557930"/>
            <a:ext cx="1139400" cy="747300"/>
          </a:xfrm>
          <a:prstGeom prst="bentConnector3">
            <a:avLst>
              <a:gd fmla="val 0" name="adj1"/>
            </a:avLst>
          </a:prstGeom>
          <a:noFill/>
          <a:ln cap="flat" cmpd="sng" w="19075">
            <a:solidFill>
              <a:srgbClr val="0089EC"/>
            </a:solidFill>
            <a:prstDash val="solid"/>
            <a:round/>
            <a:headEnd len="med" w="med" type="triangle"/>
            <a:tailEnd len="sm" w="sm" type="none"/>
          </a:ln>
        </p:spPr>
      </p:cxnSp>
      <p:cxnSp>
        <p:nvCxnSpPr>
          <p:cNvPr id="2130" name="Google Shape;2130;p200"/>
          <p:cNvCxnSpPr/>
          <p:nvPr/>
        </p:nvCxnSpPr>
        <p:spPr>
          <a:xfrm rot="5400000">
            <a:off x="2745810" y="2662530"/>
            <a:ext cx="1069800" cy="747300"/>
          </a:xfrm>
          <a:prstGeom prst="bentConnector3">
            <a:avLst>
              <a:gd fmla="val 0" name="adj1"/>
            </a:avLst>
          </a:prstGeom>
          <a:noFill/>
          <a:ln cap="flat" cmpd="sng" w="19075">
            <a:solidFill>
              <a:srgbClr val="93C47D"/>
            </a:solidFill>
            <a:prstDash val="solid"/>
            <a:round/>
            <a:headEnd len="sm" w="sm" type="none"/>
            <a:tailEnd len="med" w="med" type="triangle"/>
          </a:ln>
        </p:spPr>
      </p:cxnSp>
      <p:sp>
        <p:nvSpPr>
          <p:cNvPr id="2131" name="Google Shape;2131;p200"/>
          <p:cNvSpPr/>
          <p:nvPr/>
        </p:nvSpPr>
        <p:spPr>
          <a:xfrm>
            <a:off x="3749040" y="65088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Compliance Management</a:t>
            </a:r>
            <a:endParaRPr b="0" i="0" sz="1200" u="none" cap="none" strike="noStrike">
              <a:latin typeface="Arial"/>
              <a:ea typeface="Arial"/>
              <a:cs typeface="Arial"/>
              <a:sym typeface="Arial"/>
            </a:endParaRPr>
          </a:p>
        </p:txBody>
      </p:sp>
      <p:sp>
        <p:nvSpPr>
          <p:cNvPr id="2132" name="Google Shape;2132;p200"/>
          <p:cNvSpPr/>
          <p:nvPr/>
        </p:nvSpPr>
        <p:spPr>
          <a:xfrm>
            <a:off x="6400800" y="2167920"/>
            <a:ext cx="12805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Analytic Insights</a:t>
            </a:r>
            <a:endParaRPr b="0" i="0" sz="1200" u="none" cap="none" strike="noStrike">
              <a:latin typeface="Arial"/>
              <a:ea typeface="Arial"/>
              <a:cs typeface="Arial"/>
              <a:sym typeface="Arial"/>
            </a:endParaRPr>
          </a:p>
        </p:txBody>
      </p:sp>
      <p:sp>
        <p:nvSpPr>
          <p:cNvPr id="2133" name="Google Shape;2133;p200"/>
          <p:cNvSpPr/>
          <p:nvPr/>
        </p:nvSpPr>
        <p:spPr>
          <a:xfrm>
            <a:off x="953640" y="2167920"/>
            <a:ext cx="165456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Trad AI </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Analysis &amp; Decision Making</a:t>
            </a:r>
            <a:endParaRPr b="0" i="0" sz="1000" u="none" cap="none" strike="noStrike">
              <a:latin typeface="Arial"/>
              <a:ea typeface="Arial"/>
              <a:cs typeface="Arial"/>
              <a:sym typeface="Arial"/>
            </a:endParaRPr>
          </a:p>
        </p:txBody>
      </p:sp>
      <p:cxnSp>
        <p:nvCxnSpPr>
          <p:cNvPr id="2134" name="Google Shape;2134;p200"/>
          <p:cNvCxnSpPr/>
          <p:nvPr/>
        </p:nvCxnSpPr>
        <p:spPr>
          <a:xfrm flipH="1">
            <a:off x="2607120" y="2501280"/>
            <a:ext cx="1045800" cy="600"/>
          </a:xfrm>
          <a:prstGeom prst="bentConnector3">
            <a:avLst>
              <a:gd fmla="val 50000" name="adj1"/>
            </a:avLst>
          </a:prstGeom>
          <a:noFill/>
          <a:ln cap="flat" cmpd="sng" w="19075">
            <a:solidFill>
              <a:srgbClr val="93C47D"/>
            </a:solidFill>
            <a:prstDash val="solid"/>
            <a:round/>
            <a:headEnd len="sm" w="sm" type="none"/>
            <a:tailEnd len="med" w="med" type="triangle"/>
          </a:ln>
        </p:spPr>
      </p:cxnSp>
      <p:sp>
        <p:nvSpPr>
          <p:cNvPr id="2135" name="Google Shape;2135;p200"/>
          <p:cNvSpPr/>
          <p:nvPr/>
        </p:nvSpPr>
        <p:spPr>
          <a:xfrm>
            <a:off x="4389480" y="1318320"/>
            <a:ext cx="16200" cy="462600"/>
          </a:xfrm>
          <a:custGeom>
            <a:rect b="b" l="l" r="r" t="t"/>
            <a:pathLst>
              <a:path extrusionOk="0" h="21600" w="21600">
                <a:moveTo>
                  <a:pt x="0" y="0"/>
                </a:moveTo>
                <a:lnTo>
                  <a:pt x="21600" y="21600"/>
                </a:lnTo>
              </a:path>
            </a:pathLst>
          </a:custGeom>
          <a:noFill/>
          <a:ln cap="flat" cmpd="sng" w="19075">
            <a:solidFill>
              <a:srgbClr val="93C47D"/>
            </a:solidFill>
            <a:prstDash val="solid"/>
            <a:round/>
            <a:headEnd len="med" w="med" type="triangle"/>
            <a:tailEnd len="sm" w="sm" type="none"/>
          </a:ln>
        </p:spPr>
      </p:sp>
      <p:cxnSp>
        <p:nvCxnSpPr>
          <p:cNvPr id="2136" name="Google Shape;2136;p200"/>
          <p:cNvCxnSpPr/>
          <p:nvPr/>
        </p:nvCxnSpPr>
        <p:spPr>
          <a:xfrm>
            <a:off x="5157720" y="2501280"/>
            <a:ext cx="1243200" cy="600"/>
          </a:xfrm>
          <a:prstGeom prst="bentConnector3">
            <a:avLst>
              <a:gd fmla="val 49990" name="adj1"/>
            </a:avLst>
          </a:prstGeom>
          <a:noFill/>
          <a:ln cap="flat" cmpd="sng" w="19075">
            <a:solidFill>
              <a:srgbClr val="93C47D"/>
            </a:solidFill>
            <a:prstDash val="solid"/>
            <a:round/>
            <a:headEnd len="sm" w="sm" type="none"/>
            <a:tailEnd len="med" w="med" type="triangle"/>
          </a:ln>
        </p:spPr>
      </p:cxnSp>
      <p:sp>
        <p:nvSpPr>
          <p:cNvPr id="2137" name="Google Shape;2137;p200"/>
          <p:cNvSpPr/>
          <p:nvPr/>
        </p:nvSpPr>
        <p:spPr>
          <a:xfrm>
            <a:off x="2200320" y="4437000"/>
            <a:ext cx="19753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Gen AI </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Generate, Synthesize, Dynamic Problem Solving</a:t>
            </a:r>
            <a:endParaRPr b="0" i="0" sz="1000" u="none" cap="none" strike="noStrike">
              <a:latin typeface="Arial"/>
              <a:ea typeface="Arial"/>
              <a:cs typeface="Arial"/>
              <a:sym typeface="Arial"/>
            </a:endParaRPr>
          </a:p>
        </p:txBody>
      </p:sp>
      <p:sp>
        <p:nvSpPr>
          <p:cNvPr id="2138" name="Google Shape;2138;p200"/>
          <p:cNvSpPr/>
          <p:nvPr/>
        </p:nvSpPr>
        <p:spPr>
          <a:xfrm>
            <a:off x="4682160" y="4437000"/>
            <a:ext cx="1975320" cy="666720"/>
          </a:xfrm>
          <a:prstGeom prst="roundRect">
            <a:avLst>
              <a:gd fmla="val 16667" name="adj"/>
            </a:avLst>
          </a:prstGeom>
          <a:solidFill>
            <a:srgbClr val="00B845"/>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Agentic AI </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Autonomy, Goal-Oriented Behavior, Reasoning</a:t>
            </a:r>
            <a:endParaRPr b="0" i="0" sz="1000" u="none" cap="none" strike="noStrike">
              <a:latin typeface="Arial"/>
              <a:ea typeface="Arial"/>
              <a:cs typeface="Arial"/>
              <a:sym typeface="Arial"/>
            </a:endParaRPr>
          </a:p>
        </p:txBody>
      </p:sp>
      <p:cxnSp>
        <p:nvCxnSpPr>
          <p:cNvPr id="2139" name="Google Shape;2139;p200"/>
          <p:cNvCxnSpPr/>
          <p:nvPr/>
        </p:nvCxnSpPr>
        <p:spPr>
          <a:xfrm flipH="1">
            <a:off x="3188640" y="3221640"/>
            <a:ext cx="1217400" cy="1215300"/>
          </a:xfrm>
          <a:prstGeom prst="bentConnector3">
            <a:avLst>
              <a:gd fmla="val 0" name="adj1"/>
            </a:avLst>
          </a:prstGeom>
          <a:noFill/>
          <a:ln cap="flat" cmpd="sng" w="19075">
            <a:solidFill>
              <a:srgbClr val="93C47D"/>
            </a:solidFill>
            <a:prstDash val="solid"/>
            <a:round/>
            <a:headEnd len="sm" w="sm" type="none"/>
            <a:tailEnd len="med" w="med" type="triangle"/>
          </a:ln>
        </p:spPr>
      </p:cxnSp>
      <p:cxnSp>
        <p:nvCxnSpPr>
          <p:cNvPr id="2140" name="Google Shape;2140;p200"/>
          <p:cNvCxnSpPr/>
          <p:nvPr/>
        </p:nvCxnSpPr>
        <p:spPr>
          <a:xfrm>
            <a:off x="4404780" y="3221460"/>
            <a:ext cx="1263300" cy="1215300"/>
          </a:xfrm>
          <a:prstGeom prst="bentConnector3">
            <a:avLst>
              <a:gd fmla="val 0" name="adj1"/>
            </a:avLst>
          </a:prstGeom>
          <a:noFill/>
          <a:ln cap="flat" cmpd="sng" w="19075">
            <a:solidFill>
              <a:srgbClr val="93C47D"/>
            </a:solidFill>
            <a:prstDash val="solid"/>
            <a:round/>
            <a:headEnd len="sm" w="sm" type="none"/>
            <a:tailEnd len="med" w="med" type="triangle"/>
          </a:ln>
        </p:spPr>
      </p:cxnSp>
      <p:sp>
        <p:nvSpPr>
          <p:cNvPr id="2141" name="Google Shape;2141;p200"/>
          <p:cNvSpPr/>
          <p:nvPr/>
        </p:nvSpPr>
        <p:spPr>
          <a:xfrm>
            <a:off x="3921840" y="1815480"/>
            <a:ext cx="93528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 Management</a:t>
            </a:r>
            <a:endParaRPr b="0" i="0" sz="900" u="none" cap="none" strike="noStrike">
              <a:latin typeface="Arial"/>
              <a:ea typeface="Arial"/>
              <a:cs typeface="Arial"/>
              <a:sym typeface="Arial"/>
            </a:endParaRPr>
          </a:p>
        </p:txBody>
      </p:sp>
      <p:sp>
        <p:nvSpPr>
          <p:cNvPr id="2142" name="Google Shape;2142;p200"/>
          <p:cNvSpPr/>
          <p:nvPr/>
        </p:nvSpPr>
        <p:spPr>
          <a:xfrm>
            <a:off x="3921840" y="2707560"/>
            <a:ext cx="93528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FF"/>
                </a:solidFill>
                <a:latin typeface="Arial"/>
                <a:ea typeface="Arial"/>
                <a:cs typeface="Arial"/>
                <a:sym typeface="Arial"/>
              </a:rPr>
              <a:t>Knowledge Graphs</a:t>
            </a:r>
            <a:endParaRPr b="0" i="0" sz="900" u="none" cap="none" strike="noStrike">
              <a:latin typeface="Arial"/>
              <a:ea typeface="Arial"/>
              <a:cs typeface="Arial"/>
              <a:sym typeface="Arial"/>
            </a:endParaRPr>
          </a:p>
        </p:txBody>
      </p:sp>
      <p:grpSp>
        <p:nvGrpSpPr>
          <p:cNvPr id="2143" name="Google Shape;2143;p200"/>
          <p:cNvGrpSpPr/>
          <p:nvPr/>
        </p:nvGrpSpPr>
        <p:grpSpPr>
          <a:xfrm>
            <a:off x="8549640" y="0"/>
            <a:ext cx="594000" cy="679680"/>
            <a:chOff x="8549640" y="0"/>
            <a:chExt cx="594000" cy="679680"/>
          </a:xfrm>
        </p:grpSpPr>
        <p:sp>
          <p:nvSpPr>
            <p:cNvPr id="2144" name="Google Shape;2144;p20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5" name="Google Shape;2145;p200"/>
            <p:cNvGrpSpPr/>
            <p:nvPr/>
          </p:nvGrpSpPr>
          <p:grpSpPr>
            <a:xfrm>
              <a:off x="8588160" y="0"/>
              <a:ext cx="555480" cy="679680"/>
              <a:chOff x="8588160" y="0"/>
              <a:chExt cx="555480" cy="679680"/>
            </a:xfrm>
          </p:grpSpPr>
          <p:pic>
            <p:nvPicPr>
              <p:cNvPr id="2146" name="Google Shape;2146;p200"/>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2147" name="Google Shape;2147;p20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sp>
        <p:nvSpPr>
          <p:cNvPr id="2152" name="Google Shape;2152;p201"/>
          <p:cNvSpPr/>
          <p:nvPr/>
        </p:nvSpPr>
        <p:spPr>
          <a:xfrm>
            <a:off x="3566880" y="2316600"/>
            <a:ext cx="882000" cy="463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CDP</a:t>
            </a:r>
            <a:endParaRPr b="0" i="0" sz="900" u="none" cap="none" strike="noStrike">
              <a:latin typeface="Arial"/>
              <a:ea typeface="Arial"/>
              <a:cs typeface="Arial"/>
              <a:sym typeface="Arial"/>
            </a:endParaRPr>
          </a:p>
        </p:txBody>
      </p:sp>
      <p:sp>
        <p:nvSpPr>
          <p:cNvPr id="2153" name="Google Shape;2153;p201"/>
          <p:cNvSpPr/>
          <p:nvPr/>
        </p:nvSpPr>
        <p:spPr>
          <a:xfrm>
            <a:off x="6760915" y="1096378"/>
            <a:ext cx="882000" cy="463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EDM</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(Ent)</a:t>
            </a:r>
            <a:endParaRPr b="0" i="0" sz="900" u="none" cap="none" strike="noStrike">
              <a:latin typeface="Arial"/>
              <a:ea typeface="Arial"/>
              <a:cs typeface="Arial"/>
              <a:sym typeface="Arial"/>
            </a:endParaRPr>
          </a:p>
        </p:txBody>
      </p:sp>
      <p:sp>
        <p:nvSpPr>
          <p:cNvPr id="2154" name="Google Shape;2154;p201"/>
          <p:cNvSpPr/>
          <p:nvPr/>
        </p:nvSpPr>
        <p:spPr>
          <a:xfrm>
            <a:off x="7557120" y="2454480"/>
            <a:ext cx="882000" cy="463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ADM</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(App)</a:t>
            </a:r>
            <a:endParaRPr b="0" i="0" sz="900" u="none" cap="none" strike="noStrike">
              <a:latin typeface="Arial"/>
              <a:ea typeface="Arial"/>
              <a:cs typeface="Arial"/>
              <a:sym typeface="Arial"/>
            </a:endParaRPr>
          </a:p>
        </p:txBody>
      </p:sp>
      <p:sp>
        <p:nvSpPr>
          <p:cNvPr id="2155" name="Google Shape;2155;p201"/>
          <p:cNvSpPr/>
          <p:nvPr/>
        </p:nvSpPr>
        <p:spPr>
          <a:xfrm>
            <a:off x="3817080" y="724680"/>
            <a:ext cx="882000" cy="463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CDM</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(Ent)</a:t>
            </a:r>
            <a:endParaRPr b="0" i="0" sz="900" u="none" cap="none" strike="noStrike">
              <a:latin typeface="Arial"/>
              <a:ea typeface="Arial"/>
              <a:cs typeface="Arial"/>
              <a:sym typeface="Arial"/>
            </a:endParaRPr>
          </a:p>
        </p:txBody>
      </p:sp>
      <p:sp>
        <p:nvSpPr>
          <p:cNvPr id="2156" name="Google Shape;2156;p201"/>
          <p:cNvSpPr/>
          <p:nvPr/>
        </p:nvSpPr>
        <p:spPr>
          <a:xfrm>
            <a:off x="5085720" y="3600000"/>
            <a:ext cx="882000" cy="463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Address Master</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(Ent)</a:t>
            </a:r>
            <a:endParaRPr b="0" i="0" sz="900" u="none" cap="none" strike="noStrike">
              <a:latin typeface="Arial"/>
              <a:ea typeface="Arial"/>
              <a:cs typeface="Arial"/>
              <a:sym typeface="Arial"/>
            </a:endParaRPr>
          </a:p>
        </p:txBody>
      </p:sp>
      <p:sp>
        <p:nvSpPr>
          <p:cNvPr id="2157" name="Google Shape;2157;p201"/>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Customer Data Harmonization (simplistic view)</a:t>
            </a:r>
            <a:endParaRPr b="0" i="0" sz="2000" u="none" cap="none" strike="noStrike">
              <a:latin typeface="Arial"/>
              <a:ea typeface="Arial"/>
              <a:cs typeface="Arial"/>
              <a:sym typeface="Arial"/>
            </a:endParaRPr>
          </a:p>
        </p:txBody>
      </p:sp>
      <p:grpSp>
        <p:nvGrpSpPr>
          <p:cNvPr id="2158" name="Google Shape;2158;p201"/>
          <p:cNvGrpSpPr/>
          <p:nvPr/>
        </p:nvGrpSpPr>
        <p:grpSpPr>
          <a:xfrm>
            <a:off x="995400" y="1728000"/>
            <a:ext cx="687960" cy="726120"/>
            <a:chOff x="995400" y="1728000"/>
            <a:chExt cx="687960" cy="726120"/>
          </a:xfrm>
        </p:grpSpPr>
        <p:pic>
          <p:nvPicPr>
            <p:cNvPr id="2159" name="Google Shape;2159;p201"/>
            <p:cNvPicPr preferRelativeResize="0"/>
            <p:nvPr/>
          </p:nvPicPr>
          <p:blipFill rotWithShape="1">
            <a:blip r:embed="rId3">
              <a:alphaModFix/>
            </a:blip>
            <a:srcRect b="0" l="0" r="0" t="0"/>
            <a:stretch/>
          </p:blipFill>
          <p:spPr>
            <a:xfrm>
              <a:off x="1106640" y="1728000"/>
              <a:ext cx="465120" cy="495360"/>
            </a:xfrm>
            <a:prstGeom prst="rect">
              <a:avLst/>
            </a:prstGeom>
            <a:noFill/>
            <a:ln>
              <a:noFill/>
            </a:ln>
          </p:spPr>
        </p:pic>
        <p:sp>
          <p:nvSpPr>
            <p:cNvPr id="2160" name="Google Shape;2160;p201"/>
            <p:cNvSpPr/>
            <p:nvPr/>
          </p:nvSpPr>
          <p:spPr>
            <a:xfrm>
              <a:off x="995400" y="2244240"/>
              <a:ext cx="687960" cy="2098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Business SME</a:t>
              </a:r>
              <a:endParaRPr b="0" i="0" sz="800" u="none" cap="none" strike="noStrike">
                <a:latin typeface="Arial"/>
                <a:ea typeface="Arial"/>
                <a:cs typeface="Arial"/>
                <a:sym typeface="Arial"/>
              </a:endParaRPr>
            </a:p>
          </p:txBody>
        </p:sp>
      </p:grpSp>
      <p:cxnSp>
        <p:nvCxnSpPr>
          <p:cNvPr id="2161" name="Google Shape;2161;p201"/>
          <p:cNvCxnSpPr/>
          <p:nvPr/>
        </p:nvCxnSpPr>
        <p:spPr>
          <a:xfrm>
            <a:off x="1572480" y="1975680"/>
            <a:ext cx="1994100" cy="572400"/>
          </a:xfrm>
          <a:prstGeom prst="curvedConnector3">
            <a:avLst>
              <a:gd fmla="val 50001" name="adj1"/>
            </a:avLst>
          </a:prstGeom>
          <a:noFill/>
          <a:ln cap="flat" cmpd="sng" w="9525">
            <a:solidFill>
              <a:srgbClr val="00B845"/>
            </a:solidFill>
            <a:prstDash val="solid"/>
            <a:round/>
            <a:headEnd len="sm" w="sm" type="none"/>
            <a:tailEnd len="med" w="med" type="triangle"/>
          </a:ln>
        </p:spPr>
      </p:cxnSp>
      <p:cxnSp>
        <p:nvCxnSpPr>
          <p:cNvPr id="2162" name="Google Shape;2162;p201"/>
          <p:cNvCxnSpPr>
            <a:stCxn id="2159" idx="3"/>
            <a:endCxn id="2155" idx="1"/>
          </p:cNvCxnSpPr>
          <p:nvPr/>
        </p:nvCxnSpPr>
        <p:spPr>
          <a:xfrm flipH="1" rot="10800000">
            <a:off x="1571760" y="956280"/>
            <a:ext cx="2245200" cy="1019400"/>
          </a:xfrm>
          <a:prstGeom prst="curvedConnector3">
            <a:avLst>
              <a:gd fmla="val 50003" name="adj1"/>
            </a:avLst>
          </a:prstGeom>
          <a:noFill/>
          <a:ln cap="flat" cmpd="sng" w="9525">
            <a:solidFill>
              <a:srgbClr val="00B845"/>
            </a:solidFill>
            <a:prstDash val="solid"/>
            <a:round/>
            <a:headEnd len="sm" w="sm" type="none"/>
            <a:tailEnd len="med" w="med" type="triangle"/>
          </a:ln>
        </p:spPr>
      </p:cxnSp>
      <p:sp>
        <p:nvSpPr>
          <p:cNvPr id="2163" name="Google Shape;2163;p201"/>
          <p:cNvSpPr/>
          <p:nvPr/>
        </p:nvSpPr>
        <p:spPr>
          <a:xfrm>
            <a:off x="2621520" y="2571840"/>
            <a:ext cx="800640" cy="2541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Customer Profile Management</a:t>
            </a:r>
            <a:endParaRPr b="0" i="0" sz="600" u="none" cap="none" strike="noStrike">
              <a:latin typeface="Arial"/>
              <a:ea typeface="Arial"/>
              <a:cs typeface="Arial"/>
              <a:sym typeface="Arial"/>
            </a:endParaRPr>
          </a:p>
        </p:txBody>
      </p:sp>
      <p:sp>
        <p:nvSpPr>
          <p:cNvPr id="2164" name="Google Shape;2164;p201"/>
          <p:cNvSpPr/>
          <p:nvPr/>
        </p:nvSpPr>
        <p:spPr>
          <a:xfrm>
            <a:off x="2878920" y="1244520"/>
            <a:ext cx="723240" cy="1670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Customer Data Mastering</a:t>
            </a:r>
            <a:endParaRPr b="0" i="0" sz="600" u="none" cap="none" strike="noStrike">
              <a:latin typeface="Arial"/>
              <a:ea typeface="Arial"/>
              <a:cs typeface="Arial"/>
              <a:sym typeface="Arial"/>
            </a:endParaRPr>
          </a:p>
        </p:txBody>
      </p:sp>
      <p:cxnSp>
        <p:nvCxnSpPr>
          <p:cNvPr id="2165" name="Google Shape;2165;p201"/>
          <p:cNvCxnSpPr/>
          <p:nvPr/>
        </p:nvCxnSpPr>
        <p:spPr>
          <a:xfrm>
            <a:off x="4449240" y="2548440"/>
            <a:ext cx="1077000" cy="1051500"/>
          </a:xfrm>
          <a:prstGeom prst="curvedConnector2">
            <a:avLst/>
          </a:prstGeom>
          <a:noFill/>
          <a:ln cap="flat" cmpd="sng" w="9525">
            <a:solidFill>
              <a:srgbClr val="0089EC"/>
            </a:solidFill>
            <a:prstDash val="solid"/>
            <a:round/>
            <a:headEnd len="sm" w="sm" type="none"/>
            <a:tailEnd len="med" w="med" type="triangle"/>
          </a:ln>
        </p:spPr>
      </p:cxnSp>
      <p:sp>
        <p:nvSpPr>
          <p:cNvPr id="2166" name="Google Shape;2166;p201"/>
          <p:cNvSpPr/>
          <p:nvPr/>
        </p:nvSpPr>
        <p:spPr>
          <a:xfrm>
            <a:off x="4790520" y="3047400"/>
            <a:ext cx="547920" cy="1670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Address Cleanup</a:t>
            </a:r>
            <a:endParaRPr b="0" i="0" sz="600" u="none" cap="none" strike="noStrike">
              <a:latin typeface="Arial"/>
              <a:ea typeface="Arial"/>
              <a:cs typeface="Arial"/>
              <a:sym typeface="Arial"/>
            </a:endParaRPr>
          </a:p>
        </p:txBody>
      </p:sp>
      <p:sp>
        <p:nvSpPr>
          <p:cNvPr id="2167" name="Google Shape;2167;p201"/>
          <p:cNvSpPr/>
          <p:nvPr/>
        </p:nvSpPr>
        <p:spPr>
          <a:xfrm>
            <a:off x="6638940" y="1610450"/>
            <a:ext cx="687900" cy="16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Master Data Cleanup (Ent)</a:t>
            </a:r>
            <a:endParaRPr b="0" i="0" sz="600" u="none" cap="none" strike="noStrike">
              <a:latin typeface="Arial"/>
              <a:ea typeface="Arial"/>
              <a:cs typeface="Arial"/>
              <a:sym typeface="Arial"/>
            </a:endParaRPr>
          </a:p>
        </p:txBody>
      </p:sp>
      <p:cxnSp>
        <p:nvCxnSpPr>
          <p:cNvPr id="2168" name="Google Shape;2168;p201"/>
          <p:cNvCxnSpPr>
            <a:stCxn id="2152" idx="3"/>
            <a:endCxn id="2153" idx="1"/>
          </p:cNvCxnSpPr>
          <p:nvPr/>
        </p:nvCxnSpPr>
        <p:spPr>
          <a:xfrm flipH="1" rot="10800000">
            <a:off x="4448880" y="1327860"/>
            <a:ext cx="2312100" cy="1220400"/>
          </a:xfrm>
          <a:prstGeom prst="curvedConnector3">
            <a:avLst>
              <a:gd fmla="val 49999" name="adj1"/>
            </a:avLst>
          </a:prstGeom>
          <a:noFill/>
          <a:ln cap="flat" cmpd="sng" w="9525">
            <a:solidFill>
              <a:srgbClr val="0089EC"/>
            </a:solidFill>
            <a:prstDash val="solid"/>
            <a:round/>
            <a:headEnd len="sm" w="sm" type="none"/>
            <a:tailEnd len="med" w="med" type="triangle"/>
          </a:ln>
        </p:spPr>
      </p:cxnSp>
      <p:cxnSp>
        <p:nvCxnSpPr>
          <p:cNvPr id="2169" name="Google Shape;2169;p201"/>
          <p:cNvCxnSpPr>
            <a:endCxn id="2153" idx="1"/>
          </p:cNvCxnSpPr>
          <p:nvPr/>
        </p:nvCxnSpPr>
        <p:spPr>
          <a:xfrm>
            <a:off x="4699315" y="956578"/>
            <a:ext cx="2061600" cy="371400"/>
          </a:xfrm>
          <a:prstGeom prst="curvedConnector3">
            <a:avLst>
              <a:gd fmla="val 50000" name="adj1"/>
            </a:avLst>
          </a:prstGeom>
          <a:noFill/>
          <a:ln cap="flat" cmpd="sng" w="9525">
            <a:solidFill>
              <a:srgbClr val="0089EC"/>
            </a:solidFill>
            <a:prstDash val="solid"/>
            <a:round/>
            <a:headEnd len="sm" w="sm" type="none"/>
            <a:tailEnd len="med" w="med" type="triangle"/>
          </a:ln>
        </p:spPr>
      </p:cxnSp>
      <p:sp>
        <p:nvSpPr>
          <p:cNvPr id="2170" name="Google Shape;2170;p201"/>
          <p:cNvSpPr/>
          <p:nvPr/>
        </p:nvSpPr>
        <p:spPr>
          <a:xfrm>
            <a:off x="6638760" y="2780280"/>
            <a:ext cx="687960" cy="1670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Master Data Cleanup (Ent)</a:t>
            </a:r>
            <a:endParaRPr b="0" i="0" sz="600" u="none" cap="none" strike="noStrike">
              <a:latin typeface="Arial"/>
              <a:ea typeface="Arial"/>
              <a:cs typeface="Arial"/>
              <a:sym typeface="Arial"/>
            </a:endParaRPr>
          </a:p>
        </p:txBody>
      </p:sp>
      <p:cxnSp>
        <p:nvCxnSpPr>
          <p:cNvPr id="2171" name="Google Shape;2171;p201"/>
          <p:cNvCxnSpPr/>
          <p:nvPr/>
        </p:nvCxnSpPr>
        <p:spPr>
          <a:xfrm>
            <a:off x="4449240" y="2548440"/>
            <a:ext cx="3107400" cy="137400"/>
          </a:xfrm>
          <a:prstGeom prst="curvedConnector3">
            <a:avLst>
              <a:gd fmla="val 50001" name="adj1"/>
            </a:avLst>
          </a:prstGeom>
          <a:noFill/>
          <a:ln cap="flat" cmpd="sng" w="9525">
            <a:solidFill>
              <a:srgbClr val="0089EC"/>
            </a:solidFill>
            <a:prstDash val="solid"/>
            <a:round/>
            <a:headEnd len="sm" w="sm" type="none"/>
            <a:tailEnd len="med" w="med" type="triangle"/>
          </a:ln>
        </p:spPr>
      </p:cxnSp>
      <p:cxnSp>
        <p:nvCxnSpPr>
          <p:cNvPr id="2172" name="Google Shape;2172;p201"/>
          <p:cNvCxnSpPr>
            <a:stCxn id="2155" idx="2"/>
          </p:cNvCxnSpPr>
          <p:nvPr/>
        </p:nvCxnSpPr>
        <p:spPr>
          <a:xfrm flipH="1" rot="-5400000">
            <a:off x="5158530" y="287550"/>
            <a:ext cx="1497900" cy="3298800"/>
          </a:xfrm>
          <a:prstGeom prst="curvedConnector2">
            <a:avLst/>
          </a:prstGeom>
          <a:noFill/>
          <a:ln cap="flat" cmpd="sng" w="9525">
            <a:solidFill>
              <a:srgbClr val="0089EC"/>
            </a:solidFill>
            <a:prstDash val="solid"/>
            <a:round/>
            <a:headEnd len="sm" w="sm" type="none"/>
            <a:tailEnd len="med" w="med" type="triangle"/>
          </a:ln>
        </p:spPr>
      </p:cxnSp>
      <p:cxnSp>
        <p:nvCxnSpPr>
          <p:cNvPr id="2173" name="Google Shape;2173;p201"/>
          <p:cNvCxnSpPr>
            <a:stCxn id="2153" idx="1"/>
            <a:endCxn id="2156" idx="3"/>
          </p:cNvCxnSpPr>
          <p:nvPr/>
        </p:nvCxnSpPr>
        <p:spPr>
          <a:xfrm flipH="1">
            <a:off x="5967715" y="1327978"/>
            <a:ext cx="793200" cy="2503800"/>
          </a:xfrm>
          <a:prstGeom prst="curvedConnector3">
            <a:avLst>
              <a:gd fmla="val 50000" name="adj1"/>
            </a:avLst>
          </a:prstGeom>
          <a:noFill/>
          <a:ln cap="flat" cmpd="sng" w="9525">
            <a:solidFill>
              <a:srgbClr val="0089EC"/>
            </a:solidFill>
            <a:prstDash val="solid"/>
            <a:round/>
            <a:headEnd len="med" w="med" type="triangle"/>
            <a:tailEnd len="sm" w="sm" type="none"/>
          </a:ln>
        </p:spPr>
      </p:cxnSp>
      <p:cxnSp>
        <p:nvCxnSpPr>
          <p:cNvPr id="2174" name="Google Shape;2174;p201"/>
          <p:cNvCxnSpPr>
            <a:stCxn id="2154" idx="2"/>
            <a:endCxn id="2156" idx="3"/>
          </p:cNvCxnSpPr>
          <p:nvPr/>
        </p:nvCxnSpPr>
        <p:spPr>
          <a:xfrm rot="5400000">
            <a:off x="6526020" y="2359500"/>
            <a:ext cx="913800" cy="2030400"/>
          </a:xfrm>
          <a:prstGeom prst="curvedConnector2">
            <a:avLst/>
          </a:prstGeom>
          <a:noFill/>
          <a:ln cap="flat" cmpd="sng" w="9525">
            <a:solidFill>
              <a:srgbClr val="0089EC"/>
            </a:solidFill>
            <a:prstDash val="solid"/>
            <a:round/>
            <a:headEnd len="med" w="med" type="triangle"/>
            <a:tailEnd len="sm" w="sm" type="none"/>
          </a:ln>
        </p:spPr>
      </p:cxnSp>
      <p:sp>
        <p:nvSpPr>
          <p:cNvPr id="2175" name="Google Shape;2175;p201"/>
          <p:cNvSpPr/>
          <p:nvPr/>
        </p:nvSpPr>
        <p:spPr>
          <a:xfrm>
            <a:off x="7946970" y="3425210"/>
            <a:ext cx="862500" cy="228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Master Data (App) Reconcilement</a:t>
            </a:r>
            <a:endParaRPr b="0" i="0" sz="600" u="none" cap="none" strike="noStrike">
              <a:latin typeface="Arial"/>
              <a:ea typeface="Arial"/>
              <a:cs typeface="Arial"/>
              <a:sym typeface="Arial"/>
            </a:endParaRPr>
          </a:p>
        </p:txBody>
      </p:sp>
      <p:sp>
        <p:nvSpPr>
          <p:cNvPr id="2176" name="Google Shape;2176;p201"/>
          <p:cNvSpPr/>
          <p:nvPr/>
        </p:nvSpPr>
        <p:spPr>
          <a:xfrm>
            <a:off x="7856893" y="1715220"/>
            <a:ext cx="903000" cy="16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89EC"/>
                </a:solidFill>
                <a:latin typeface="Arial"/>
                <a:ea typeface="Arial"/>
                <a:cs typeface="Arial"/>
                <a:sym typeface="Arial"/>
              </a:rPr>
              <a:t>Master Data (Ent) Reconcilement</a:t>
            </a:r>
            <a:endParaRPr b="0" i="0" sz="600" u="none" cap="none" strike="noStrike">
              <a:latin typeface="Arial"/>
              <a:ea typeface="Arial"/>
              <a:cs typeface="Arial"/>
              <a:sym typeface="Arial"/>
            </a:endParaRPr>
          </a:p>
        </p:txBody>
      </p:sp>
      <p:sp>
        <p:nvSpPr>
          <p:cNvPr id="2177" name="Google Shape;2177;p201"/>
          <p:cNvSpPr/>
          <p:nvPr/>
        </p:nvSpPr>
        <p:spPr>
          <a:xfrm>
            <a:off x="513000" y="3252600"/>
            <a:ext cx="2177280" cy="994680"/>
          </a:xfrm>
          <a:prstGeom prst="rect">
            <a:avLst/>
          </a:prstGeom>
          <a:solidFill>
            <a:srgbClr val="FFF2CC"/>
          </a:solidFill>
          <a:ln>
            <a:noFill/>
          </a:ln>
        </p:spPr>
        <p:txBody>
          <a:bodyPr anchorCtr="0" anchor="t" bIns="91425" lIns="91425" spcFirstLastPara="1" rIns="91425" wrap="square" tIns="91425">
            <a:noAutofit/>
          </a:bodyPr>
          <a:lstStyle/>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Is this a complete picture of the data flows?</a:t>
            </a:r>
            <a:endParaRPr b="0" i="0" sz="700" u="none" cap="none" strike="noStrike">
              <a:latin typeface="Arial"/>
              <a:ea typeface="Arial"/>
              <a:cs typeface="Arial"/>
              <a:sym typeface="Arial"/>
            </a:endParaRPr>
          </a:p>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Are there any other tools that can modify Customer Data?</a:t>
            </a:r>
            <a:endParaRPr b="0" i="0" sz="700" u="none" cap="none" strike="noStrike">
              <a:latin typeface="Arial"/>
              <a:ea typeface="Arial"/>
              <a:cs typeface="Arial"/>
              <a:sym typeface="Arial"/>
            </a:endParaRPr>
          </a:p>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If so, do they need to be brought into the Harmonization picture?</a:t>
            </a:r>
            <a:endParaRPr b="0" i="0" sz="700" u="none" cap="none" strike="noStrike">
              <a:latin typeface="Arial"/>
              <a:ea typeface="Arial"/>
              <a:cs typeface="Arial"/>
              <a:sym typeface="Arial"/>
            </a:endParaRPr>
          </a:p>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How do we orchestration reconciliation?</a:t>
            </a:r>
            <a:endParaRPr b="0" i="0" sz="700" u="none" cap="none" strike="noStrike">
              <a:latin typeface="Arial"/>
              <a:ea typeface="Arial"/>
              <a:cs typeface="Arial"/>
              <a:sym typeface="Arial"/>
            </a:endParaRPr>
          </a:p>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Do we need to reconcile RT or Batch? </a:t>
            </a:r>
            <a:endParaRPr b="0" i="0" sz="700" u="none" cap="none" strike="noStrike">
              <a:latin typeface="Arial"/>
              <a:ea typeface="Arial"/>
              <a:cs typeface="Arial"/>
              <a:sym typeface="Arial"/>
            </a:endParaRPr>
          </a:p>
          <a:p>
            <a:pPr indent="-101160" lvl="0" marL="114480" marR="0" rtl="0" algn="l">
              <a:lnSpc>
                <a:spcPct val="100000"/>
              </a:lnSpc>
              <a:spcBef>
                <a:spcPts val="0"/>
              </a:spcBef>
              <a:spcAft>
                <a:spcPts val="0"/>
              </a:spcAft>
              <a:buClr>
                <a:srgbClr val="000000"/>
              </a:buClr>
              <a:buSzPts val="700"/>
              <a:buFont typeface="Arial"/>
              <a:buChar char="●"/>
            </a:pPr>
            <a:r>
              <a:rPr b="0" i="0" lang="en-US" sz="700" u="none" cap="none" strike="noStrike">
                <a:solidFill>
                  <a:srgbClr val="000000"/>
                </a:solidFill>
                <a:latin typeface="Arial"/>
                <a:ea typeface="Arial"/>
                <a:cs typeface="Arial"/>
                <a:sym typeface="Arial"/>
              </a:rPr>
              <a:t>How do we manage RT Moment of Truth?</a:t>
            </a:r>
            <a:endParaRPr b="0" i="0" sz="700" u="none" cap="none" strike="noStrike">
              <a:latin typeface="Arial"/>
              <a:ea typeface="Arial"/>
              <a:cs typeface="Arial"/>
              <a:sym typeface="Arial"/>
            </a:endParaRPr>
          </a:p>
        </p:txBody>
      </p:sp>
      <p:grpSp>
        <p:nvGrpSpPr>
          <p:cNvPr id="2178" name="Google Shape;2178;p201"/>
          <p:cNvGrpSpPr/>
          <p:nvPr/>
        </p:nvGrpSpPr>
        <p:grpSpPr>
          <a:xfrm>
            <a:off x="8213645" y="844365"/>
            <a:ext cx="687960" cy="725760"/>
            <a:chOff x="8152920" y="633240"/>
            <a:chExt cx="687960" cy="725760"/>
          </a:xfrm>
        </p:grpSpPr>
        <p:pic>
          <p:nvPicPr>
            <p:cNvPr id="2179" name="Google Shape;2179;p201"/>
            <p:cNvPicPr preferRelativeResize="0"/>
            <p:nvPr/>
          </p:nvPicPr>
          <p:blipFill rotWithShape="1">
            <a:blip r:embed="rId3">
              <a:alphaModFix/>
            </a:blip>
            <a:srcRect b="0" l="0" r="0" t="0"/>
            <a:stretch/>
          </p:blipFill>
          <p:spPr>
            <a:xfrm>
              <a:off x="8264160" y="633240"/>
              <a:ext cx="465120" cy="495360"/>
            </a:xfrm>
            <a:prstGeom prst="rect">
              <a:avLst/>
            </a:prstGeom>
            <a:noFill/>
            <a:ln>
              <a:noFill/>
            </a:ln>
          </p:spPr>
        </p:pic>
        <p:sp>
          <p:nvSpPr>
            <p:cNvPr id="2180" name="Google Shape;2180;p201"/>
            <p:cNvSpPr/>
            <p:nvPr/>
          </p:nvSpPr>
          <p:spPr>
            <a:xfrm>
              <a:off x="8152920" y="1149120"/>
              <a:ext cx="687960" cy="2098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Technical SME</a:t>
              </a:r>
              <a:endParaRPr b="0" i="0" sz="800" u="none" cap="none" strike="noStrike">
                <a:latin typeface="Arial"/>
                <a:ea typeface="Arial"/>
                <a:cs typeface="Arial"/>
                <a:sym typeface="Arial"/>
              </a:endParaRPr>
            </a:p>
          </p:txBody>
        </p:sp>
      </p:grpSp>
      <p:cxnSp>
        <p:nvCxnSpPr>
          <p:cNvPr id="2181" name="Google Shape;2181;p201"/>
          <p:cNvCxnSpPr>
            <a:stCxn id="2179" idx="1"/>
            <a:endCxn id="2153" idx="3"/>
          </p:cNvCxnSpPr>
          <p:nvPr/>
        </p:nvCxnSpPr>
        <p:spPr>
          <a:xfrm flipH="1">
            <a:off x="7642985" y="1092045"/>
            <a:ext cx="681900" cy="235800"/>
          </a:xfrm>
          <a:prstGeom prst="curvedConnector3">
            <a:avLst>
              <a:gd fmla="val 50005" name="adj1"/>
            </a:avLst>
          </a:prstGeom>
          <a:noFill/>
          <a:ln cap="flat" cmpd="sng" w="9525">
            <a:solidFill>
              <a:srgbClr val="A5A5A5"/>
            </a:solidFill>
            <a:prstDash val="solid"/>
            <a:round/>
            <a:headEnd len="sm" w="sm" type="none"/>
            <a:tailEnd len="med" w="med" type="triangle"/>
          </a:ln>
        </p:spPr>
      </p:cxnSp>
      <p:cxnSp>
        <p:nvCxnSpPr>
          <p:cNvPr id="2182" name="Google Shape;2182;p201"/>
          <p:cNvCxnSpPr>
            <a:stCxn id="2180" idx="2"/>
          </p:cNvCxnSpPr>
          <p:nvPr/>
        </p:nvCxnSpPr>
        <p:spPr>
          <a:xfrm rot="5400000">
            <a:off x="7866575" y="1762575"/>
            <a:ext cx="883500" cy="498600"/>
          </a:xfrm>
          <a:prstGeom prst="curvedConnector3">
            <a:avLst>
              <a:gd fmla="val 50000" name="adj1"/>
            </a:avLst>
          </a:prstGeom>
          <a:noFill/>
          <a:ln cap="flat" cmpd="sng" w="9525">
            <a:solidFill>
              <a:srgbClr val="A5A5A5"/>
            </a:solidFill>
            <a:prstDash val="solid"/>
            <a:round/>
            <a:headEnd len="sm" w="sm" type="none"/>
            <a:tailEnd len="med" w="med" type="triangle"/>
          </a:ln>
        </p:spPr>
      </p:cxnSp>
      <p:grpSp>
        <p:nvGrpSpPr>
          <p:cNvPr id="2183" name="Google Shape;2183;p201"/>
          <p:cNvGrpSpPr/>
          <p:nvPr/>
        </p:nvGrpSpPr>
        <p:grpSpPr>
          <a:xfrm>
            <a:off x="3505320" y="3908520"/>
            <a:ext cx="800640" cy="726120"/>
            <a:chOff x="3505320" y="3908520"/>
            <a:chExt cx="800640" cy="726120"/>
          </a:xfrm>
        </p:grpSpPr>
        <p:pic>
          <p:nvPicPr>
            <p:cNvPr id="2184" name="Google Shape;2184;p201"/>
            <p:cNvPicPr preferRelativeResize="0"/>
            <p:nvPr/>
          </p:nvPicPr>
          <p:blipFill rotWithShape="1">
            <a:blip r:embed="rId3">
              <a:alphaModFix/>
            </a:blip>
            <a:srcRect b="0" l="0" r="0" t="0"/>
            <a:stretch/>
          </p:blipFill>
          <p:spPr>
            <a:xfrm>
              <a:off x="3634920" y="3908520"/>
              <a:ext cx="541800" cy="495360"/>
            </a:xfrm>
            <a:prstGeom prst="rect">
              <a:avLst/>
            </a:prstGeom>
            <a:noFill/>
            <a:ln>
              <a:noFill/>
            </a:ln>
          </p:spPr>
        </p:pic>
        <p:sp>
          <p:nvSpPr>
            <p:cNvPr id="2185" name="Google Shape;2185;p201"/>
            <p:cNvSpPr/>
            <p:nvPr/>
          </p:nvSpPr>
          <p:spPr>
            <a:xfrm>
              <a:off x="3505320" y="4424760"/>
              <a:ext cx="800640" cy="2098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Governance SME</a:t>
              </a:r>
              <a:endParaRPr b="0" i="0" sz="800" u="none" cap="none" strike="noStrike">
                <a:latin typeface="Arial"/>
                <a:ea typeface="Arial"/>
                <a:cs typeface="Arial"/>
                <a:sym typeface="Arial"/>
              </a:endParaRPr>
            </a:p>
          </p:txBody>
        </p:sp>
      </p:grpSp>
      <p:cxnSp>
        <p:nvCxnSpPr>
          <p:cNvPr id="2186" name="Google Shape;2186;p201"/>
          <p:cNvCxnSpPr>
            <a:stCxn id="2184" idx="3"/>
            <a:endCxn id="2156" idx="1"/>
          </p:cNvCxnSpPr>
          <p:nvPr/>
        </p:nvCxnSpPr>
        <p:spPr>
          <a:xfrm flipH="1" rot="10800000">
            <a:off x="4176720" y="3831600"/>
            <a:ext cx="909000" cy="324600"/>
          </a:xfrm>
          <a:prstGeom prst="curvedConnector3">
            <a:avLst>
              <a:gd fmla="val 50000" name="adj1"/>
            </a:avLst>
          </a:prstGeom>
          <a:noFill/>
          <a:ln cap="flat" cmpd="sng" w="9525">
            <a:solidFill>
              <a:srgbClr val="A5A5A5"/>
            </a:solidFill>
            <a:prstDash val="solid"/>
            <a:round/>
            <a:headEnd len="sm" w="sm" type="none"/>
            <a:tailEnd len="med" w="med" type="triangle"/>
          </a:ln>
        </p:spPr>
      </p:cxnSp>
      <p:grpSp>
        <p:nvGrpSpPr>
          <p:cNvPr id="2187" name="Google Shape;2187;p201"/>
          <p:cNvGrpSpPr/>
          <p:nvPr/>
        </p:nvGrpSpPr>
        <p:grpSpPr>
          <a:xfrm>
            <a:off x="8549640" y="0"/>
            <a:ext cx="594000" cy="679680"/>
            <a:chOff x="8549640" y="0"/>
            <a:chExt cx="594000" cy="679680"/>
          </a:xfrm>
        </p:grpSpPr>
        <p:sp>
          <p:nvSpPr>
            <p:cNvPr id="2188" name="Google Shape;2188;p201"/>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9" name="Google Shape;2189;p201"/>
            <p:cNvGrpSpPr/>
            <p:nvPr/>
          </p:nvGrpSpPr>
          <p:grpSpPr>
            <a:xfrm>
              <a:off x="8588160" y="0"/>
              <a:ext cx="555480" cy="679680"/>
              <a:chOff x="8588160" y="0"/>
              <a:chExt cx="555480" cy="679680"/>
            </a:xfrm>
          </p:grpSpPr>
          <p:pic>
            <p:nvPicPr>
              <p:cNvPr id="2190" name="Google Shape;2190;p201"/>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2191" name="Google Shape;2191;p201"/>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5" name="Shape 2195"/>
        <p:cNvGrpSpPr/>
        <p:nvPr/>
      </p:nvGrpSpPr>
      <p:grpSpPr>
        <a:xfrm>
          <a:off x="0" y="0"/>
          <a:ext cx="0" cy="0"/>
          <a:chOff x="0" y="0"/>
          <a:chExt cx="0" cy="0"/>
        </a:xfrm>
      </p:grpSpPr>
      <p:pic>
        <p:nvPicPr>
          <p:cNvPr id="2196" name="Google Shape;2196;p202"/>
          <p:cNvPicPr preferRelativeResize="0"/>
          <p:nvPr/>
        </p:nvPicPr>
        <p:blipFill rotWithShape="1">
          <a:blip r:embed="rId3">
            <a:alphaModFix/>
          </a:blip>
          <a:srcRect b="0" l="0" r="0" t="0"/>
          <a:stretch/>
        </p:blipFill>
        <p:spPr>
          <a:xfrm>
            <a:off x="156600" y="660600"/>
            <a:ext cx="7219080" cy="3821760"/>
          </a:xfrm>
          <a:prstGeom prst="rect">
            <a:avLst/>
          </a:prstGeom>
          <a:noFill/>
          <a:ln>
            <a:noFill/>
          </a:ln>
        </p:spPr>
      </p:pic>
      <p:sp>
        <p:nvSpPr>
          <p:cNvPr id="2197" name="Google Shape;2197;p202"/>
          <p:cNvSpPr txBox="1"/>
          <p:nvPr/>
        </p:nvSpPr>
        <p:spPr>
          <a:xfrm>
            <a:off x="311760" y="122400"/>
            <a:ext cx="5571720" cy="295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Horizontalization “Qualitative Enablement”</a:t>
            </a:r>
            <a:endParaRPr b="0" i="0" sz="2000" u="none" cap="none" strike="noStrike">
              <a:solidFill>
                <a:srgbClr val="000000"/>
              </a:solidFill>
              <a:latin typeface="Arial"/>
              <a:ea typeface="Arial"/>
              <a:cs typeface="Arial"/>
              <a:sym typeface="Arial"/>
            </a:endParaRPr>
          </a:p>
        </p:txBody>
      </p:sp>
      <p:sp>
        <p:nvSpPr>
          <p:cNvPr id="2198" name="Google Shape;2198;p202"/>
          <p:cNvSpPr/>
          <p:nvPr/>
        </p:nvSpPr>
        <p:spPr>
          <a:xfrm>
            <a:off x="7180920" y="62676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Trust</a:t>
            </a:r>
            <a:endParaRPr b="0" i="0" sz="1200" u="none" cap="none" strike="noStrike">
              <a:latin typeface="Arial"/>
              <a:ea typeface="Arial"/>
              <a:cs typeface="Arial"/>
              <a:sym typeface="Arial"/>
            </a:endParaRPr>
          </a:p>
        </p:txBody>
      </p:sp>
      <p:sp>
        <p:nvSpPr>
          <p:cNvPr id="2199" name="Google Shape;2199;p202"/>
          <p:cNvSpPr/>
          <p:nvPr/>
        </p:nvSpPr>
        <p:spPr>
          <a:xfrm>
            <a:off x="7180920" y="93168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Protected</a:t>
            </a:r>
            <a:endParaRPr b="0" i="0" sz="1200" u="none" cap="none" strike="noStrike">
              <a:latin typeface="Arial"/>
              <a:ea typeface="Arial"/>
              <a:cs typeface="Arial"/>
              <a:sym typeface="Arial"/>
            </a:endParaRPr>
          </a:p>
        </p:txBody>
      </p:sp>
      <p:sp>
        <p:nvSpPr>
          <p:cNvPr id="2200" name="Google Shape;2200;p202"/>
          <p:cNvSpPr/>
          <p:nvPr/>
        </p:nvSpPr>
        <p:spPr>
          <a:xfrm>
            <a:off x="7257240" y="192204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Scalable</a:t>
            </a:r>
            <a:endParaRPr b="0" i="0" sz="1200" u="none" cap="none" strike="noStrike">
              <a:latin typeface="Arial"/>
              <a:ea typeface="Arial"/>
              <a:cs typeface="Arial"/>
              <a:sym typeface="Arial"/>
            </a:endParaRPr>
          </a:p>
        </p:txBody>
      </p:sp>
      <p:sp>
        <p:nvSpPr>
          <p:cNvPr id="2201" name="Google Shape;2201;p202"/>
          <p:cNvSpPr/>
          <p:nvPr/>
        </p:nvSpPr>
        <p:spPr>
          <a:xfrm>
            <a:off x="7257240" y="222696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Efficient</a:t>
            </a:r>
            <a:endParaRPr b="0" i="0" sz="1200" u="none" cap="none" strike="noStrike">
              <a:latin typeface="Arial"/>
              <a:ea typeface="Arial"/>
              <a:cs typeface="Arial"/>
              <a:sym typeface="Arial"/>
            </a:endParaRPr>
          </a:p>
        </p:txBody>
      </p:sp>
      <p:sp>
        <p:nvSpPr>
          <p:cNvPr id="2202" name="Google Shape;2202;p202"/>
          <p:cNvSpPr/>
          <p:nvPr/>
        </p:nvSpPr>
        <p:spPr>
          <a:xfrm>
            <a:off x="7257240" y="344628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Quality</a:t>
            </a:r>
            <a:endParaRPr b="0" i="0" sz="1200" u="none" cap="none" strike="noStrike">
              <a:latin typeface="Arial"/>
              <a:ea typeface="Arial"/>
              <a:cs typeface="Arial"/>
              <a:sym typeface="Arial"/>
            </a:endParaRPr>
          </a:p>
        </p:txBody>
      </p:sp>
      <p:sp>
        <p:nvSpPr>
          <p:cNvPr id="2203" name="Google Shape;2203;p202"/>
          <p:cNvSpPr/>
          <p:nvPr/>
        </p:nvSpPr>
        <p:spPr>
          <a:xfrm>
            <a:off x="7180920" y="3750840"/>
            <a:ext cx="1750680" cy="687600"/>
          </a:xfrm>
          <a:prstGeom prst="leftArrowCallout">
            <a:avLst>
              <a:gd fmla="val 25000" name="adj1"/>
              <a:gd fmla="val 25000" name="adj2"/>
              <a:gd fmla="val 25000" name="adj3"/>
              <a:gd fmla="val 79733"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Unambiguous</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Understandable</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Fidelity of POV</a:t>
            </a:r>
            <a:endParaRPr b="0" i="0" sz="1200" u="none" cap="none" strike="noStrike">
              <a:latin typeface="Arial"/>
              <a:ea typeface="Arial"/>
              <a:cs typeface="Arial"/>
              <a:sym typeface="Arial"/>
            </a:endParaRPr>
          </a:p>
        </p:txBody>
      </p:sp>
      <p:sp>
        <p:nvSpPr>
          <p:cNvPr id="2204" name="Google Shape;2204;p202"/>
          <p:cNvSpPr/>
          <p:nvPr/>
        </p:nvSpPr>
        <p:spPr>
          <a:xfrm>
            <a:off x="7257240" y="2531880"/>
            <a:ext cx="1239120" cy="295200"/>
          </a:xfrm>
          <a:prstGeom prst="leftArrowCallout">
            <a:avLst>
              <a:gd fmla="val 25000" name="adj1"/>
              <a:gd fmla="val 25000" name="adj2"/>
              <a:gd fmla="val 25000" name="adj3"/>
              <a:gd fmla="val 78249" name="adj4"/>
            </a:avLst>
          </a:prstGeom>
          <a:solidFill>
            <a:srgbClr val="FFFFFF"/>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980000"/>
                </a:solidFill>
                <a:latin typeface="Arial"/>
                <a:ea typeface="Arial"/>
                <a:cs typeface="Arial"/>
                <a:sym typeface="Arial"/>
              </a:rPr>
              <a:t>Extendible</a:t>
            </a:r>
            <a:endParaRPr b="0" i="0" sz="1200" u="none" cap="none" strike="noStrike">
              <a:latin typeface="Arial"/>
              <a:ea typeface="Arial"/>
              <a:cs typeface="Arial"/>
              <a:sym typeface="Arial"/>
            </a:endParaRPr>
          </a:p>
        </p:txBody>
      </p:sp>
      <p:sp>
        <p:nvSpPr>
          <p:cNvPr id="2205" name="Google Shape;2205;p202"/>
          <p:cNvSpPr/>
          <p:nvPr/>
        </p:nvSpPr>
        <p:spPr>
          <a:xfrm>
            <a:off x="235440" y="626760"/>
            <a:ext cx="6922080" cy="2818800"/>
          </a:xfrm>
          <a:prstGeom prst="rect">
            <a:avLst/>
          </a:prstGeom>
          <a:noFill/>
          <a:ln cap="flat" cmpd="sng" w="1907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02"/>
          <p:cNvSpPr/>
          <p:nvPr/>
        </p:nvSpPr>
        <p:spPr>
          <a:xfrm>
            <a:off x="235440" y="3446280"/>
            <a:ext cx="6922080" cy="1069560"/>
          </a:xfrm>
          <a:prstGeom prst="rect">
            <a:avLst/>
          </a:prstGeom>
          <a:no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02"/>
          <p:cNvSpPr/>
          <p:nvPr/>
        </p:nvSpPr>
        <p:spPr>
          <a:xfrm>
            <a:off x="6509160" y="93240"/>
            <a:ext cx="972720" cy="295200"/>
          </a:xfrm>
          <a:prstGeom prst="rect">
            <a:avLst/>
          </a:prstGeom>
          <a:no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50A23"/>
                </a:solidFill>
                <a:latin typeface="Arial"/>
                <a:ea typeface="Arial"/>
                <a:cs typeface="Arial"/>
                <a:sym typeface="Arial"/>
              </a:rPr>
              <a:t>Existing</a:t>
            </a:r>
            <a:endParaRPr b="0" i="0" sz="1200" u="none" cap="none" strike="noStrike">
              <a:latin typeface="Arial"/>
              <a:ea typeface="Arial"/>
              <a:cs typeface="Arial"/>
              <a:sym typeface="Arial"/>
            </a:endParaRPr>
          </a:p>
        </p:txBody>
      </p:sp>
      <p:sp>
        <p:nvSpPr>
          <p:cNvPr id="2208" name="Google Shape;2208;p202"/>
          <p:cNvSpPr/>
          <p:nvPr/>
        </p:nvSpPr>
        <p:spPr>
          <a:xfrm>
            <a:off x="7517520" y="93240"/>
            <a:ext cx="972720" cy="295200"/>
          </a:xfrm>
          <a:prstGeom prst="rect">
            <a:avLst/>
          </a:prstGeom>
          <a:no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F3EDE0"/>
                </a:solidFill>
                <a:latin typeface="Arial"/>
                <a:ea typeface="Arial"/>
                <a:cs typeface="Arial"/>
                <a:sym typeface="Arial"/>
              </a:rPr>
              <a:t>Emerging</a:t>
            </a:r>
            <a:endParaRPr b="0" i="0" sz="1200" u="none" cap="none" strike="noStrike">
              <a:latin typeface="Arial"/>
              <a:ea typeface="Arial"/>
              <a:cs typeface="Arial"/>
              <a:sym typeface="Arial"/>
            </a:endParaRPr>
          </a:p>
        </p:txBody>
      </p:sp>
      <p:grpSp>
        <p:nvGrpSpPr>
          <p:cNvPr id="2209" name="Google Shape;2209;p202"/>
          <p:cNvGrpSpPr/>
          <p:nvPr/>
        </p:nvGrpSpPr>
        <p:grpSpPr>
          <a:xfrm>
            <a:off x="8549640" y="0"/>
            <a:ext cx="594000" cy="679680"/>
            <a:chOff x="8549640" y="0"/>
            <a:chExt cx="594000" cy="679680"/>
          </a:xfrm>
        </p:grpSpPr>
        <p:sp>
          <p:nvSpPr>
            <p:cNvPr id="2210" name="Google Shape;2210;p20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1" name="Google Shape;2211;p202"/>
            <p:cNvGrpSpPr/>
            <p:nvPr/>
          </p:nvGrpSpPr>
          <p:grpSpPr>
            <a:xfrm>
              <a:off x="8588160" y="0"/>
              <a:ext cx="555480" cy="679680"/>
              <a:chOff x="8588160" y="0"/>
              <a:chExt cx="555480" cy="679680"/>
            </a:xfrm>
          </p:grpSpPr>
          <p:pic>
            <p:nvPicPr>
              <p:cNvPr id="2212" name="Google Shape;2212;p202"/>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2213" name="Google Shape;2213;p20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7" name="Shape 2217"/>
        <p:cNvGrpSpPr/>
        <p:nvPr/>
      </p:nvGrpSpPr>
      <p:grpSpPr>
        <a:xfrm>
          <a:off x="0" y="0"/>
          <a:ext cx="0" cy="0"/>
          <a:chOff x="0" y="0"/>
          <a:chExt cx="0" cy="0"/>
        </a:xfrm>
      </p:grpSpPr>
      <p:sp>
        <p:nvSpPr>
          <p:cNvPr id="2218" name="Google Shape;2218;p203"/>
          <p:cNvSpPr txBox="1"/>
          <p:nvPr/>
        </p:nvSpPr>
        <p:spPr>
          <a:xfrm>
            <a:off x="457200" y="594360"/>
            <a:ext cx="7086240" cy="141336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4000" u="none" cap="none" strike="noStrike">
                <a:solidFill>
                  <a:srgbClr val="FFFFFF"/>
                </a:solidFill>
                <a:latin typeface="Arial"/>
                <a:ea typeface="Arial"/>
                <a:cs typeface="Arial"/>
                <a:sym typeface="Arial"/>
              </a:rPr>
              <a:t>Appendix: Planning</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sp>
        <p:nvSpPr>
          <p:cNvPr id="2223" name="Google Shape;2223;p204"/>
          <p:cNvSpPr/>
          <p:nvPr/>
        </p:nvSpPr>
        <p:spPr>
          <a:xfrm>
            <a:off x="682560" y="540720"/>
            <a:ext cx="5007240" cy="53352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400" u="none" cap="none" strike="noStrike">
                <a:solidFill>
                  <a:srgbClr val="F50A23"/>
                </a:solidFill>
                <a:latin typeface="Arial"/>
                <a:ea typeface="Arial"/>
                <a:cs typeface="Arial"/>
                <a:sym typeface="Arial"/>
              </a:rPr>
              <a:t>Proposed </a:t>
            </a:r>
            <a:r>
              <a:rPr b="1" i="0" lang="en-US" sz="2100" u="none" cap="none" strike="noStrike">
                <a:solidFill>
                  <a:srgbClr val="000000"/>
                </a:solidFill>
                <a:latin typeface="Arial"/>
                <a:ea typeface="Arial"/>
                <a:cs typeface="Arial"/>
                <a:sym typeface="Arial"/>
              </a:rPr>
              <a:t>2025 Business Priorities</a:t>
            </a:r>
            <a:endParaRPr b="0" i="0" sz="2100" u="none" cap="none" strike="noStrike">
              <a:latin typeface="Arial"/>
              <a:ea typeface="Arial"/>
              <a:cs typeface="Arial"/>
              <a:sym typeface="Arial"/>
            </a:endParaRPr>
          </a:p>
          <a:p>
            <a:pPr indent="0" lvl="0" marL="0" marR="0" rtl="0" algn="l">
              <a:lnSpc>
                <a:spcPct val="80000"/>
              </a:lnSpc>
              <a:spcBef>
                <a:spcPts val="0"/>
              </a:spcBef>
              <a:spcAft>
                <a:spcPts val="0"/>
              </a:spcAft>
              <a:buNone/>
            </a:pPr>
            <a:r>
              <a:rPr b="1" i="0" lang="en-US" sz="1400" u="none" cap="none" strike="noStrike">
                <a:solidFill>
                  <a:srgbClr val="000000"/>
                </a:solidFill>
                <a:latin typeface="Arial"/>
                <a:ea typeface="Arial"/>
                <a:cs typeface="Arial"/>
                <a:sym typeface="Arial"/>
              </a:rPr>
              <a:t>Mike S - SKL</a:t>
            </a:r>
            <a:endParaRPr b="0" i="0" sz="1400" u="none" cap="none" strike="noStrike">
              <a:latin typeface="Arial"/>
              <a:ea typeface="Arial"/>
              <a:cs typeface="Arial"/>
              <a:sym typeface="Arial"/>
            </a:endParaRPr>
          </a:p>
        </p:txBody>
      </p:sp>
      <p:graphicFrame>
        <p:nvGraphicFramePr>
          <p:cNvPr id="2224" name="Google Shape;2224;p204"/>
          <p:cNvGraphicFramePr/>
          <p:nvPr/>
        </p:nvGraphicFramePr>
        <p:xfrm>
          <a:off x="682560" y="1253160"/>
          <a:ext cx="3000000" cy="3000000"/>
        </p:xfrm>
        <a:graphic>
          <a:graphicData uri="http://schemas.openxmlformats.org/drawingml/2006/table">
            <a:tbl>
              <a:tblPr>
                <a:noFill/>
                <a:tableStyleId>{4DA24ACB-EA66-40C5-9E23-3781B2CCA6B0}</a:tableStyleId>
              </a:tblPr>
              <a:tblGrid>
                <a:gridCol w="2026450"/>
                <a:gridCol w="363950"/>
                <a:gridCol w="382675"/>
                <a:gridCol w="382675"/>
                <a:gridCol w="382675"/>
                <a:gridCol w="382675"/>
                <a:gridCol w="901075"/>
                <a:gridCol w="2067125"/>
                <a:gridCol w="1196650"/>
              </a:tblGrid>
              <a:tr h="222125">
                <a:tc rowSpan="2">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Feature</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gridSpan="5">
                  <a:txBody>
                    <a:bodyPr/>
                    <a:lstStyle/>
                    <a:p>
                      <a:pPr indent="0" lvl="0" marL="0" marR="0" rtl="0" algn="ctr">
                        <a:lnSpc>
                          <a:spcPct val="100000"/>
                        </a:lnSpc>
                        <a:spcBef>
                          <a:spcPts val="0"/>
                        </a:spcBef>
                        <a:spcAft>
                          <a:spcPts val="0"/>
                        </a:spcAft>
                        <a:buNone/>
                      </a:pPr>
                      <a:r>
                        <a:rPr b="1" lang="en-US" sz="800" u="none" cap="none" strike="noStrike">
                          <a:solidFill>
                            <a:srgbClr val="000000"/>
                          </a:solidFill>
                          <a:latin typeface="Arial"/>
                          <a:ea typeface="Arial"/>
                          <a:cs typeface="Arial"/>
                          <a:sym typeface="Arial"/>
                        </a:rPr>
                        <a:t>Business Themes (Programs)</a:t>
                      </a:r>
                      <a:endParaRPr b="0" sz="8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c hMerge="1"/>
                <a:tc hMerge="1"/>
                <a:tc rowSpan="2">
                  <a:txBody>
                    <a:bodyPr/>
                    <a:lstStyle/>
                    <a:p>
                      <a:pPr indent="0" lvl="0" marL="0" marR="0" rtl="0" algn="ctr">
                        <a:lnSpc>
                          <a:spcPct val="115000"/>
                        </a:lnSpc>
                        <a:spcBef>
                          <a:spcPts val="0"/>
                        </a:spcBef>
                        <a:spcAft>
                          <a:spcPts val="0"/>
                        </a:spcAft>
                        <a:buNone/>
                      </a:pPr>
                      <a:r>
                        <a:rPr b="1" lang="en-US" sz="700" u="none" cap="none" strike="noStrike">
                          <a:solidFill>
                            <a:srgbClr val="FFFFFF"/>
                          </a:solidFill>
                          <a:latin typeface="Arial"/>
                          <a:ea typeface="Arial"/>
                          <a:cs typeface="Arial"/>
                          <a:sym typeface="Arial"/>
                        </a:rPr>
                        <a:t>Continue | Start</a:t>
                      </a:r>
                      <a:endParaRPr b="0" sz="700" u="none" cap="none" strike="noStrike">
                        <a:latin typeface="Arial"/>
                        <a:ea typeface="Arial"/>
                        <a:cs typeface="Arial"/>
                        <a:sym typeface="Arial"/>
                      </a:endParaRPr>
                    </a:p>
                    <a:p>
                      <a:pPr indent="0" lvl="0" marL="0" marR="0" rtl="0" algn="ctr">
                        <a:lnSpc>
                          <a:spcPct val="115000"/>
                        </a:lnSpc>
                        <a:spcBef>
                          <a:spcPts val="0"/>
                        </a:spcBef>
                        <a:spcAft>
                          <a:spcPts val="0"/>
                        </a:spcAft>
                        <a:buNone/>
                      </a:pPr>
                      <a:r>
                        <a:rPr b="0" lang="en-US" sz="700" u="none" cap="none" strike="noStrike">
                          <a:solidFill>
                            <a:srgbClr val="FFFFFF"/>
                          </a:solidFill>
                          <a:latin typeface="Arial"/>
                          <a:ea typeface="Arial"/>
                          <a:cs typeface="Arial"/>
                          <a:sym typeface="Arial"/>
                        </a:rPr>
                        <a:t>What need to Stop/Slow</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a:txBody>
                    <a:bodyPr/>
                    <a:lstStyle/>
                    <a:p>
                      <a:pPr indent="0" lvl="0" marL="0" marR="0" rtl="0" algn="l">
                        <a:lnSpc>
                          <a:spcPct val="115000"/>
                        </a:lnSpc>
                        <a:spcBef>
                          <a:spcPts val="0"/>
                        </a:spcBef>
                        <a:spcAft>
                          <a:spcPts val="0"/>
                        </a:spcAft>
                        <a:buNone/>
                      </a:pPr>
                      <a:r>
                        <a:rPr b="1" lang="en-US" sz="700" u="none" cap="none" strike="noStrike">
                          <a:solidFill>
                            <a:srgbClr val="FFFFFF"/>
                          </a:solidFill>
                          <a:latin typeface="Arial"/>
                          <a:ea typeface="Arial"/>
                          <a:cs typeface="Arial"/>
                          <a:sym typeface="Arial"/>
                        </a:rPr>
                        <a:t>Year-End Outcome</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rowSpan="2">
                  <a:txBody>
                    <a:bodyPr/>
                    <a:lstStyle/>
                    <a:p>
                      <a:pPr indent="0" lvl="0" marL="0" marR="0" rtl="0" algn="l">
                        <a:lnSpc>
                          <a:spcPct val="115000"/>
                        </a:lnSpc>
                        <a:spcBef>
                          <a:spcPts val="0"/>
                        </a:spcBef>
                        <a:spcAft>
                          <a:spcPts val="0"/>
                        </a:spcAft>
                        <a:buNone/>
                      </a:pPr>
                      <a:r>
                        <a:rPr b="1" lang="en-US" sz="700" u="none" cap="none" strike="noStrike">
                          <a:solidFill>
                            <a:srgbClr val="FFFFFF"/>
                          </a:solidFill>
                          <a:latin typeface="Arial"/>
                          <a:ea typeface="Arial"/>
                          <a:cs typeface="Arial"/>
                          <a:sym typeface="Arial"/>
                        </a:rPr>
                        <a:t>KPI</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r h="544325">
                <a:tc vMerge="1"/>
                <a:tc>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BDG</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1VZD</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GovAI</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SKL</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None/>
                      </a:pPr>
                      <a:r>
                        <a:rPr b="1" lang="en-US" sz="700" u="none" cap="none" strike="noStrike">
                          <a:solidFill>
                            <a:srgbClr val="000000"/>
                          </a:solidFill>
                          <a:latin typeface="Arial"/>
                          <a:ea typeface="Arial"/>
                          <a:cs typeface="Arial"/>
                          <a:sym typeface="Arial"/>
                        </a:rPr>
                        <a:t>EDWM</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vMerge="1"/>
                <a:tc vMerge="1"/>
                <a:tc vMerge="1"/>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Generate Hierarchies from Corporate Taxonomies and Vocabulary</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Generate hierarchy nodes from core taxonomies using standard vocabulary terms. </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Quality,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Semantic Search &amp; Query RAN Product</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Continue</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Business friendly search &amp; causal inference for RAN </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Speed,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282950">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Operationalize Semantic Governance </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Federated graph queries across business domains </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Speed, Quality,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Augment RAG 2.0 with Knowledge Graphs</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Improve search, retrieval accuracy, relevancy,  and precision for AI</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Quality,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Personalization using Unified Persona Model</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Improve Relevancy &amp; Personalization for Search and user experiences involving personas</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Speed, Quality,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Semantic Mapping at Scale </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Mapping Relationships at Scale (Causality, Configuration, Dependencies, Meaning, POV)</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Speed, Quality,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CFE2F3"/>
                    </a:solidFill>
                  </a:tcPr>
                </a:tc>
              </a:tr>
              <a:tr h="380525">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Semantic Search &amp; Query Catalog</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x</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Start</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Business-centric search using concepts instead of columns. </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a:txBody>
                    <a:bodyPr/>
                    <a:lstStyle/>
                    <a:p>
                      <a:pPr indent="0" lvl="0" marL="0" marR="0" rtl="0" algn="l">
                        <a:lnSpc>
                          <a:spcPct val="100000"/>
                        </a:lnSpc>
                        <a:spcBef>
                          <a:spcPts val="0"/>
                        </a:spcBef>
                        <a:spcAft>
                          <a:spcPts val="0"/>
                        </a:spcAft>
                        <a:buNone/>
                      </a:pPr>
                      <a:r>
                        <a:rPr b="0" lang="en-US" sz="700" u="none" cap="none" strike="noStrike">
                          <a:solidFill>
                            <a:srgbClr val="000000"/>
                          </a:solidFill>
                          <a:latin typeface="Arial"/>
                          <a:ea typeface="Arial"/>
                          <a:cs typeface="Arial"/>
                          <a:sym typeface="Arial"/>
                        </a:rPr>
                        <a:t>Speed, Productivity</a:t>
                      </a:r>
                      <a:endParaRPr b="0" sz="700" u="none" cap="none" strike="noStrike">
                        <a:latin typeface="Arial"/>
                        <a:ea typeface="Arial"/>
                        <a:cs typeface="Arial"/>
                        <a:sym typeface="Arial"/>
                      </a:endParaRPr>
                    </a:p>
                  </a:txBody>
                  <a:tcPr marT="45725" marB="45725" marR="28450" marL="2845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r>
            </a:tbl>
          </a:graphicData>
        </a:graphic>
      </p:graphicFrame>
      <p:sp>
        <p:nvSpPr>
          <p:cNvPr id="2225" name="Google Shape;2225;p204"/>
          <p:cNvSpPr/>
          <p:nvPr/>
        </p:nvSpPr>
        <p:spPr>
          <a:xfrm>
            <a:off x="6094800" y="438120"/>
            <a:ext cx="2706120" cy="731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n-US" sz="600" u="none" cap="none" strike="noStrike">
                <a:solidFill>
                  <a:srgbClr val="000000"/>
                </a:solidFill>
                <a:latin typeface="Arial"/>
                <a:ea typeface="Arial"/>
                <a:cs typeface="Arial"/>
                <a:sym typeface="Arial"/>
              </a:rPr>
              <a:t>Legend</a:t>
            </a:r>
            <a:endParaRPr b="0" i="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i="0" lang="en-US" sz="600" u="none" cap="none" strike="noStrike">
                <a:solidFill>
                  <a:srgbClr val="000000"/>
                </a:solidFill>
                <a:latin typeface="Arial"/>
                <a:ea typeface="Arial"/>
                <a:cs typeface="Arial"/>
                <a:sym typeface="Arial"/>
              </a:rPr>
              <a:t>BDG      Business Data Governance</a:t>
            </a:r>
            <a:endParaRPr b="0" i="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i="0" lang="en-US" sz="600" u="none" cap="none" strike="noStrike">
                <a:solidFill>
                  <a:srgbClr val="000000"/>
                </a:solidFill>
                <a:latin typeface="Arial"/>
                <a:ea typeface="Arial"/>
                <a:cs typeface="Arial"/>
                <a:sym typeface="Arial"/>
              </a:rPr>
              <a:t>1VZD     Data Gov, Metrics Gov, AI Gov  &amp; BI Gov</a:t>
            </a:r>
            <a:endParaRPr b="0" i="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i="0" lang="en-US" sz="600" u="none" cap="none" strike="noStrike">
                <a:solidFill>
                  <a:srgbClr val="000000"/>
                </a:solidFill>
                <a:latin typeface="Arial"/>
                <a:ea typeface="Arial"/>
                <a:cs typeface="Arial"/>
                <a:sym typeface="Arial"/>
              </a:rPr>
              <a:t>GovAI    Gov AI/GenAI advancements for Business Outcomes</a:t>
            </a:r>
            <a:endParaRPr b="0" i="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i="0" lang="en-US" sz="600" u="none" cap="none" strike="noStrike">
                <a:solidFill>
                  <a:srgbClr val="000000"/>
                </a:solidFill>
                <a:latin typeface="Arial"/>
                <a:ea typeface="Arial"/>
                <a:cs typeface="Arial"/>
                <a:sym typeface="Arial"/>
              </a:rPr>
              <a:t>SKL       Gov Semantics</a:t>
            </a:r>
            <a:endParaRPr b="0" i="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i="0" lang="en-US" sz="600" u="none" cap="none" strike="noStrike">
                <a:solidFill>
                  <a:srgbClr val="000000"/>
                </a:solidFill>
                <a:latin typeface="Arial"/>
                <a:ea typeface="Arial"/>
                <a:cs typeface="Arial"/>
                <a:sym typeface="Arial"/>
              </a:rPr>
              <a:t>EDWM  EDW Modernization</a:t>
            </a:r>
            <a:endParaRPr b="0" i="0" sz="600" u="none" cap="none" strike="noStrike">
              <a:latin typeface="Arial"/>
              <a:ea typeface="Arial"/>
              <a:cs typeface="Arial"/>
              <a:sym typeface="Arial"/>
            </a:endParaRPr>
          </a:p>
        </p:txBody>
      </p:sp>
      <p:grpSp>
        <p:nvGrpSpPr>
          <p:cNvPr id="2226" name="Google Shape;2226;p204"/>
          <p:cNvGrpSpPr/>
          <p:nvPr/>
        </p:nvGrpSpPr>
        <p:grpSpPr>
          <a:xfrm>
            <a:off x="8549640" y="0"/>
            <a:ext cx="594000" cy="679680"/>
            <a:chOff x="8549640" y="0"/>
            <a:chExt cx="594000" cy="679680"/>
          </a:xfrm>
        </p:grpSpPr>
        <p:sp>
          <p:nvSpPr>
            <p:cNvPr id="2227" name="Google Shape;2227;p20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8" name="Google Shape;2228;p204"/>
            <p:cNvGrpSpPr/>
            <p:nvPr/>
          </p:nvGrpSpPr>
          <p:grpSpPr>
            <a:xfrm>
              <a:off x="8588160" y="0"/>
              <a:ext cx="555480" cy="679680"/>
              <a:chOff x="8588160" y="0"/>
              <a:chExt cx="555480" cy="679680"/>
            </a:xfrm>
          </p:grpSpPr>
          <p:pic>
            <p:nvPicPr>
              <p:cNvPr id="2229" name="Google Shape;2229;p204"/>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2230" name="Google Shape;2230;p20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sp>
        <p:nvSpPr>
          <p:cNvPr id="2235" name="Google Shape;2235;p205"/>
          <p:cNvSpPr txBox="1"/>
          <p:nvPr/>
        </p:nvSpPr>
        <p:spPr>
          <a:xfrm>
            <a:off x="515160" y="131400"/>
            <a:ext cx="7086240" cy="29448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Roadmap 2024-2025</a:t>
            </a:r>
            <a:endParaRPr b="0" i="0" sz="2100" u="none" cap="none" strike="noStrike">
              <a:solidFill>
                <a:srgbClr val="000000"/>
              </a:solidFill>
              <a:latin typeface="Arial"/>
              <a:ea typeface="Arial"/>
              <a:cs typeface="Arial"/>
              <a:sym typeface="Arial"/>
            </a:endParaRPr>
          </a:p>
        </p:txBody>
      </p:sp>
      <p:grpSp>
        <p:nvGrpSpPr>
          <p:cNvPr id="2236" name="Google Shape;2236;p205"/>
          <p:cNvGrpSpPr/>
          <p:nvPr/>
        </p:nvGrpSpPr>
        <p:grpSpPr>
          <a:xfrm>
            <a:off x="-68018" y="-85241"/>
            <a:ext cx="889898" cy="728201"/>
            <a:chOff x="-68018" y="-85241"/>
            <a:chExt cx="889898" cy="728201"/>
          </a:xfrm>
        </p:grpSpPr>
        <p:sp>
          <p:nvSpPr>
            <p:cNvPr id="2237" name="Google Shape;2237;p205"/>
            <p:cNvSpPr/>
            <p:nvPr/>
          </p:nvSpPr>
          <p:spPr>
            <a:xfrm>
              <a:off x="-2520" y="0"/>
              <a:ext cx="824400" cy="642960"/>
            </a:xfrm>
            <a:prstGeom prst="diagStripe">
              <a:avLst>
                <a:gd fmla="val 50000" name="adj"/>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05"/>
            <p:cNvSpPr/>
            <p:nvPr/>
          </p:nvSpPr>
          <p:spPr>
            <a:xfrm rot="-2311800">
              <a:off x="-69120" y="120960"/>
              <a:ext cx="752760" cy="259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Draft</a:t>
              </a:r>
              <a:endParaRPr b="0" i="0" sz="700" u="none" cap="none" strike="noStrike">
                <a:latin typeface="Arial"/>
                <a:ea typeface="Arial"/>
                <a:cs typeface="Arial"/>
                <a:sym typeface="Arial"/>
              </a:endParaRPr>
            </a:p>
          </p:txBody>
        </p:sp>
      </p:grpSp>
      <p:sp>
        <p:nvSpPr>
          <p:cNvPr id="2239" name="Google Shape;2239;p205"/>
          <p:cNvSpPr/>
          <p:nvPr/>
        </p:nvSpPr>
        <p:spPr>
          <a:xfrm>
            <a:off x="4279320" y="806400"/>
            <a:ext cx="2400480" cy="205920"/>
          </a:xfrm>
          <a:prstGeom prst="rect">
            <a:avLst/>
          </a:prstGeom>
          <a:solidFill>
            <a:srgbClr val="F50A23"/>
          </a:solidFill>
          <a:ln>
            <a:noFill/>
          </a:ln>
        </p:spPr>
        <p:txBody>
          <a:bodyPr anchorCtr="0" anchor="ctr" bIns="14025" lIns="28075" spcFirstLastPara="1" rIns="6825" wrap="square" tIns="14025">
            <a:noAutofit/>
          </a:bodyPr>
          <a:lstStyle/>
          <a:p>
            <a:pPr indent="0" lvl="0" marL="0" marR="0" rtl="0" algn="ctr">
              <a:lnSpc>
                <a:spcPct val="90000"/>
              </a:lnSpc>
              <a:spcBef>
                <a:spcPts val="0"/>
              </a:spcBef>
              <a:spcAft>
                <a:spcPts val="0"/>
              </a:spcAft>
              <a:buNone/>
            </a:pPr>
            <a:r>
              <a:rPr b="1" i="0" lang="en-US" sz="700" u="none" cap="none" strike="noStrike">
                <a:solidFill>
                  <a:srgbClr val="FFFFFF"/>
                </a:solidFill>
                <a:latin typeface="Arial"/>
                <a:ea typeface="Arial"/>
                <a:cs typeface="Arial"/>
                <a:sym typeface="Arial"/>
              </a:rPr>
              <a:t>2025 Q2</a:t>
            </a:r>
            <a:endParaRPr b="0" i="0" sz="700" u="none" cap="none" strike="noStrike">
              <a:latin typeface="Arial"/>
              <a:ea typeface="Arial"/>
              <a:cs typeface="Arial"/>
              <a:sym typeface="Arial"/>
            </a:endParaRPr>
          </a:p>
        </p:txBody>
      </p:sp>
      <p:sp>
        <p:nvSpPr>
          <p:cNvPr id="2240" name="Google Shape;2240;p205"/>
          <p:cNvSpPr/>
          <p:nvPr/>
        </p:nvSpPr>
        <p:spPr>
          <a:xfrm>
            <a:off x="2295360" y="806400"/>
            <a:ext cx="2226240" cy="205920"/>
          </a:xfrm>
          <a:prstGeom prst="chevron">
            <a:avLst>
              <a:gd fmla="val 50000" name="adj"/>
            </a:avLst>
          </a:prstGeom>
          <a:solidFill>
            <a:srgbClr val="F50A23"/>
          </a:solidFill>
          <a:ln cap="flat" cmpd="sng" w="9525">
            <a:solidFill>
              <a:srgbClr val="FFFFF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90000"/>
              </a:lnSpc>
              <a:spcBef>
                <a:spcPts val="0"/>
              </a:spcBef>
              <a:spcAft>
                <a:spcPts val="0"/>
              </a:spcAft>
              <a:buNone/>
            </a:pPr>
            <a:r>
              <a:rPr b="1" i="0" lang="en-US" sz="700" u="none" cap="none" strike="noStrike">
                <a:solidFill>
                  <a:srgbClr val="FFFFFF"/>
                </a:solidFill>
                <a:latin typeface="Arial"/>
                <a:ea typeface="Arial"/>
                <a:cs typeface="Arial"/>
                <a:sym typeface="Arial"/>
              </a:rPr>
              <a:t>2025 Q1</a:t>
            </a:r>
            <a:endParaRPr b="0" i="0" sz="700" u="none" cap="none" strike="noStrike">
              <a:latin typeface="Arial"/>
              <a:ea typeface="Arial"/>
              <a:cs typeface="Arial"/>
              <a:sym typeface="Arial"/>
            </a:endParaRPr>
          </a:p>
        </p:txBody>
      </p:sp>
      <p:sp>
        <p:nvSpPr>
          <p:cNvPr id="2241" name="Google Shape;2241;p205"/>
          <p:cNvSpPr/>
          <p:nvPr/>
        </p:nvSpPr>
        <p:spPr>
          <a:xfrm>
            <a:off x="6527880" y="806400"/>
            <a:ext cx="2155680" cy="205920"/>
          </a:xfrm>
          <a:prstGeom prst="chevron">
            <a:avLst>
              <a:gd fmla="val 50000" name="adj"/>
            </a:avLst>
          </a:prstGeom>
          <a:solidFill>
            <a:srgbClr val="F50A23"/>
          </a:solidFill>
          <a:ln cap="flat" cmpd="sng" w="9525">
            <a:solidFill>
              <a:srgbClr val="FFFFF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90000"/>
              </a:lnSpc>
              <a:spcBef>
                <a:spcPts val="0"/>
              </a:spcBef>
              <a:spcAft>
                <a:spcPts val="0"/>
              </a:spcAft>
              <a:buNone/>
            </a:pPr>
            <a:r>
              <a:rPr b="1" i="0" lang="en-US" sz="700" u="none" cap="none" strike="noStrike">
                <a:solidFill>
                  <a:srgbClr val="FFFFFF"/>
                </a:solidFill>
                <a:latin typeface="Arial"/>
                <a:ea typeface="Arial"/>
                <a:cs typeface="Arial"/>
                <a:sym typeface="Arial"/>
              </a:rPr>
              <a:t>2025 2H</a:t>
            </a:r>
            <a:endParaRPr b="0" i="0" sz="700" u="none" cap="none" strike="noStrike">
              <a:latin typeface="Arial"/>
              <a:ea typeface="Arial"/>
              <a:cs typeface="Arial"/>
              <a:sym typeface="Arial"/>
            </a:endParaRPr>
          </a:p>
        </p:txBody>
      </p:sp>
      <p:sp>
        <p:nvSpPr>
          <p:cNvPr id="2242" name="Google Shape;2242;p205"/>
          <p:cNvSpPr/>
          <p:nvPr/>
        </p:nvSpPr>
        <p:spPr>
          <a:xfrm>
            <a:off x="375840" y="806400"/>
            <a:ext cx="2076480" cy="205920"/>
          </a:xfrm>
          <a:prstGeom prst="chevron">
            <a:avLst>
              <a:gd fmla="val 50000" name="adj"/>
            </a:avLst>
          </a:prstGeom>
          <a:solidFill>
            <a:srgbClr val="F50A23"/>
          </a:solidFill>
          <a:ln cap="flat" cmpd="sng" w="9525">
            <a:solidFill>
              <a:srgbClr val="FFFFF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90000"/>
              </a:lnSpc>
              <a:spcBef>
                <a:spcPts val="0"/>
              </a:spcBef>
              <a:spcAft>
                <a:spcPts val="0"/>
              </a:spcAft>
              <a:buNone/>
            </a:pPr>
            <a:r>
              <a:rPr b="1" i="0" lang="en-US" sz="700" u="none" cap="none" strike="noStrike">
                <a:solidFill>
                  <a:srgbClr val="FFFFFF"/>
                </a:solidFill>
                <a:latin typeface="Arial"/>
                <a:ea typeface="Arial"/>
                <a:cs typeface="Arial"/>
                <a:sym typeface="Arial"/>
              </a:rPr>
              <a:t>2024 Q4</a:t>
            </a:r>
            <a:endParaRPr b="0" i="0" sz="700" u="none" cap="none" strike="noStrike">
              <a:latin typeface="Arial"/>
              <a:ea typeface="Arial"/>
              <a:cs typeface="Arial"/>
              <a:sym typeface="Arial"/>
            </a:endParaRPr>
          </a:p>
        </p:txBody>
      </p:sp>
      <p:graphicFrame>
        <p:nvGraphicFramePr>
          <p:cNvPr id="2243" name="Google Shape;2243;p205"/>
          <p:cNvGraphicFramePr/>
          <p:nvPr/>
        </p:nvGraphicFramePr>
        <p:xfrm>
          <a:off x="380880" y="1139400"/>
          <a:ext cx="3000000" cy="3000000"/>
        </p:xfrm>
        <a:graphic>
          <a:graphicData uri="http://schemas.openxmlformats.org/drawingml/2006/table">
            <a:tbl>
              <a:tblPr>
                <a:noFill/>
                <a:tableStyleId>{4DA24ACB-EA66-40C5-9E23-3781B2CCA6B0}</a:tableStyleId>
              </a:tblPr>
              <a:tblGrid>
                <a:gridCol w="1962350"/>
                <a:gridCol w="2072150"/>
                <a:gridCol w="2143075"/>
                <a:gridCol w="2124725"/>
              </a:tblGrid>
              <a:tr h="2153150">
                <a:tc>
                  <a:txBody>
                    <a:bodyPr/>
                    <a:lstStyle/>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Foundation Building</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Installed Upper Ontology (BFO)</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Built Core Taxonomies</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Built Domain Reference Model</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Built Initial Set of Domain Specific Ontologies</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Built E2E Pilot for Semantic Search &amp; Query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Uploaded TMForum SID as RDF</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Mapped TMForum SID to Core Taxonomies</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Complete Pilots </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Pilot (Search RAN Product)</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Purchase Tool</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Purchase SKL tool (Metaphacts)</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Purchase Graph DB tool (GraphDB)</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Harden DEV Setup</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Initiate PROD instance (not in use)</a:t>
                      </a:r>
                      <a:endParaRPr b="0" sz="600" u="none" cap="none" strike="noStrike">
                        <a:latin typeface="Arial"/>
                        <a:ea typeface="Arial"/>
                        <a:cs typeface="Arial"/>
                        <a:sym typeface="Arial"/>
                      </a:endParaRPr>
                    </a:p>
                    <a:p>
                      <a:pPr indent="0" lvl="0" marL="45720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Extend Pilots</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Formalize Mapping (RDF to RDB)</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Build (Extend Search RAN Product)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Design (Search Catalog using GCP Store)</a:t>
                      </a:r>
                      <a:endParaRPr b="0" sz="600" u="none" cap="none" strike="noStrike">
                        <a:latin typeface="Arial"/>
                        <a:ea typeface="Arial"/>
                        <a:cs typeface="Arial"/>
                        <a:sym typeface="Arial"/>
                      </a:endParaRPr>
                    </a:p>
                  </a:txBody>
                  <a:tcPr marT="45725" marB="45725" marR="91075" marL="9107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Training &amp; Operationalization</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000000"/>
                          </a:solidFill>
                          <a:latin typeface="Arial"/>
                          <a:ea typeface="Arial"/>
                          <a:cs typeface="Arial"/>
                          <a:sym typeface="Arial"/>
                        </a:rPr>
                        <a:t>SKL Tool Training (academy)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Industrialize Mapping (SKL to RDB)</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F3EDE0"/>
                          </a:solidFill>
                          <a:latin typeface="Arial"/>
                          <a:ea typeface="Arial"/>
                          <a:cs typeface="Arial"/>
                          <a:sym typeface="Arial"/>
                        </a:rPr>
                        <a:t>Design Inferencing Capability </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Formalize Governance (Monitor &amp; Publish)</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Setup PROD for initial launch (not in use)</a:t>
                      </a:r>
                      <a:endParaRPr b="0" sz="600" u="none" cap="none" strike="noStrike">
                        <a:latin typeface="Arial"/>
                        <a:ea typeface="Arial"/>
                        <a:cs typeface="Arial"/>
                        <a:sym typeface="Arial"/>
                      </a:endParaRPr>
                    </a:p>
                    <a:p>
                      <a:pPr indent="0" lvl="0" marL="45720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Build Capability &amp; Demand</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000000"/>
                          </a:solidFill>
                          <a:latin typeface="Arial"/>
                          <a:ea typeface="Arial"/>
                          <a:cs typeface="Arial"/>
                          <a:sym typeface="Arial"/>
                        </a:rPr>
                        <a:t>Build (Hierarchy Generation)</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000000"/>
                          </a:solidFill>
                          <a:latin typeface="Arial"/>
                          <a:ea typeface="Arial"/>
                          <a:cs typeface="Arial"/>
                          <a:sym typeface="Arial"/>
                        </a:rPr>
                        <a:t>Build Demo &amp; Setup Brown Bags (Showcase)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000000"/>
                          </a:solidFill>
                          <a:latin typeface="Arial"/>
                          <a:ea typeface="Arial"/>
                          <a:cs typeface="Arial"/>
                          <a:sym typeface="Arial"/>
                        </a:rPr>
                        <a:t>Build (Extend Search RAN Product)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(Search Catalog using GCP Store)</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F3EDE0"/>
                        </a:buClr>
                        <a:buSzPts val="600"/>
                        <a:buFont typeface="Arial"/>
                        <a:buChar char="●"/>
                      </a:pPr>
                      <a:r>
                        <a:rPr b="0" lang="en-US" sz="600" u="none" cap="none" strike="noStrike">
                          <a:solidFill>
                            <a:srgbClr val="000000"/>
                          </a:solidFill>
                          <a:latin typeface="Arial"/>
                          <a:ea typeface="Arial"/>
                          <a:cs typeface="Arial"/>
                          <a:sym typeface="Arial"/>
                        </a:rPr>
                        <a:t>Design KG &amp; VDB for AI (RAG-Learning)</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(RAG-Learning with KG &amp; Vector DB)</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Design Unified Persona Model (Relevancy)</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Build Integration</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Design 3-Tier SKL for scale (Federated Query)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Define SKL Publishing / Integration </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Design Integration with VDIL (API)</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txBody>
                  <a:tcPr marT="45725" marB="45725" marR="91075" marL="91075">
                    <a:lnL cap="flat" cmpd="sng" w="9525">
                      <a:solidFill>
                        <a:srgbClr val="7F7F7F"/>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Industrialization &amp; Scale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Formalize Intake &amp; Measure Value Delivered</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Federate Domain Modeling (Bus Engagement)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Enhance monitoring and measurement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Formalize Application Build &amp; Deliver</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Inferencing Capability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Harden PROD &amp; Setup Operational Team</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Extend Capability &amp; Deliver Value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Build Engagement and Demand Backlog</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Design Metamodel in SKL</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Explore Metamodel Transition from ERWin</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Publish Hierarchy Generation (MVP1)</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Search GCP Catalog (MVP1)</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Search RAN Product (MVP1)</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Unified Persona Model (MVP1)</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RAG-Learning with KG &amp; Vector DB</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RAG-Learning with KG &amp; VDB MVP1)</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Extend Integration</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3-Tier SKL for Scale (Federated Query)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Build SKL Publishing / Integration via VDIL (API)</a:t>
                      </a:r>
                      <a:endParaRPr b="0" sz="600" u="none" cap="none" strike="noStrike">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Build Value-Driven Pipeline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Manage Intake &amp; Measure Value Delivered</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Build Business Engagement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Expand Capacity to meet Demand</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Federate Domain Modeling (Bus Engagement)</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Industrialization &amp; Scale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Manage Engagement and Demand Backlog</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Enhance monitoring and measurement</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Improve Application Build &amp; Deliver</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Extend Inferencing Capability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Optimize Operations</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Extend Capability &amp; Deliver Value</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Publish Metamodel from SKL</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0000"/>
                        </a:buClr>
                        <a:buSzPts val="600"/>
                        <a:buFont typeface="Arial"/>
                        <a:buChar char="●"/>
                      </a:pPr>
                      <a:r>
                        <a:rPr b="0" lang="en-US" sz="600" u="none" cap="none" strike="noStrike">
                          <a:solidFill>
                            <a:srgbClr val="000000"/>
                          </a:solidFill>
                          <a:latin typeface="Arial"/>
                          <a:ea typeface="Arial"/>
                          <a:cs typeface="Arial"/>
                          <a:sym typeface="Arial"/>
                        </a:rPr>
                        <a:t>Publish Hierarchy Generation (MVP2)</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Search GCP Catalog (MVP2)</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Search RAN Product (MVP2)</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Publish RAG-Learning with KG &amp; VDB (MVP1)</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lang="en-US" sz="600" u="none" cap="none" strike="noStrike">
                          <a:solidFill>
                            <a:srgbClr val="000000"/>
                          </a:solidFill>
                          <a:latin typeface="Arial"/>
                          <a:ea typeface="Arial"/>
                          <a:cs typeface="Arial"/>
                          <a:sym typeface="Arial"/>
                        </a:rPr>
                        <a:t>Extend Integration</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Extend 3-Tier SKL for Scale (Federated Query)</a:t>
                      </a:r>
                      <a:endParaRPr b="0" sz="600" u="none" cap="none" strike="noStrike">
                        <a:latin typeface="Arial"/>
                        <a:ea typeface="Arial"/>
                        <a:cs typeface="Arial"/>
                        <a:sym typeface="Arial"/>
                      </a:endParaRPr>
                    </a:p>
                    <a:p>
                      <a:pPr indent="-151920" lvl="0" marL="228600" marR="0" rtl="0" algn="l">
                        <a:lnSpc>
                          <a:spcPct val="100000"/>
                        </a:lnSpc>
                        <a:spcBef>
                          <a:spcPts val="0"/>
                        </a:spcBef>
                        <a:spcAft>
                          <a:spcPts val="0"/>
                        </a:spcAft>
                        <a:buClr>
                          <a:srgbClr val="0089EC"/>
                        </a:buClr>
                        <a:buSzPts val="600"/>
                        <a:buFont typeface="Arial"/>
                        <a:buChar char="●"/>
                      </a:pPr>
                      <a:r>
                        <a:rPr b="0" lang="en-US" sz="600" u="none" cap="none" strike="noStrike">
                          <a:solidFill>
                            <a:srgbClr val="0089EC"/>
                          </a:solidFill>
                          <a:latin typeface="Arial"/>
                          <a:ea typeface="Arial"/>
                          <a:cs typeface="Arial"/>
                          <a:sym typeface="Arial"/>
                        </a:rPr>
                        <a:t>Extend SKL Publishing / Integration via VDIL (API)</a:t>
                      </a:r>
                      <a:endParaRPr b="0" sz="600" u="none" cap="none" strike="noStrike">
                        <a:latin typeface="Arial"/>
                        <a:ea typeface="Arial"/>
                        <a:cs typeface="Arial"/>
                        <a:sym typeface="Arial"/>
                      </a:endParaRPr>
                    </a:p>
                  </a:txBody>
                  <a:tcPr marT="45725" marB="45725" marR="91075" marL="910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r>
            </a:tbl>
          </a:graphicData>
        </a:graphic>
      </p:graphicFrame>
      <p:sp>
        <p:nvSpPr>
          <p:cNvPr id="2244" name="Google Shape;2244;p205"/>
          <p:cNvSpPr/>
          <p:nvPr/>
        </p:nvSpPr>
        <p:spPr>
          <a:xfrm>
            <a:off x="561240" y="3643560"/>
            <a:ext cx="1810080" cy="393480"/>
          </a:xfrm>
          <a:prstGeom prst="rect">
            <a:avLst/>
          </a:prstGeom>
          <a:solidFill>
            <a:srgbClr val="F3EDE0"/>
          </a:solidFill>
          <a:ln>
            <a:noFill/>
          </a:ln>
        </p:spPr>
        <p:txBody>
          <a:bodyPr anchorCtr="0" anchor="t" bIns="91425" lIns="314275" spcFirstLastPara="1" rIns="91425" wrap="square" tIns="91425">
            <a:noAutofit/>
          </a:bodyPr>
          <a:lstStyle/>
          <a:p>
            <a:pPr indent="0" lvl="0" marL="0" marR="0" rtl="0" algn="l">
              <a:lnSpc>
                <a:spcPct val="100000"/>
              </a:lnSpc>
              <a:spcBef>
                <a:spcPts val="0"/>
              </a:spcBef>
              <a:spcAft>
                <a:spcPts val="0"/>
              </a:spcAft>
              <a:buNone/>
            </a:pPr>
            <a:r>
              <a:rPr b="1" i="0" lang="en-US" sz="600" u="none" cap="none" strike="noStrike">
                <a:solidFill>
                  <a:srgbClr val="FFFFFF"/>
                </a:solidFill>
                <a:latin typeface="Arial"/>
                <a:ea typeface="Arial"/>
                <a:cs typeface="Arial"/>
                <a:sym typeface="Arial"/>
              </a:rPr>
              <a:t>Holidays, Festivals &amp; Moratorium, and Scheduled Time-off Nov/Dec</a:t>
            </a:r>
            <a:endParaRPr b="0" i="0" sz="600" u="none" cap="none" strike="noStrike">
              <a:latin typeface="Arial"/>
              <a:ea typeface="Arial"/>
              <a:cs typeface="Arial"/>
              <a:sym typeface="Arial"/>
            </a:endParaRPr>
          </a:p>
        </p:txBody>
      </p:sp>
      <p:sp>
        <p:nvSpPr>
          <p:cNvPr id="2245" name="Google Shape;2245;p205"/>
          <p:cNvSpPr/>
          <p:nvPr/>
        </p:nvSpPr>
        <p:spPr>
          <a:xfrm>
            <a:off x="3295440" y="3643560"/>
            <a:ext cx="3964320" cy="393480"/>
          </a:xfrm>
          <a:prstGeom prst="rect">
            <a:avLst/>
          </a:prstGeom>
          <a:solidFill>
            <a:srgbClr val="FFE599"/>
          </a:solidFill>
          <a:ln>
            <a:noFill/>
          </a:ln>
        </p:spPr>
        <p:txBody>
          <a:bodyPr anchorCtr="0" anchor="t" bIns="91425" lIns="31427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89EC"/>
                </a:solidFill>
                <a:latin typeface="Arial"/>
                <a:ea typeface="Arial"/>
                <a:cs typeface="Arial"/>
                <a:sym typeface="Arial"/>
              </a:rPr>
              <a:t>👉	</a:t>
            </a:r>
            <a:r>
              <a:rPr b="1" i="0" lang="en-US" sz="600" u="none" cap="none" strike="noStrike">
                <a:solidFill>
                  <a:srgbClr val="0089EC"/>
                </a:solidFill>
                <a:latin typeface="Arial"/>
                <a:ea typeface="Arial"/>
                <a:cs typeface="Arial"/>
                <a:sym typeface="Arial"/>
              </a:rPr>
              <a:t>Assumption: Additional Semantic Governance Resources (3) -&gt; See items highlighted in RED</a:t>
            </a:r>
            <a:endParaRPr b="0" i="0" sz="600" u="none" cap="none" strike="noStrike">
              <a:latin typeface="Arial"/>
              <a:ea typeface="Arial"/>
              <a:cs typeface="Arial"/>
              <a:sym typeface="Arial"/>
            </a:endParaRPr>
          </a:p>
        </p:txBody>
      </p:sp>
      <p:grpSp>
        <p:nvGrpSpPr>
          <p:cNvPr id="2246" name="Google Shape;2246;p205"/>
          <p:cNvGrpSpPr/>
          <p:nvPr/>
        </p:nvGrpSpPr>
        <p:grpSpPr>
          <a:xfrm>
            <a:off x="8549640" y="0"/>
            <a:ext cx="594000" cy="679680"/>
            <a:chOff x="8549640" y="0"/>
            <a:chExt cx="594000" cy="679680"/>
          </a:xfrm>
        </p:grpSpPr>
        <p:sp>
          <p:nvSpPr>
            <p:cNvPr id="2247" name="Google Shape;2247;p20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8" name="Google Shape;2248;p205"/>
            <p:cNvGrpSpPr/>
            <p:nvPr/>
          </p:nvGrpSpPr>
          <p:grpSpPr>
            <a:xfrm>
              <a:off x="8588160" y="0"/>
              <a:ext cx="555480" cy="679680"/>
              <a:chOff x="8588160" y="0"/>
              <a:chExt cx="555480" cy="679680"/>
            </a:xfrm>
          </p:grpSpPr>
          <p:pic>
            <p:nvPicPr>
              <p:cNvPr id="2249" name="Google Shape;2249;p205"/>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2250" name="Google Shape;2250;p20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